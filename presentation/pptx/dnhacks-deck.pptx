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Learned encoder (128)</c:v>
                </c:pt>
              </c:strCache>
            </c:strRef>
          </c:tx>
          <c:spPr>
            <a:ln w="28575">
              <a:solidFill>
                <a:srgbClr val="A6CABB"/>
              </a:solidFill>
            </a:ln>
          </c:spPr>
          <c:marker>
            <c:symbol val="circle"/>
            <c:size val="6"/>
            <c:spPr>
              <a:solidFill>
                <a:srgbClr val="A6CABB"/>
              </a:solidFill>
              <a:ln>
                <a:solidFill>
                  <a:srgbClr val="A6CABB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1.3695237434994953</c:v>
                </c:pt>
                <c:pt idx="2">
                  <c:v>0.14457068166826992</c:v>
                </c:pt>
                <c:pt idx="3">
                  <c:v>2.88702743629955</c:v>
                </c:pt>
                <c:pt idx="4">
                  <c:v>4.091028371214001</c:v>
                </c:pt>
                <c:pt idx="5">
                  <c:v>6.829318831585722</c:v>
                </c:pt>
                <c:pt idx="6">
                  <c:v>8.203251016803325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PCA (64)</c:v>
                </c:pt>
              </c:strCache>
            </c:strRef>
          </c:tx>
          <c:spPr>
            <a:ln w="28575">
              <a:solidFill>
                <a:srgbClr val="E4BB7F"/>
              </a:solidFill>
            </a:ln>
          </c:spPr>
          <c:marker>
            <c:symbol val="circle"/>
            <c:size val="6"/>
            <c:spPr>
              <a:solidFill>
                <a:srgbClr val="E4BB7F"/>
              </a:solidFill>
              <a:ln>
                <a:solidFill>
                  <a:srgbClr val="E4BB7F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</c:v>
                </c:pt>
                <c:pt idx="1">
                  <c:v>1.5151133425797394</c:v>
                </c:pt>
                <c:pt idx="2">
                  <c:v>1.2134203979554437</c:v>
                </c:pt>
                <c:pt idx="3">
                  <c:v>3.0980327082866195</c:v>
                </c:pt>
                <c:pt idx="4">
                  <c:v>2.4128718770122433</c:v>
                </c:pt>
                <c:pt idx="5">
                  <c:v>4.944603874204421</c:v>
                </c:pt>
                <c:pt idx="6">
                  <c:v>4.451503676976612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IFIT3 scalar</c:v>
                </c:pt>
              </c:strCache>
            </c:strRef>
          </c:tx>
          <c:spPr>
            <a:ln w="28575">
              <a:solidFill>
                <a:srgbClr val="E5A6A0"/>
              </a:solidFill>
            </a:ln>
          </c:spPr>
          <c:marker>
            <c:symbol val="circle"/>
            <c:size val="6"/>
            <c:spPr>
              <a:solidFill>
                <a:srgbClr val="E5A6A0"/>
              </a:solidFill>
              <a:ln>
                <a:solidFill>
                  <a:srgbClr val="E5A6A0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</c:v>
                </c:pt>
                <c:pt idx="1">
                  <c:v>2.4606201604769806</c:v>
                </c:pt>
                <c:pt idx="2">
                  <c:v>2.2188462844845738</c:v>
                </c:pt>
                <c:pt idx="3">
                  <c:v>4.970765912378968</c:v>
                </c:pt>
                <c:pt idx="4">
                  <c:v>6.15248287740137</c:v>
                </c:pt>
                <c:pt idx="5">
                  <c:v>7.489993851665847</c:v>
                </c:pt>
                <c:pt idx="6">
                  <c:v>8.69356609756736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Anytime threshold, α = 0.05 (log 20)</c:v>
                </c:pt>
              </c:strCache>
            </c:strRef>
          </c:tx>
          <c:spPr>
            <a:ln w="15875">
              <a:solidFill>
                <a:srgbClr val="7D918A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2.9957</c:v>
                </c:pt>
                <c:pt idx="1">
                  <c:v>2.9957</c:v>
                </c:pt>
                <c:pt idx="2">
                  <c:v>2.9957</c:v>
                </c:pt>
                <c:pt idx="3">
                  <c:v>2.9957</c:v>
                </c:pt>
                <c:pt idx="4">
                  <c:v>2.9957</c:v>
                </c:pt>
                <c:pt idx="5">
                  <c:v>2.9957</c:v>
                </c:pt>
                <c:pt idx="6">
                  <c:v>2.9957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00" b="0" i="0">
                    <a:solidFill>
                      <a:srgbClr val="7D918A"/>
                    </a:solidFill>
                    <a:latin typeface="IBM Plex Mono"/>
                    <a:ea typeface="IBM Plex Mono"/>
                    <a:cs typeface="IBM Plex Mono"/>
                  </a:rPr>
                  <a:t>scored batch (after two burn-in batches)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34413E"/>
            </a:solidFill>
          </a:ln>
        </c:spPr>
        <c:txPr>
          <a:bodyPr/>
          <a:lstStyle/>
          <a:p>
            <a:pPr>
              <a:defRPr sz="900">
                <a:solidFill>
                  <a:srgbClr val="ABB7B3"/>
                </a:solidFill>
                <a:latin typeface="IBM Plex Mono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34413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 b="0" i="0">
                    <a:solidFill>
                      <a:srgbClr val="7D918A"/>
                    </a:solidFill>
                    <a:latin typeface="IBM Plex Mono"/>
                    <a:ea typeface="IBM Plex Mono"/>
                    <a:cs typeface="IBM Plex Mono"/>
                  </a:rPr>
                  <a:t>log wealth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34413E"/>
            </a:solidFill>
          </a:ln>
        </c:spPr>
        <c:txPr>
          <a:bodyPr/>
          <a:lstStyle/>
          <a:p>
            <a:pPr>
              <a:defRPr sz="900">
                <a:solidFill>
                  <a:srgbClr val="ABB7B3"/>
                </a:solidFill>
                <a:latin typeface="IBM Plex Mono"/>
              </a:defRPr>
            </a:pPr>
          </a:p>
        </c:txPr>
        <c:crossAx val="2118791784"/>
        <c:crosses val="autoZero"/>
      </c:valAx>
      <c:spPr>
        <a:noFill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ABB7B3"/>
              </a:solidFill>
              <a:latin typeface="IBM Plex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ABB7B3"/>
          </a:solidFill>
          <a:latin typeface="IBM Plex Sans"/>
        </a:defRPr>
      </a:pPr>
      <a:endParaRPr lang="en-US"/>
    </a:p>
  </c:txPr>
  <c:externalData r:id="rId1">
    <c:autoUpdate val="0"/>
  </c:externalData>
  <c:spPr>
    <a:noFill/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— 20 s]  Say the title line and stop. Do not read the paragraph.</a:t>
            </a:r>
          </a:p>
          <a:p/>
          <a:p>
            <a:r>
              <a:t>"Every model release makes it cheaper to generate a hypothesis. It has not made it cheaper to know which</a:t>
            </a:r>
          </a:p>
          <a:p>
            <a:r>
              <a:t>hypothesis to test next, or whether the result you get back can be trusted. We built the thing that does</a:t>
            </a:r>
          </a:p>
          <a:p>
            <a:r>
              <a:t>both: it aims compute at untested claims in the literature, runs the experiment on public data, and refuses</a:t>
            </a:r>
          </a:p>
          <a:p>
            <a:r>
              <a:t>to believe its own numbers until a falsifier and a person have signed off."</a:t>
            </a:r>
          </a:p>
          <a:p/>
          <a:p>
            <a:r>
              <a:t>Track: [TODO confirm the selected category on the submission form; the deck assumes Health and Public</a:t>
            </a:r>
          </a:p>
          <a:p>
            <a:r>
              <a:t>Service. If the team submits to Open, change the footer line on this slide.]</a:t>
            </a:r>
          </a:p>
          <a:p/>
          <a:p>
            <a:r>
              <a:t>Product name: "DN Research" is a placeholder (plans/backlog.md NAME-01). Replace it in build_deck.py</a:t>
            </a:r>
          </a:p>
          <a:p>
            <a:r>
              <a:t>(new_slide footer) once the team agrees on a name.</a:t>
            </a:r>
          </a:p>
          <a:p/>
          <a:p>
            <a:r>
              <a:t>Legend at the bottom: every slide carries one of four provenance tags. Point at it once, here, and never</a:t>
            </a:r>
          </a:p>
          <a:p>
            <a:r>
              <a:t>again: "Green means we computed it and you can ask for the file. Amber means it is a plan. Grey means</a:t>
            </a:r>
          </a:p>
          <a:p>
            <a:r>
              <a:t>the picture is illustrative." Judges scoring Reliability &amp; Trustworthiness reward this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 — 45 s]  Non-biology audience (Rich's framing note, plans/PLAN-demo-slides.md). Lead with the idea.</a:t>
            </a:r>
          </a:p>
          <a:p/>
          <a:p>
            <a:r>
              <a:t>"Think of a field of science as a graph. Every published paper adds edges: this gene raises that pathway.</a:t>
            </a:r>
          </a:p>
          <a:p>
            <a:r>
              <a:t>There are millions of those edges and most of them were tested once, by one lab, in one dish. Meanwhile the</a:t>
            </a:r>
          </a:p>
          <a:p>
            <a:r>
              <a:t>data to re-test them is sitting in public: dependency screens across more than a thousand cancer cell</a:t>
            </a:r>
          </a:p>
          <a:p>
            <a:r>
              <a:t>lines, millions of expression profiles, and the open-access papers themselves. Nobody has the hours to</a:t>
            </a:r>
          </a:p>
          <a:p>
            <a:r>
              <a:t>cross-check claim by claim. So the untested bridges between two well-studied things just stay untested. Those</a:t>
            </a:r>
          </a:p>
          <a:p>
            <a:r>
              <a:t>are the discoveries waiting to be found. Finding them is a question of where you point compute."</a:t>
            </a:r>
          </a:p>
          <a:p/>
          <a:p>
            <a:r>
              <a:t>Define the three terms in the strip the moment they appear; assume nobody knows what a cell line is.</a:t>
            </a:r>
          </a:p>
          <a:p/>
          <a:p>
            <a:r>
              <a:t>Numbers on this slide are deliberately words, not figures ("more than a thousand", "millions"). If a judge</a:t>
            </a:r>
          </a:p>
          <a:p>
            <a:r>
              <a:t>asks: DepMap public releases screen over a thousand cancer cell lines; GEO holds millions of samples.</a:t>
            </a:r>
          </a:p>
          <a:p>
            <a:r>
              <a:t>[TODO if you want exact figures on the slide, pull them from the DepMap release notes and GEO front page</a:t>
            </a:r>
          </a:p>
          <a:p>
            <a:r>
              <a:t>on the day of the demo and cite the date.]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 — 40 s]  Make the "compute pointed in the right direction" argument explicit.</a:t>
            </a:r>
          </a:p>
          <a:p/>
          <a:p>
            <a:r>
              <a:t>"Everyone in this room can call a frontier model. The two ways an autonomous scientist fails have nothing to</a:t>
            </a:r>
          </a:p>
          <a:p>
            <a:r>
              <a:t>do with model IQ. Failure one: it has no map, so it re-tests the famous genes, or calls something novel</a:t>
            </a:r>
          </a:p>
          <a:p>
            <a:r>
              <a:t>because its search was truncated. Failure two: it has no gate, so it stops when the number looks good,</a:t>
            </a:r>
          </a:p>
          <a:p>
            <a:r>
              <a:t>counts wells as donors, and believes its own summary. We built the map and the gate. The graph aims the</a:t>
            </a:r>
          </a:p>
          <a:p>
            <a:r>
              <a:t>compute. The falsifier and the human gate make what comes back trustworthy."</a:t>
            </a:r>
          </a:p>
          <a:p/>
          <a:p>
            <a:r>
              <a:t>Read the one-line loop. Then the italic sentence, slowly. It is the sentence the whole deck rests on, and</a:t>
            </a:r>
          </a:p>
          <a:p>
            <a:r>
              <a:t>non-biologists respect it more, not less.</a:t>
            </a:r>
          </a:p>
          <a:p/>
          <a:p>
            <a:r>
              <a:t>Source for the invariants: ARCHITECTURE.md section 1 and section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 — 40 s]  This is ARCHITECTURE.md section 1 drawn as boxes. Walk left to right once, then the two dashed</a:t>
            </a:r>
          </a:p>
          <a:p>
            <a:r>
              <a:t>arrows.</a:t>
            </a:r>
          </a:p>
          <a:p/>
          <a:p>
            <a:r>
              <a:t>"Left to right: a project is a corpus definition. We build the corpus from Europe PMC, open access only,</a:t>
            </a:r>
          </a:p>
          <a:p>
            <a:r>
              <a:t>licence recorded per article. A model reads every paper against closed menus and code grounds every name</a:t>
            </a:r>
          </a:p>
          <a:p>
            <a:r>
              <a:t>to an ontology identifier, so two papers asserting the same thing land on one row. That is the graph.</a:t>
            </a:r>
          </a:p>
          <a:p>
            <a:r>
              <a:t>The agent takes one action per step: search the graph, read a paper, find a dataset, read a method guide,</a:t>
            </a:r>
          </a:p>
          <a:p>
            <a:r>
              <a:t>write and run Python. When it wants to keep a result it submits it. The falsifier checks only whether the</a:t>
            </a:r>
          </a:p>
          <a:p>
            <a:r>
              <a:t>numbers can be trusted. Survivors become cards; a person validates or rejects with a written note."</a:t>
            </a:r>
          </a:p>
          <a:p/>
          <a:p>
            <a:r>
              <a:t>Then: "Two arrows go backwards. Kills go back to the agent as retry, reframe or dead. Human rejections go back</a:t>
            </a:r>
          </a:p>
          <a:p>
            <a:r>
              <a:t>as corrections it must not repeat. Feedback that does not reach the agent's next turn is a bug in our</a:t>
            </a:r>
          </a:p>
          <a:p>
            <a:r>
              <a:t>codebase, by invariant."</a:t>
            </a:r>
          </a:p>
          <a:p/>
          <a:p>
            <a:r>
              <a:t>If asked what is not domain-specific: the loop, the memory, the falsifier contract and the gate. What is</a:t>
            </a:r>
          </a:p>
          <a:p>
            <a:r>
              <a:t>biology today: Europe PMC discovery, HGNC/ChEBI/MONDO grounding, DepMap/GEO adapters and the 21 method guides.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[2:25 — 60 s]  Show one concrete loop, not a feature tour. This slide is a template: the six cards are the</a:t>
            </a:r>
          </a:p>
          <a:p>
            <a:r>
              <a:t>six things a judge must see once, in order, for one real candidate.</a:t>
            </a:r>
          </a:p>
          <a:p/>
          <a:p>
            <a:r>
              <a:t>[TODO — before the demo]</a:t>
            </a:r>
          </a:p>
          <a:p>
            <a:r>
              <a:t>1. Pick the investigation: a run on the pancreatic corpus (demo/pdac, 100 frozen full-text papers) whose</a:t>
            </a:r>
          </a:p>
          <a:p>
            <a:r>
              <a:t>   candidate actually reached the review queue (plans/PLAN-demo-slides.md open item).</a:t>
            </a:r>
          </a:p>
          <a:p>
            <a:r>
              <a:t>2. Fill the six cards from the recorded trace (data/processed/reasoning_&lt;run_id&gt;.jsonl) and the</a:t>
            </a:r>
          </a:p>
          <a:p>
            <a:r>
              <a:t>   engine_tests row. Use the exact quote, the exact RESULT line, the exact kill slug or CANDIDATE.</a:t>
            </a:r>
          </a:p>
          <a:p>
            <a:r>
              <a:t>3. Decide live vs recorded playback in the console. Recommendation: recorded playback in the</a:t>
            </a:r>
          </a:p>
          <a:p>
            <a:r>
              <a:t>   Investigations view (deterministic, from ordered journal events), with the terminal button as backup.</a:t>
            </a:r>
          </a:p>
          <a:p>
            <a:r>
              <a:t>4. Change this slide's tag to MEASURED in build_deck.py only when every bracket is gone.</a:t>
            </a:r>
          </a:p>
          <a:p/>
          <a:p>
            <a:r>
              <a:t>Script once filled: "Here is one. The paper says [quote]. The agent asked the graph for a path between</a:t>
            </a:r>
          </a:p>
          <a:p>
            <a:r>
              <a:t>[A] and [B] and got nothing back, with both nodes well supported. It read the dependency-screen method</a:t>
            </a:r>
          </a:p>
          <a:p>
            <a:r>
              <a:t>guide, wrote forty lines of Python against frozen DepMap tables, and printed one line: effect, p, units,</a:t>
            </a:r>
          </a:p>
          <a:p>
            <a:r>
              <a:t>robustness. The falsifier said [verdict]. [If killed: it came back with the fix on the next turn.] A human</a:t>
            </a:r>
          </a:p>
          <a:p>
            <a:r>
              <a:t>looked at the card, the quotes and the numbers, and wrote: [note]. That note is now in the agent's memory."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/ 30 s if used in the main run]  Technical depth for the AI-sophistication judges. The point is</a:t>
            </a:r>
          </a:p>
          <a:p>
            <a:r>
              <a:t>the data model, not the model.</a:t>
            </a:r>
          </a:p>
          <a:p/>
          <a:p>
            <a:r>
              <a:t>"A claim is a spine plus evidence. The spine is subject, predicate, object and aspect, and every one of</a:t>
            </a:r>
          </a:p>
          <a:p>
            <a:r>
              <a:t>those is a closed-vocabulary term or a resolved identifier. Never free text. The model reads the paper</a:t>
            </a:r>
          </a:p>
          <a:p>
            <a:r>
              <a:t>and picks from menus; our code resolves the names through the owner ontology for that category. So when</a:t>
            </a:r>
          </a:p>
          <a:p>
            <a:r>
              <a:t>two papers say the same thing they land on one row, and when they say the opposite the graph marks the</a:t>
            </a:r>
          </a:p>
          <a:p>
            <a:r>
              <a:t>claim disputed. Evidence rows keep the exact quote and whether the paper is reporting its own result or</a:t>
            </a:r>
          </a:p>
          <a:p>
            <a:r>
              <a:t>citing someone else, so ten echoes of one experiment count as one."</a:t>
            </a:r>
          </a:p>
          <a:p/>
          <a:p>
            <a:r>
              <a:t>The KRAS → glycolysis example is illustrative; the identifiers shown are real but the claim is not from</a:t>
            </a:r>
          </a:p>
          <a:p>
            <a:r>
              <a:t>the demo corpus. [TODO swap in a claim from the pdac corpus if you want this slide to be MEASURED.]</a:t>
            </a:r>
          </a:p>
          <a:p/>
          <a:p>
            <a:r>
              <a:t>Source: ARCHITECTURE.md sections 3.3–3.7.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[Backup]  For "Technical Sophistication" under Best Use of AI: thoughtful model selection and orchestration,</a:t>
            </a:r>
          </a:p>
          <a:p>
            <a:r>
              <a:t>plus a real answer to "is AI fundamental or removable?"</a:t>
            </a:r>
          </a:p>
          <a:p/>
          <a:p>
            <a:r>
              <a:t>"AI is fundamental in two places and deliberately absent everywhere else. Reading papers into structured</a:t>
            </a:r>
          </a:p>
          <a:p>
            <a:r>
              <a:t>claims is the first; nothing but a strong model does that at this fidelity. Reasoning over the graph and</a:t>
            </a:r>
          </a:p>
          <a:p>
            <a:r>
              <a:t>writing experiments is the second. Everything downstream, grounding, contradiction detection, the</a:t>
            </a:r>
          </a:p>
          <a:p>
            <a:r>
              <a:t>falsifier, the gate, the console, is code with deterministic tests, and the model calls go through one</a:t>
            </a:r>
          </a:p>
          <a:p>
            <a:r>
              <a:t>module with two pinned models and no API keys."</a:t>
            </a:r>
          </a:p>
          <a:p/>
          <a:p>
            <a:r>
              <a:t>If asked about hallucination: the model never writes an identifier. It picks from menus; code grounds.</a:t>
            </a:r>
          </a:p>
          <a:p>
            <a:r>
              <a:t>Quotes are span-checked against the source. Unresolvable claims become deferrals rather than guesses.</a:t>
            </a:r>
          </a:p>
          <a:p/>
          <a:p>
            <a:r>
              <a:t>Source: ARCHITECTURE.md sections 3.2, 3.3,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/ 30 s]  Agent design for the AI judges: not a chat loop, a constrained research loop with memory.</a:t>
            </a:r>
          </a:p>
          <a:p/>
          <a:p>
            <a:r>
              <a:t>"Each step the agent gets what is new and answers with exactly one JSON action. Its memory is an</a:t>
            </a:r>
          </a:p>
          <a:p>
            <a:r>
              <a:t>exploration log in the same database as the graph, with a promise score on every entry, so the frontier</a:t>
            </a:r>
          </a:p>
          <a:p>
            <a:r>
              <a:t>it expands next is its own past ideas. It cannot claim novelty on a truncated search, by rule. It works in</a:t>
            </a:r>
          </a:p>
          <a:p>
            <a:r>
              <a:t>a tree: a child must file a checkpoint report, and a parent controller decides to continue, split or prune.</a:t>
            </a:r>
          </a:p>
          <a:p>
            <a:r>
              <a:t>Pruning never loses findings. All of this survives a restart because reports and decisions are idempotent</a:t>
            </a:r>
          </a:p>
          <a:p>
            <a:r>
              <a:t>rows in SQLite."</a:t>
            </a:r>
          </a:p>
          <a:p/>
          <a:p>
            <a:r>
              <a:t>Source: ARCHITECTURE.md section 4. The tree on the slide is a sketch of the id scheme, not a recorded run.</a:t>
            </a:r>
          </a:p>
          <a:p>
            <a:r>
              <a:t>[TODO if a recorded investigation tree exists by demo day, screenshot the Investigations view instead.]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[3:25 — 40 s]  Why the rigor layer matters, and why there is no answer key.</a:t>
            </a:r>
          </a:p>
          <a:p/>
          <a:p>
            <a:r>
              <a:t>"Seven checks, all on the numbers. Missing fields, non-finite effect, too few units, a malformed p, the</a:t>
            </a:r>
          </a:p>
          <a:p>
            <a:r>
              <a:t>wrong direction, not significant, not robust. Nothing about which gene it is or how big the effect is,</a:t>
            </a:r>
          </a:p>
          <a:p>
            <a:r>
              <a:t>because the agent fills the effect and nothing validates it. The falsifier cannot be gamed by picking an</a:t>
            </a:r>
          </a:p>
          <a:p>
            <a:r>
              <a:t>important-sounding target. Every experiment also signs a contract: permute at the independent unit, so</a:t>
            </a:r>
          </a:p>
          <a:p>
            <a:r>
              <a:t>wells are never donors; a permutation p that is never exactly zero; direction declared before the run;</a:t>
            </a:r>
          </a:p>
          <a:p>
            <a:r>
              <a:t>leave-one-group-out. If the agent breaks the contract the kill comes back on its next turn with the slug,</a:t>
            </a:r>
          </a:p>
          <a:p>
            <a:r>
              <a:t>and it either fixes it or reframes."</a:t>
            </a:r>
          </a:p>
          <a:p/>
          <a:p>
            <a:r>
              <a:t>Close on the amber line. Say it twice if you have to.</a:t>
            </a:r>
          </a:p>
          <a:p/>
          <a:p>
            <a:r>
              <a:t>Source: ARCHITECTURE.md section 5 (table) and section 4.1 (contract). falsifier.py is ~100 lines; invite</a:t>
            </a:r>
          </a:p>
          <a:p>
            <a:r>
              <a:t>a judge to read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/ 45 s; use in the main run for the Best-Use-of-AI judges]  This is the one measured research result</a:t>
            </a:r>
          </a:p>
          <a:p>
            <a:r>
              <a:t>on main and it addresses "hallucination and reliability" head-on.</a:t>
            </a:r>
          </a:p>
          <a:p/>
          <a:p>
            <a:r>
              <a:t>"An autonomous scientist runs experiments in sequence and looks at the numbers as it goes. With p-values</a:t>
            </a:r>
          </a:p>
          <a:p>
            <a:r>
              <a:t>that is p-hacking by construction: keep going until it looks good, then stop. E-values fix that. Think of</a:t>
            </a:r>
          </a:p>
          <a:p>
            <a:r>
              <a:t>it as betting against the null hypothesis: your wealth is a martingale, and the probability it ever</a:t>
            </a:r>
          </a:p>
          <a:p>
            <a:r>
              <a:t>crosses twenty is at most one in twenty, no matter when you stop. We implemented the deep anytime-valid</a:t>
            </a:r>
          </a:p>
          <a:p>
            <a:r>
              <a:t>construction from Pandeva et al. (AISTATS 2024): a small neural bettor that trains only on past donors and</a:t>
            </a:r>
          </a:p>
          <a:p>
            <a:r>
              <a:t>is scored on fresh ones. On a real held-out cohort, 374 COVID-era neutrophil donors, all three</a:t>
            </a:r>
          </a:p>
          <a:p>
            <a:r>
              <a:t>representations cross the threshold. The artificial null gave zero false rejections in 200 draws. And our</a:t>
            </a:r>
          </a:p>
          <a:p>
            <a:r>
              <a:t>harness caught the invalid control that memorises labels: it rejects every time, which is exactly the leak</a:t>
            </a:r>
          </a:p>
          <a:p>
            <a:r>
              <a:t>the design forbids."</a:t>
            </a:r>
          </a:p>
          <a:p/>
          <a:p>
            <a:r>
              <a:t>Be honest about status in the amber line: it is a standalone diagnostic, tested, not yet wired into the</a:t>
            </a:r>
          </a:p>
          <a:p>
            <a:r>
              <a:t>falsifier's verdict. That is the next step, and it is why the three learned-tool plans exist.</a:t>
            </a:r>
          </a:p>
          <a:p/>
          <a:p>
            <a:r>
              <a:t>Numbers: research/learned-evalue-validation/real-expression/{README.md, evaluation.json, training.json}.</a:t>
            </a:r>
          </a:p>
          <a:p>
            <a:r>
              <a:t>Final e-values: encoder 3,652.8; PCA 85.8; IFIT3 scalar 5,964.4; calibrated permutation 99.0.</a:t>
            </a:r>
          </a:p>
          <a:p>
            <a:r>
              <a:t>Do not say the encoder "beats" the scalar: the simpler scalar has the larger final evidence in the primary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/ 30 s]  The human gate is the product's answer to "how do you know it is true?" and the design</a:t>
            </a:r>
          </a:p>
          <a:p>
            <a:r>
              <a:t>judges' "form follows function".</a:t>
            </a:r>
          </a:p>
          <a:p/>
          <a:p>
            <a:r>
              <a:t>"A candidate is not a discovery. It becomes a card: the edge it tests, the exact quotes, the numbers, and</a:t>
            </a:r>
          </a:p>
          <a:p>
            <a:r>
              <a:t>the falsifier's verdict. A person validates or rejects, and both require a written note; an unexplained</a:t>
            </a:r>
          </a:p>
          <a:p>
            <a:r>
              <a:t>verdict is skipped. Validated cards go into a separate master graph with their provenance. Rejections go</a:t>
            </a:r>
          </a:p>
          <a:p>
            <a:r>
              <a:t>back into the agent's memory as corrections. That is how a lab's judgement becomes the agent's judgement</a:t>
            </a:r>
          </a:p>
          <a:p>
            <a:r>
              <a:t>over time."</a:t>
            </a:r>
          </a:p>
          <a:p/>
          <a:p>
            <a:r>
              <a:t>Status detail: the review controls are currently hidden in the frontend; the backend routes and</a:t>
            </a:r>
          </a:p>
          <a:p>
            <a:r>
              <a:t>decision persistence exist and are tested (ARCHITECTURE.md section 6, frontend/DESIGN.md).</a:t>
            </a:r>
          </a:p>
          <a:p>
            <a:r>
              <a:t>[TODO decide whether to re-expose the review controls for the demo, or show a recorded decision.]</a:t>
            </a:r>
          </a:p>
          <a:p>
            <a:r>
              <a:t>The card on the slide is a layout mock; fill it from the recorded investigation or replace it with a</a:t>
            </a:r>
          </a:p>
          <a:p>
            <a:r>
              <a:t>screenshot of the real Knowledge view claim inspector.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/ 30 s]  For "Understanding of the User" (30 pts, Best in Design). The persona is deliberately</a:t>
            </a:r>
          </a:p>
          <a:p>
            <a:r>
              <a:t>narrow. If judges ask "what about pharma?", the answer is on the deployment slide: the lab user is the</a:t>
            </a:r>
          </a:p>
          <a:p>
            <a:r>
              <a:t>wedge; the persona does not change.</a:t>
            </a:r>
          </a:p>
          <a:p/>
          <a:p>
            <a:r>
              <a:t>"We designed for one person: the computational biologist in a small lab who owns the corpus and is the</a:t>
            </a:r>
          </a:p>
          <a:p>
            <a:r>
              <a:t>only one allowed to say 'true'. She trusts quotes and denominators, not summaries. So every claim opens to</a:t>
            </a:r>
          </a:p>
          <a:p>
            <a:r>
              <a:t>its exact quotation. A candidate is never styled as a discovery. A missing measurement is never drawn as</a:t>
            </a:r>
          </a:p>
          <a:p>
            <a:r>
              <a:t>zero. Her decision requires a note because the note is how the agent learns. And the whole workspace is a</a:t>
            </a:r>
          </a:p>
          <a:p>
            <a:r>
              <a:t>quiet instrument: no counters, no glow, motion only when something actually changed."</a:t>
            </a:r>
          </a:p>
          <a:p/>
          <a:p>
            <a:r>
              <a:t>Source: frontend/DESIGN.md. The persona text on this slide is written for the deck; [TODO have the team</a:t>
            </a:r>
          </a:p>
          <a:p>
            <a:r>
              <a:t>confirm or sharpen it, ideally with one real user conversation before the demo].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 / 30 s]  Design Quality &amp; Craft (30) and UX (40). Show the real thing; this slide exists so the</a:t>
            </a:r>
          </a:p>
          <a:p>
            <a:r>
              <a:t>principles are stated even when the live demo is what they see.</a:t>
            </a:r>
          </a:p>
          <a:p/>
          <a:p>
            <a:r>
              <a:t>[TODO capture two real screenshots (dark theme, populated state) and drop them in:</a:t>
            </a:r>
          </a:p>
          <a:p>
            <a:r>
              <a:t> frontend e2e can produce them; or run `uv run python scripts/serve_ui.py --port 8765` and screenshot.</a:t>
            </a:r>
          </a:p>
          <a:p>
            <a:r>
              <a:t> Replace the placeholders in slide_design() with slide.shapes.add_picture(path, x, y, width=Inches(3.85)).]</a:t>
            </a:r>
          </a:p>
          <a:p/>
          <a:p>
            <a:r>
              <a:t>"The workspace is a quiet instrument. Three surfaces named for what the scientist does: Investigations,</a:t>
            </a:r>
          </a:p>
          <a:p>
            <a:r>
              <a:t>Library, Knowledge. The investigation tree owns the visual emphasis; select an agent and its recorded</a:t>
            </a:r>
          </a:p>
          <a:p>
            <a:r>
              <a:t>activity and experiments appear. Sea-green means selected, amber means uncertain, rose means failed, and</a:t>
            </a:r>
          </a:p>
          <a:p>
            <a:r>
              <a:t>no colour ever implies confidence. IBM Plex throughout. Dark and light, reduced motion respected, keyboard</a:t>
            </a:r>
          </a:p>
          <a:p>
            <a:r>
              <a:t>navigable. And the deck you are looking at uses the same tokens, so the slides and the product read as one</a:t>
            </a:r>
          </a:p>
          <a:p>
            <a:r>
              <a:t>thing."</a:t>
            </a:r>
          </a:p>
          <a:p/>
          <a:p>
            <a:r>
              <a:t>Novelty claim for judges who ask "is this copied?": the layout was built independently of prior DNHacks UI</a:t>
            </a:r>
          </a:p>
          <a:p>
            <a:r>
              <a:t>and of the usual dashboard idiom; the closest published patterns (claim-to-source in one click, bounded</a:t>
            </a:r>
          </a:p>
          <a:p>
            <a:r>
              <a:t>focused graph, stable layout) come from research tools like Elicit and Connected Papers, and we cite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[4:05 — 35 s]  Reliability, Evaluation &amp; Trustworthiness (25) and the security part of Feasibility.</a:t>
            </a:r>
          </a:p>
          <a:p/>
          <a:p>
            <a:r>
              <a:t>"Three places it can fail. Hallucination: the model never writes an identifier, quotes are checked</a:t>
            </a:r>
          </a:p>
          <a:p>
            <a:r>
              <a:t>against the source, and a result is one typed line or it does not exist. Isolation: local-only console,</a:t>
            </a:r>
          </a:p>
          <a:p>
            <a:r>
              <a:t>read-only inspection, no API keys, sandboxed experiment code, and private scoring that cannot leak back into</a:t>
            </a:r>
          </a:p>
          <a:p>
            <a:r>
              <a:t>the agent's feedback. Testing: about six hundred and fifty Python tests plus a browser suite, and an</a:t>
            </a:r>
          </a:p>
          <a:p>
            <a:r>
              <a:t>architecture endpoint that reads thresholds out of the source by AST, so the documentation fails loudly if</a:t>
            </a:r>
          </a:p>
          <a:p>
            <a:r>
              <a:t>the code drifts."</a:t>
            </a:r>
          </a:p>
          <a:p/>
          <a:p>
            <a:r>
              <a:t>Then the amber line: "What we have not built yet is the adversarial fixture matrix and a paired-run</a:t>
            </a:r>
          </a:p>
          <a:p>
            <a:r>
              <a:t>measurement of whether feedback actually changes behaviour. Both are specified; neither is claimed."</a:t>
            </a:r>
          </a:p>
          <a:p/>
          <a:p>
            <a:r>
              <a:t>Test count sources: `uv run --extra dev pytest tests` in a clean worktree of main on 2026-09-06 gave</a:t>
            </a:r>
          </a:p>
          <a:p>
            <a:r>
              <a:t>270 passed, 18 skipped (the tracked suite; tests/ is gitignored except force-added files). The board</a:t>
            </a:r>
          </a:p>
          <a:p>
            <a:r>
              <a:t>post for PR #41 reports 648 passed, 19 skipped, 12 pre-existing failures with the wider unversioned</a:t>
            </a:r>
          </a:p>
          <a:p>
            <a:r>
              <a:t>local suite. Say the 270 figure unless you have rerun the wider suite yourself.</a:t>
            </a:r>
          </a:p>
          <a:p>
            <a:r>
              <a:t>[TODO rerun on the demo commit and update the card.]</a:t>
            </a:r>
          </a:p>
          <a:p>
            <a:r>
              <a:t>Docker status: ARCHITECTURE.md section 4.5 (product decision to remove; migration not done). Say it as</a:t>
            </a:r>
          </a:p>
          <a:p>
            <a:r>
              <a:t>written; do not promise the replacement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[4:40 — 30 s]  Feasibility &amp; Deployment Potential (25). DTX scores "is there a buyer" and "converting mission</a:t>
            </a:r>
          </a:p>
          <a:p>
            <a:r>
              <a:t>into market share"; answer both in one breath.</a:t>
            </a:r>
          </a:p>
          <a:p/>
          <a:p>
            <a:r>
              <a:t>"It runs on a laptop today: one DuckDB file per corpus, local embeddings, open-access text with the licence</a:t>
            </a:r>
          </a:p>
          <a:p>
            <a:r>
              <a:t>recorded, public cohorts, no patient data, no API keys. Scale is more machines, not a new architecture. The</a:t>
            </a:r>
          </a:p>
          <a:p>
            <a:r>
              <a:t>first buyer is the lab that owns the corpus, because its decisions become its master graph and that graph</a:t>
            </a:r>
          </a:p>
          <a:p>
            <a:r>
              <a:t>compounds. From there: core facilities, pharma target triage, where 'which of these candidates gets</a:t>
            </a:r>
          </a:p>
          <a:p>
            <a:r>
              <a:t>confirmed' is literally the job, and government horizon scanning."</a:t>
            </a:r>
          </a:p>
          <a:p/>
          <a:p>
            <a:r>
              <a:t>[TODO fill the per-experiment cost from the UsageLedger of the demo run; until then say "measured per run"</a:t>
            </a:r>
          </a:p>
          <a:p>
            <a:r>
              <a:t>without a number.]</a:t>
            </a:r>
          </a:p>
          <a:p>
            <a:r>
              <a:t>Do not claim revenue, customers or LOIs that do not exist. If asked about a company: "the wedge is the lab;</a:t>
            </a:r>
          </a:p>
          <a:p>
            <a:r>
              <a:t>the moat is the provenance graph each lab accumulates."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[Optional / 30 s]  Use this slide only if the room is DTX-heavy; skip it for a general audience. It maps to</a:t>
            </a:r>
          </a:p>
          <a:p>
            <a:r>
              <a:t>DTX's stated thesis (American leadership in AI, energy, defense, semiconductors, space, health) without</a:t>
            </a:r>
          </a:p>
          <a:p>
            <a:r>
              <a:t>changing the product.</a:t>
            </a:r>
          </a:p>
          <a:p/>
          <a:p>
            <a:r>
              <a:t>"Nuclear power is bottlenecked on material: you can count centrifuges. Biological power is bottlenecked on</a:t>
            </a:r>
          </a:p>
          <a:p>
            <a:r>
              <a:t>knowing which of the next thousand experiments to run. That is an information problem, and export</a:t>
            </a:r>
          </a:p>
          <a:p>
            <a:r>
              <a:t>controls do not work on it; only lead time does. The COVID vaccine timeline shows synthesis was never the</a:t>
            </a:r>
          </a:p>
          <a:p>
            <a:r>
              <a:t>bottleneck, the evidence was. An engine that tests claims at scale on public data is an evidence-ordering</a:t>
            </a:r>
          </a:p>
          <a:p>
            <a:r>
              <a:t>engine. And the graph it leaves behind, a provenance-complete record of what was known and when, is</a:t>
            </a:r>
          </a:p>
          <a:p>
            <a:r>
              <a:t>infrastructure."</a:t>
            </a:r>
          </a:p>
          <a:p/>
          <a:p>
            <a:r>
              <a:t>Quote provenance: Verified 2026-09-06 against https://www.biotech.senate.gov/press-releases/nsceb-publishes-final-report/ (exact sentences). The widely reported ‘at least $15 billion over five years’ figure was not on that page; confirm it in the full report PDF (biotech.senate.gov, NSCEB-Full-Report 4.28) before saying it aloud.</a:t>
            </a:r>
          </a:p>
          <a:p>
            <a:r>
              <a:t>[TODO verify the exact wording against the primary source before saying it aloud; if unverifiable, drop</a:t>
            </a:r>
          </a:p>
          <a:p>
            <a:r>
              <a:t>the quotation marks and paraphrase.]</a:t>
            </a:r>
          </a:p>
          <a:p/>
          <a:p>
            <a:r>
              <a:t>Do not say: "predicts discoveries", "AI scientist", "first in the world", "novel algorithm". Say:</a:t>
            </a:r>
          </a:p>
          <a:p>
            <a:r>
              <a:t>"ranks and tests later-confirmed associations from earlier evidence", "evidence-ordering engine with a</a:t>
            </a:r>
          </a:p>
          <a:p>
            <a:r>
              <a:t>verifier stack".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[Optional / 25 s]  Rich's "what is waiting to be found" slide. It is honest about which numbers exist.</a:t>
            </a:r>
          </a:p>
          <a:p/>
          <a:p>
            <a:r>
              <a:t>"The demo corpus is one hundred frozen papers on pancreatic cancer, hash-verified, seven million readable</a:t>
            </a:r>
          </a:p>
          <a:p>
            <a:r>
              <a:t>characters. That is small on purpose. The loop is the same when the corpus is a field. Every experiment</a:t>
            </a:r>
          </a:p>
          <a:p>
            <a:r>
              <a:t>costs compute, not bench time, and the reason we can turn throughput up without trust going down is the</a:t>
            </a:r>
          </a:p>
          <a:p>
            <a:r>
              <a:t>falsifier and the gate."</a:t>
            </a:r>
          </a:p>
          <a:p/>
          <a:p>
            <a:r>
              <a:t>[TODO before the demo: run the chosen investigation, read tokens and wall-clock from the UsageLedger and</a:t>
            </a:r>
          </a:p>
          <a:p>
            <a:r>
              <a:t>the runtime journal, and fill the two amber cards. Change their tags to MEASURED. If you cannot, leave</a:t>
            </a:r>
          </a:p>
          <a:p>
            <a:r>
              <a:t>them amber and say "we measure this per run" rather than inventing a number.]</a:t>
            </a:r>
          </a:p>
          <a:p/>
          <a:p>
            <a:r>
              <a:t>Sources: demo/pdac/README.md (corpus), ARCHITECTURE.md 4.4 (budgets), skills/ (21 guides).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[5:10 — 25 s]  The roadmap is what is in plans/, in the order the team wrote it. The ask is concrete.</a:t>
            </a:r>
          </a:p>
          <a:p/>
          <a:p>
            <a:r>
              <a:t>"Next thirty days: the lighter experiment runtime, the review gate back in the console, the safety</a:t>
            </a:r>
          </a:p>
          <a:p>
            <a:r>
              <a:t>fixtures, and measured cost per experiment. Ninety days: three learned biological tools with native</a:t>
            </a:r>
          </a:p>
          <a:p>
            <a:r>
              <a:t>anytime-valid evidence, chosen by five independent reviews, on a shared receipt-only confirmation surface.</a:t>
            </a:r>
          </a:p>
          <a:p>
            <a:r>
              <a:t>Then branch monitoring and the paired feedback experiment. The ask is one wet-lab partner to take the first</a:t>
            </a:r>
          </a:p>
          <a:p>
            <a:r>
              <a:t>validated cards prospectively, two design-partner labs, and compute."</a:t>
            </a:r>
          </a:p>
          <a:p/>
          <a:p>
            <a:r>
              <a:t>Sources: plans/evalue-tool-council/README.md (three tools, reviewer table), plans/backlog.md (EVAL-01/02),</a:t>
            </a:r>
          </a:p>
          <a:p>
            <a:r>
              <a:t>ARCHITECTURE.md 4.5 (runtime), 7.1 (branch monitoring). AGENTS.md rule 6: backlog items are not</a:t>
            </a:r>
          </a:p>
          <a:p>
            <a:r>
              <a:t>autonomous assignments; say "specified", never "underway".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[5:35 — 10 s]  Say the three lines. Stop. Take questions.</a:t>
            </a:r>
          </a:p>
          <a:p/>
          <a:p>
            <a:r>
              <a:t>Leave this slide up during Q&amp;A; the repo link is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it to check yourself before the run, not on stage.</a:t>
            </a:r>
          </a:p>
          <a:p/>
          <a:p>
            <a:r>
              <a:t>Timing plan for a five-minute slot (adjust to the actual limit on the day):</a:t>
            </a:r>
          </a:p>
          <a:p>
            <a:r>
              <a:t> 01 title 0:20 · 02 gap 0:45 · 03 insight 0:40 · 04 picture 0:40 · 05 one loop 1:00 · 09 rigor 0:40 ·</a:t>
            </a:r>
          </a:p>
          <a:p>
            <a:r>
              <a:t> 13 reliability 0:35 · 14 feasibility 0:30 · 17 next 0:25 · 18 close 0:10  →  5:45; trim 05 or 13 to fit.</a:t>
            </a:r>
          </a:p>
          <a:p/>
          <a:p>
            <a:r>
              <a:t>If the slot is three minutes: 01, 03, 04, 05, 09,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Adapted from design/judge-brief.md section 4 to the discovery-engine framing.</a:t>
            </a:r>
          </a:p>
          <a:p/>
          <a:p>
            <a:r>
              <a:t>"Two negative results about its own ideas" refers to the archived forecasting work (appendix C): greedy</a:t>
            </a:r>
          </a:p>
          <a:p>
            <a:r>
              <a:t>coverage did not beat uniform acquisition, and the policy lab found no novel policy advantage after 5,120</a:t>
            </a:r>
          </a:p>
          <a:p>
            <a:r>
              <a:t>exhaustive cases. Only say it if you are prepared to show appendix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only. Show it if a judge asks "can it anticipate anything?" or "have you ever measured yourselves</a:t>
            </a:r>
          </a:p>
          <a:p>
            <a:r>
              <a:t>against a held-out future?" It is also the honest answer to "what did you try that failed?"</a:t>
            </a:r>
          </a:p>
          <a:p/>
          <a:p>
            <a:r>
              <a:t>Provenance: design/judge-brief.md (local, untracked) reconciled by an independent read of the run JSON on</a:t>
            </a:r>
          </a:p>
          <a:p>
            <a:r>
              <a:t>branch ian/policy-research-forecast-runner: 71 nodes / 131 claims / 216 evidence rows / 683 candidates /</a:t>
            </a:r>
          </a:p>
          <a:p>
            <a:r>
              <a:t>24 confirmed; pooled AUROC full 0.8187, initial 0.5791, popularity 0.5820, greedy 0.6043, uniform 0.6692.</a:t>
            </a:r>
          </a:p>
          <a:p>
            <a:r>
              <a:t>Caveats found in that read: the committed report uses k = 5 and 10 (no P@24 artifact); macro-averaged AP</a:t>
            </a:r>
          </a:p>
          <a:p>
            <a:r>
              <a:t>for the full graph is 0.41, not 0.20; budget matching is marked "unspecified" in the artifact. Do not</a:t>
            </a:r>
          </a:p>
          <a:p>
            <a:r>
              <a:t>quote P@24, and say "pooled" if you quote AP.</a:t>
            </a:r>
          </a:p>
          <a:p>
            <a:r>
              <a:t>Memory-control result: board post ian/judge-brief, PR #24, main f52e2e4.</a:t>
            </a:r>
          </a:p>
          <a:p/>
          <a:p>
            <a:r>
              <a:t>Say "later recorded", never "first discovered": CIViC additions are curation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DNHACKS 2026  ·  OPEN CATEGORY, PRESENTED BY DTX VENTURES  ·  [TODO confirm track on the submission form]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14255" y="457200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7D9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WORKING NAME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82296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8288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Compute, pointed at the</a:t>
            </a:r>
            <a:r>
              <a:rPr sz="5400" b="1" i="0">
                <a:solidFill>
                  <a:srgbClr val="A6CABB"/>
                </a:solidFill>
                <a:latin typeface="IBM Plex Sans"/>
                <a:ea typeface="IBM Plex Sans"/>
                <a:cs typeface="IBM Plex Sans"/>
              </a:rPr>
              <a:t>
right experiments.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An autonomous discovery engine. It turns a body of scientific literature into a knowledge graph, lets an agent roam it and run its own experiments on public data, checks every result with a falsifier that has no answer key, and puts a person at the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4068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82C24"/>
                </a:solidFill>
                <a:latin typeface="IBM Plex Mono"/>
                <a:ea typeface="IBM Plex Mono"/>
                <a:cs typeface="IBM Plex Mono"/>
              </a:rPr>
              <a:t>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computed from committed artifacts; numbers may be said aloud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544068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5715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behaviour that exists in main and is covered by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544068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4B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715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proposed in plans/; not built, not authorised until asked for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544068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7D9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ILLUSTRATIVE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5715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shape of the thing; values are placeholders until recorded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Ian Tinney · Richard Kim · [TODO team]   ·   github.com/richykim7/dnhacks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01 / 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7D9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ILLUSTRATIVE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Published science is full of connections nobody has 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The evidence to test them is already public. What is missing is something that aims at them and checks its work.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3484778" cy="251460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2313432"/>
            <a:ext cx="45720" cy="2185416"/>
          </a:xfrm>
          <a:prstGeom prst="rect">
            <a:avLst/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227685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THE LITERATURE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24328"/>
            <a:ext cx="3164738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Every paper asserts relations: this gene raises that pathway, this drug lowers this readout. Across a field those assertions form a graph with millions of edges. Most edges rest on one lab, one cell line, one experiment.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3458" y="2148840"/>
            <a:ext cx="3484778" cy="251460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53458" y="2313432"/>
            <a:ext cx="45720" cy="2185416"/>
          </a:xfrm>
          <a:prstGeom prst="rect">
            <a:avLst/>
          </a:prstGeom>
          <a:solidFill>
            <a:srgbClr val="E4B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54626" y="227685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4BB7F"/>
                </a:solidFill>
                <a:latin typeface="IBM Plex Mono"/>
                <a:ea typeface="IBM Plex Mono"/>
                <a:cs typeface="IBM Plex Mono"/>
              </a:rPr>
              <a:t>THE PUBLIC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4626" y="2624328"/>
            <a:ext cx="3164738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Genome-wide dependency screens across more than a thousand cancer cell lines (DepMap). Millions of expression profiles (GEO, ArrayExpress). Open-access full text of the papers themselves. All free, all downloadable, all mostly unread against each other.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2148840"/>
            <a:ext cx="3484778" cy="251460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66836" y="2313432"/>
            <a:ext cx="45720" cy="2185416"/>
          </a:xfrm>
          <a:prstGeom prst="rect">
            <a:avLst/>
          </a:prstGeom>
          <a:solidFill>
            <a:srgbClr val="E5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68004" y="227685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A6A0"/>
                </a:solidFill>
                <a:latin typeface="IBM Plex Mono"/>
                <a:ea typeface="IBM Plex Mono"/>
                <a:cs typeface="IBM Plex Mono"/>
              </a:rPr>
              <a:t>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8004" y="2624328"/>
            <a:ext cx="3164738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Nobody has the hours to cross-check claim by claim. Untested bridges between two well-studied things stay untested for years. Those are the discoveries waiting to be found, and finding them is a question of where you aim compute.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92040"/>
            <a:ext cx="10911535" cy="114300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68680" y="4983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TERMS WE WILL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57800"/>
            <a:ext cx="104543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Claim </a:t>
            </a: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— one paper's assertion that A affects B, kept with the exact sentence that backs it.   </a:t>
            </a:r>
            <a:r>
              <a:rPr sz="12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Knowledge graph </a:t>
            </a: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— claims drawn as edges between named biological things.   </a:t>
            </a:r>
            <a:r>
              <a:rPr sz="12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Experiment </a:t>
            </a: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— code the agent writes and runs against public data to test one edge.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02 / THE INSIGHT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Model capability is not the bottleneck. Aim and trust 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An agent with no map wanders. An agent with no gate fools itself. We built the map and the gate.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5318607" cy="1874519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2313432"/>
            <a:ext cx="45720" cy="1545335"/>
          </a:xfrm>
          <a:prstGeom prst="rect">
            <a:avLst/>
          </a:prstGeom>
          <a:solidFill>
            <a:srgbClr val="E4B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2276856"/>
            <a:ext cx="49985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4BB7F"/>
                </a:solidFill>
                <a:latin typeface="IBM Plex Mono"/>
                <a:ea typeface="IBM Plex Mono"/>
                <a:cs typeface="IBM Plex Mono"/>
              </a:rPr>
              <a:t>FAILURE MODE 1 — NO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24328"/>
            <a:ext cx="4998567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Re-tests what is already established. Calls a partial search 'novel'. Spends its budget on the hub genes everyone studies. The literature graph is the map: an edge with no path between two well-supported nodes is a candidate untested bridge.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48840"/>
            <a:ext cx="5318607" cy="1874519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33007" y="2313432"/>
            <a:ext cx="45720" cy="1545335"/>
          </a:xfrm>
          <a:prstGeom prst="rect">
            <a:avLst/>
          </a:prstGeom>
          <a:solidFill>
            <a:srgbClr val="E5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34175" y="2276856"/>
            <a:ext cx="49985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A6A0"/>
                </a:solidFill>
                <a:latin typeface="IBM Plex Mono"/>
                <a:ea typeface="IBM Plex Mono"/>
                <a:cs typeface="IBM Plex Mono"/>
              </a:rPr>
              <a:t>FAILURE MODE 2 — NO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2624328"/>
            <a:ext cx="4998567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Stops when the number looks good. Counts wells as donors. Reports p = 0. Believes its own summary. A falsifier with no answer key kills unsound numbers; a person decides truth, with a written note the agent must not forget.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10911535" cy="169164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4074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WHAT THE ENGINE DOES, IN ONE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103628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A6CABB"/>
                </a:solidFill>
                <a:latin typeface="IBM Plex Sans"/>
                <a:ea typeface="IBM Plex Sans"/>
                <a:cs typeface="IBM Plex Sans"/>
              </a:rPr>
              <a:t>literature </a:t>
            </a:r>
            <a:r>
              <a:rPr sz="1700" b="0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→ graph </a:t>
            </a:r>
            <a:r>
              <a:rPr sz="1700" b="0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→ agent picks one untested edge </a:t>
            </a:r>
            <a:r>
              <a:rPr sz="1700" b="0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→ writes and runs the experiment on public data </a:t>
            </a:r>
            <a:r>
              <a:rPr sz="1700" b="1" i="0">
                <a:solidFill>
                  <a:srgbClr val="E5A6A0"/>
                </a:solidFill>
                <a:latin typeface="IBM Plex Sans"/>
                <a:ea typeface="IBM Plex Sans"/>
                <a:cs typeface="IBM Plex Sans"/>
              </a:rPr>
              <a:t>→ falsifier </a:t>
            </a:r>
            <a:r>
              <a:rPr sz="1700" b="1" i="0">
                <a:solidFill>
                  <a:srgbClr val="E4BB7F"/>
                </a:solidFill>
                <a:latin typeface="IBM Plex Sans"/>
                <a:ea typeface="IBM Plex Sans"/>
                <a:cs typeface="IBM Plex Sans"/>
              </a:rPr>
              <a:t>→ person at the gate </a:t>
            </a:r>
            <a:r>
              <a:rPr sz="1700" b="0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→ master graph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 i="1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Survived verification means the numbers are sound. It never means the claim is true. Truth is the person's 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03 / WHAT WE BUILT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The whole engine in one picture.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Domain-agnostic code. The data sources, vocabularies and method guides wired in today are computational biology.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Project spec</a:t>
            </a:r>
          </a:p>
          <a:p>
            <a:pPr algn="ctr"/>
            <a:r>
              <a:rPr sz="950" b="0" i="0">
                <a:solidFill>
                  <a:srgbClr val="ABB7B3"/>
                </a:solidFill>
                <a:latin typeface="IBM Plex Mono"/>
                <a:ea typeface="IBM Plex Mono"/>
                <a:cs typeface="IBM Plex Mono"/>
              </a:rPr>
              <a:t>scope · queries · seeds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33172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Corpus build</a:t>
            </a:r>
          </a:p>
          <a:p>
            <a:pPr algn="ctr"/>
            <a:r>
              <a:rPr sz="950" b="0" i="0">
                <a:solidFill>
                  <a:srgbClr val="ABB7B3"/>
                </a:solidFill>
                <a:latin typeface="IBM Plex Mono"/>
                <a:ea typeface="IBM Plex Mono"/>
                <a:cs typeface="IBM Plex Mono"/>
              </a:rPr>
              <a:t>Europe PMC · open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3172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263B33"/>
          </a:solidFill>
          <a:ln w="9525">
            <a:solidFill>
              <a:srgbClr val="668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Knowledge graph</a:t>
            </a:r>
          </a:p>
          <a:p>
            <a:pPr algn="ctr"/>
            <a:r>
              <a:rPr sz="950" b="0" i="0">
                <a:solidFill>
                  <a:srgbClr val="ABB7B3"/>
                </a:solidFill>
                <a:latin typeface="IBM Plex Mono"/>
                <a:ea typeface="IBM Plex Mono"/>
                <a:cs typeface="IBM Plex Mono"/>
              </a:rPr>
              <a:t>DuckDB · claims +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33172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263B33"/>
          </a:solidFill>
          <a:ln w="9525">
            <a:solidFill>
              <a:srgbClr val="668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Explorer agent</a:t>
            </a:r>
          </a:p>
          <a:p>
            <a:pPr algn="ctr"/>
            <a:r>
              <a:rPr sz="950" b="0" i="0">
                <a:solidFill>
                  <a:srgbClr val="ABB7B3"/>
                </a:solidFill>
                <a:latin typeface="IBM Plex Mono"/>
                <a:ea typeface="IBM Plex Mono"/>
                <a:cs typeface="IBM Plex Mono"/>
              </a:rPr>
              <a:t>reason → one action → observe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3172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Experiments</a:t>
            </a:r>
          </a:p>
          <a:p>
            <a:pPr algn="ctr"/>
            <a:r>
              <a:rPr sz="950" b="0" i="0">
                <a:solidFill>
                  <a:srgbClr val="ABB7B3"/>
                </a:solidFill>
                <a:latin typeface="IBM Plex Mono"/>
                <a:ea typeface="IBM Plex Mono"/>
                <a:cs typeface="IBM Plex Mono"/>
              </a:rPr>
              <a:t>Python · RESULT: {json}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233172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3A2A2B"/>
          </a:solidFill>
          <a:ln w="9525">
            <a:solidFill>
              <a:srgbClr val="E5A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Falsifier</a:t>
            </a:r>
          </a:p>
          <a:p>
            <a:pPr algn="ctr"/>
            <a:r>
              <a:rPr sz="950" b="0" i="0">
                <a:solidFill>
                  <a:srgbClr val="ABB7B3"/>
                </a:solidFill>
                <a:latin typeface="IBM Plex Mono"/>
                <a:ea typeface="IBM Plex Mono"/>
                <a:cs typeface="IBM Plex Mono"/>
              </a:rPr>
              <a:t>soundness only · no answer key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12848" y="2766060.0"/>
            <a:ext cx="301752" cy="0.0"/>
          </a:xfrm>
          <a:prstGeom prst="line">
            <a:avLst/>
          </a:prstGeom>
          <a:ln w="15875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87368" y="2766060.0"/>
            <a:ext cx="301752" cy="0.0"/>
          </a:xfrm>
          <a:prstGeom prst="line">
            <a:avLst/>
          </a:prstGeom>
          <a:ln w="15875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61888" y="2766060.0"/>
            <a:ext cx="301752" cy="0.0"/>
          </a:xfrm>
          <a:prstGeom prst="line">
            <a:avLst/>
          </a:prstGeom>
          <a:ln w="15875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36408" y="2766060.0"/>
            <a:ext cx="301752" cy="0.0"/>
          </a:xfrm>
          <a:prstGeom prst="line">
            <a:avLst/>
          </a:prstGeom>
          <a:ln w="15875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10928" y="2766060.0"/>
            <a:ext cx="301752" cy="0.0"/>
          </a:xfrm>
          <a:prstGeom prst="line">
            <a:avLst/>
          </a:prstGeom>
          <a:ln w="15875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12680" y="393192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3B3322"/>
          </a:solidFill>
          <a:ln w="9525">
            <a:solidFill>
              <a:srgbClr val="E4BB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Human gate</a:t>
            </a:r>
          </a:p>
          <a:p>
            <a:pPr algn="ctr"/>
            <a:r>
              <a:rPr sz="950" b="0" i="0">
                <a:solidFill>
                  <a:srgbClr val="ABB7B3"/>
                </a:solidFill>
                <a:latin typeface="IBM Plex Mono"/>
                <a:ea typeface="IBM Plex Mono"/>
                <a:cs typeface="IBM Plex Mono"/>
              </a:rPr>
              <a:t>written note required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93192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263B33"/>
          </a:solidFill>
          <a:ln w="9525">
            <a:solidFill>
              <a:srgbClr val="668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Master graph</a:t>
            </a:r>
          </a:p>
          <a:p>
            <a:pPr algn="ctr"/>
            <a:r>
              <a:rPr sz="950" b="0" i="0">
                <a:solidFill>
                  <a:srgbClr val="ABB7B3"/>
                </a:solidFill>
                <a:latin typeface="IBM Plex Mono"/>
                <a:ea typeface="IBM Plex Mono"/>
                <a:cs typeface="IBM Plex Mono"/>
              </a:rPr>
              <a:t>validated + provenance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799064.0" y="3200400"/>
            <a:ext cx="0.0" cy="731520"/>
          </a:xfrm>
          <a:prstGeom prst="line">
            <a:avLst/>
          </a:prstGeom>
          <a:ln w="15875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710928" y="4192524.0"/>
            <a:ext cx="301752" cy="0.0"/>
          </a:xfrm>
          <a:prstGeom prst="line">
            <a:avLst/>
          </a:prstGeom>
          <a:ln w="15875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484510.4" y="3200400"/>
            <a:ext cx="0.0" cy="219456"/>
          </a:xfrm>
          <a:prstGeom prst="line">
            <a:avLst/>
          </a:prstGeom>
          <a:ln w="15875">
            <a:solidFill>
              <a:srgbClr val="E5A6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364577.6" y="3419856"/>
            <a:ext cx="3119932.8000000007" cy="0"/>
          </a:xfrm>
          <a:prstGeom prst="line">
            <a:avLst/>
          </a:prstGeom>
          <a:ln w="15875">
            <a:solidFill>
              <a:srgbClr val="E5A6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364577.6" y="3200400"/>
            <a:ext cx="0.0" cy="219456"/>
          </a:xfrm>
          <a:prstGeom prst="line">
            <a:avLst/>
          </a:prstGeom>
          <a:ln w="15875">
            <a:solidFill>
              <a:srgbClr val="E5A6A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90399" y="34564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E5A6A0"/>
                </a:solidFill>
                <a:latin typeface="IBM Plex Mono"/>
                <a:ea typeface="IBM Plex Mono"/>
                <a:cs typeface="IBM Plex Mono"/>
              </a:rPr>
              <a:t>kills → retry / reframe / dead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27233.6" y="4800600"/>
            <a:ext cx="0.0" cy="219456"/>
          </a:xfrm>
          <a:prstGeom prst="line">
            <a:avLst/>
          </a:prstGeom>
          <a:ln w="15875">
            <a:solidFill>
              <a:srgbClr val="E4BB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814108.8" y="5020056"/>
            <a:ext cx="3513124.8" cy="0"/>
          </a:xfrm>
          <a:prstGeom prst="line">
            <a:avLst/>
          </a:prstGeom>
          <a:ln w="15875">
            <a:solidFill>
              <a:srgbClr val="E4BB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814108.8" y="3200400"/>
            <a:ext cx="0.0" cy="1819656"/>
          </a:xfrm>
          <a:prstGeom prst="line">
            <a:avLst/>
          </a:prstGeom>
          <a:ln w="15875">
            <a:solidFill>
              <a:srgbClr val="E4BB7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971385" y="50566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E4BB7F"/>
                </a:solidFill>
                <a:latin typeface="IBM Plex Mono"/>
                <a:ea typeface="IBM Plex Mono"/>
                <a:cs typeface="IBM Plex Mono"/>
              </a:rPr>
              <a:t>rejections → corrections in the agent's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49240"/>
            <a:ext cx="34847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6CABB"/>
                </a:solidFill>
                <a:latin typeface="IBM Plex Sans"/>
                <a:ea typeface="IBM Plex Sans"/>
                <a:cs typeface="IBM Plex Sans"/>
              </a:rPr>
              <a:t>The graph aims. </a:t>
            </a:r>
            <a:r>
              <a:rPr sz="12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A missing path between two supported nodes is a candidate untested bridge; the agent's own memory is the search frontier.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3458" y="5349240"/>
            <a:ext cx="34847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A6A0"/>
                </a:solidFill>
                <a:latin typeface="IBM Plex Sans"/>
                <a:ea typeface="IBM Plex Sans"/>
                <a:cs typeface="IBM Plex Sans"/>
              </a:rPr>
              <a:t>The falsifier kills. </a:t>
            </a:r>
            <a:r>
              <a:rPr sz="12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Seven checks on the numbers alone. No gene identity, no effect size, no notion of importance.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6836" y="5349240"/>
            <a:ext cx="34847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BB7F"/>
                </a:solidFill>
                <a:latin typeface="IBM Plex Sans"/>
                <a:ea typeface="IBM Plex Sans"/>
                <a:cs typeface="IBM Plex Sans"/>
              </a:rPr>
              <a:t>The person decides. </a:t>
            </a:r>
            <a:r>
              <a:rPr sz="12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Nothing reaches the master graph without a written note, and every rejection is pushed back into the agent's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04 / ONE STORY, NOT A TOUR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7D9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ILLUSTRATIVE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One investigation, 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[TODO replace every bracket with the recorded investigation chosen for the demo; then change this tag to MEASURED]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3484778" cy="178308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2313432"/>
            <a:ext cx="45720" cy="1453896"/>
          </a:xfrm>
          <a:prstGeom prst="rect">
            <a:avLst/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227685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1 · A CLAIM IN THE LITERATURE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24328"/>
            <a:ext cx="316473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“[TODO exact quote from the paper]”
[TODO first author, year] · claim_id [TODO]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3458" y="2148840"/>
            <a:ext cx="3484778" cy="178308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53458" y="2313432"/>
            <a:ext cx="45720" cy="1453896"/>
          </a:xfrm>
          <a:prstGeom prst="rect">
            <a:avLst/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54626" y="227685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2 · AN UNTESTED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4626" y="2624328"/>
            <a:ext cx="316473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path([TODO gene A], [TODO gene B]) → none.
Both nodes established (≥2 sources); no edge between them; nothing in engine_tests.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2148840"/>
            <a:ext cx="3484778" cy="178308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66836" y="2313432"/>
            <a:ext cx="45720" cy="1453896"/>
          </a:xfrm>
          <a:prstGeom prst="rect">
            <a:avLst/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68004" y="227685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3 · THE METHOD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8004" y="2624328"/>
            <a:ext cx="316473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get_skill(depmap_dependency) [TODO or the guide actually used]. The rigor contract: permute at the independent unit, ≥ 8 units per group, predeclare direction.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14800"/>
            <a:ext cx="3484778" cy="178308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40080" y="4279392"/>
            <a:ext cx="45720" cy="1453896"/>
          </a:xfrm>
          <a:prstGeom prst="rect">
            <a:avLst/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1248" y="424281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4 · CODE, RUN,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590288"/>
            <a:ext cx="316473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RESULT: {"effect": [TODO], "p_null": [TODO], "null_model": "[TODO]", "n_units": [TODO], "robust": [TODO]}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3458" y="4114800"/>
            <a:ext cx="3484778" cy="178308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53458" y="4279392"/>
            <a:ext cx="45720" cy="1453896"/>
          </a:xfrm>
          <a:prstGeom prst="rect">
            <a:avLst/>
          </a:prstGeom>
          <a:solidFill>
            <a:srgbClr val="E5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54626" y="424281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A6A0"/>
                </a:solidFill>
                <a:latin typeface="IBM Plex Mono"/>
                <a:ea typeface="IBM Plex Mono"/>
                <a:cs typeface="IBM Plex Mono"/>
              </a:rPr>
              <a:t>5 · THE FALSIFIER'S VERDICT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4626" y="4590288"/>
            <a:ext cx="316473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[TODO CANDIDATE, or KILL:&lt;slug&gt;]. If killed: the agent saw the slug on its next turn and [TODO retried / reframed].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6836" y="4114800"/>
            <a:ext cx="3484778" cy="178308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66836" y="4279392"/>
            <a:ext cx="45720" cy="1453896"/>
          </a:xfrm>
          <a:prstGeom prst="rect">
            <a:avLst/>
          </a:prstGeom>
          <a:solidFill>
            <a:srgbClr val="E4B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68004" y="424281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4BB7F"/>
                </a:solidFill>
                <a:latin typeface="IBM Plex Mono"/>
                <a:ea typeface="IBM Plex Mono"/>
                <a:cs typeface="IBM Plex Mono"/>
              </a:rPr>
              <a:t>6 · THE PERSON AT THE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8004" y="4590288"/>
            <a:ext cx="316473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Card shows the edge, the quotes, the numbers. Decision: [TODO validated / rejected]. Note: “[TODO the reviewer's written note]”.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05 / THE GRAPH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Identity keys never contain free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The model picks from menus; code grounds every name. That is why two papers asserting the same thing land on one row.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1737360" cy="731520"/>
          </a:xfrm>
          <a:prstGeom prst="roundRect">
            <a:avLst>
              <a:gd name="adj" fmla="val 6000"/>
            </a:avLst>
          </a:prstGeom>
          <a:solidFill>
            <a:srgbClr val="263B33"/>
          </a:solidFill>
          <a:ln w="9525">
            <a:solidFill>
              <a:srgbClr val="668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KRAS</a:t>
            </a:r>
          </a:p>
          <a:p>
            <a:pPr algn="ctr"/>
            <a:r>
              <a:rPr sz="950" b="0" i="0">
                <a:solidFill>
                  <a:srgbClr val="ABB7B3"/>
                </a:solidFill>
                <a:latin typeface="IBM Plex Mono"/>
                <a:ea typeface="IBM Plex Mono"/>
                <a:cs typeface="IBM Plex Mono"/>
              </a:rPr>
              <a:t>HGNC:6407 · mutant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514600"/>
            <a:ext cx="1737360" cy="73152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increases</a:t>
            </a:r>
          </a:p>
          <a:p>
            <a:pPr algn="ctr"/>
            <a:r>
              <a:rPr sz="950" b="0" i="0">
                <a:solidFill>
                  <a:srgbClr val="ABB7B3"/>
                </a:solidFill>
                <a:latin typeface="IBM Plex Mono"/>
                <a:ea typeface="IBM Plex Mono"/>
                <a:cs typeface="IBM Plex Mono"/>
              </a:rPr>
              <a:t>closed predicate 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514600"/>
            <a:ext cx="1737360" cy="731520"/>
          </a:xfrm>
          <a:prstGeom prst="roundRect">
            <a:avLst>
              <a:gd name="adj" fmla="val 6000"/>
            </a:avLst>
          </a:prstGeom>
          <a:solidFill>
            <a:srgbClr val="263B33"/>
          </a:solidFill>
          <a:ln w="9525">
            <a:solidFill>
              <a:srgbClr val="668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glycolysis</a:t>
            </a:r>
          </a:p>
          <a:p>
            <a:pPr algn="ctr"/>
            <a:r>
              <a:rPr sz="950" b="0" i="0">
                <a:solidFill>
                  <a:srgbClr val="ABB7B3"/>
                </a:solidFill>
                <a:latin typeface="IBM Plex Mono"/>
                <a:ea typeface="IBM Plex Mono"/>
                <a:cs typeface="IBM Plex Mono"/>
              </a:rPr>
              <a:t>GO:0006096 · activity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2880360"/>
            <a:ext cx="548640" cy="0"/>
          </a:xfrm>
          <a:prstGeom prst="line">
            <a:avLst/>
          </a:prstGeom>
          <a:ln w="15875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63440" y="2880360"/>
            <a:ext cx="548640" cy="0"/>
          </a:xfrm>
          <a:prstGeom prst="line">
            <a:avLst/>
          </a:prstGeom>
          <a:ln w="15875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33832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spine = subject · predicate · object · aspect, plus entity state   →   claim_id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762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ONE CLAIM (illustrative values)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6309360" cy="228600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EVIDENCE, ONE ROW PER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0624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the exact quote, its section, the surface predicate, evidence and study type, certainty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context slots (cell line, tissue, organism) each marked stated / inherited / unspecified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attribution: own finding or a citation, so ten echoes of one experiment count as one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contradictions computed on demand: opposite sign, same dimension → status disputed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406640" y="2148840"/>
          <a:ext cx="4114800" cy="2715768"/>
        </p:xfrm>
        <a:graphic>
          <a:graphicData uri="http://schemas.openxmlformats.org/drawingml/2006/table">
            <a:tbl>
              <a:tblPr firstRow="0" bandRow="0"/>
              <a:tblGrid>
                <a:gridCol w="1737360"/>
                <a:gridCol w="237744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category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owner vocabulary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genes, proteins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HGNC via Gilda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chemicals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ChEBI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diseases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MONDO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phenotypes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HP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anatomy · cell types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UBERON · CL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cell lines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Cellosaurus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processes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GO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gaps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reviewed local registries, never fake IDs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406640" y="498348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Four objects on disk: Paper → Experiment → Evidence → Claim, all in one DuckDB file per corpus. Writing a paper is idempotent: its old contribution is replaced, never duplicated.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06 / WHERE THE MODELS 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Two pinned models, one seam, no API keys.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Model calls happen in exactly one module. Everything downstream is code that can be tested without a model.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5318607" cy="393192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CORPUS → GRAPH (bulk extraction)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4861407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Discovery.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Each query is an independent Europe PMC channel; overlap between channels gives a capture–recapture estimate of how complete the search is.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Triage.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MiniLM embeddings rank candidates against the theme, locally, with no API.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Fetch.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Open-access full text only; licence recorded per article; a title-overlap check stops a mis-resolved identifier from pulling the wrong paper.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Extract.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Opus reads each paper against category, predicate, aspect and context menus and returns claims with source quotes. A separate Sonnet pass checks direction.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Repair, then defer.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Unresolved claims go to grouped repair with the concrete validation errors; what still fails becomes a deferral row, never a guess.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148840"/>
            <a:ext cx="5318607" cy="393192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1607" y="2286000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THE SEAM (llm.py)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2606040"/>
            <a:ext cx="4861407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One module. </a:t>
            </a:r>
            <a:r>
              <a:rPr sz="12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Claude Agent SDK over the operator's own CLI login. There is no API key anywhere in the repo, by rule.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2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Two pinned models. </a:t>
            </a:r>
            <a:r>
              <a:rPr sz="12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One for scientific judgement (explorer, fork judge, assistant), one for bulk extraction.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2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Resumable sessions. </a:t>
            </a:r>
            <a:r>
              <a:rPr sz="12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A session is the agent's working memory; that is what makes forking and restart-safe checkpoints possible.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2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Usage ledger. </a:t>
            </a:r>
            <a:r>
              <a:rPr sz="12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Tokens and cache hits recorded per run, so cost per experiment is a measurement, not a guess.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2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Model-free downstream. </a:t>
            </a:r>
            <a:r>
              <a:rPr sz="12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Grounding, contradiction, falsifier, gate and console are plain code with deterministic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07 / THE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Reason → one action → observe. Then a report to its parent.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Sixteen actions, an episodic memory that doubles as the search frontier, and a tree of workers with a parent that allocates.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48840"/>
          <a:ext cx="6492240" cy="2962656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40233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what it does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search_kg · neighbors · path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structural reads; a missing path is a candidate bridge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search_papers · read_paper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semantic search over stored full text, paged reads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find_datasets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GEO and ArrayExpress search for real data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search_skills · get_skill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read a method guide before writing code (21 guides)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run_experiments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several Python experiments in parallel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log · recall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ideas, dead ends, open questions with a promise score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submit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send a self-judged experiment to verification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fork · checkpoint · done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mandatory report; the parent continues, splits or prunes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589520" y="2148840"/>
            <a:ext cx="3931920" cy="301752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0" y="22585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INVESTIGATION TREE (run ids are paths)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651760"/>
            <a:ext cx="1005840" cy="384048"/>
          </a:xfrm>
          <a:prstGeom prst="roundRect">
            <a:avLst>
              <a:gd name="adj" fmla="val 6000"/>
            </a:avLst>
          </a:prstGeom>
          <a:solidFill>
            <a:srgbClr val="263B33"/>
          </a:solidFill>
          <a:ln w="9525">
            <a:solidFill>
              <a:srgbClr val="668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root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383280"/>
            <a:ext cx="1005840" cy="384048"/>
          </a:xfrm>
          <a:prstGeom prst="roundRect">
            <a:avLst>
              <a:gd name="adj" fmla="val 6000"/>
            </a:avLst>
          </a:prstGeom>
          <a:solidFill>
            <a:srgbClr val="263B33"/>
          </a:solidFill>
          <a:ln w="9525">
            <a:solidFill>
              <a:srgbClr val="668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root~0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383280"/>
            <a:ext cx="1005840" cy="384048"/>
          </a:xfrm>
          <a:prstGeom prst="roundRect">
            <a:avLst>
              <a:gd name="adj" fmla="val 6000"/>
            </a:avLst>
          </a:prstGeom>
          <a:solidFill>
            <a:srgbClr val="263B33"/>
          </a:solidFill>
          <a:ln w="9525">
            <a:solidFill>
              <a:srgbClr val="668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root~1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60" y="3383280"/>
            <a:ext cx="1005840" cy="384048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root~2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4114800"/>
            <a:ext cx="1005840" cy="384048"/>
          </a:xfrm>
          <a:prstGeom prst="roundRect">
            <a:avLst>
              <a:gd name="adj" fmla="val 6000"/>
            </a:avLst>
          </a:prstGeom>
          <a:solidFill>
            <a:srgbClr val="263B33"/>
          </a:solidFill>
          <a:ln w="9525">
            <a:solidFill>
              <a:srgbClr val="668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root~1~0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4114800"/>
            <a:ext cx="1005840" cy="384048"/>
          </a:xfrm>
          <a:prstGeom prst="roundRect">
            <a:avLst>
              <a:gd name="adj" fmla="val 6000"/>
            </a:avLst>
          </a:prstGeom>
          <a:solidFill>
            <a:srgbClr val="263B33"/>
          </a:solidFill>
          <a:ln w="9525">
            <a:solidFill>
              <a:srgbClr val="668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05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root~1~1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412480.0" y="3035808"/>
            <a:ext cx="1143000.0" cy="347472"/>
          </a:xfrm>
          <a:prstGeom prst="line">
            <a:avLst/>
          </a:prstGeom>
          <a:ln w="12700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55480.0" y="3035808"/>
            <a:ext cx="0.0" cy="347472"/>
          </a:xfrm>
          <a:prstGeom prst="line">
            <a:avLst/>
          </a:prstGeom>
          <a:ln w="12700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55480.0" y="3035808"/>
            <a:ext cx="1143000.0" cy="347472"/>
          </a:xfrm>
          <a:prstGeom prst="line">
            <a:avLst/>
          </a:prstGeom>
          <a:ln w="12700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961120.0" y="3767328"/>
            <a:ext cx="594360.0" cy="347472"/>
          </a:xfrm>
          <a:prstGeom prst="line">
            <a:avLst/>
          </a:prstGeom>
          <a:ln w="12700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555480.0" y="3767328"/>
            <a:ext cx="594360.0" cy="347472"/>
          </a:xfrm>
          <a:prstGeom prst="line">
            <a:avLst/>
          </a:prstGeom>
          <a:ln w="12700">
            <a:solidFill>
              <a:srgbClr val="668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0" y="46177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pruned branch keeps its findings and pending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349240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Absence rule: </a:t>
            </a:r>
            <a:r>
              <a:rPr sz="11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a capped or truncated search is evidence of presence only; nothing is 'novel' on a partial search.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Budgets: </a:t>
            </a:r>
            <a:r>
              <a:rPr sz="11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18 actions per round, depth 6, 72 descendant slots, restart-safe reports and decisions in SQLite.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08 / THE RIGOR LAYER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A falsifier with no answer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It judges only whether the numbers can be trusted. Whether a result matters is decided by a person at the gate.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48840"/>
          <a:ext cx="6675120" cy="2706624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1737360"/>
                <a:gridCol w="1371600"/>
              </a:tblGrid>
              <a:tr h="3383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check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kill slug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kind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required RESULT fields missing or mistyped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malformed-result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invalid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effect is not a finite number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no-effect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invalid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fewer than 8 independent units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too-few-units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underpowered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p_null outside (0, 1]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malformed-p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invalid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direction disagrees with the predicted sign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direction-wrong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refuted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p_null above 0.05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not-significant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inconclusive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robustness check failed (leave-one-group-out)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not-robust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refuted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98348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Fixable kills come back to the agent as needs-retry, a wrong direction as reframe, a pass as promising. There is deliberately no minimum-effect gate: the effect size is filled by the agent and validated by nothing.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48840"/>
            <a:ext cx="3749039" cy="361188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55280" y="225856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THE RIGOR CONTRACT EVERY EXPERIMENT SIGNS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606040"/>
            <a:ext cx="3429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permute at the truly independent unit (donors, not wells)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report a Phipson–Smyth permutation p that is never exactly zero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predeclare the direction; match it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hold up under leave-one-group-out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at least 8 units per group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decide the analysis before seeing the result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include a negative control where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897879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4BB7F"/>
                </a:solidFill>
                <a:latin typeface="IBM Plex Sans"/>
                <a:ea typeface="IBM Plex Sans"/>
                <a:cs typeface="IBM Plex Sans"/>
              </a:rPr>
              <a:t>Survived ≠ true. Survived = the numbers are sound.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09 / EVIDENCE THAT SURVIVES PEEKING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82C24"/>
                </a:solidFill>
                <a:latin typeface="IBM Plex Mono"/>
                <a:ea typeface="IBM Plex Mono"/>
                <a:cs typeface="IBM Plex Mono"/>
              </a:rPr>
              <a:t>MEASURED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Anytime-valid evidence on a real held-out cohort.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An agent that runs experiments in sequence must not be able to p-hack itself by stopping when the number looks good.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6766560" cy="3977639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77240" y="2423160"/>
          <a:ext cx="6492240" cy="356615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68680" y="21945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GSE212041 · 374 day-zero donors · COVID+ vs symptomatic COVID− · seed fixed before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1031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WHAT AN E-VALUE BUYS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395728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Peek any time.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Wealth is a nonnegative martingale under the null; by Ville's inequality the chance it ever crosses 1/α is at most α.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Learned, but fair.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A neural bettor trains only on past units and is scored on fresh ones; the encoder is frozen on a disjoint donor split.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680960" y="3931920"/>
          <a:ext cx="3886199" cy="150876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1874519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control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artificial null, 200 sign draws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 of 200 final rejections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invalid label-memorisation control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caught: rejects 100 %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ordinary permutation, same donors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p = 0.0001 · e = 99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ten predeclared re-orderings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enc 9/10 · PCA 5/10 · scalar 8/10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680960" y="5577840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4BB7F"/>
                </a:solidFill>
                <a:latin typeface="IBM Plex Sans"/>
                <a:ea typeface="IBM Plex Sans"/>
                <a:cs typeface="IBM Plex Sans"/>
              </a:rPr>
              <a:t>Standalone diagnostic, tested, deliberately not yet wired to verdicts. Encoder trained on an L40S in 3.4 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10 / THE PERSON AT THE GATE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Nothing reaches the master graph without a written note.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Every human decision is written back onto the agent's memory. Feedback that does not reach its next turn is a bug.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5669280" cy="384048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68680" y="233172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82C24"/>
                </a:solidFill>
                <a:latin typeface="IBM Plex Mono"/>
                <a:ea typeface="IBM Plex Mono"/>
                <a:cs typeface="IBM Plex Mono"/>
              </a:rPr>
              <a:t>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3317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engine_tests · [TODO id]  ·  awaiting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[TODO subject] </a:t>
            </a:r>
            <a:r>
              <a:rPr sz="1400" b="0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depends_on </a:t>
            </a:r>
            <a:r>
              <a:rPr sz="140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[TODO object]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3154680"/>
            <a:ext cx="5212080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324612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Literature  </a:t>
            </a:r>
            <a:r>
              <a:rPr sz="1150" b="0" i="1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“[TODO exact quote from the source paper]” — [TODO paper], section [TODO]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23359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Numbers  </a:t>
            </a:r>
            <a:r>
              <a:rPr sz="1050" b="0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effect [TODO] · p_null [TODO] · n_units [TODO] · robust [TODO] · null: [TODO]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262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Falsifier  </a:t>
            </a:r>
            <a:r>
              <a:rPr sz="1050" b="0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CANDIDATE — all seven checks passed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029200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151A1B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7D918A"/>
                </a:solidFill>
                <a:latin typeface="IBM Plex Sans"/>
                <a:ea typeface="IBM Plex Sans"/>
                <a:cs typeface="IBM Plex Sans"/>
              </a:rPr>
              <a:t>Decision note (required): [TODO the reviewer's own words — why this is, or is not, worth believing]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2148840"/>
            <a:ext cx="4663440" cy="173736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75120" y="2313432"/>
            <a:ext cx="45720" cy="1408176"/>
          </a:xfrm>
          <a:prstGeom prst="rect">
            <a:avLst/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76288" y="2276856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VALIDATED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624328"/>
            <a:ext cx="4343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The card, its literature provenance and the note are copied into a separate master graph. The working graph is untouched; the console stays read-only except for this one explicit write.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069080"/>
            <a:ext cx="4663440" cy="192024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75120" y="4233672"/>
            <a:ext cx="45720" cy="1591056"/>
          </a:xfrm>
          <a:prstGeom prst="rect">
            <a:avLst/>
          </a:prstGeom>
          <a:solidFill>
            <a:srgbClr val="E5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76288" y="4197096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5A6A0"/>
                </a:solidFill>
                <a:latin typeface="IBM Plex Mono"/>
                <a:ea typeface="IBM Plex Mono"/>
                <a:cs typeface="IBM Plex Mono"/>
              </a:rPr>
              <a:t>REJECTED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4544568"/>
            <a:ext cx="4343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Stays local. The note is pushed into the explorer's memory as a correction it must not repeat, visible on its next turn. The gate is where a lab's judgement becomes the agent's judgement.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11 / WHO IT IS FOR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Built for the person who has to decide what is true.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A guiding persona, and the design decisions that fall out of her.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4023360" cy="388620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GUIDING PERSONA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The computational biologist in a small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owns one corpus and one question at a time; a run is hours, a follow-up wet-lab test is months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trusts quotes and denominators, not summaries; has been burned by a p-hacked collaborator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works long sessions in a dark room; keyboard first; needs to leave and come back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will not accept a black box in a paper's methods section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is the only person allowed to say 'true'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937760" y="2148840"/>
          <a:ext cx="6583680" cy="352044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42062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she needs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so the design does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to check the source herself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every claim opens to its exact quotation and paper; developer ids in disclosures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never to mistake a lead for a result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'candidate' is never styled as a discovery; missing measurements are never zero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to know what the machine is doing now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intent, runtime execution and worker liveness are separate signals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her decision to teach the agent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 written note is required; rejections reach the agent's next turn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calm, not telemetry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no gradients, glass, neon, fake counters; motion only describes change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to work her way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dark and light themes, reduced motion respected, keyboard focus, narrow screens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12 / THE WORKSPACE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A quiet, precise scientific instrument.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Three surfaces: Investigations, Library, Knowledge. The tree owns the visual emphasis.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[TODO screenshot: INVESTIGATIONS view]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search tree of agents · live activity feed · each experiment with code, result, provenance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4884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43400" y="297180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[TODO screenshot: KNOWLEDGE view]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720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claim graph with entity shapes and signed edges · claim inspector with quotes and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TOKENS (frontend/src/styles.css)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514600"/>
            <a:ext cx="502920" cy="292608"/>
          </a:xfrm>
          <a:prstGeom prst="rect">
            <a:avLst/>
          </a:prstGeom>
          <a:solidFill>
            <a:srgbClr val="151A1B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69680" y="25328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#151a1b  </a:t>
            </a: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background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898648"/>
            <a:ext cx="502920" cy="292608"/>
          </a:xfrm>
          <a:prstGeom prst="rect">
            <a:avLst/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0" y="29169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#1b2122  </a:t>
            </a: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surface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282696"/>
            <a:ext cx="502920" cy="292608"/>
          </a:xfrm>
          <a:prstGeom prst="rect">
            <a:avLst/>
          </a:prstGeom>
          <a:solidFill>
            <a:srgbClr val="EDF0EA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869680" y="330098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#edf0ea  </a:t>
            </a: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666744"/>
            <a:ext cx="502920" cy="292608"/>
          </a:xfrm>
          <a:prstGeom prst="rect">
            <a:avLst/>
          </a:prstGeom>
          <a:solidFill>
            <a:srgbClr val="A6CABB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0" y="36850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#a6cabb  </a:t>
            </a: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selection · sea-green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50792"/>
            <a:ext cx="502920" cy="292608"/>
          </a:xfrm>
          <a:prstGeom prst="rect">
            <a:avLst/>
          </a:prstGeom>
          <a:solidFill>
            <a:srgbClr val="E4BB7F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0" y="4069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#e4bb7f  </a:t>
            </a: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uncertainty · amber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434840"/>
            <a:ext cx="502920" cy="292608"/>
          </a:xfrm>
          <a:prstGeom prst="rect">
            <a:avLst/>
          </a:prstGeom>
          <a:solidFill>
            <a:srgbClr val="E5A6A0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869680" y="44531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#e5a6a0  </a:t>
            </a: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failure · rose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920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IBM Plex Sans · IBM Plex Mono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Decorative colour never implies confidence. </a:t>
            </a:r>
            <a:r>
              <a:rPr sz="11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Provenance distinguishes reference, prediction, derived geometry and illustration.</a:t>
            </a:r>
          </a:p>
          <a:p>
            <a:pPr>
              <a:lnSpc>
                <a:spcPct val="118000"/>
              </a:lnSpc>
              <a:spcBef>
                <a:spcPts val="300"/>
              </a:spcBef>
            </a:pPr>
            <a:r>
              <a:rPr sz="11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1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Same tokens on stage. </a:t>
            </a:r>
            <a:r>
              <a:rPr sz="11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This deck uses the product's palette and type so the demo and the slides read as one instrument.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3492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React Flow · Dagre · d3-force · Motion · Radix · 3Dmol (only inside its owning experiment)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13 / RELIABILITY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Where it can fail, and what catches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Failure modes are named, tested, and shown honestly in the interface.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3484778" cy="329184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2313432"/>
            <a:ext cx="45720" cy="2962656"/>
          </a:xfrm>
          <a:prstGeom prst="rect">
            <a:avLst/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227685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HALLUCINATION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24328"/>
            <a:ext cx="316473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The model never writes an identifier: it picks from menus and code grounds. Quotes are span-checked. Unresolvable claims become deferrals. The absence rule forbids 'novel' on a truncated search. Results must be one typed RESULT line or they do not exist.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3458" y="2148840"/>
            <a:ext cx="3484778" cy="329184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53458" y="2313432"/>
            <a:ext cx="45720" cy="2962656"/>
          </a:xfrm>
          <a:prstGeom prst="rect">
            <a:avLst/>
          </a:prstGeom>
          <a:solidFill>
            <a:srgbClr val="E4B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54626" y="227685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4BB7F"/>
                </a:solidFill>
                <a:latin typeface="IBM Plex Mono"/>
                <a:ea typeface="IBM Plex Mono"/>
                <a:cs typeface="IBM Plex Mono"/>
              </a:rPr>
              <a:t>SECURITY &amp;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4626" y="2624328"/>
            <a:ext cx="316473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Console bound to localhost; inspection is read-only; DuckDB opened read-only with a snapshot when a run holds the lock. No API keys in the repo. Experiment code runs in a sandbox (Docker today; a lighter runtime is a pending decision). Private scoring is kept out of agent feedback by construction.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2148840"/>
            <a:ext cx="3484778" cy="329184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66836" y="2313432"/>
            <a:ext cx="45720" cy="2962656"/>
          </a:xfrm>
          <a:prstGeom prst="rect">
            <a:avLst/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68004" y="227685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TESTING REGIMEN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8004" y="2624328"/>
            <a:ext cx="316473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Tracked Python suite: 270 passed, 18 skipped from a clean checkout of main (2026-09-06); the wider local suite with unversioned vocabulary data reports 648 passed. Browser suite in Playwright against an empty-data server. The architecture endpoint reads action names, thresholds and budgets from source by AST, so the docs fail loudly if the code drifts.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23560"/>
            <a:ext cx="10911535" cy="77724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104543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4BB7F"/>
                </a:solidFill>
                <a:latin typeface="IBM Plex Sans"/>
                <a:ea typeface="IBM Plex Sans"/>
                <a:cs typeface="IBM Plex Sans"/>
              </a:rPr>
              <a:t>Planned, not built: </a:t>
            </a:r>
            <a:r>
              <a:rPr sz="11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EVAL-01, a rerunnable safety fixture matrix (untrusted instruction in retrieved text, path escape, timeout, restart) with exact denominators; EVAL-02, paired runs measuring whether human feedback changes later behaviour. Both wait for explicit approval.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14 / BEYOND THE HACKATHON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Local-first, public data, open-access text. It runs on a laptop.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Cost, security, infrastructure, regulation, integration and adoption, in that order.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48840"/>
          <a:ext cx="10908792" cy="3584448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4663440"/>
                <a:gridCol w="4782312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today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what changes at scale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cost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one machine; DuckDB; local MiniLM; tokens per run recorded in a ledger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per-experiment cost is a measured number [TODO fill from UsageLedger]; GPU only for encoder training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security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localhost console; no keys; sandboxed code; private scoring separated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per-lab deployment behind the lab's own login; no shared tenant needed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infrastructure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Python 3.12, Node 22, one DuckDB file per corpus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corpora are files; scale is more machines, not a new architecture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data &amp; regulation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public open-access text, licence per article; public cohorts; no patient-identifiable data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copyrighted full text never leaves the machine; publisher deals only if a lab wants them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integration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Europe PMC, PMC, Unpaywall, GEO, ArrayExpress, DepMap; HGNC, ChEBI, MONDO, GO and the other owner ontologies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new domain = new source adapters and method guides; the loop, memory, falsifier and gate do not change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adoption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the lab that owns the corpus; its decisions become its master graph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core facilities → pharma target triage → government horizon scanning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A6CABB"/>
                </a:solidFill>
                <a:latin typeface="IBM Plex Sans"/>
                <a:ea typeface="IBM Plex Sans"/>
                <a:cs typeface="IBM Plex Sans"/>
              </a:rPr>
              <a:t>Mission to market share: every corpus a lab builds is a proprietary, provenance-complete graph of what it knows. The asset compounds with 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15 / WHY IT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7D9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ILLUSTRATIVE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Compute pointed at the frontier is national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Biology is bottlenecked on the ordering of experiments, not on materials. That is an information problem.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318607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2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Export controls work on atoms and chips. </a:t>
            </a: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They do not work on knowing which of the next thousand experiments to run. Lead time is the only durable advantage in biology.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2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Synthesis was never the bottleneck. </a:t>
            </a: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In the COVID vaccine timeline the sequence-to-candidate step took days; the evidence took most of a year. This engine is an evidence-ordering engine.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2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Sovereign scientific memory. </a:t>
            </a: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A time-indexed, provenance-complete graph of what a country's science knew, and when, is infrastructure the way a fab is infrastructure.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—  </a:t>
            </a:r>
            <a:r>
              <a:rPr sz="12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The defender needs to see the frontier first. </a:t>
            </a: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We rank and test published associations from public, curated data. No sequences, no pathogens, no wet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148840"/>
            <a:ext cx="5318607" cy="329184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61607" y="2331720"/>
            <a:ext cx="48614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A CONGRESSIONALLY CHARTERED BODY ALREADY SAYS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697480"/>
            <a:ext cx="486140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“Now, the Commission finds that the U.S. is dangerously close to falling behind China.” The report lays out six pillars for action and makes 49 recommendations.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4251960"/>
            <a:ext cx="486140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National Security Commission on Emerging Biotechnology, press release for the final report “Charting the Future of Biotechnology”, 8 April 2025. Chair Sen. Todd Young: “Biotechnology is now an imperative for national security, economic power, and global influence.”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7784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DTX Ventures, public thesis: “America's leadership in critical technologies will determine the global balance of power by 2035” across AI, AGI, energy independence, defense, space, semiconductors, supply chains and health; founders it backs “convert mission into market share” (dtxventures.com/vision).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16 / WHAT MORE COMPUTE BUYS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4B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PLANNED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Every experiment here costs compute, not bench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The frozen demo corpus is small on purpose. The loop does not change when the corpus is a field.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3484778" cy="141732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30275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302757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frozen full-text papers in the pancreatic demo corpus, hash-verified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0418" y="233172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1" i="0">
                <a:solidFill>
                  <a:srgbClr val="182C24"/>
                </a:solidFill>
                <a:latin typeface="IBM Plex Mono"/>
                <a:ea typeface="IBM Plex Mono"/>
                <a:cs typeface="IBM Plex Mono"/>
              </a:rPr>
              <a:t>MEASURED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3458" y="2148840"/>
            <a:ext cx="3484778" cy="141732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82058" y="2258568"/>
            <a:ext cx="30275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7.2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2926080"/>
            <a:ext cx="302757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readable characters, 856 figure files, all checksummed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3796" y="233172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1" i="0">
                <a:solidFill>
                  <a:srgbClr val="182C24"/>
                </a:solidFill>
                <a:latin typeface="IBM Plex Mono"/>
                <a:ea typeface="IBM Plex Mono"/>
                <a:cs typeface="IBM Plex Mono"/>
              </a:rPr>
              <a:t>MEASURED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2148840"/>
            <a:ext cx="3484778" cy="141732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95436" y="2258568"/>
            <a:ext cx="30275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5436" y="2926080"/>
            <a:ext cx="302757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method guides the agent must read before it writes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17175" y="233172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1" i="0">
                <a:solidFill>
                  <a:srgbClr val="182C24"/>
                </a:solidFill>
                <a:latin typeface="IBM Plex Mono"/>
                <a:ea typeface="IBM Plex Mono"/>
                <a:cs typeface="IBM Plex Mono"/>
              </a:rPr>
              <a:t>MEASURED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40"/>
            <a:ext cx="3484778" cy="141732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68680" y="3858768"/>
            <a:ext cx="30275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26280"/>
            <a:ext cx="302757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descendant worker slots per investigation; depth 6; 96 actions per node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90418" y="393192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IMPLEMENTED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3458" y="3749040"/>
            <a:ext cx="3484778" cy="141732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82058" y="3858768"/>
            <a:ext cx="30275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4BB7F"/>
                </a:solidFill>
                <a:latin typeface="IBM Plex Mono"/>
                <a:ea typeface="IBM Plex Mono"/>
                <a:cs typeface="IBM Plex Mono"/>
              </a:rPr>
              <a:t>[TODO]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2058" y="4526280"/>
            <a:ext cx="302757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tokens and wall-clock per experiment from the demo run's UsageLedger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03796" y="393192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E4B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PLANNED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6836" y="3749040"/>
            <a:ext cx="3484778" cy="141732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95436" y="3858768"/>
            <a:ext cx="30275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E4BB7F"/>
                </a:solidFill>
                <a:latin typeface="IBM Plex Mono"/>
                <a:ea typeface="IBM Plex Mono"/>
                <a:cs typeface="IBM Plex Mono"/>
              </a:rPr>
              <a:t>[TODO]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5436" y="4526280"/>
            <a:ext cx="302757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candidates reaching the review queue per 100 experiments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17175" y="393192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E4B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PLANNED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The lever is throughput: more papers read, more edges scored, more experiments run against public data per dollar. The falsifier and the gate are what let throughput rise without trust falling.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17 / NEXT, AND 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E4B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51A1B"/>
                </a:solidFill>
                <a:latin typeface="IBM Plex Mono"/>
                <a:ea typeface="IBM Plex Mono"/>
                <a:cs typeface="IBM Plex Mono"/>
              </a:rPr>
              <a:t>PLANNED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Wire learned evidence into the loop. Then measure whether feedback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Everything here is specified in plans/ and waits for explicit approval. Nothing here is claimed as built.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3484778" cy="228600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2313432"/>
            <a:ext cx="45720" cy="1956816"/>
          </a:xfrm>
          <a:prstGeom prst="rect">
            <a:avLst/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" y="227685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NEXT 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24328"/>
            <a:ext cx="31647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Docker-free experiment runtime with explicit permissions. Re-expose the review gate in the console. EVAL-01 safety fixtures. Measure cost per experiment and candidates per 100 experiments on the pancreatic corpus.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3458" y="2148840"/>
            <a:ext cx="3484778" cy="228600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53458" y="2313432"/>
            <a:ext cx="45720" cy="1956816"/>
          </a:xfrm>
          <a:prstGeom prst="rect">
            <a:avLst/>
          </a:prstGeom>
          <a:solidFill>
            <a:srgbClr val="E4B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54626" y="227685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4BB7F"/>
                </a:solidFill>
                <a:latin typeface="IBM Plex Mono"/>
                <a:ea typeface="IBM Plex Mono"/>
                <a:cs typeface="IBM Plex Mono"/>
              </a:rPr>
              <a:t>NEXT 90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4626" y="2624328"/>
            <a:ext cx="31647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Three learned biological tools with native anytime-valid evidence, chosen by five independent reviews: protein / phospho-signalling, learned pharmacotype association, donor-level cellular ecosystems. Shared receipt-only confirmation surface; frozen encoders on the L40S.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2148840"/>
            <a:ext cx="3484778" cy="228600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66836" y="2313432"/>
            <a:ext cx="45720" cy="1956816"/>
          </a:xfrm>
          <a:prstGeom prst="rect">
            <a:avLst/>
          </a:prstGeom>
          <a:solidFill>
            <a:srgbClr val="E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68004" y="2276856"/>
            <a:ext cx="31647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DF0EA"/>
                </a:solidFill>
                <a:latin typeface="IBM Plex Mono"/>
                <a:ea typeface="IBM Plex Mono"/>
                <a:cs typeface="IBM Plex Mono"/>
              </a:rPr>
              <a:t>THEN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8004" y="2624328"/>
            <a:ext cx="316473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Branch monitoring under a frozen policy: which subtrees pay off, as a private monitor statistic. EVAL-02: paired runs proving human feedback changes later behaviour. A second domain (materials or semiconductors) as new source adapters, not a rewrite.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6344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263B33"/>
          </a:solidFill>
          <a:ln w="9525">
            <a:solidFill>
              <a:srgbClr val="668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A6CABB"/>
                </a:solidFill>
                <a:latin typeface="IBM Plex Mono"/>
                <a:ea typeface="IBM Plex Mono"/>
                <a:cs typeface="IBM Plex Mono"/>
              </a:rPr>
              <a:t>THE 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2920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One wet-lab partner </a:t>
            </a: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to take the first validated cards prospectively.  </a:t>
            </a:r>
            <a:r>
              <a:rPr sz="13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Two design-partner labs </a:t>
            </a: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to build their own corpora.  </a:t>
            </a:r>
            <a:r>
              <a:rPr sz="135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Compute </a:t>
            </a: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for the encoder training and the paired feedback experiment.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82296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192024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Survived verification means the numbers are sound.</a:t>
            </a:r>
            <a:r>
              <a:rPr sz="3000" b="1" i="0">
                <a:solidFill>
                  <a:srgbClr val="A6CABB"/>
                </a:solidFill>
                <a:latin typeface="IBM Plex Sans"/>
                <a:ea typeface="IBM Plex Sans"/>
                <a:cs typeface="IBM Plex Sans"/>
              </a:rPr>
              <a:t>
Truth is a person's call.</a:t>
            </a:r>
            <a:r>
              <a:rPr sz="3000" b="1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
We built the machine that gets you to that call faster.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212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github.com/richykim7/dnhacks   ·   [TODO demo URL]   ·   [TODO contact]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APPENDIX A / JUDGING CRITERIA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Where each criterion is answered.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Five-minute cut: slides 01 · 02 · 03 · 04 · 05 · 09 · 13 · 14 · 17 · 18. Everything else is backup for questions.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103120"/>
          <a:ext cx="10908792" cy="384048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548640"/>
                <a:gridCol w="1280160"/>
                <a:gridCol w="597103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prize · criterion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pts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slides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the evidence we point at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Main · Problem &amp; Real-World Impact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02, 03, 15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untested edges + public data; compute aimed and trusted; health track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Main · Technical Execution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50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04–09, 11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claim atom, grounding, agent tree, falsifier, e-values; working console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Main · Feasibility &amp; Deployment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13, 14, 17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local-first, licences, no keys, adoption path, concrete ask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AI · Novelty &amp; Importance of AI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06, 07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AI fundamental in extraction and exploration; removable nowhere else by design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AI · Technical Sophistication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50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06–09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two pinned models, one seam, menus + grounding, memory frontier, anytime-valid bettor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AI · Reliability, Evaluation, Trust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25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08, 09, 13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seven kills, rigor contract, null + invalid controls, 648 tests, AST-checked docs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Design · Quality &amp; Craft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Plex, charcoal, sea-green/amber/rose semantics, no decoration, accessibility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Design · UX &amp; Usability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05, 10, 12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one-click claim-to-quote, candidate ≠ discovery, missing ≠ zero, gate needs a note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Design · Understanding of the User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named persona; six decisions derived from her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APPENDIX B / QUESTIONS A GOOD JUDGE WILL ASK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Answers we have already written down.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A6CABB"/>
                </a:solidFill>
                <a:latin typeface="IBM Plex Sans"/>
                <a:ea typeface="IBM Plex Sans"/>
                <a:cs typeface="IBM Plex Sans"/>
              </a:rPr>
              <a:t>“Isn't this just a wrapper around a model?”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39"/>
            <a:ext cx="531860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The model reads papers and proposes; everything that decides is code: grounding, contradiction, the seven kills, the gate. Remove the model and the verifier stack still rejects unsound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1874519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A6CABB"/>
                </a:solidFill>
                <a:latin typeface="IBM Plex Sans"/>
                <a:ea typeface="IBM Plex Sans"/>
                <a:cs typeface="IBM Plex Sans"/>
              </a:rPr>
              <a:t>“How do you know it isn't hallucinating?”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148839"/>
            <a:ext cx="531860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It never writes an identifier; it picks from menus and code grounds. Quotes are span-checked. Partial searches cannot support 'novel'. A result is one typed line or it does not exist.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799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A6CABB"/>
                </a:solidFill>
                <a:latin typeface="IBM Plex Sans"/>
                <a:ea typeface="IBM Plex Sans"/>
                <a:cs typeface="IBM Plex Sans"/>
              </a:rPr>
              <a:t>“Survived the falsifier, so it's true?”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19"/>
            <a:ext cx="531860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No. Survived means the numbers are sound. A person says true, with a note, and that note goes back into the agent's memory.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971799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A6CABB"/>
                </a:solidFill>
                <a:latin typeface="IBM Plex Sans"/>
                <a:ea typeface="IBM Plex Sans"/>
                <a:cs typeface="IBM Plex Sans"/>
              </a:rPr>
              <a:t>“Why permutation tests and e-values instead of a bigger model?”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3246119"/>
            <a:ext cx="531860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Because the agent runs experiments in sequence and looks as it goes. Anytime-valid evidence is the only kind that survives that. We measured it on a real cohort; it is not yet wired to verdicts.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79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A6CABB"/>
                </a:solidFill>
                <a:latin typeface="IBM Plex Sans"/>
                <a:ea typeface="IBM Plex Sans"/>
                <a:cs typeface="IBM Plex Sans"/>
              </a:rPr>
              <a:t>“What is actually novel?”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399"/>
            <a:ext cx="531860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The composition: a provenance-complete claim graph as the search map, an agent whose memory is its frontier, a falsifier with no answer key, and a gate whose decisions teach the agent. No new algorithm is claimed.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4069079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A6CABB"/>
                </a:solidFill>
                <a:latin typeface="IBM Plex Sans"/>
                <a:ea typeface="IBM Plex Sans"/>
                <a:cs typeface="IBM Plex Sans"/>
              </a:rPr>
              <a:t>“Are you building the thing you warn about?”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4343399"/>
            <a:ext cx="531860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We test published associations on public, curated data. No sequences, no pathogens, no wet lab. The defender needs to see the frontier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66359"/>
            <a:ext cx="5318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A6CABB"/>
                </a:solidFill>
                <a:latin typeface="IBM Plex Sans"/>
                <a:ea typeface="IBM Plex Sans"/>
                <a:cs typeface="IBM Plex Sans"/>
              </a:rPr>
              <a:t>“Why you?”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79"/>
            <a:ext cx="531860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In the hackathon window the team shipped the graph, the agent, the falsifier, the gate, a measured anytime-valid diagnostic, and two negative results about its own ideas. The instinct to falsify ourselves is the product.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APPENDIX C / AN EXPERIMENT WE RAN AND THEN REMOVED FROM 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25735" y="38404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A6C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 i="0">
                <a:solidFill>
                  <a:srgbClr val="182C24"/>
                </a:solidFill>
                <a:latin typeface="IBM Plex Mono"/>
                <a:ea typeface="IBM Plex Mono"/>
                <a:cs typeface="IBM Plex Mono"/>
              </a:rPr>
              <a:t>MEASURED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713232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841248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DF0EA"/>
                </a:solidFill>
                <a:latin typeface="IBM Plex Sans"/>
                <a:ea typeface="IBM Plex Sans"/>
                <a:cs typeface="IBM Plex Sans"/>
              </a:rPr>
              <a:t>Sealed-cutoff backtest on CIViC 2018 → 2022 (archived).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Built during the hackathon, then removed from main (880cac4). Numbers reconcile to the archived run artifacts.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9525">
            <a:solidFill>
              <a:srgbClr val="3441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428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DN Research (working name)  ·  DNHacks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4282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D918A"/>
                </a:solidFill>
                <a:latin typeface="IBM Plex Mono"/>
                <a:ea typeface="IBM Plex Mono"/>
                <a:cs typeface="IBM Plex Mono"/>
              </a:rPr>
              <a:t>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48840"/>
          <a:ext cx="6400800" cy="2304288"/>
        </p:xfrm>
        <a:graphic>
          <a:graphicData uri="http://schemas.openxmlformats.org/drawingml/2006/table">
            <a:tbl>
              <a:tblPr firstRow="0" bandRow="0"/>
              <a:tblGrid>
                <a:gridCol w="4206240"/>
                <a:gridCol w="1097280"/>
                <a:gridCol w="109728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scorer on the frozen 2018 graph (llm_calls = 0)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AUROC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7D918A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AP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full historical graph, 216 evidence rows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0.82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0.20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initial graph, 54 seed rows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0.58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0.05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popularity (target degree) baseline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0.58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0.06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greedy coverage acquisition, 32 acquisitions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0.60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0.05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uniform acquisition, 32 acquisitions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0.67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0.08</a:t>
                      </a:r>
                    </a:p>
                  </a:txBody>
                  <a:tcPr marL="73152" marR="73152" marT="27432" marB="27432" anchor="ctr">
                    <a:solidFill>
                      <a:srgbClr val="1B2122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EDF0EA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random expectation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0.50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ABB7B3"/>
                          </a:solidFill>
                          <a:latin typeface="IBM Plex Mono"/>
                          <a:ea typeface="IBM Plex Mono"/>
                          <a:cs typeface="IBM Plex Mono"/>
                        </a:rPr>
                        <a:t>0.035</a:t>
                      </a:r>
                    </a:p>
                  </a:txBody>
                  <a:tcPr marL="73152" marR="73152" marT="27432" marB="27432" anchor="ctr">
                    <a:solidFill>
                      <a:srgbClr val="151A1B"/>
                    </a:solidFill>
                    <a:lnL w="6350">
                      <a:solidFill>
                        <a:srgbClr val="151A1B"/>
                      </a:solidFill>
                    </a:lnL>
                    <a:lnR w="6350">
                      <a:solidFill>
                        <a:srgbClr val="151A1B"/>
                      </a:solidFill>
                    </a:lnR>
                    <a:lnT w="6350">
                      <a:solidFill>
                        <a:srgbClr val="34413E"/>
                      </a:solidFill>
                    </a:lnT>
                    <a:lnB w="6350">
                      <a:solidFill>
                        <a:srgbClr val="34413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61772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683 candidate variant → therapy edges, 24 later confirmed (base rate 3.5 %). </a:t>
            </a: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Rank 1 of 683, PIK3CA mutation → cetuximab / panitumumab, was confirmed. Worst miss: FLT3 ITD → ponatinib at rank 642; the 2018 graph had no path.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50" b="1" i="0">
                <a:solidFill>
                  <a:srgbClr val="E5A6A0"/>
                </a:solidFill>
                <a:latin typeface="IBM Plex Sans"/>
                <a:ea typeface="IBM Plex Sans"/>
                <a:cs typeface="IBM Plex Sans"/>
              </a:rPr>
              <a:t>Memory control: </a:t>
            </a:r>
            <a:r>
              <a:rPr sz="105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a no-retrieval Sonnet 5 scored AUROC 0.854 on the same 683 rows, above the structural 0.819. Model memory contaminates any 'AI predicts science' demo; sealed cutoffs are the only defence.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148840"/>
            <a:ext cx="4114800" cy="3840480"/>
          </a:xfrm>
          <a:prstGeom prst="roundRect">
            <a:avLst>
              <a:gd name="adj" fmla="val 6000"/>
            </a:avLst>
          </a:prstGeom>
          <a:solidFill>
            <a:srgbClr val="1B2122"/>
          </a:solidFill>
          <a:ln w="9525">
            <a:solidFill>
              <a:srgbClr val="3441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406640" y="2313432"/>
            <a:ext cx="45720" cy="3511296"/>
          </a:xfrm>
          <a:prstGeom prst="rect">
            <a:avLst/>
          </a:prstGeom>
          <a:solidFill>
            <a:srgbClr val="E4B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07808" y="2276856"/>
            <a:ext cx="3794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4BB7F"/>
                </a:solidFill>
                <a:latin typeface="IBM Plex Mono"/>
                <a:ea typeface="IBM Plex Mono"/>
                <a:cs typeface="IBM Plex Mono"/>
              </a:rPr>
              <a:t>WHY IT IS IN THE 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2624328"/>
            <a:ext cx="3794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BB7B3"/>
                </a:solidFill>
                <a:latin typeface="IBM Plex Sans"/>
                <a:ea typeface="IBM Plex Sans"/>
                <a:cs typeface="IBM Plex Sans"/>
              </a:rPr>
              <a:t>Greedy coverage lost to uniform acquisition. The policy lab (5,120 exhaustive cases, 2,400 certificates, 95 replays) found no novel policy advantage. Twenty-four positives give wide intervals. The team judged the discovery loop the stronger product and removed the standalone module. The lesson survived: evidence volume moved the score (0.58 → 0.82) far more than any policy did. Throughput is the lever.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