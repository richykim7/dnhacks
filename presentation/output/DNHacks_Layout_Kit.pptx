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SCRIPT</a:t>
            </a:r>
          </a:p>
          <a:p>
            <a:r>
              <a:t>[Write 40–65 words: finding, evidence, implication, transition.]</a:t>
            </a:r>
          </a:p>
          <a:p/>
          <a:p>
            <a:r>
              <a:t>STATUS</a:t>
            </a:r>
          </a:p>
          <a:p>
            <a:r>
              <a:t>[Implemented / measured / planned / illustration]</a:t>
            </a:r>
          </a:p>
          <a:p/>
          <a:p>
            <a:r>
              <a:t>SOURCE</a:t>
            </a:r>
          </a:p>
          <a:p>
            <a:r>
              <a:t>[Exact URL or repository path, version and date]</a:t>
            </a:r>
          </a:p>
          <a:p/>
          <a:p>
            <a:r>
              <a:t>EDITING</a:t>
            </a:r>
          </a:p>
          <a:p>
            <a:r>
              <a:t>Duplicate this slide; replace bracketed text and the visual panel. Preserve 0.55-inch margins, 36pt headline, 19–24pt body, IBM Plex fonts and explicit status. Avoid exceeding one argument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SCRIPT</a:t>
            </a:r>
          </a:p>
          <a:p>
            <a:r>
              <a:t>[Write 40–65 words: finding, evidence, implication, transition.]</a:t>
            </a:r>
          </a:p>
          <a:p/>
          <a:p>
            <a:r>
              <a:t>STATUS</a:t>
            </a:r>
          </a:p>
          <a:p>
            <a:r>
              <a:t>[Implemented / measured / planned / illustration]</a:t>
            </a:r>
          </a:p>
          <a:p/>
          <a:p>
            <a:r>
              <a:t>SOURCE</a:t>
            </a:r>
          </a:p>
          <a:p>
            <a:r>
              <a:t>[Exact URL or repository path, version and date]</a:t>
            </a:r>
          </a:p>
          <a:p/>
          <a:p>
            <a:r>
              <a:t>EDITING</a:t>
            </a:r>
          </a:p>
          <a:p>
            <a:r>
              <a:t>Duplicate this slide; replace bracketed text and the visual panel. Preserve 0.55-inch margins, 36pt headline, 19–24pt body, IBM Plex fonts and explicit status. Avoid exceeding one argument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SCRIPT</a:t>
            </a:r>
          </a:p>
          <a:p>
            <a:r>
              <a:t>[Write 40–65 words: finding, evidence, implication, transition.]</a:t>
            </a:r>
          </a:p>
          <a:p/>
          <a:p>
            <a:r>
              <a:t>STATUS</a:t>
            </a:r>
          </a:p>
          <a:p>
            <a:r>
              <a:t>[Implemented / measured / planned / illustration]</a:t>
            </a:r>
          </a:p>
          <a:p/>
          <a:p>
            <a:r>
              <a:t>SOURCE</a:t>
            </a:r>
          </a:p>
          <a:p>
            <a:r>
              <a:t>[Exact URL or repository path, version and date]</a:t>
            </a:r>
          </a:p>
          <a:p/>
          <a:p>
            <a:r>
              <a:t>EDITING</a:t>
            </a:r>
          </a:p>
          <a:p>
            <a:r>
              <a:t>Duplicate this slide; replace bracketed text and the visual panel. Preserve 0.55-inch margins, 36pt headline, 19–24pt body, IBM Plex fonts and explicit status. Avoid exceeding one argument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SCRIPT</a:t>
            </a:r>
          </a:p>
          <a:p>
            <a:r>
              <a:t>[Write 40–65 words: finding, evidence, implication, transition.]</a:t>
            </a:r>
          </a:p>
          <a:p/>
          <a:p>
            <a:r>
              <a:t>STATUS</a:t>
            </a:r>
          </a:p>
          <a:p>
            <a:r>
              <a:t>[Implemented / measured / planned / illustration]</a:t>
            </a:r>
          </a:p>
          <a:p/>
          <a:p>
            <a:r>
              <a:t>SOURCE</a:t>
            </a:r>
          </a:p>
          <a:p>
            <a:r>
              <a:t>[Exact URL or repository path, version and date]</a:t>
            </a:r>
          </a:p>
          <a:p/>
          <a:p>
            <a:r>
              <a:t>EDITING</a:t>
            </a:r>
          </a:p>
          <a:p>
            <a:r>
              <a:t>Duplicate this slide; replace bracketed text and the visual panel. Preserve 0.55-inch margins, 36pt headline, 19–24pt body, IBM Plex fonts and explicit status. Avoid exceeding one argument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1EFE7"/>
                </a:solidFill>
                <a:latin typeface="IBM Plex Mono"/>
              </a:rPr>
              <a:t>DN /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56032"/>
            <a:ext cx="70957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FB9B2"/>
                </a:solidFill>
                <a:latin typeface="IBM Plex Mono"/>
              </a:rPr>
              <a:t>LAYOUT KIT / EVIDENCE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83112" cy="0"/>
          </a:xfrm>
          <a:prstGeom prst="line">
            <a:avLst/>
          </a:prstGeom>
          <a:ln w="8890">
            <a:solidFill>
              <a:srgbClr val="3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37376"/>
            <a:ext cx="11183112" cy="0"/>
          </a:xfrm>
          <a:prstGeom prst="line">
            <a:avLst/>
          </a:prstGeom>
          <a:ln w="8890">
            <a:solidFill>
              <a:srgbClr val="3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47104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FB9B2"/>
                </a:solidFill>
                <a:latin typeface="IBM Plex Mono"/>
              </a:rPr>
              <a:t>DNHACKS 2026  /  WORKING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501384"/>
            <a:ext cx="58521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1EFE7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1EFE7"/>
                </a:solidFill>
                <a:latin typeface="IBM Plex Sans"/>
              </a:rPr>
              <a:t>[One finding in a complete sentence]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2258568"/>
            <a:ext cx="4754880" cy="283464"/>
          </a:xfrm>
          <a:prstGeom prst="rect">
            <a:avLst/>
          </a:prstGeom>
          <a:solidFill>
            <a:srgbClr val="2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306116"/>
            <a:ext cx="4590288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A6C9B8"/>
                </a:solidFill>
                <a:latin typeface="IBM Plex Mono"/>
              </a:rPr>
              <a:t>[Claim and scope]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7342631" cy="2843784"/>
          </a:xfrm>
          <a:prstGeom prst="rect">
            <a:avLst/>
          </a:prstGeom>
          <a:solidFill>
            <a:srgbClr val="222E2A"/>
          </a:solidFill>
          <a:ln w="8890">
            <a:solidFill>
              <a:srgbClr val="3A4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77647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A6C9B8"/>
                </a:solidFill>
                <a:latin typeface="IBM Plex Sans"/>
              </a:rPr>
              <a:t>[Editable visual: chart, graph or source excerpt]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889504"/>
            <a:ext cx="320040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1EFE7"/>
                </a:solidFill>
                <a:latin typeface="IBM Plex Sans"/>
              </a:rPr>
              <a:t>[Why it matters]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3767328"/>
            <a:ext cx="3218688" cy="1426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FB9B2"/>
                </a:solidFill>
                <a:latin typeface="IBM Plex Sans"/>
              </a:rPr>
              <a:t>[One short explanation.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FB9B2"/>
                </a:solidFill>
                <a:latin typeface="IBM Plex Sans"/>
              </a:rPr>
              <a:t>Put detail in speaker notes.]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6099048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FB9B2"/>
                </a:solidFill>
                <a:latin typeface="IBM Plex Sans"/>
              </a:rPr>
              <a:t>[Source, measured/planned/illustrative status, scope and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201F"/>
                </a:solidFill>
                <a:latin typeface="IBM Plex Mono"/>
              </a:rPr>
              <a:t>DN /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56032"/>
            <a:ext cx="70957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65E4D"/>
                </a:solidFill>
                <a:latin typeface="IBM Plex Mono"/>
              </a:rPr>
              <a:t>LAYOUT KIT / RESULT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83112" cy="0"/>
          </a:xfrm>
          <a:prstGeom prst="line">
            <a:avLst/>
          </a:prstGeom>
          <a:ln w="8890">
            <a:solidFill>
              <a:srgbClr val="CDCF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37376"/>
            <a:ext cx="11183112" cy="0"/>
          </a:xfrm>
          <a:prstGeom prst="line">
            <a:avLst/>
          </a:prstGeom>
          <a:ln w="8890">
            <a:solidFill>
              <a:srgbClr val="CDCF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47104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65E4D"/>
                </a:solidFill>
                <a:latin typeface="IBM Plex Mono"/>
              </a:rPr>
              <a:t>DNHACKS 2026  /  WORKING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501384"/>
            <a:ext cx="58521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201F"/>
                </a:solidFill>
                <a:latin typeface="IBM Plex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1F"/>
                </a:solidFill>
                <a:latin typeface="IBM Plex Sans"/>
              </a:rPr>
              <a:t>[What changed after the experiment?]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2258568"/>
            <a:ext cx="4754880" cy="283464"/>
          </a:xfrm>
          <a:prstGeom prst="rect">
            <a:avLst/>
          </a:prstGeom>
          <a:solidFill>
            <a:srgbClr val="DFE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306116"/>
            <a:ext cx="4590288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365E4D"/>
                </a:solidFill>
                <a:latin typeface="IBM Plex Mono"/>
              </a:rPr>
              <a:t>[Method · units · comparator]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07024" y="2907792"/>
            <a:ext cx="0" cy="2542032"/>
          </a:xfrm>
          <a:prstGeom prst="line">
            <a:avLst/>
          </a:prstGeom>
          <a:ln w="12700">
            <a:solidFill>
              <a:srgbClr val="B5C0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017520"/>
            <a:ext cx="495604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65E4D"/>
                </a:solidFill>
                <a:latin typeface="IBM Plex Sans"/>
              </a:rPr>
              <a:t>[Baseline]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03904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17201F"/>
                </a:solidFill>
                <a:latin typeface="IBM Plex Sans"/>
              </a:rPr>
              <a:t>[Value]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56632"/>
            <a:ext cx="4974336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365E4D"/>
                </a:solidFill>
                <a:latin typeface="IBM Plex Sans"/>
              </a:rPr>
              <a:t>[Units · sample size · uncertainty]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495604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65E4D"/>
                </a:solidFill>
                <a:latin typeface="IBM Plex Sans"/>
              </a:rPr>
              <a:t>[Our method]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803904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17201F"/>
                </a:solidFill>
                <a:latin typeface="IBM Plex Sans"/>
              </a:rPr>
              <a:t>[Value]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5056632"/>
            <a:ext cx="4974336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365E4D"/>
                </a:solidFill>
                <a:latin typeface="IBM Plex Sans"/>
              </a:rPr>
              <a:t>[Units · sample size · uncertainty]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6099048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5E4D"/>
                </a:solidFill>
                <a:latin typeface="IBM Plex Sans"/>
              </a:rPr>
              <a:t>[Source, measured/planned/illustrative status, scope and 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1EFE7"/>
                </a:solidFill>
                <a:latin typeface="IBM Plex Mono"/>
              </a:rPr>
              <a:t>DN /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56032"/>
            <a:ext cx="70957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FB9B2"/>
                </a:solidFill>
                <a:latin typeface="IBM Plex Mono"/>
              </a:rPr>
              <a:t>LAYOUT KIT / DEMO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83112" cy="0"/>
          </a:xfrm>
          <a:prstGeom prst="line">
            <a:avLst/>
          </a:prstGeom>
          <a:ln w="8890">
            <a:solidFill>
              <a:srgbClr val="3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37376"/>
            <a:ext cx="11183112" cy="0"/>
          </a:xfrm>
          <a:prstGeom prst="line">
            <a:avLst/>
          </a:prstGeom>
          <a:ln w="8890">
            <a:solidFill>
              <a:srgbClr val="3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47104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FB9B2"/>
                </a:solidFill>
                <a:latin typeface="IBM Plex Mono"/>
              </a:rPr>
              <a:t>DNHACKS 2026  /  WORKING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501384"/>
            <a:ext cx="58521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1EFE7"/>
                </a:solidFill>
                <a:latin typeface="IBM Plex Mon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1EFE7"/>
                </a:solidFill>
                <a:latin typeface="IBM Plex Sans"/>
              </a:rPr>
              <a:t>[One question. One decision.]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2011680"/>
            <a:ext cx="4754880" cy="283464"/>
          </a:xfrm>
          <a:prstGeom prst="rect">
            <a:avLst/>
          </a:prstGeom>
          <a:solidFill>
            <a:srgbClr val="2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59228"/>
            <a:ext cx="4590288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A6C9B8"/>
                </a:solidFill>
                <a:latin typeface="IBM Plex Mono"/>
              </a:rPr>
              <a:t>[Actual run · date · dataset]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9192"/>
            <a:ext cx="11082528" cy="3008376"/>
          </a:xfrm>
          <a:prstGeom prst="rect">
            <a:avLst/>
          </a:prstGeom>
          <a:solidFill>
            <a:srgbClr val="222E2A"/>
          </a:solidFill>
          <a:ln w="8890">
            <a:solidFill>
              <a:srgbClr val="3A4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675887"/>
            <a:ext cx="10268712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A6C9B8"/>
                </a:solidFill>
                <a:latin typeface="IBM Plex Sans"/>
              </a:rPr>
              <a:t>[Replace this panel with the real demo capture]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6099048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FB9B2"/>
                </a:solidFill>
                <a:latin typeface="IBM Plex Sans"/>
              </a:rPr>
              <a:t>[Source, measured/planned/illustrative status, scope and date]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1EFE7"/>
                </a:solidFill>
                <a:latin typeface="IBM Plex Mono"/>
              </a:rPr>
              <a:t>DN /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56032"/>
            <a:ext cx="70957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FB9B2"/>
                </a:solidFill>
                <a:latin typeface="IBM Plex Mono"/>
              </a:rPr>
              <a:t>LAYOUT KIT / ROADMAP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83112" cy="0"/>
          </a:xfrm>
          <a:prstGeom prst="line">
            <a:avLst/>
          </a:prstGeom>
          <a:ln w="8890">
            <a:solidFill>
              <a:srgbClr val="3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37376"/>
            <a:ext cx="11183112" cy="0"/>
          </a:xfrm>
          <a:prstGeom prst="line">
            <a:avLst/>
          </a:prstGeom>
          <a:ln w="8890">
            <a:solidFill>
              <a:srgbClr val="3A4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47104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FB9B2"/>
                </a:solidFill>
                <a:latin typeface="IBM Plex Mono"/>
              </a:rPr>
              <a:t>DNHACKS 2026  /  WORKING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816" y="6501384"/>
            <a:ext cx="58521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1EFE7"/>
                </a:solidFill>
                <a:latin typeface="IBM Plex Mono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1EFE7"/>
                </a:solidFill>
                <a:latin typeface="IBM Plex Sans"/>
              </a:rPr>
              <a:t>[The next milestone earns the next claim]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" y="2468880"/>
            <a:ext cx="3456432" cy="0"/>
          </a:xfrm>
          <a:prstGeom prst="line">
            <a:avLst/>
          </a:prstGeom>
          <a:ln w="20320">
            <a:solidFill>
              <a:srgbClr val="A6C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9496" y="263347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6C9B8"/>
                </a:solidFill>
                <a:latin typeface="IBM Plex Mono"/>
              </a:rPr>
              <a:t>NOW /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127248"/>
            <a:ext cx="345643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1EFE7"/>
                </a:solidFill>
                <a:latin typeface="IBM Plex Sans"/>
              </a:rPr>
              <a:t>[What works today]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4187952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[One concrete deliverable]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[Its evidence requirement]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[Owner or dependency]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52544" y="2468880"/>
            <a:ext cx="3456431" cy="0"/>
          </a:xfrm>
          <a:prstGeom prst="line">
            <a:avLst/>
          </a:prstGeom>
          <a:ln w="20320">
            <a:solidFill>
              <a:srgbClr val="DEB5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52544" y="263347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EB577"/>
                </a:solidFill>
                <a:latin typeface="IBM Plex Mono"/>
              </a:rPr>
              <a:t>NEXT / PROPOSED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3127248"/>
            <a:ext cx="345643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1EFE7"/>
                </a:solidFill>
                <a:latin typeface="IBM Plex Sans"/>
              </a:rPr>
              <a:t>[The proof milestone]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4187952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[One concrete deliverable]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[Its evidence requirement]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[Owner or dependency]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65592" y="2468880"/>
            <a:ext cx="3456432" cy="0"/>
          </a:xfrm>
          <a:prstGeom prst="line">
            <a:avLst/>
          </a:prstGeom>
          <a:ln w="20320">
            <a:solidFill>
              <a:srgbClr val="DEB5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65592" y="263347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EB577"/>
                </a:solidFill>
                <a:latin typeface="IBM Plex Mono"/>
              </a:rPr>
              <a:t>LATER /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127248"/>
            <a:ext cx="345643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1EFE7"/>
                </a:solidFill>
                <a:latin typeface="IBM Plex Sans"/>
              </a:rPr>
              <a:t>[The expansion]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4187952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[One concrete deliverable]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[Its evidence requirement]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FB9B2"/>
                </a:solidFill>
                <a:latin typeface="IBM Plex Sans"/>
              </a:rPr>
              <a:t>[Owner or dependency]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6099048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FB9B2"/>
                </a:solidFill>
                <a:latin typeface="IBM Plex Sans"/>
              </a:rPr>
              <a:t>[Source, measured/planned/illustrative status, scope and 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 Research — DNHacks 2026</dc:title>
  <dc:subject>Editable working pitch: scientific discovery, AI engineering and trustworthy evidence</dc:subject>
  <dc:creator>DNHacks team</dc:creator>
  <cp:keywords>DNHacks, DN Research, working draft, scientific discovery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