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TENTATIVE SCRIPT</a:t>
            </a:r>
          </a:p>
          <a:p>
            <a:r>
              <a:t>[Write 40–65 words: finding, evidence, implication, transition.]</a:t>
            </a:r>
          </a:p>
          <a:p/>
          <a:p>
            <a:r>
              <a:t>STATUS</a:t>
            </a:r>
          </a:p>
          <a:p>
            <a:r>
              <a:t>[Implemented / measured / planned / illustration]</a:t>
            </a:r>
          </a:p>
          <a:p/>
          <a:p>
            <a:r>
              <a:t>SOURCE</a:t>
            </a:r>
          </a:p>
          <a:p>
            <a:r>
              <a:t>[Exact URL or repository path, version and date]</a:t>
            </a:r>
          </a:p>
          <a:p/>
          <a:p>
            <a:r>
              <a:t>EDITING</a:t>
            </a:r>
          </a:p>
          <a:p>
            <a:r>
              <a:t>Duplicate this slide; replace bracketed text and the visual panel. Preserve 0.55-inch margins, 36pt headline, 19–24pt body, IBM Plex fonts and explicit status. Avoid exceeding one argument per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TENTATIVE SCRIPT</a:t>
            </a:r>
          </a:p>
          <a:p>
            <a:r>
              <a:t>[Write 40–65 words: finding, evidence, implication, transition.]</a:t>
            </a:r>
          </a:p>
          <a:p/>
          <a:p>
            <a:r>
              <a:t>STATUS</a:t>
            </a:r>
          </a:p>
          <a:p>
            <a:r>
              <a:t>[Implemented / measured / planned / illustration]</a:t>
            </a:r>
          </a:p>
          <a:p/>
          <a:p>
            <a:r>
              <a:t>SOURCE</a:t>
            </a:r>
          </a:p>
          <a:p>
            <a:r>
              <a:t>[Exact URL or repository path, version and date]</a:t>
            </a:r>
          </a:p>
          <a:p/>
          <a:p>
            <a:r>
              <a:t>EDITING</a:t>
            </a:r>
          </a:p>
          <a:p>
            <a:r>
              <a:t>Duplicate this slide; replace bracketed text and the visual panel. Preserve 0.55-inch margins, 36pt headline, 19–24pt body, IBM Plex fonts and explicit status. Avoid exceeding one argument per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TENTATIVE SCRIPT</a:t>
            </a:r>
          </a:p>
          <a:p>
            <a:r>
              <a:t>[Write 40–65 words: finding, evidence, implication, transition.]</a:t>
            </a:r>
          </a:p>
          <a:p/>
          <a:p>
            <a:r>
              <a:t>STATUS</a:t>
            </a:r>
          </a:p>
          <a:p>
            <a:r>
              <a:t>[Implemented / measured / planned / illustration]</a:t>
            </a:r>
          </a:p>
          <a:p/>
          <a:p>
            <a:r>
              <a:t>SOURCE</a:t>
            </a:r>
          </a:p>
          <a:p>
            <a:r>
              <a:t>[Exact URL or repository path, version and date]</a:t>
            </a:r>
          </a:p>
          <a:p/>
          <a:p>
            <a:r>
              <a:t>EDITING</a:t>
            </a:r>
          </a:p>
          <a:p>
            <a:r>
              <a:t>Duplicate this slide; replace bracketed text and the visual panel. Preserve 0.55-inch margins, 36pt headline, 19–24pt body, IBM Plex fonts and explicit status. Avoid exceeding one argument per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TENTATIVE SCRIPT</a:t>
            </a:r>
          </a:p>
          <a:p>
            <a:r>
              <a:t>[Write 40–65 words: finding, evidence, implication, transition.]</a:t>
            </a:r>
          </a:p>
          <a:p/>
          <a:p>
            <a:r>
              <a:t>STATUS</a:t>
            </a:r>
          </a:p>
          <a:p>
            <a:r>
              <a:t>[Implemented / measured / planned / illustration]</a:t>
            </a:r>
          </a:p>
          <a:p/>
          <a:p>
            <a:r>
              <a:t>SOURCE</a:t>
            </a:r>
          </a:p>
          <a:p>
            <a:r>
              <a:t>[Exact URL or repository path, version and date]</a:t>
            </a:r>
          </a:p>
          <a:p/>
          <a:p>
            <a:r>
              <a:t>EDITING</a:t>
            </a:r>
          </a:p>
          <a:p>
            <a:r>
              <a:t>Duplicate this slide; replace bracketed text and the visual panel. Preserve 0.55-inch margins, 36pt headline, 19–24pt body, IBM Plex fonts and explicit status. Avoid exceeding one argument per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1EFE7"/>
                </a:solidFill>
                <a:latin typeface="IBM Plex Mono"/>
              </a:rPr>
              <a:t>DN /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256032"/>
            <a:ext cx="709574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FB9B2"/>
                </a:solidFill>
                <a:latin typeface="IBM Plex Mono"/>
              </a:rPr>
              <a:t>LAYOUT KIT / EVIDENCE SLIDE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58368"/>
            <a:ext cx="11183112" cy="0"/>
          </a:xfrm>
          <a:prstGeom prst="line">
            <a:avLst/>
          </a:prstGeom>
          <a:ln w="8890">
            <a:solidFill>
              <a:srgbClr val="3A49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02920" y="6437376"/>
            <a:ext cx="11183112" cy="0"/>
          </a:xfrm>
          <a:prstGeom prst="line">
            <a:avLst/>
          </a:prstGeom>
          <a:ln w="8890">
            <a:solidFill>
              <a:srgbClr val="3A49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47104"/>
            <a:ext cx="7315200" cy="1737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FB9B2"/>
                </a:solidFill>
                <a:latin typeface="IBM Plex Mono"/>
              </a:rPr>
              <a:t>DNHACKS 2026  /  WORKING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816" y="6501384"/>
            <a:ext cx="585216" cy="265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1EFE7"/>
                </a:solidFill>
                <a:latin typeface="IBM Plex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0972800" cy="12070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1EFE7"/>
                </a:solidFill>
                <a:latin typeface="IBM Plex Sans"/>
              </a:rPr>
              <a:t>[One finding in a complete sentence]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" y="2258568"/>
            <a:ext cx="4754880" cy="283464"/>
          </a:xfrm>
          <a:prstGeom prst="rect">
            <a:avLst/>
          </a:prstGeom>
          <a:solidFill>
            <a:srgbClr val="22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2306116"/>
            <a:ext cx="459028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A6C9B8"/>
                </a:solidFill>
                <a:latin typeface="IBM Plex Mono"/>
              </a:rPr>
              <a:t>[Claim and scope]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62072"/>
            <a:ext cx="7342631" cy="2843784"/>
          </a:xfrm>
          <a:prstGeom prst="rect">
            <a:avLst/>
          </a:prstGeom>
          <a:solidFill>
            <a:srgbClr val="222E2A"/>
          </a:solidFill>
          <a:ln w="8890">
            <a:solidFill>
              <a:srgbClr val="3A49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3776472"/>
            <a:ext cx="6574536" cy="10607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A6C9B8"/>
                </a:solidFill>
                <a:latin typeface="IBM Plex Sans"/>
              </a:rPr>
              <a:t>[Editable visual: chart, graph or source excerpt]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2889504"/>
            <a:ext cx="3200400" cy="5852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1EFE7"/>
                </a:solidFill>
                <a:latin typeface="IBM Plex Sans"/>
              </a:rPr>
              <a:t>[Why it matters]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3767328"/>
            <a:ext cx="3218688" cy="14264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FB9B2"/>
                </a:solidFill>
                <a:latin typeface="IBM Plex Sans"/>
              </a:rPr>
              <a:t>[One short explanation.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AFB9B2"/>
                </a:solidFill>
                <a:latin typeface="IBM Plex Sans"/>
              </a:rPr>
              <a:t>Put detail in speaker notes.]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" y="6099048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FB9B2"/>
                </a:solidFill>
                <a:latin typeface="IBM Plex Sans"/>
              </a:rPr>
              <a:t>[Source, measured/planned/illustrative status, scope and 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201F"/>
                </a:solidFill>
                <a:latin typeface="IBM Plex Mono"/>
              </a:rPr>
              <a:t>DN /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256032"/>
            <a:ext cx="709574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65E4D"/>
                </a:solidFill>
                <a:latin typeface="IBM Plex Mono"/>
              </a:rPr>
              <a:t>LAYOUT KIT / RESULT SLIDE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58368"/>
            <a:ext cx="11183112" cy="0"/>
          </a:xfrm>
          <a:prstGeom prst="line">
            <a:avLst/>
          </a:prstGeom>
          <a:ln w="8890">
            <a:solidFill>
              <a:srgbClr val="CDCF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02920" y="6437376"/>
            <a:ext cx="11183112" cy="0"/>
          </a:xfrm>
          <a:prstGeom prst="line">
            <a:avLst/>
          </a:prstGeom>
          <a:ln w="8890">
            <a:solidFill>
              <a:srgbClr val="CDCFC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47104"/>
            <a:ext cx="7315200" cy="1737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365E4D"/>
                </a:solidFill>
                <a:latin typeface="IBM Plex Mono"/>
              </a:rPr>
              <a:t>DNHACKS 2026  /  WORKING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816" y="6501384"/>
            <a:ext cx="585216" cy="265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7201F"/>
                </a:solidFill>
                <a:latin typeface="IBM Plex Mon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0972800" cy="12070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7201F"/>
                </a:solidFill>
                <a:latin typeface="IBM Plex Sans"/>
              </a:rPr>
              <a:t>[What changed after the experiment?]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" y="2258568"/>
            <a:ext cx="4754880" cy="283464"/>
          </a:xfrm>
          <a:prstGeom prst="rect">
            <a:avLst/>
          </a:prstGeom>
          <a:solidFill>
            <a:srgbClr val="DFE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2306116"/>
            <a:ext cx="459028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365E4D"/>
                </a:solidFill>
                <a:latin typeface="IBM Plex Mono"/>
              </a:rPr>
              <a:t>[Method · units · comparator]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07024" y="2907792"/>
            <a:ext cx="0" cy="2542032"/>
          </a:xfrm>
          <a:prstGeom prst="line">
            <a:avLst/>
          </a:prstGeom>
          <a:ln w="12700">
            <a:solidFill>
              <a:srgbClr val="B5C0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3017520"/>
            <a:ext cx="495604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65E4D"/>
                </a:solidFill>
                <a:latin typeface="IBM Plex Sans"/>
              </a:rPr>
              <a:t>[Baseline]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03904"/>
            <a:ext cx="4974336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>
                <a:solidFill>
                  <a:srgbClr val="17201F"/>
                </a:solidFill>
                <a:latin typeface="IBM Plex Sans"/>
              </a:rPr>
              <a:t>[Value]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56632"/>
            <a:ext cx="4974336" cy="5760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365E4D"/>
                </a:solidFill>
                <a:latin typeface="IBM Plex Sans"/>
              </a:rPr>
              <a:t>[Units · sample size · uncertainty]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017520"/>
            <a:ext cx="495604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365E4D"/>
                </a:solidFill>
                <a:latin typeface="IBM Plex Sans"/>
              </a:rPr>
              <a:t>[Our method]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803904"/>
            <a:ext cx="4974336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>
                <a:solidFill>
                  <a:srgbClr val="17201F"/>
                </a:solidFill>
                <a:latin typeface="IBM Plex Sans"/>
              </a:rPr>
              <a:t>[Value]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5056632"/>
            <a:ext cx="4974336" cy="5760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365E4D"/>
                </a:solidFill>
                <a:latin typeface="IBM Plex Sans"/>
              </a:rPr>
              <a:t>[Units · sample size · uncertainty]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7" y="6099048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365E4D"/>
                </a:solidFill>
                <a:latin typeface="IBM Plex Sans"/>
              </a:rPr>
              <a:t>[Source, measured/planned/illustrative status, scope and date]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1EFE7"/>
                </a:solidFill>
                <a:latin typeface="IBM Plex Mono"/>
              </a:rPr>
              <a:t>DN /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256032"/>
            <a:ext cx="709574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FB9B2"/>
                </a:solidFill>
                <a:latin typeface="IBM Plex Mono"/>
              </a:rPr>
              <a:t>LAYOUT KIT / DEMO SLIDE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58368"/>
            <a:ext cx="11183112" cy="0"/>
          </a:xfrm>
          <a:prstGeom prst="line">
            <a:avLst/>
          </a:prstGeom>
          <a:ln w="8890">
            <a:solidFill>
              <a:srgbClr val="3A49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02920" y="6437376"/>
            <a:ext cx="11183112" cy="0"/>
          </a:xfrm>
          <a:prstGeom prst="line">
            <a:avLst/>
          </a:prstGeom>
          <a:ln w="8890">
            <a:solidFill>
              <a:srgbClr val="3A49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47104"/>
            <a:ext cx="7315200" cy="1737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FB9B2"/>
                </a:solidFill>
                <a:latin typeface="IBM Plex Mono"/>
              </a:rPr>
              <a:t>DNHACKS 2026  /  WORKING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816" y="6501384"/>
            <a:ext cx="585216" cy="265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1EFE7"/>
                </a:solidFill>
                <a:latin typeface="IBM Plex Mon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0972800" cy="12070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1EFE7"/>
                </a:solidFill>
                <a:latin typeface="IBM Plex Sans"/>
              </a:rPr>
              <a:t>[One question. One decision.]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" y="2011680"/>
            <a:ext cx="4754880" cy="283464"/>
          </a:xfrm>
          <a:prstGeom prst="rect">
            <a:avLst/>
          </a:prstGeom>
          <a:solidFill>
            <a:srgbClr val="222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2059228"/>
            <a:ext cx="4590288" cy="1920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A6C9B8"/>
                </a:solidFill>
                <a:latin typeface="IBM Plex Mono"/>
              </a:rPr>
              <a:t>[Actual run · date · dataset]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79192"/>
            <a:ext cx="11082528" cy="3008376"/>
          </a:xfrm>
          <a:prstGeom prst="rect">
            <a:avLst/>
          </a:prstGeom>
          <a:solidFill>
            <a:srgbClr val="222E2A"/>
          </a:solidFill>
          <a:ln w="8890">
            <a:solidFill>
              <a:srgbClr val="3A49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3675887"/>
            <a:ext cx="10268712" cy="9875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A6C9B8"/>
                </a:solidFill>
                <a:latin typeface="IBM Plex Sans"/>
              </a:rPr>
              <a:t>[Replace this panel with the real demo capture]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6099048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FB9B2"/>
                </a:solidFill>
                <a:latin typeface="IBM Plex Sans"/>
              </a:rPr>
              <a:t>[Source, measured/planned/illustrative status, scope and date]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0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1EFE7"/>
                </a:solidFill>
                <a:latin typeface="IBM Plex Mono"/>
              </a:rPr>
              <a:t>DN /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0" y="256032"/>
            <a:ext cx="7095744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FB9B2"/>
                </a:solidFill>
                <a:latin typeface="IBM Plex Mono"/>
              </a:rPr>
              <a:t>LAYOUT KIT / ROADMAP SLIDE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02920" y="658368"/>
            <a:ext cx="11183112" cy="0"/>
          </a:xfrm>
          <a:prstGeom prst="line">
            <a:avLst/>
          </a:prstGeom>
          <a:ln w="8890">
            <a:solidFill>
              <a:srgbClr val="3A49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02920" y="6437376"/>
            <a:ext cx="11183112" cy="0"/>
          </a:xfrm>
          <a:prstGeom prst="line">
            <a:avLst/>
          </a:prstGeom>
          <a:ln w="8890">
            <a:solidFill>
              <a:srgbClr val="3A494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47104"/>
            <a:ext cx="7315200" cy="1737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AFB9B2"/>
                </a:solidFill>
                <a:latin typeface="IBM Plex Mono"/>
              </a:rPr>
              <a:t>DNHACKS 2026  /  WORKING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816" y="6501384"/>
            <a:ext cx="585216" cy="2651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1EFE7"/>
                </a:solidFill>
                <a:latin typeface="IBM Plex Mono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0972800" cy="12070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1EFE7"/>
                </a:solidFill>
                <a:latin typeface="IBM Plex Sans"/>
              </a:rPr>
              <a:t>[The next milestone earns the next claim]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" y="2468880"/>
            <a:ext cx="3456432" cy="0"/>
          </a:xfrm>
          <a:prstGeom prst="line">
            <a:avLst/>
          </a:prstGeom>
          <a:ln w="20320">
            <a:solidFill>
              <a:srgbClr val="A6C9B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39496" y="2633472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6C9B8"/>
                </a:solidFill>
                <a:latin typeface="IBM Plex Mono"/>
              </a:rPr>
              <a:t>NOW / IMPLEMENTED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" y="3127248"/>
            <a:ext cx="3456432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1EFE7"/>
                </a:solidFill>
                <a:latin typeface="IBM Plex Sans"/>
              </a:rPr>
              <a:t>[What works today]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" y="4187952"/>
            <a:ext cx="3456432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FB9B2"/>
                </a:solidFill>
                <a:latin typeface="IBM Plex Sans"/>
              </a:rPr>
              <a:t>[One concrete deliverable]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FB9B2"/>
                </a:solidFill>
                <a:latin typeface="IBM Plex Sans"/>
              </a:rPr>
              <a:t>[Its evidence requirement]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FB9B2"/>
                </a:solidFill>
                <a:latin typeface="IBM Plex Sans"/>
              </a:rPr>
              <a:t>[Owner or dependency]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52544" y="2468880"/>
            <a:ext cx="3456431" cy="0"/>
          </a:xfrm>
          <a:prstGeom prst="line">
            <a:avLst/>
          </a:prstGeom>
          <a:ln w="20320">
            <a:solidFill>
              <a:srgbClr val="DEB5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352544" y="2633472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EB577"/>
                </a:solidFill>
                <a:latin typeface="IBM Plex Mono"/>
              </a:rPr>
              <a:t>NEXT / PROPOSED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2544" y="3127248"/>
            <a:ext cx="3456432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1EFE7"/>
                </a:solidFill>
                <a:latin typeface="IBM Plex Sans"/>
              </a:rPr>
              <a:t>[The proof milestone]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4187952"/>
            <a:ext cx="3456432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FB9B2"/>
                </a:solidFill>
                <a:latin typeface="IBM Plex Sans"/>
              </a:rPr>
              <a:t>[One concrete deliverable]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FB9B2"/>
                </a:solidFill>
                <a:latin typeface="IBM Plex Sans"/>
              </a:rPr>
              <a:t>[Its evidence requirement]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FB9B2"/>
                </a:solidFill>
                <a:latin typeface="IBM Plex Sans"/>
              </a:rPr>
              <a:t>[Owner or dependency]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165592" y="2468880"/>
            <a:ext cx="3456432" cy="0"/>
          </a:xfrm>
          <a:prstGeom prst="line">
            <a:avLst/>
          </a:prstGeom>
          <a:ln w="20320">
            <a:solidFill>
              <a:srgbClr val="DEB5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165592" y="2633472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EB577"/>
                </a:solidFill>
                <a:latin typeface="IBM Plex Mono"/>
              </a:rPr>
              <a:t>LATER / PLANNING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65592" y="3127248"/>
            <a:ext cx="3456432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1EFE7"/>
                </a:solidFill>
                <a:latin typeface="IBM Plex Sans"/>
              </a:rPr>
              <a:t>[The expansion]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4187952"/>
            <a:ext cx="3456432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FB9B2"/>
                </a:solidFill>
                <a:latin typeface="IBM Plex Sans"/>
              </a:rPr>
              <a:t>[One concrete deliverable]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FB9B2"/>
                </a:solidFill>
                <a:latin typeface="IBM Plex Sans"/>
              </a:rPr>
              <a:t>[Its evidence requirement]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AFB9B2"/>
                </a:solidFill>
                <a:latin typeface="IBM Plex Sans"/>
              </a:rPr>
              <a:t>[Owner or dependency]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6099048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FB9B2"/>
                </a:solidFill>
                <a:latin typeface="IBM Plex Sans"/>
              </a:rPr>
              <a:t>[Source, measured/planned/illustrative status, scope and date]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DN Research — DNHacks 2026</dc:title>
  <dc:subject>Editable working pitch: scientific discovery, AI engineering and trustworthy evidence</dc:subject>
  <dc:creator>DNHacks team</dc:creator>
  <cp:keywords>DNHacks, DN Research, working draft, scientific discovery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