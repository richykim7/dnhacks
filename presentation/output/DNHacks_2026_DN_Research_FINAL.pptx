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30 seconds</a:t>
            </a:r>
          </a:p>
          <a:p>
            <a:r>
              <a:t>Biology is an underappreciated source of future unilateral power: a discovery can hand one actor a capability others have not anticipated, and reactive measures are weakest exactly when the capability is new. DN Research connects published evidence to executable experiments and keeps every step inspectable. A literature graph aims the compute, recursive agent sessions spend it, and a statistics floor and then a person decide what counts.</a:t>
            </a:r>
          </a:p>
          <a:p/>
          <a:p>
            <a:r>
              <a:t>EVIDENCE / STATUS</a:t>
            </a:r>
          </a:p>
          <a:p>
            <a:r>
              <a:t>Strategic thesis and intended application. The prototype does computational biological research; it does not demonstrate bioweapon prediction or operational threat prevention. The cover diagram is drawn from the real architecture: claim graph, recursive sessions, human gate.</a:t>
            </a:r>
          </a:p>
          <a:p/>
          <a:p>
            <a:r>
              <a:t>BEFORE PRESENTING / NEXT EDIT</a:t>
            </a:r>
          </a:p>
          <a:p>
            <a:r>
              <a:t>Confirm the working name and entered category before presenting.</a:t>
            </a:r>
          </a:p>
          <a:p/>
          <a:p>
            <a:r>
              <a:t>JUDGING CRITERIA</a:t>
            </a:r>
          </a:p>
          <a:p>
            <a:r>
              <a:t>Problem &amp; Real-World Impact (25); Feasibility &amp; Deployment (25)</a:t>
            </a:r>
          </a:p>
          <a:p/>
          <a:p>
            <a:r>
              <a:t>SOURCES</a:t>
            </a:r>
          </a:p>
          <a:p>
            <a:r>
              <a:t>DTX Ventures · Vision: https://www.dtxventures.com/vision (accessed 2026-09-06)</a:t>
            </a:r>
          </a:p>
          <a:p>
            <a:r>
              <a:t>NSCEB final report, April 2025, §1.3: https://www.biotech.senate.gov/final-report/chapters/chapter-1/section-3/ (accessed 2026-09-06)</a:t>
            </a:r>
          </a:p>
          <a:p>
            <a:r>
              <a:t>Repository: ARCHITECTURE.md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Three public facts frame the problem. Frontier models now score well above expert baselines on selected biology and chemistry questions. Safeguards are real but not sufficient: a published universal jailbreak template reached seventy-nine percent attack success on a hundred-item bioweapons query set against a classifier-guarded model, and one hundred percent once the queries were rephrased. And the national biotechnology commission gives the United States a three-year window to hold or regain the lead, exactly as AI compresses the discovery cycle. Defense follows publication, so the dangerous region is the part of biology nobody has written on yet.</a:t>
            </a:r>
          </a:p>
          <a:p/>
          <a:p>
            <a:r>
              <a:t>EVIDENCE / STATUS</a:t>
            </a:r>
          </a:p>
          <a:p>
            <a:r>
              <a:t>All three figures are quoted from public sources; we measured none of them. The jailbreak result is appendix K.1 of arXiv:2506.24068. The three-year window is the NSCEB April 2025 action plan. Do not present any of these as evidence about our own system.</a:t>
            </a:r>
          </a:p>
          <a:p/>
          <a:p>
            <a:r>
              <a:t>BEFORE PRESENTING / NEXT EDIT</a:t>
            </a:r>
          </a:p>
          <a:p>
            <a:r>
              <a:t>Confirm the AISI capability figure against the exact published evaluation before presenting.</a:t>
            </a:r>
          </a:p>
          <a:p/>
          <a:p>
            <a:r>
              <a:t>JUDGING CRITERIA</a:t>
            </a:r>
          </a:p>
          <a:p>
            <a:r>
              <a:t>Problem &amp; Real-World Impact (25); Novelty and Importance of AI (25)</a:t>
            </a:r>
          </a:p>
          <a:p/>
          <a:p>
            <a:r>
              <a:t>SOURCES</a:t>
            </a:r>
          </a:p>
          <a:p>
            <a:r>
              <a:t>AI Security Institute, pre-deployment biology and chemistry evaluations: https://www.aisi.gov.uk/ (accessed 2026-09-06)</a:t>
            </a:r>
          </a:p>
          <a:p>
            <a:r>
              <a:t>Adversarial attacks on LLM safeguard pipelines, arXiv:2506.24068, appendix K.1: https://arxiv.org/abs/2506.24068 (accessed 2026-09-06)</a:t>
            </a:r>
          </a:p>
          <a:p>
            <a:r>
              <a:t>NSCEB April 2025 action plan: a three-year window to retain or regain biotechnology leadership: https://www.biotech.senate.gov/final-report/ (accessed 2026-09-06)</a:t>
            </a:r>
          </a:p>
          <a:p>
            <a:r>
              <a:t>NSCEB final report, April 2025, §1.3: https://www.biotech.senate.gov/final-report/chapters/chapter-1/section-3/ (accessed 2026-09-06)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This is the whole loop in one view. Papers become source-linked claim rows whose identity is four resolved identifiers. Missing edges between well-studied hubs become questions. Agent sessions write and execute code against real data, one action at a time. Typed checks in code screen every reported result, and a scientist reviews what survives. The engineering is the orchestration around that: recursive sessions, action budgets, durable execution and recorded artifacts. Surviving the screens is not biological truth, which is why a person sits at the end.</a:t>
            </a:r>
          </a:p>
          <a:p/>
          <a:p>
            <a:r>
              <a:t>EVIDENCE / STATUS</a:t>
            </a:r>
          </a:p>
          <a:p>
            <a:r>
              <a:t>Implemented architecture. The falsifier checks reported fields; it does not rerun arbitrary code. Nothing reaches the master graph without a human decision and a written note.</a:t>
            </a:r>
          </a:p>
          <a:p/>
          <a:p>
            <a:r>
              <a:t>BEFORE PRESENTING / NEXT EDIT</a:t>
            </a:r>
          </a:p>
          <a:p>
            <a:r>
              <a:t>Recheck against the final demo build; preserve evidence labels.</a:t>
            </a:r>
          </a:p>
          <a:p/>
          <a:p>
            <a:r>
              <a:t>JUDGING CRITERIA</a:t>
            </a:r>
          </a:p>
          <a:p>
            <a:r>
              <a:t>Technical Execution (50); AI Technical Sophistication (50)</a:t>
            </a:r>
          </a:p>
          <a:p/>
          <a:p>
            <a:r>
              <a:t>SOURCES</a:t>
            </a:r>
          </a:p>
          <a:p>
            <a:r>
              <a:t>Repository: ARCHITECTURE.md at fee316580ba27951c2ad6fea4bdd4a6b335421ed</a:t>
            </a:r>
          </a:p>
          <a:p>
            <a:r>
              <a:t>Repository: docs/runtime.md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45 seconds</a:t>
            </a:r>
          </a:p>
          <a:p>
            <a:r>
              <a:t>Ingestion first: a claim is subject, predicate, object and aspect, all resolved identifiers, never free text. The model picks from closed menus and quotes the passage; code grounds the names against fifteen owner vocabularies, and anything that will not ground becomes a counted deferral rather than a guess. That is what lets two labs asserting the same thing merge onto one row and ten citations of one experiment collapse to one experiment. Then the part we are proudest of, which we did not invent. FlavorGraph built one graph from a million recipes and a second from shared chemical compounds, and the clever move was to make the embedding reconstruct the chemistry rather than average it in, so chemistry shapes the ninety-four percent of ingredients that have none recorded. A literature graph has the same two views: which entities the field studies together, and what the claims about an entity actually say. We take positive pointwise mutual information over claim co-occurrence, append a rescaled MiniLM meaning block and factor both at once. A pair high on both with no claim between them is an untested bridge. The chart is the check: hide a quarter of the edges and rank them back. The joint view beats usage alone everywhere except the sparsest graph, where meaning alone wins — and we show that failure rather than hide it.</a:t>
            </a:r>
          </a:p>
          <a:p/>
          <a:p>
            <a:r>
              <a:t>EVIDENCE / STATUS</a:t>
            </a:r>
          </a:p>
          <a:p>
            <a:r>
              <a:t>Implemented in litmap/pairing.py with tests in tests/test_pairing.py. This is the closed-form analogue of FlavorGraph’s chemical-structure-prediction loss, not a reimplementation: they train skip-gram over metapath2vec walks with an auxiliary binary cross-entropy on an 881-bit PubChem fingerprint. The measured panel is a synthetic two-factor graph of 180 entities, five seeds, 25% holdout, rank 24, meaning share 0.25. Ranking a pair is not evidence about it.</a:t>
            </a:r>
          </a:p>
          <a:p/>
          <a:p>
            <a:r>
              <a:t>BEFORE PRESENTING / NEXT EDIT</a:t>
            </a:r>
          </a:p>
          <a:p>
            <a:r>
              <a:t>Replace the panel with the PDAC corpus measurement once the built database is reachable (scripts/untested_bridges.py --evaluate).</a:t>
            </a:r>
          </a:p>
          <a:p/>
          <a:p>
            <a:r>
              <a:t>JUDGING CRITERIA</a:t>
            </a:r>
          </a:p>
          <a:p>
            <a:r>
              <a:t>AI Technical Sophistication (50); Novelty and Importance of AI (25)</a:t>
            </a:r>
          </a:p>
          <a:p/>
          <a:p>
            <a:r>
              <a:t>SOURCES</a:t>
            </a:r>
          </a:p>
          <a:p>
            <a:r>
              <a:t>Park, Kim, Kim, Spranger &amp; Kang, FlavorGraph, Scientific Reports 11:931 (2021), CC BY 4.0: https://doi.org/10.1038/s41598-020-79422-8 (accessed 2026-09-06)</a:t>
            </a:r>
          </a:p>
          <a:p>
            <a:r>
              <a:t>Repository: src/dnhacksbio/litmap/pairing.py at fee316580ba27951c2ad6fea4bdd4a6b335421ed</a:t>
            </a:r>
          </a:p>
          <a:p>
            <a:r>
              <a:t>Repository: presentation/assets/v2/plots/pairing.json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40 seconds</a:t>
            </a:r>
          </a:p>
          <a:p>
            <a:r>
              <a:t>The agent is a scientist on a leash we can inspect. Each turn it emits exactly one action, our code executes it, and the observation comes back. Its ideas and dead ends are rows in the same database as the graph, so the frontier is a query rather than a growing prompt. Children get the real instruments: the graph, the papers, dataset search, parallel Python, and scoped three-dimensional tools for molecular geometry, binders, tissue simulation and spindle mechanics. Structure enters the reasoning as an embedding alongside the claim graph; we added the rendering so the agent can look at a scene and a person can check the same thing. Looking is never the evidence: the agent counterchecks what it saw against canonical coordinates in code, and every experiment has to print one strictly typed result line that our screens can judge. Every eighteen actions it stops and reports upward, and the parent decides whether that line continues at all.</a:t>
            </a:r>
          </a:p>
          <a:p/>
          <a:p>
            <a:r>
              <a:t>EVIDENCE / STATUS</a:t>
            </a:r>
          </a:p>
          <a:p>
            <a:r>
              <a:t>Implemented in explorer/explorer.py, control.py, budget.py, lineage.py; instruments in binder/, tissue/, spindle/ and the inhibitor workflow. The parent controller is an LLM call; its allocation quality has not been benchmarked against random or depth-first allocation. The three-seed docking recovery benchmark did not pass, and that failure stays in the record.</a:t>
            </a:r>
          </a:p>
          <a:p/>
          <a:p>
            <a:r>
              <a:t>BEFORE PRESENTING / NEXT EDIT</a:t>
            </a:r>
          </a:p>
          <a:p>
            <a:r>
              <a:t>Recheck against the final demo build; preserve evidence labels.</a:t>
            </a:r>
          </a:p>
          <a:p/>
          <a:p>
            <a:r>
              <a:t>JUDGING CRITERIA</a:t>
            </a:r>
          </a:p>
          <a:p>
            <a:r>
              <a:t>Technical Execution (50); AI Technical Sophistication (50)</a:t>
            </a:r>
          </a:p>
          <a:p/>
          <a:p>
            <a:r>
              <a:t>SOURCES</a:t>
            </a:r>
          </a:p>
          <a:p>
            <a:r>
              <a:t>Repository: ARCHITECTURE.md at fee316580ba27951c2ad6fea4bdd4a6b335421ed</a:t>
            </a:r>
          </a:p>
          <a:p>
            <a:r>
              <a:t>Repository: docs/binder-design.md at fee316580ba27951c2ad6fea4bdd4a6b335421ed</a:t>
            </a:r>
          </a:p>
          <a:p>
            <a:r>
              <a:t>Repository: docs/inhibitor-review/README.md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45 seconds</a:t>
            </a:r>
          </a:p>
          <a:p>
            <a:r>
              <a:t>Three gates decide what survives, and none of them is a language model. First the floor: every experiment prints one strictly typed result line, and six checks run in a fixed order in code — a finite effect, at least eight independent units, a p-value inside zero to one, the direction declared before the result, significance, and a leave-one-group-out robustness check. Each failure has a named slug and goes straight back onto the agent’s memory. Notice what is missing: no minimum effect size, because one constant compared against incommensurable quantities is not a comparison. Second, the evidence statistic is a bet, not a score: bounded and odd, so under the null the expected payoff is exactly one, and Ville’s inequality caps the chance of ever crossing the threshold at five percent no matter how often we peek. Ten thousand null runs measured one-point-one-two percent, and a critic we deliberately built to cheat was caught in all ten thousand. Third, allocation. Today a parent model decides; the branch monitor turns that into a statistic fitted on completed subtrees, calibrated prospectively on independent episodes, and below its episode floor it refuses to return a threshold at all.</a:t>
            </a:r>
          </a:p>
          <a:p/>
          <a:p>
            <a:r>
              <a:t>EVIDENCE / STATUS</a:t>
            </a:r>
          </a:p>
          <a:p>
            <a:r>
              <a:t>Falsifier constants verbatim: MIN_GROUP 8, P_PERM_CLEAR_NULL 0.05, malformed-result enforced by the ToolResult schema before the floor. Two gaps to concede if pressed: the permutation p is required of the agent but not re-derived by the falsifier, and MIN_GROUP is checked against a single scalar, so an eight-total experiment passes a contract that states eight per group. Null-audit numbers are from the standalone learned e-value diagnostic, not a product-wide error rate. Branch monitoring is implemented and observation-only; no live calibrated pruning.</a:t>
            </a:r>
          </a:p>
          <a:p/>
          <a:p>
            <a:r>
              <a:t>BEFORE PRESENTING / NEXT EDIT</a:t>
            </a:r>
          </a:p>
          <a:p>
            <a:r>
              <a:t>Fix the per-group versus total n_units mismatch in falsifier.py, then update this slide.</a:t>
            </a:r>
          </a:p>
          <a:p/>
          <a:p>
            <a:r>
              <a:t>JUDGING CRITERIA</a:t>
            </a:r>
          </a:p>
          <a:p>
            <a:r>
              <a:t>Reliability, Evaluation &amp; Trustworthiness (25); AI Technical Sophistication (50)</a:t>
            </a:r>
          </a:p>
          <a:p/>
          <a:p>
            <a:r>
              <a:t>SOURCES</a:t>
            </a:r>
          </a:p>
          <a:p>
            <a:r>
              <a:t>Pandeva, Forre, Ramdas &amp; Shekhar, Deep anytime-valid hypothesis testing, AISTATS 2024: https://proceedings.mlr.press/v238/pandeva24a.html (accessed 2026-09-06)</a:t>
            </a:r>
          </a:p>
          <a:p>
            <a:r>
              <a:t>Repository: src/dnhacksbio/falsifier.py at fee316580ba27951c2ad6fea4bdd4a6b335421ed</a:t>
            </a:r>
          </a:p>
          <a:p>
            <a:r>
              <a:t>Repository: research/learned-evalue-validation/expanded-null.json at fee316580ba27951c2ad6fea4bdd4a6b335421ed</a:t>
            </a:r>
          </a:p>
          <a:p>
            <a:r>
              <a:t>Repository: docs/branch-monitoring.md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Here is how we test whether the aim is real rather than plausible. We freeze the literature at a dated boundary and run the ordinary loop against the past. Everything the agent can touch predates the cutoff, retrieval is scoped and logged so an out-of-boundary read shows up in the audit, and the matching later paper is held outside the evidence store entirely. One GPU fit sits inside the boundary and is then frozen; everything downstream is cheap and replayable on CPU, which is what makes rerunning the backtest affordable. And the honest caveat, said out loud: a frozen corpus bounds the evidence, never what a pretrained model already knew.</a:t>
            </a:r>
          </a:p>
          <a:p/>
          <a:p>
            <a:r>
              <a:t>EVIDENCE / STATUS</a:t>
            </a:r>
          </a:p>
          <a:p>
            <a:r>
              <a:t>Curated PDAC collection of 100 full-text papers with an inclusive 2026-01-25 curation boundary and a self-hashing manifest. The encoder fit is the recorded L40S run. This is a controlled recovery test; post-cutoff registration and held-out cohorts are the next test.</a:t>
            </a:r>
          </a:p>
          <a:p/>
          <a:p>
            <a:r>
              <a:t>BEFORE PRESENTING / NEXT EDIT</a:t>
            </a:r>
          </a:p>
          <a:p>
            <a:r>
              <a:t>Fill the run ID, corpus hash and audit counts from the audited backtest run before presenting.</a:t>
            </a:r>
          </a:p>
          <a:p/>
          <a:p>
            <a:r>
              <a:t>JUDGING CRITERIA</a:t>
            </a:r>
          </a:p>
          <a:p>
            <a:r>
              <a:t>Reliability, Evaluation &amp; Trustworthiness (25); Technical Execution (50)</a:t>
            </a:r>
          </a:p>
          <a:p/>
          <a:p>
            <a:r>
              <a:t>SOURCES</a:t>
            </a:r>
          </a:p>
          <a:p>
            <a:r>
              <a:t>Repository: ARCHITECTURE.md at fee316580ba27951c2ad6fea4bdd4a6b335421ed</a:t>
            </a:r>
          </a:p>
          <a:p>
            <a:r>
              <a:t>Repository: demo/pdac/README.md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35 seconds</a:t>
            </a:r>
          </a:p>
          <a:p>
            <a:r>
              <a:t>Of the candidates proposed inside the boundary, this many survived the soundness floor and this many reached a person at the gate. Here is one. The paper on the right was published after our cutoff by a group that never saw our system, and it was held outside the evidence store for the whole run. The claim we are making is narrow and worth stating precisely: not that the engine knew the future, but that the graph plus the floor pointed compute at a question real science went on to answer.</a:t>
            </a:r>
          </a:p>
          <a:p/>
          <a:p>
            <a:r>
              <a:t>EVIDENCE / STATUS</a:t>
            </a:r>
          </a:p>
          <a:p>
            <a:r>
              <a:t>Every count on this slide must come from the audited run record before it is shown. Placeholder values are labelled as such on the slide itself. A frozen corpus does not exclude pretraining memory.</a:t>
            </a:r>
          </a:p>
          <a:p/>
          <a:p>
            <a:r>
              <a:t>BEFORE PRESENTING / NEXT EDIT</a:t>
            </a:r>
          </a:p>
          <a:p>
            <a:r>
              <a:t>Replace the placeholders with the audited run: run ID, action index, branch, reviewer name and the paper DOI.</a:t>
            </a:r>
          </a:p>
          <a:p/>
          <a:p>
            <a:r>
              <a:t>JUDGING CRITERIA</a:t>
            </a:r>
          </a:p>
          <a:p>
            <a:r>
              <a:t>Reliability, Evaluation &amp; Trustworthiness (25); Technical Execution (50)</a:t>
            </a:r>
          </a:p>
          <a:p/>
          <a:p>
            <a:r>
              <a:t>SOURCES</a:t>
            </a:r>
          </a:p>
          <a:p>
            <a:r>
              <a:t>Repository: ARCHITECTURE.md at fee316580ba27951c2ad6fea4bdd4a6b335421ed</a:t>
            </a:r>
          </a:p>
          <a:p>
            <a:r>
              <a:t>Repository: demo/pdac/README.md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25 seconds</a:t>
            </a:r>
          </a:p>
          <a:p>
            <a:r>
              <a:t>We would rather spend the remaining time on whichever of these is bothering you most. Each has a real answer with numbers behind it, and several are places where our own result is negative: PCA beat our protein denoiser, the docking recovery benchmark failed, the learned bettor loses to a permutation test on mean shifts, and the branch monitor has no live calibration yet. We show all four rather than hide them.</a:t>
            </a:r>
          </a:p>
          <a:p/>
          <a:p>
            <a:r>
              <a:t>EVIDENCE / STATUS</a:t>
            </a:r>
          </a:p>
          <a:p>
            <a:r>
              <a:t>Every answer on this slide restates a position defended elsewhere in the deck and verified against the implementation: grounding in litmap/grounding.py, the floor in falsifier.py, anytime validity in learned_evalue.py, and observation-only branch monitoring in branch_monitoring/.</a:t>
            </a:r>
          </a:p>
          <a:p/>
          <a:p>
            <a:r>
              <a:t>BEFORE PRESENTING / NEXT EDIT</a:t>
            </a:r>
          </a:p>
          <a:p>
            <a:r>
              <a:t>Hold this slide in reserve during a timed run; jump to it when a judge raises one of these.</a:t>
            </a:r>
          </a:p>
          <a:p/>
          <a:p>
            <a:r>
              <a:t>JUDGING CRITERIA</a:t>
            </a:r>
          </a:p>
          <a:p>
            <a:r>
              <a:t>Reliability, Evaluation &amp; Trustworthiness (25); Technical Execution (50)</a:t>
            </a:r>
          </a:p>
          <a:p/>
          <a:p>
            <a:r>
              <a:t>SOURCES</a:t>
            </a:r>
          </a:p>
          <a:p>
            <a:r>
              <a:t>Repository: ARCHITECTURE.md at fee316580ba27951c2ad6fea4bdd4a6b335421ed</a:t>
            </a:r>
          </a:p>
          <a:p>
            <a:r>
              <a:t>Repository: docs/learned-evalue-process.md at fee316580ba27951c2ad6fea4bdd4a6b335421ed</a:t>
            </a:r>
          </a:p>
          <a:p>
            <a:r>
              <a:t>Repository: docs/branch-monitoring.md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TENTATIVE SCRIPT · 40 seconds</a:t>
            </a:r>
          </a:p>
          <a:p>
            <a:r>
              <a:t>Three things to close on. In the next ninety days: a corpus at field scale with a completeness estimate rather than a hand wave, enough independent episodes to publish a calibrated branch-monitor threshold, a prospective run where we register candidates now and score them against literature that does not exist yet, and one bench partner to take a single accepted candidate to a real experiment. The metric we ask to be judged on is cost and reviewer-minutes per independently rerunnable accepted finding, with every failed branch in the denominator. And on why it compounds: a better extractor fills the graph faster, a better explorer produces better trajectories for the allocator to learn from, cheaper inference buys more actions because our budgets are counted in actions rather than hours, and better instruments make more of biology executable. None of those touches grounding, the action contract, the soundness floor, anytime validity or the person at the gate. A better model makes a chat assistant better and a research record no more trustworthy; here capability compounds into throughput instead of confident noise.</a:t>
            </a:r>
          </a:p>
          <a:p/>
          <a:p>
            <a:r>
              <a:t>EVIDENCE / STATUS</a:t>
            </a:r>
          </a:p>
          <a:p>
            <a:r>
              <a:t>Budget contract is action-only: 18 actions per checkpoint, 2,880 research actions shared across a subtree, depth 6, 72 descendant slots. The cost-per-finding ratio is not yet measured; the runtime records action time and SDK token usage. No customer, revenue, pricing or cost-saving claim.</a:t>
            </a:r>
          </a:p>
          <a:p/>
          <a:p>
            <a:r>
              <a:t>BEFORE PRESENTING / NEXT EDIT</a:t>
            </a:r>
          </a:p>
          <a:p>
            <a:r>
              <a:t>Fill the measured cost-per-accepted-finding as soon as one complete investigation has been metered.</a:t>
            </a:r>
          </a:p>
          <a:p/>
          <a:p>
            <a:r>
              <a:t>JUDGING CRITERIA</a:t>
            </a:r>
          </a:p>
          <a:p>
            <a:r>
              <a:t>Feasibility &amp; Deployment (25); Technical Execution (50)</a:t>
            </a:r>
          </a:p>
          <a:p/>
          <a:p>
            <a:r>
              <a:t>SOURCES</a:t>
            </a:r>
          </a:p>
          <a:p>
            <a:r>
              <a:t>Repository: ARCHITECTURE.md at fee316580ba27951c2ad6fea4bdd4a6b335421ed</a:t>
            </a:r>
          </a:p>
          <a:p>
            <a:r>
              <a:t>Repository: docs/runtime.md at fee316580ba27951c2ad6fea4bdd4a6b335421ed</a:t>
            </a:r>
          </a:p>
          <a:p>
            <a:r>
              <a:t>Repository: src/dnhacksbio/explorer/budget.py at fee316580ba27951c2ad6fea4bdd4a6b335421ed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DN RESEARCH / BIOLOGICAL FORESIGHT</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01</a:t>
            </a:r>
          </a:p>
        </p:txBody>
      </p:sp>
      <p:cxnSp>
        <p:nvCxnSpPr>
          <p:cNvPr id="8" name="Connector 7"/>
          <p:cNvCxnSpPr/>
          <p:nvPr/>
        </p:nvCxnSpPr>
        <p:spPr>
          <a:xfrm>
            <a:off x="6029771" y="1764274"/>
            <a:ext cx="37789" cy="7739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flipH="1" flipV="1">
            <a:off x="5847785" y="1673834"/>
            <a:ext cx="181986" cy="9044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flipH="1">
            <a:off x="5976820" y="1764274"/>
            <a:ext cx="52951" cy="22043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flipH="1" flipV="1">
            <a:off x="5911335" y="1557286"/>
            <a:ext cx="118436" cy="20698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a:off x="5547618" y="4392524"/>
            <a:ext cx="50415" cy="9681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5547618" y="4392524"/>
            <a:ext cx="137499" cy="10405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flipV="1">
            <a:off x="5547618" y="4151789"/>
            <a:ext cx="124692" cy="24073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5547618" y="4392524"/>
            <a:ext cx="274848" cy="2263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V="1">
            <a:off x="6308113" y="4328287"/>
            <a:ext cx="29284" cy="3882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6301359" y="4367111"/>
            <a:ext cx="6754" cy="13526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6167361" y="4367111"/>
            <a:ext cx="140752" cy="4029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H="1">
            <a:off x="6242601" y="4367111"/>
            <a:ext cx="65512" cy="13400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6837718" y="4121557"/>
            <a:ext cx="56256" cy="1749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6837718" y="4139051"/>
            <a:ext cx="50683" cy="7840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6837718" y="4017794"/>
            <a:ext cx="107878" cy="12125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6837718" y="4139051"/>
            <a:ext cx="139584" cy="14450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H="1" flipV="1">
            <a:off x="6336067" y="3961692"/>
            <a:ext cx="68253" cy="6626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6404320" y="4027952"/>
            <a:ext cx="103302" cy="13396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404320" y="4027952"/>
            <a:ext cx="8227" cy="17718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H="1" flipV="1">
            <a:off x="6222297" y="3987282"/>
            <a:ext cx="182023" cy="4067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H="1">
            <a:off x="5822466" y="4404086"/>
            <a:ext cx="53710" cy="1107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H="1">
            <a:off x="5685117" y="4404086"/>
            <a:ext cx="191059" cy="924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H="1">
            <a:off x="5598033" y="4404086"/>
            <a:ext cx="278143" cy="8525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5876176" y="4404086"/>
            <a:ext cx="291185" cy="331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7234059" y="4290861"/>
            <a:ext cx="10230" cy="8006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V="1">
            <a:off x="7244289" y="4088970"/>
            <a:ext cx="157385" cy="20189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H="1" flipV="1">
            <a:off x="6977302" y="4283558"/>
            <a:ext cx="266987" cy="730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H="1">
            <a:off x="7055295" y="4290861"/>
            <a:ext cx="188994" cy="23286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H="1">
            <a:off x="6218397" y="2478074"/>
            <a:ext cx="44792" cy="7750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V="1">
            <a:off x="6263189" y="2459291"/>
            <a:ext cx="88641" cy="1878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a:off x="6263189" y="2478074"/>
            <a:ext cx="73658" cy="10226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6263189" y="2478074"/>
            <a:ext cx="14321" cy="15710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flipH="1">
            <a:off x="6543633" y="1516614"/>
            <a:ext cx="20906" cy="120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6564539" y="1516614"/>
            <a:ext cx="28775" cy="7572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6561470" y="1516614"/>
            <a:ext cx="3069" cy="10238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a:off x="6564539" y="1516614"/>
            <a:ext cx="87027" cy="9826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a:off x="6268585" y="1422515"/>
            <a:ext cx="275048" cy="10615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6268585" y="1422515"/>
            <a:ext cx="148644" cy="29307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6268585" y="1422515"/>
            <a:ext cx="292885" cy="19648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a:off x="6218397" y="2555583"/>
            <a:ext cx="59113" cy="7959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flipH="1">
            <a:off x="6130468" y="2555583"/>
            <a:ext cx="87929" cy="8306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a:off x="6218397" y="2555583"/>
            <a:ext cx="118450" cy="247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H="1" flipV="1">
            <a:off x="5483673" y="3655796"/>
            <a:ext cx="64332" cy="7959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flipH="1" flipV="1">
            <a:off x="5392792" y="3598703"/>
            <a:ext cx="155213" cy="13668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H="1" flipV="1">
            <a:off x="5427474" y="3498104"/>
            <a:ext cx="120531" cy="23728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V="1">
            <a:off x="5548005" y="3460119"/>
            <a:ext cx="167902" cy="27527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a:off x="5921927" y="3491666"/>
            <a:ext cx="118396" cy="3226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flipH="1" flipV="1">
            <a:off x="5882459" y="3327998"/>
            <a:ext cx="39468" cy="16366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a:off x="5921927" y="3491666"/>
            <a:ext cx="147063" cy="11437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a:off x="5921927" y="3491666"/>
            <a:ext cx="178762" cy="7783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8" name="Connector 57"/>
          <p:cNvCxnSpPr/>
          <p:nvPr/>
        </p:nvCxnSpPr>
        <p:spPr>
          <a:xfrm>
            <a:off x="6660100" y="2584828"/>
            <a:ext cx="34732" cy="6519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H="1" flipV="1">
            <a:off x="6637363" y="2512929"/>
            <a:ext cx="22737" cy="7189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flipH="1">
            <a:off x="6613922" y="2584828"/>
            <a:ext cx="46178" cy="10937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V="1">
            <a:off x="6660100" y="2455312"/>
            <a:ext cx="142792" cy="12951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flipH="1">
            <a:off x="6944340" y="4283558"/>
            <a:ext cx="32962" cy="511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flipH="1" flipV="1">
            <a:off x="6888401" y="4217458"/>
            <a:ext cx="88901" cy="6610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flipH="1">
            <a:off x="6948968" y="4283558"/>
            <a:ext cx="28334" cy="16218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flipH="1" flipV="1">
            <a:off x="6893974" y="4121557"/>
            <a:ext cx="83328" cy="16200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a:off x="6376454" y="4634685"/>
            <a:ext cx="48991" cy="5264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a:off x="6376454" y="4634685"/>
            <a:ext cx="92920" cy="11549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flipH="1" flipV="1">
            <a:off x="6301359" y="4502373"/>
            <a:ext cx="75095" cy="13231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flipH="1" flipV="1">
            <a:off x="6242601" y="4501115"/>
            <a:ext cx="133853" cy="13357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5958865" y="4786383"/>
            <a:ext cx="34719" cy="3808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flipH="1" flipV="1">
            <a:off x="5904210" y="4727319"/>
            <a:ext cx="54655" cy="5906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flipV="1">
            <a:off x="5958865" y="4689727"/>
            <a:ext cx="146389" cy="9665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5958865" y="4786383"/>
            <a:ext cx="2335" cy="19672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flipH="1">
            <a:off x="5847785" y="1557286"/>
            <a:ext cx="63550" cy="11654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5911335" y="1557286"/>
            <a:ext cx="156225" cy="28438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flipH="1" flipV="1">
            <a:off x="5354403" y="3173076"/>
            <a:ext cx="19348" cy="7822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5373751" y="3251298"/>
            <a:ext cx="53723" cy="24680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flipV="1">
            <a:off x="5373751" y="3006013"/>
            <a:ext cx="76971" cy="24528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flipV="1">
            <a:off x="5373751" y="3239086"/>
            <a:ext cx="256837" cy="1221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flipV="1">
            <a:off x="6222297" y="3961692"/>
            <a:ext cx="113770" cy="2559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flipH="1">
            <a:off x="6204354" y="3987282"/>
            <a:ext cx="17943" cy="12372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flipH="1">
            <a:off x="6104482" y="3987282"/>
            <a:ext cx="117815" cy="14172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flipV="1">
            <a:off x="6057027" y="3606039"/>
            <a:ext cx="11963" cy="6112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V="1">
            <a:off x="6057027" y="3569504"/>
            <a:ext cx="43662" cy="9765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H="1" flipV="1">
            <a:off x="6040323" y="3523930"/>
            <a:ext cx="16704" cy="14323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6" name="Connector 85"/>
          <p:cNvCxnSpPr/>
          <p:nvPr/>
        </p:nvCxnSpPr>
        <p:spPr>
          <a:xfrm>
            <a:off x="6340605" y="2757558"/>
            <a:ext cx="25173" cy="6531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7" name="Connector 86"/>
          <p:cNvCxnSpPr/>
          <p:nvPr/>
        </p:nvCxnSpPr>
        <p:spPr>
          <a:xfrm flipH="1">
            <a:off x="6337035" y="2757558"/>
            <a:ext cx="3570" cy="11670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8" name="Connector 87"/>
          <p:cNvCxnSpPr/>
          <p:nvPr/>
        </p:nvCxnSpPr>
        <p:spPr>
          <a:xfrm flipH="1" flipV="1">
            <a:off x="6277510" y="2635178"/>
            <a:ext cx="63095" cy="12238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89" name="Connector 88"/>
          <p:cNvCxnSpPr/>
          <p:nvPr/>
        </p:nvCxnSpPr>
        <p:spPr>
          <a:xfrm flipH="1">
            <a:off x="6229421" y="2757558"/>
            <a:ext cx="111184" cy="8198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flipH="1" flipV="1">
            <a:off x="7144919" y="3530888"/>
            <a:ext cx="20544" cy="6944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flipH="1">
            <a:off x="7100492" y="3600329"/>
            <a:ext cx="64971" cy="9043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flipV="1">
            <a:off x="7165463" y="3549217"/>
            <a:ext cx="106704" cy="5111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3" name="Connector 92"/>
          <p:cNvCxnSpPr/>
          <p:nvPr/>
        </p:nvCxnSpPr>
        <p:spPr>
          <a:xfrm>
            <a:off x="7165463" y="3600329"/>
            <a:ext cx="221347" cy="3732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4" name="Connector 93"/>
          <p:cNvCxnSpPr/>
          <p:nvPr/>
        </p:nvCxnSpPr>
        <p:spPr>
          <a:xfrm flipV="1">
            <a:off x="7177658" y="2719361"/>
            <a:ext cx="29820" cy="14539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7177658" y="2864755"/>
            <a:ext cx="150458" cy="5177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flipH="1">
            <a:off x="7125794" y="2864755"/>
            <a:ext cx="51864" cy="21843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7" name="Connector 96"/>
          <p:cNvCxnSpPr/>
          <p:nvPr/>
        </p:nvCxnSpPr>
        <p:spPr>
          <a:xfrm flipH="1">
            <a:off x="7020729" y="2864755"/>
            <a:ext cx="156929" cy="16274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8" name="Connector 97"/>
          <p:cNvCxnSpPr/>
          <p:nvPr/>
        </p:nvCxnSpPr>
        <p:spPr>
          <a:xfrm flipH="1">
            <a:off x="6380258" y="4883987"/>
            <a:ext cx="41652" cy="7540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99" name="Connector 98"/>
          <p:cNvCxnSpPr/>
          <p:nvPr/>
        </p:nvCxnSpPr>
        <p:spPr>
          <a:xfrm>
            <a:off x="6421910" y="4883987"/>
            <a:ext cx="36499" cy="8761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0" name="Connector 99"/>
          <p:cNvCxnSpPr/>
          <p:nvPr/>
        </p:nvCxnSpPr>
        <p:spPr>
          <a:xfrm flipH="1">
            <a:off x="6316956" y="4883987"/>
            <a:ext cx="104954" cy="1526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1" name="Connector 100"/>
          <p:cNvCxnSpPr/>
          <p:nvPr/>
        </p:nvCxnSpPr>
        <p:spPr>
          <a:xfrm>
            <a:off x="6421910" y="4883987"/>
            <a:ext cx="110733" cy="515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2" name="Connector 101"/>
          <p:cNvCxnSpPr/>
          <p:nvPr/>
        </p:nvCxnSpPr>
        <p:spPr>
          <a:xfrm>
            <a:off x="5987775" y="2491383"/>
            <a:ext cx="111197" cy="1597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3" name="Connector 102"/>
          <p:cNvCxnSpPr/>
          <p:nvPr/>
        </p:nvCxnSpPr>
        <p:spPr>
          <a:xfrm>
            <a:off x="5987775" y="2491383"/>
            <a:ext cx="142693" cy="14726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4" name="Connector 103"/>
          <p:cNvCxnSpPr/>
          <p:nvPr/>
        </p:nvCxnSpPr>
        <p:spPr>
          <a:xfrm flipH="1" flipV="1">
            <a:off x="5835320" y="2308572"/>
            <a:ext cx="152455" cy="18281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5" name="Connector 104"/>
          <p:cNvCxnSpPr/>
          <p:nvPr/>
        </p:nvCxnSpPr>
        <p:spPr>
          <a:xfrm flipH="1">
            <a:off x="6336847" y="2459291"/>
            <a:ext cx="14983" cy="12104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6" name="Connector 105"/>
          <p:cNvCxnSpPr/>
          <p:nvPr/>
        </p:nvCxnSpPr>
        <p:spPr>
          <a:xfrm flipV="1">
            <a:off x="6351830" y="2333870"/>
            <a:ext cx="61726" cy="12542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7" name="Connector 106"/>
          <p:cNvCxnSpPr/>
          <p:nvPr/>
        </p:nvCxnSpPr>
        <p:spPr>
          <a:xfrm flipV="1">
            <a:off x="6450687" y="5190061"/>
            <a:ext cx="58624" cy="18296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8" name="Connector 107"/>
          <p:cNvCxnSpPr/>
          <p:nvPr/>
        </p:nvCxnSpPr>
        <p:spPr>
          <a:xfrm flipH="1">
            <a:off x="6225302" y="5373026"/>
            <a:ext cx="225385" cy="6695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09" name="Connector 108"/>
          <p:cNvCxnSpPr/>
          <p:nvPr/>
        </p:nvCxnSpPr>
        <p:spPr>
          <a:xfrm flipV="1">
            <a:off x="6450687" y="5092349"/>
            <a:ext cx="13291" cy="28067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0" name="Connector 109"/>
          <p:cNvCxnSpPr/>
          <p:nvPr/>
        </p:nvCxnSpPr>
        <p:spPr>
          <a:xfrm flipV="1">
            <a:off x="6450687" y="5047625"/>
            <a:ext cx="188645" cy="32540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flipH="1">
            <a:off x="5673144" y="2053665"/>
            <a:ext cx="116103" cy="8249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flipV="1">
            <a:off x="5789247" y="1984711"/>
            <a:ext cx="187573" cy="6895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3" name="Connector 112"/>
          <p:cNvCxnSpPr/>
          <p:nvPr/>
        </p:nvCxnSpPr>
        <p:spPr>
          <a:xfrm>
            <a:off x="5789247" y="2053665"/>
            <a:ext cx="46073" cy="25490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a:off x="5789247" y="2053665"/>
            <a:ext cx="204873" cy="17629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5" name="Connector 114"/>
          <p:cNvCxnSpPr/>
          <p:nvPr/>
        </p:nvCxnSpPr>
        <p:spPr>
          <a:xfrm flipV="1">
            <a:off x="5566402" y="4091218"/>
            <a:ext cx="76428" cy="1281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6" name="Connector 115"/>
          <p:cNvCxnSpPr/>
          <p:nvPr/>
        </p:nvCxnSpPr>
        <p:spPr>
          <a:xfrm>
            <a:off x="5566402" y="4104030"/>
            <a:ext cx="105908" cy="4775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7" name="Connector 116"/>
          <p:cNvCxnSpPr/>
          <p:nvPr/>
        </p:nvCxnSpPr>
        <p:spPr>
          <a:xfrm flipV="1">
            <a:off x="5566402" y="3922726"/>
            <a:ext cx="291932" cy="18130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8" name="Connector 117"/>
          <p:cNvCxnSpPr/>
          <p:nvPr/>
        </p:nvCxnSpPr>
        <p:spPr>
          <a:xfrm flipH="1" flipV="1">
            <a:off x="7006229" y="4479321"/>
            <a:ext cx="10530" cy="3041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a:off x="7016759" y="4509732"/>
            <a:ext cx="38536" cy="1399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0" name="Connector 119"/>
          <p:cNvCxnSpPr/>
          <p:nvPr/>
        </p:nvCxnSpPr>
        <p:spPr>
          <a:xfrm flipH="1" flipV="1">
            <a:off x="6957407" y="4489365"/>
            <a:ext cx="59352" cy="2036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1" name="Connector 120"/>
          <p:cNvCxnSpPr/>
          <p:nvPr/>
        </p:nvCxnSpPr>
        <p:spPr>
          <a:xfrm flipH="1" flipV="1">
            <a:off x="6948505" y="4480771"/>
            <a:ext cx="68254" cy="2896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flipH="1" flipV="1">
            <a:off x="6674134" y="2381872"/>
            <a:ext cx="128758" cy="7344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3" name="Connector 122"/>
          <p:cNvCxnSpPr/>
          <p:nvPr/>
        </p:nvCxnSpPr>
        <p:spPr>
          <a:xfrm flipH="1">
            <a:off x="6637363" y="2455312"/>
            <a:ext cx="165529" cy="5761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4" name="Connector 123"/>
          <p:cNvCxnSpPr/>
          <p:nvPr/>
        </p:nvCxnSpPr>
        <p:spPr>
          <a:xfrm flipH="1">
            <a:off x="6694832" y="2455312"/>
            <a:ext cx="108060" cy="19470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5" name="Connector 124"/>
          <p:cNvCxnSpPr/>
          <p:nvPr/>
        </p:nvCxnSpPr>
        <p:spPr>
          <a:xfrm>
            <a:off x="6097803" y="4640396"/>
            <a:ext cx="7451" cy="4933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6" name="Connector 125"/>
          <p:cNvCxnSpPr/>
          <p:nvPr/>
        </p:nvCxnSpPr>
        <p:spPr>
          <a:xfrm flipV="1">
            <a:off x="6097803" y="4501115"/>
            <a:ext cx="144798" cy="13928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7" name="Connector 126"/>
          <p:cNvCxnSpPr/>
          <p:nvPr/>
        </p:nvCxnSpPr>
        <p:spPr>
          <a:xfrm flipH="1">
            <a:off x="5993584" y="4640396"/>
            <a:ext cx="104219" cy="18407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8" name="Connector 127"/>
          <p:cNvCxnSpPr/>
          <p:nvPr/>
        </p:nvCxnSpPr>
        <p:spPr>
          <a:xfrm flipH="1">
            <a:off x="6788499" y="3208759"/>
            <a:ext cx="98649" cy="3156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29" name="Connector 128"/>
          <p:cNvCxnSpPr/>
          <p:nvPr/>
        </p:nvCxnSpPr>
        <p:spPr>
          <a:xfrm flipH="1" flipV="1">
            <a:off x="6670395" y="3152565"/>
            <a:ext cx="216753" cy="5619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0" name="Connector 129"/>
          <p:cNvCxnSpPr/>
          <p:nvPr/>
        </p:nvCxnSpPr>
        <p:spPr>
          <a:xfrm flipV="1">
            <a:off x="6887148" y="3027501"/>
            <a:ext cx="133581" cy="18125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1" name="Connector 130"/>
          <p:cNvCxnSpPr/>
          <p:nvPr/>
        </p:nvCxnSpPr>
        <p:spPr>
          <a:xfrm flipV="1">
            <a:off x="6887148" y="2974048"/>
            <a:ext cx="56228" cy="23471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2" name="Connector 131"/>
          <p:cNvCxnSpPr/>
          <p:nvPr/>
        </p:nvCxnSpPr>
        <p:spPr>
          <a:xfrm flipH="1">
            <a:off x="6068990" y="3569504"/>
            <a:ext cx="31699" cy="3653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3" name="Connector 132"/>
          <p:cNvCxnSpPr/>
          <p:nvPr/>
        </p:nvCxnSpPr>
        <p:spPr>
          <a:xfrm flipH="1" flipV="1">
            <a:off x="6040323" y="3523930"/>
            <a:ext cx="60366" cy="4557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4" name="Connector 133"/>
          <p:cNvCxnSpPr/>
          <p:nvPr/>
        </p:nvCxnSpPr>
        <p:spPr>
          <a:xfrm flipH="1">
            <a:off x="5685117" y="4415161"/>
            <a:ext cx="137349" cy="8141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5" name="Connector 134"/>
          <p:cNvCxnSpPr/>
          <p:nvPr/>
        </p:nvCxnSpPr>
        <p:spPr>
          <a:xfrm flipH="1">
            <a:off x="5598033" y="4415161"/>
            <a:ext cx="224433" cy="7417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6" name="Connector 135"/>
          <p:cNvCxnSpPr/>
          <p:nvPr/>
        </p:nvCxnSpPr>
        <p:spPr>
          <a:xfrm flipV="1">
            <a:off x="6225302" y="5190061"/>
            <a:ext cx="284009" cy="24991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7" name="Connector 136"/>
          <p:cNvCxnSpPr/>
          <p:nvPr/>
        </p:nvCxnSpPr>
        <p:spPr>
          <a:xfrm flipV="1">
            <a:off x="6225302" y="5092349"/>
            <a:ext cx="238676" cy="34762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8" name="Connector 137"/>
          <p:cNvCxnSpPr/>
          <p:nvPr/>
        </p:nvCxnSpPr>
        <p:spPr>
          <a:xfrm flipV="1">
            <a:off x="6225302" y="4959391"/>
            <a:ext cx="154956" cy="48058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39" name="Connector 138"/>
          <p:cNvCxnSpPr/>
          <p:nvPr/>
        </p:nvCxnSpPr>
        <p:spPr>
          <a:xfrm flipH="1">
            <a:off x="6860025" y="4843728"/>
            <a:ext cx="13493" cy="1637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flipH="1" flipV="1">
            <a:off x="6821428" y="4818802"/>
            <a:ext cx="52090" cy="2492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1" name="Connector 140"/>
          <p:cNvCxnSpPr/>
          <p:nvPr/>
        </p:nvCxnSpPr>
        <p:spPr>
          <a:xfrm flipH="1" flipV="1">
            <a:off x="6827468" y="4759451"/>
            <a:ext cx="46050" cy="8427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2" name="Connector 141"/>
          <p:cNvCxnSpPr/>
          <p:nvPr/>
        </p:nvCxnSpPr>
        <p:spPr>
          <a:xfrm flipH="1" flipV="1">
            <a:off x="6773055" y="4696786"/>
            <a:ext cx="100463" cy="14694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3" name="Connector 142"/>
          <p:cNvCxnSpPr/>
          <p:nvPr/>
        </p:nvCxnSpPr>
        <p:spPr>
          <a:xfrm flipH="1">
            <a:off x="5450722" y="2979715"/>
            <a:ext cx="64582" cy="2629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4" name="Connector 143"/>
          <p:cNvCxnSpPr/>
          <p:nvPr/>
        </p:nvCxnSpPr>
        <p:spPr>
          <a:xfrm>
            <a:off x="5515304" y="2979715"/>
            <a:ext cx="78556" cy="2389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5" name="Connector 144"/>
          <p:cNvCxnSpPr/>
          <p:nvPr/>
        </p:nvCxnSpPr>
        <p:spPr>
          <a:xfrm flipV="1">
            <a:off x="5515304" y="2914616"/>
            <a:ext cx="93972" cy="6509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6" name="Connector 145"/>
          <p:cNvCxnSpPr/>
          <p:nvPr/>
        </p:nvCxnSpPr>
        <p:spPr>
          <a:xfrm>
            <a:off x="5515304" y="2979715"/>
            <a:ext cx="113539" cy="2783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7" name="Connector 146"/>
          <p:cNvCxnSpPr/>
          <p:nvPr/>
        </p:nvCxnSpPr>
        <p:spPr>
          <a:xfrm flipV="1">
            <a:off x="5976820" y="1841672"/>
            <a:ext cx="90740" cy="14303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8" name="Connector 147"/>
          <p:cNvCxnSpPr/>
          <p:nvPr/>
        </p:nvCxnSpPr>
        <p:spPr>
          <a:xfrm>
            <a:off x="5976820" y="1984711"/>
            <a:ext cx="17300" cy="24525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flipV="1">
            <a:off x="6578852" y="2195533"/>
            <a:ext cx="120080" cy="5881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0" name="Connector 149"/>
          <p:cNvCxnSpPr/>
          <p:nvPr/>
        </p:nvCxnSpPr>
        <p:spPr>
          <a:xfrm>
            <a:off x="6578852" y="2254352"/>
            <a:ext cx="95282" cy="12752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1" name="Connector 150"/>
          <p:cNvCxnSpPr/>
          <p:nvPr/>
        </p:nvCxnSpPr>
        <p:spPr>
          <a:xfrm flipH="1">
            <a:off x="6413556" y="2254352"/>
            <a:ext cx="165296" cy="7951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2" name="Connector 151"/>
          <p:cNvCxnSpPr/>
          <p:nvPr/>
        </p:nvCxnSpPr>
        <p:spPr>
          <a:xfrm flipH="1" flipV="1">
            <a:off x="6392073" y="2124008"/>
            <a:ext cx="186779" cy="13034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3" name="Connector 152"/>
          <p:cNvCxnSpPr/>
          <p:nvPr/>
        </p:nvCxnSpPr>
        <p:spPr>
          <a:xfrm flipH="1">
            <a:off x="5560466" y="2571874"/>
            <a:ext cx="70678" cy="23014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4" name="Connector 153"/>
          <p:cNvCxnSpPr/>
          <p:nvPr/>
        </p:nvCxnSpPr>
        <p:spPr>
          <a:xfrm flipH="1">
            <a:off x="5545959" y="2571874"/>
            <a:ext cx="85185" cy="23359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5" name="Connector 154"/>
          <p:cNvCxnSpPr/>
          <p:nvPr/>
        </p:nvCxnSpPr>
        <p:spPr>
          <a:xfrm flipH="1" flipV="1">
            <a:off x="5488491" y="2303988"/>
            <a:ext cx="142653" cy="26788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6" name="Connector 155"/>
          <p:cNvCxnSpPr/>
          <p:nvPr/>
        </p:nvCxnSpPr>
        <p:spPr>
          <a:xfrm flipV="1">
            <a:off x="5631144" y="2308572"/>
            <a:ext cx="204176" cy="26330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7" name="Connector 156"/>
          <p:cNvCxnSpPr/>
          <p:nvPr/>
        </p:nvCxnSpPr>
        <p:spPr>
          <a:xfrm>
            <a:off x="5593860" y="3003606"/>
            <a:ext cx="34983" cy="394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8" name="Connector 157"/>
          <p:cNvCxnSpPr/>
          <p:nvPr/>
        </p:nvCxnSpPr>
        <p:spPr>
          <a:xfrm flipV="1">
            <a:off x="5593860" y="2991078"/>
            <a:ext cx="45159" cy="1252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59" name="Connector 158"/>
          <p:cNvCxnSpPr/>
          <p:nvPr/>
        </p:nvCxnSpPr>
        <p:spPr>
          <a:xfrm flipV="1">
            <a:off x="5593860" y="2914616"/>
            <a:ext cx="15416" cy="8899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0" name="Connector 159"/>
          <p:cNvCxnSpPr/>
          <p:nvPr/>
        </p:nvCxnSpPr>
        <p:spPr>
          <a:xfrm>
            <a:off x="6098972" y="2507360"/>
            <a:ext cx="31496" cy="13128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1" name="Connector 160"/>
          <p:cNvCxnSpPr/>
          <p:nvPr/>
        </p:nvCxnSpPr>
        <p:spPr>
          <a:xfrm flipH="1" flipV="1">
            <a:off x="6425445" y="4687329"/>
            <a:ext cx="43929" cy="6284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2" name="Connector 161"/>
          <p:cNvCxnSpPr/>
          <p:nvPr/>
        </p:nvCxnSpPr>
        <p:spPr>
          <a:xfrm>
            <a:off x="6469374" y="4750178"/>
            <a:ext cx="63269" cy="13896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3" name="Connector 162"/>
          <p:cNvCxnSpPr/>
          <p:nvPr/>
        </p:nvCxnSpPr>
        <p:spPr>
          <a:xfrm flipH="1" flipV="1">
            <a:off x="6285777" y="2189814"/>
            <a:ext cx="127779" cy="14405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4" name="Connector 163"/>
          <p:cNvCxnSpPr/>
          <p:nvPr/>
        </p:nvCxnSpPr>
        <p:spPr>
          <a:xfrm flipH="1">
            <a:off x="6895870" y="4584718"/>
            <a:ext cx="60894" cy="5215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5" name="Connector 164"/>
          <p:cNvCxnSpPr/>
          <p:nvPr/>
        </p:nvCxnSpPr>
        <p:spPr>
          <a:xfrm flipV="1">
            <a:off x="6956764" y="4489365"/>
            <a:ext cx="643" cy="9535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6" name="Connector 165"/>
          <p:cNvCxnSpPr/>
          <p:nvPr/>
        </p:nvCxnSpPr>
        <p:spPr>
          <a:xfrm flipH="1" flipV="1">
            <a:off x="6948505" y="4480771"/>
            <a:ext cx="8259" cy="10394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7" name="Connector 166"/>
          <p:cNvCxnSpPr/>
          <p:nvPr/>
        </p:nvCxnSpPr>
        <p:spPr>
          <a:xfrm flipH="1" flipV="1">
            <a:off x="5392792" y="3598703"/>
            <a:ext cx="90881" cy="5709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8" name="Connector 167"/>
          <p:cNvCxnSpPr/>
          <p:nvPr/>
        </p:nvCxnSpPr>
        <p:spPr>
          <a:xfrm flipH="1" flipV="1">
            <a:off x="5427474" y="3498104"/>
            <a:ext cx="56199" cy="1576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69" name="Connector 168"/>
          <p:cNvCxnSpPr/>
          <p:nvPr/>
        </p:nvCxnSpPr>
        <p:spPr>
          <a:xfrm flipV="1">
            <a:off x="5483673" y="3460119"/>
            <a:ext cx="232234" cy="19567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0" name="Connector 169"/>
          <p:cNvCxnSpPr/>
          <p:nvPr/>
        </p:nvCxnSpPr>
        <p:spPr>
          <a:xfrm flipV="1">
            <a:off x="6337397" y="4205139"/>
            <a:ext cx="75150" cy="12314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1" name="Connector 170"/>
          <p:cNvCxnSpPr/>
          <p:nvPr/>
        </p:nvCxnSpPr>
        <p:spPr>
          <a:xfrm flipH="1">
            <a:off x="6301359" y="4328287"/>
            <a:ext cx="36038" cy="17408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2" name="Connector 171"/>
          <p:cNvCxnSpPr/>
          <p:nvPr/>
        </p:nvCxnSpPr>
        <p:spPr>
          <a:xfrm flipH="1">
            <a:off x="6167361" y="4328287"/>
            <a:ext cx="170036" cy="7911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3" name="Connector 172"/>
          <p:cNvCxnSpPr/>
          <p:nvPr/>
        </p:nvCxnSpPr>
        <p:spPr>
          <a:xfrm flipV="1">
            <a:off x="6783921" y="4334713"/>
            <a:ext cx="160419" cy="665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4" name="Connector 173"/>
          <p:cNvCxnSpPr/>
          <p:nvPr/>
        </p:nvCxnSpPr>
        <p:spPr>
          <a:xfrm flipV="1">
            <a:off x="6783921" y="4217458"/>
            <a:ext cx="104480" cy="12391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5" name="Connector 174"/>
          <p:cNvCxnSpPr/>
          <p:nvPr/>
        </p:nvCxnSpPr>
        <p:spPr>
          <a:xfrm>
            <a:off x="6783921" y="4341371"/>
            <a:ext cx="165047" cy="10437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6" name="Connector 175"/>
          <p:cNvCxnSpPr/>
          <p:nvPr/>
        </p:nvCxnSpPr>
        <p:spPr>
          <a:xfrm flipH="1" flipV="1">
            <a:off x="6642856" y="4202254"/>
            <a:ext cx="141065" cy="13911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7" name="Connector 176"/>
          <p:cNvCxnSpPr/>
          <p:nvPr/>
        </p:nvCxnSpPr>
        <p:spPr>
          <a:xfrm>
            <a:off x="6229421" y="2839547"/>
            <a:ext cx="107614" cy="3471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8" name="Connector 177"/>
          <p:cNvCxnSpPr/>
          <p:nvPr/>
        </p:nvCxnSpPr>
        <p:spPr>
          <a:xfrm flipV="1">
            <a:off x="6229421" y="2822876"/>
            <a:ext cx="136357" cy="1667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79" name="Connector 178"/>
          <p:cNvCxnSpPr/>
          <p:nvPr/>
        </p:nvCxnSpPr>
        <p:spPr>
          <a:xfrm>
            <a:off x="6229421" y="2839547"/>
            <a:ext cx="6153" cy="19822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0" name="Connector 179"/>
          <p:cNvCxnSpPr/>
          <p:nvPr/>
        </p:nvCxnSpPr>
        <p:spPr>
          <a:xfrm flipH="1" flipV="1">
            <a:off x="7200765" y="3991900"/>
            <a:ext cx="200909" cy="9707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1" name="Connector 180"/>
          <p:cNvCxnSpPr/>
          <p:nvPr/>
        </p:nvCxnSpPr>
        <p:spPr>
          <a:xfrm flipH="1">
            <a:off x="7234059" y="4088970"/>
            <a:ext cx="167615" cy="2819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2" name="Connector 181"/>
          <p:cNvCxnSpPr/>
          <p:nvPr/>
        </p:nvCxnSpPr>
        <p:spPr>
          <a:xfrm flipH="1" flipV="1">
            <a:off x="7111460" y="3879408"/>
            <a:ext cx="290214" cy="20956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3" name="Connector 182"/>
          <p:cNvCxnSpPr/>
          <p:nvPr/>
        </p:nvCxnSpPr>
        <p:spPr>
          <a:xfrm flipH="1">
            <a:off x="6725296" y="1741730"/>
            <a:ext cx="129900" cy="14089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4" name="Connector 183"/>
          <p:cNvCxnSpPr/>
          <p:nvPr/>
        </p:nvCxnSpPr>
        <p:spPr>
          <a:xfrm flipH="1" flipV="1">
            <a:off x="6651566" y="1614875"/>
            <a:ext cx="203630" cy="1268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5" name="Connector 184"/>
          <p:cNvCxnSpPr/>
          <p:nvPr/>
        </p:nvCxnSpPr>
        <p:spPr>
          <a:xfrm flipV="1">
            <a:off x="6855196" y="1538996"/>
            <a:ext cx="146080" cy="20273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6" name="Connector 185"/>
          <p:cNvCxnSpPr/>
          <p:nvPr/>
        </p:nvCxnSpPr>
        <p:spPr>
          <a:xfrm flipH="1">
            <a:off x="6602218" y="1741730"/>
            <a:ext cx="252978" cy="14048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7" name="Connector 186"/>
          <p:cNvCxnSpPr/>
          <p:nvPr/>
        </p:nvCxnSpPr>
        <p:spPr>
          <a:xfrm flipV="1">
            <a:off x="6582519" y="1882215"/>
            <a:ext cx="19699" cy="9007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8" name="Connector 187"/>
          <p:cNvCxnSpPr/>
          <p:nvPr/>
        </p:nvCxnSpPr>
        <p:spPr>
          <a:xfrm flipV="1">
            <a:off x="6582519" y="1882623"/>
            <a:ext cx="142777" cy="8966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89" name="Connector 188"/>
          <p:cNvCxnSpPr/>
          <p:nvPr/>
        </p:nvCxnSpPr>
        <p:spPr>
          <a:xfrm flipH="1">
            <a:off x="6392073" y="1972290"/>
            <a:ext cx="190446" cy="15171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0" name="Connector 189"/>
          <p:cNvCxnSpPr/>
          <p:nvPr/>
        </p:nvCxnSpPr>
        <p:spPr>
          <a:xfrm flipH="1" flipV="1">
            <a:off x="6518228" y="1736266"/>
            <a:ext cx="64291" cy="23602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1" name="Connector 190"/>
          <p:cNvCxnSpPr/>
          <p:nvPr/>
        </p:nvCxnSpPr>
        <p:spPr>
          <a:xfrm flipH="1" flipV="1">
            <a:off x="6670395" y="3152565"/>
            <a:ext cx="118104" cy="8775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2" name="Connector 191"/>
          <p:cNvCxnSpPr/>
          <p:nvPr/>
        </p:nvCxnSpPr>
        <p:spPr>
          <a:xfrm flipH="1">
            <a:off x="6735509" y="3240323"/>
            <a:ext cx="52990" cy="26829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3" name="Connector 192"/>
          <p:cNvCxnSpPr/>
          <p:nvPr/>
        </p:nvCxnSpPr>
        <p:spPr>
          <a:xfrm flipV="1">
            <a:off x="6788499" y="2974048"/>
            <a:ext cx="154877" cy="26627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4" name="Connector 193"/>
          <p:cNvCxnSpPr/>
          <p:nvPr/>
        </p:nvCxnSpPr>
        <p:spPr>
          <a:xfrm flipV="1">
            <a:off x="5835320" y="2229964"/>
            <a:ext cx="158800" cy="7860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5" name="Connector 194"/>
          <p:cNvCxnSpPr/>
          <p:nvPr/>
        </p:nvCxnSpPr>
        <p:spPr>
          <a:xfrm flipH="1" flipV="1">
            <a:off x="5673144" y="2136162"/>
            <a:ext cx="162176" cy="17241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6" name="Connector 195"/>
          <p:cNvCxnSpPr/>
          <p:nvPr/>
        </p:nvCxnSpPr>
        <p:spPr>
          <a:xfrm>
            <a:off x="6242601" y="4501115"/>
            <a:ext cx="58758" cy="125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7" name="Connector 196"/>
          <p:cNvCxnSpPr/>
          <p:nvPr/>
        </p:nvCxnSpPr>
        <p:spPr>
          <a:xfrm flipH="1" flipV="1">
            <a:off x="6167361" y="4407402"/>
            <a:ext cx="75240" cy="9371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8" name="Connector 197"/>
          <p:cNvCxnSpPr/>
          <p:nvPr/>
        </p:nvCxnSpPr>
        <p:spPr>
          <a:xfrm flipH="1" flipV="1">
            <a:off x="6735509" y="3508617"/>
            <a:ext cx="118835" cy="13360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199" name="Connector 198"/>
          <p:cNvCxnSpPr/>
          <p:nvPr/>
        </p:nvCxnSpPr>
        <p:spPr>
          <a:xfrm>
            <a:off x="6854344" y="3642222"/>
            <a:ext cx="246148" cy="4854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0" name="Connector 199"/>
          <p:cNvCxnSpPr/>
          <p:nvPr/>
        </p:nvCxnSpPr>
        <p:spPr>
          <a:xfrm flipV="1">
            <a:off x="6854344" y="3530888"/>
            <a:ext cx="290575" cy="11133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1" name="Connector 200"/>
          <p:cNvCxnSpPr/>
          <p:nvPr/>
        </p:nvCxnSpPr>
        <p:spPr>
          <a:xfrm flipV="1">
            <a:off x="5882459" y="3291360"/>
            <a:ext cx="8515" cy="3663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2" name="Connector 201"/>
          <p:cNvCxnSpPr/>
          <p:nvPr/>
        </p:nvCxnSpPr>
        <p:spPr>
          <a:xfrm flipV="1">
            <a:off x="5882459" y="3256988"/>
            <a:ext cx="47995" cy="7101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3" name="Connector 202"/>
          <p:cNvCxnSpPr/>
          <p:nvPr/>
        </p:nvCxnSpPr>
        <p:spPr>
          <a:xfrm flipH="1">
            <a:off x="5715907" y="3327998"/>
            <a:ext cx="166552" cy="13212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4" name="Connector 203"/>
          <p:cNvCxnSpPr/>
          <p:nvPr/>
        </p:nvCxnSpPr>
        <p:spPr>
          <a:xfrm flipH="1">
            <a:off x="6285777" y="2124008"/>
            <a:ext cx="106296" cy="6580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5" name="Connector 204"/>
          <p:cNvCxnSpPr/>
          <p:nvPr/>
        </p:nvCxnSpPr>
        <p:spPr>
          <a:xfrm>
            <a:off x="6821428" y="4818802"/>
            <a:ext cx="38597" cy="4129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6" name="Connector 205"/>
          <p:cNvCxnSpPr/>
          <p:nvPr/>
        </p:nvCxnSpPr>
        <p:spPr>
          <a:xfrm flipV="1">
            <a:off x="6821428" y="4759451"/>
            <a:ext cx="6040" cy="5935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7" name="Connector 206"/>
          <p:cNvCxnSpPr/>
          <p:nvPr/>
        </p:nvCxnSpPr>
        <p:spPr>
          <a:xfrm flipH="1" flipV="1">
            <a:off x="6773055" y="4696786"/>
            <a:ext cx="48373" cy="12201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8" name="Connector 207"/>
          <p:cNvCxnSpPr/>
          <p:nvPr/>
        </p:nvCxnSpPr>
        <p:spPr>
          <a:xfrm flipV="1">
            <a:off x="6773055" y="4624468"/>
            <a:ext cx="31076" cy="7231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09" name="Connector 208"/>
          <p:cNvCxnSpPr/>
          <p:nvPr/>
        </p:nvCxnSpPr>
        <p:spPr>
          <a:xfrm>
            <a:off x="6773055" y="4696786"/>
            <a:ext cx="54413" cy="6266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0" name="Connector 209"/>
          <p:cNvCxnSpPr/>
          <p:nvPr/>
        </p:nvCxnSpPr>
        <p:spPr>
          <a:xfrm flipV="1">
            <a:off x="6773055" y="4636875"/>
            <a:ext cx="122815" cy="5991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1" name="Connector 210"/>
          <p:cNvCxnSpPr/>
          <p:nvPr/>
        </p:nvCxnSpPr>
        <p:spPr>
          <a:xfrm flipV="1">
            <a:off x="6337035" y="2822876"/>
            <a:ext cx="28743" cy="5138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2" name="Connector 211"/>
          <p:cNvCxnSpPr/>
          <p:nvPr/>
        </p:nvCxnSpPr>
        <p:spPr>
          <a:xfrm flipH="1">
            <a:off x="6235574" y="2874263"/>
            <a:ext cx="101461" cy="16350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3" name="Connector 212"/>
          <p:cNvCxnSpPr/>
          <p:nvPr/>
        </p:nvCxnSpPr>
        <p:spPr>
          <a:xfrm flipH="1">
            <a:off x="6458409" y="4889138"/>
            <a:ext cx="74234" cy="8246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4" name="Connector 213"/>
          <p:cNvCxnSpPr/>
          <p:nvPr/>
        </p:nvCxnSpPr>
        <p:spPr>
          <a:xfrm flipV="1">
            <a:off x="6532643" y="4820654"/>
            <a:ext cx="92917" cy="6848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5" name="Connector 214"/>
          <p:cNvCxnSpPr/>
          <p:nvPr/>
        </p:nvCxnSpPr>
        <p:spPr>
          <a:xfrm>
            <a:off x="6532643" y="4889138"/>
            <a:ext cx="120339" cy="8943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6" name="Connector 215"/>
          <p:cNvCxnSpPr/>
          <p:nvPr/>
        </p:nvCxnSpPr>
        <p:spPr>
          <a:xfrm flipH="1">
            <a:off x="6104482" y="4111007"/>
            <a:ext cx="99872" cy="1800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7" name="Connector 216"/>
          <p:cNvCxnSpPr/>
          <p:nvPr/>
        </p:nvCxnSpPr>
        <p:spPr>
          <a:xfrm flipV="1">
            <a:off x="6204354" y="3961692"/>
            <a:ext cx="131713" cy="14931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8" name="Connector 217"/>
          <p:cNvCxnSpPr/>
          <p:nvPr/>
        </p:nvCxnSpPr>
        <p:spPr>
          <a:xfrm flipH="1" flipV="1">
            <a:off x="7125794" y="3083190"/>
            <a:ext cx="87849" cy="21741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19" name="Connector 218"/>
          <p:cNvCxnSpPr/>
          <p:nvPr/>
        </p:nvCxnSpPr>
        <p:spPr>
          <a:xfrm flipH="1">
            <a:off x="7144919" y="3300607"/>
            <a:ext cx="68724" cy="23028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0" name="Connector 219"/>
          <p:cNvCxnSpPr/>
          <p:nvPr/>
        </p:nvCxnSpPr>
        <p:spPr>
          <a:xfrm>
            <a:off x="7213643" y="3300607"/>
            <a:ext cx="58524" cy="24861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1" name="Connector 220"/>
          <p:cNvCxnSpPr/>
          <p:nvPr/>
        </p:nvCxnSpPr>
        <p:spPr>
          <a:xfrm flipH="1" flipV="1">
            <a:off x="6509706" y="4245990"/>
            <a:ext cx="80797" cy="3718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2" name="Connector 221"/>
          <p:cNvCxnSpPr/>
          <p:nvPr/>
        </p:nvCxnSpPr>
        <p:spPr>
          <a:xfrm flipV="1">
            <a:off x="6590503" y="4202254"/>
            <a:ext cx="52353" cy="8092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3" name="Connector 222"/>
          <p:cNvCxnSpPr/>
          <p:nvPr/>
        </p:nvCxnSpPr>
        <p:spPr>
          <a:xfrm flipH="1" flipV="1">
            <a:off x="6507622" y="4161921"/>
            <a:ext cx="82881" cy="12125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4" name="Connector 223"/>
          <p:cNvCxnSpPr/>
          <p:nvPr/>
        </p:nvCxnSpPr>
        <p:spPr>
          <a:xfrm flipH="1" flipV="1">
            <a:off x="6412547" y="4205139"/>
            <a:ext cx="177956" cy="7803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5" name="Connector 224"/>
          <p:cNvCxnSpPr/>
          <p:nvPr/>
        </p:nvCxnSpPr>
        <p:spPr>
          <a:xfrm flipH="1" flipV="1">
            <a:off x="7111460" y="3879408"/>
            <a:ext cx="89305" cy="1124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6" name="Connector 225"/>
          <p:cNvCxnSpPr/>
          <p:nvPr/>
        </p:nvCxnSpPr>
        <p:spPr>
          <a:xfrm flipH="1">
            <a:off x="6945596" y="3991900"/>
            <a:ext cx="255169" cy="2589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7" name="Connector 226"/>
          <p:cNvCxnSpPr/>
          <p:nvPr/>
        </p:nvCxnSpPr>
        <p:spPr>
          <a:xfrm flipH="1">
            <a:off x="5392792" y="3498104"/>
            <a:ext cx="34682" cy="10059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8" name="Connector 227"/>
          <p:cNvCxnSpPr/>
          <p:nvPr/>
        </p:nvCxnSpPr>
        <p:spPr>
          <a:xfrm flipH="1" flipV="1">
            <a:off x="7020729" y="3027501"/>
            <a:ext cx="105065" cy="5568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29" name="Connector 228"/>
          <p:cNvCxnSpPr/>
          <p:nvPr/>
        </p:nvCxnSpPr>
        <p:spPr>
          <a:xfrm flipH="1" flipV="1">
            <a:off x="6943376" y="2974048"/>
            <a:ext cx="182418" cy="10914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0" name="Connector 229"/>
          <p:cNvCxnSpPr/>
          <p:nvPr/>
        </p:nvCxnSpPr>
        <p:spPr>
          <a:xfrm flipH="1">
            <a:off x="5628843" y="2991078"/>
            <a:ext cx="10176" cy="1647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1" name="Connector 230"/>
          <p:cNvCxnSpPr/>
          <p:nvPr/>
        </p:nvCxnSpPr>
        <p:spPr>
          <a:xfrm flipH="1" flipV="1">
            <a:off x="5609276" y="2914616"/>
            <a:ext cx="29743" cy="7646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2" name="Connector 231"/>
          <p:cNvCxnSpPr/>
          <p:nvPr/>
        </p:nvCxnSpPr>
        <p:spPr>
          <a:xfrm flipH="1">
            <a:off x="7386810" y="3631638"/>
            <a:ext cx="99962" cy="601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3" name="Connector 232"/>
          <p:cNvCxnSpPr/>
          <p:nvPr/>
        </p:nvCxnSpPr>
        <p:spPr>
          <a:xfrm flipH="1" flipV="1">
            <a:off x="7272167" y="3549217"/>
            <a:ext cx="214605" cy="8242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4" name="Connector 233"/>
          <p:cNvCxnSpPr/>
          <p:nvPr/>
        </p:nvCxnSpPr>
        <p:spPr>
          <a:xfrm flipH="1" flipV="1">
            <a:off x="7144919" y="3530888"/>
            <a:ext cx="341853" cy="10075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5" name="Connector 234"/>
          <p:cNvCxnSpPr/>
          <p:nvPr/>
        </p:nvCxnSpPr>
        <p:spPr>
          <a:xfrm flipH="1">
            <a:off x="6637363" y="2381872"/>
            <a:ext cx="36771" cy="13105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6" name="Connector 235"/>
          <p:cNvCxnSpPr/>
          <p:nvPr/>
        </p:nvCxnSpPr>
        <p:spPr>
          <a:xfrm flipV="1">
            <a:off x="6674134" y="2195533"/>
            <a:ext cx="24798" cy="18633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7" name="Connector 236"/>
          <p:cNvCxnSpPr/>
          <p:nvPr/>
        </p:nvCxnSpPr>
        <p:spPr>
          <a:xfrm flipV="1">
            <a:off x="6759682" y="2910434"/>
            <a:ext cx="176195" cy="1031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8" name="Connector 237"/>
          <p:cNvCxnSpPr/>
          <p:nvPr/>
        </p:nvCxnSpPr>
        <p:spPr>
          <a:xfrm>
            <a:off x="6759682" y="2920747"/>
            <a:ext cx="183694" cy="5330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39" name="Connector 238"/>
          <p:cNvCxnSpPr/>
          <p:nvPr/>
        </p:nvCxnSpPr>
        <p:spPr>
          <a:xfrm flipH="1">
            <a:off x="6670395" y="2920747"/>
            <a:ext cx="89287" cy="23181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0" name="Connector 239"/>
          <p:cNvCxnSpPr/>
          <p:nvPr/>
        </p:nvCxnSpPr>
        <p:spPr>
          <a:xfrm flipH="1" flipV="1">
            <a:off x="6613922" y="2694203"/>
            <a:ext cx="145760" cy="22654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1" name="Connector 240"/>
          <p:cNvCxnSpPr/>
          <p:nvPr/>
        </p:nvCxnSpPr>
        <p:spPr>
          <a:xfrm flipH="1" flipV="1">
            <a:off x="7144919" y="3530888"/>
            <a:ext cx="127248" cy="1832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2" name="Connector 241"/>
          <p:cNvCxnSpPr/>
          <p:nvPr/>
        </p:nvCxnSpPr>
        <p:spPr>
          <a:xfrm>
            <a:off x="7272167" y="3549217"/>
            <a:ext cx="114643" cy="8843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3" name="Connector 242"/>
          <p:cNvCxnSpPr/>
          <p:nvPr/>
        </p:nvCxnSpPr>
        <p:spPr>
          <a:xfrm flipH="1">
            <a:off x="7100492" y="3549217"/>
            <a:ext cx="171675" cy="14155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4" name="Connector 243"/>
          <p:cNvCxnSpPr/>
          <p:nvPr/>
        </p:nvCxnSpPr>
        <p:spPr>
          <a:xfrm>
            <a:off x="6463978" y="5092349"/>
            <a:ext cx="45333" cy="9771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5" name="Connector 244"/>
          <p:cNvCxnSpPr/>
          <p:nvPr/>
        </p:nvCxnSpPr>
        <p:spPr>
          <a:xfrm flipH="1" flipV="1">
            <a:off x="6458409" y="4971606"/>
            <a:ext cx="5569" cy="12074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6" name="Connector 245"/>
          <p:cNvCxnSpPr/>
          <p:nvPr/>
        </p:nvCxnSpPr>
        <p:spPr>
          <a:xfrm flipH="1" flipV="1">
            <a:off x="6380258" y="4959391"/>
            <a:ext cx="83720" cy="13295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7" name="Connector 246"/>
          <p:cNvCxnSpPr/>
          <p:nvPr/>
        </p:nvCxnSpPr>
        <p:spPr>
          <a:xfrm flipV="1">
            <a:off x="6463978" y="5047625"/>
            <a:ext cx="175354" cy="4472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8" name="Connector 247"/>
          <p:cNvCxnSpPr/>
          <p:nvPr/>
        </p:nvCxnSpPr>
        <p:spPr>
          <a:xfrm>
            <a:off x="6543633" y="1528669"/>
            <a:ext cx="49681" cy="6367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49" name="Connector 248"/>
          <p:cNvCxnSpPr/>
          <p:nvPr/>
        </p:nvCxnSpPr>
        <p:spPr>
          <a:xfrm>
            <a:off x="6543633" y="1528669"/>
            <a:ext cx="17837" cy="9033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0" name="Connector 249"/>
          <p:cNvCxnSpPr/>
          <p:nvPr/>
        </p:nvCxnSpPr>
        <p:spPr>
          <a:xfrm>
            <a:off x="6543633" y="1528669"/>
            <a:ext cx="107933" cy="8620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1" name="Connector 250"/>
          <p:cNvCxnSpPr/>
          <p:nvPr/>
        </p:nvCxnSpPr>
        <p:spPr>
          <a:xfrm flipH="1">
            <a:off x="6893974" y="4017794"/>
            <a:ext cx="51622" cy="10376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2" name="Connector 251"/>
          <p:cNvCxnSpPr/>
          <p:nvPr/>
        </p:nvCxnSpPr>
        <p:spPr>
          <a:xfrm flipH="1">
            <a:off x="6888401" y="4017794"/>
            <a:ext cx="57195" cy="19966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3" name="Connector 252"/>
          <p:cNvCxnSpPr/>
          <p:nvPr/>
        </p:nvCxnSpPr>
        <p:spPr>
          <a:xfrm flipV="1">
            <a:off x="6945596" y="3879408"/>
            <a:ext cx="165864" cy="13838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4" name="Connector 253"/>
          <p:cNvCxnSpPr/>
          <p:nvPr/>
        </p:nvCxnSpPr>
        <p:spPr>
          <a:xfrm>
            <a:off x="6935877" y="2910434"/>
            <a:ext cx="7499" cy="6361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5" name="Connector 254"/>
          <p:cNvCxnSpPr/>
          <p:nvPr/>
        </p:nvCxnSpPr>
        <p:spPr>
          <a:xfrm>
            <a:off x="6935877" y="2910434"/>
            <a:ext cx="84852" cy="11706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6" name="Connector 255"/>
          <p:cNvCxnSpPr/>
          <p:nvPr/>
        </p:nvCxnSpPr>
        <p:spPr>
          <a:xfrm flipV="1">
            <a:off x="6935877" y="2701015"/>
            <a:ext cx="8219" cy="20941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7" name="Connector 256"/>
          <p:cNvCxnSpPr/>
          <p:nvPr/>
        </p:nvCxnSpPr>
        <p:spPr>
          <a:xfrm flipH="1" flipV="1">
            <a:off x="6380258" y="4959391"/>
            <a:ext cx="78151" cy="1221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8" name="Connector 257"/>
          <p:cNvCxnSpPr/>
          <p:nvPr/>
        </p:nvCxnSpPr>
        <p:spPr>
          <a:xfrm>
            <a:off x="6104482" y="4129007"/>
            <a:ext cx="62879" cy="27839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59" name="Connector 258"/>
          <p:cNvCxnSpPr/>
          <p:nvPr/>
        </p:nvCxnSpPr>
        <p:spPr>
          <a:xfrm flipV="1">
            <a:off x="6104482" y="3961692"/>
            <a:ext cx="231585" cy="16731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0" name="Connector 259"/>
          <p:cNvCxnSpPr/>
          <p:nvPr/>
        </p:nvCxnSpPr>
        <p:spPr>
          <a:xfrm flipH="1" flipV="1">
            <a:off x="5314910" y="2991612"/>
            <a:ext cx="135812" cy="1440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1" name="Connector 260"/>
          <p:cNvCxnSpPr/>
          <p:nvPr/>
        </p:nvCxnSpPr>
        <p:spPr>
          <a:xfrm>
            <a:off x="5450722" y="3006013"/>
            <a:ext cx="178121" cy="154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2" name="Connector 261"/>
          <p:cNvCxnSpPr/>
          <p:nvPr/>
        </p:nvCxnSpPr>
        <p:spPr>
          <a:xfrm flipH="1">
            <a:off x="6229568" y="3037768"/>
            <a:ext cx="6006" cy="24938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3" name="Connector 262"/>
          <p:cNvCxnSpPr/>
          <p:nvPr/>
        </p:nvCxnSpPr>
        <p:spPr>
          <a:xfrm flipV="1">
            <a:off x="6235574" y="2822876"/>
            <a:ext cx="130204" cy="2148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4" name="Connector 263"/>
          <p:cNvCxnSpPr/>
          <p:nvPr/>
        </p:nvCxnSpPr>
        <p:spPr>
          <a:xfrm flipV="1">
            <a:off x="5890974" y="3256988"/>
            <a:ext cx="39480" cy="3437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5" name="Connector 264"/>
          <p:cNvCxnSpPr/>
          <p:nvPr/>
        </p:nvCxnSpPr>
        <p:spPr>
          <a:xfrm flipV="1">
            <a:off x="5890974" y="3241393"/>
            <a:ext cx="197143" cy="4996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6" name="Connector 265"/>
          <p:cNvCxnSpPr/>
          <p:nvPr/>
        </p:nvCxnSpPr>
        <p:spPr>
          <a:xfrm flipH="1" flipV="1">
            <a:off x="6167361" y="4407402"/>
            <a:ext cx="133998" cy="9497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7" name="Connector 266"/>
          <p:cNvCxnSpPr/>
          <p:nvPr/>
        </p:nvCxnSpPr>
        <p:spPr>
          <a:xfrm flipH="1" flipV="1">
            <a:off x="7328116" y="2916527"/>
            <a:ext cx="246682" cy="27351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8" name="Connector 267"/>
          <p:cNvCxnSpPr/>
          <p:nvPr/>
        </p:nvCxnSpPr>
        <p:spPr>
          <a:xfrm flipH="1" flipV="1">
            <a:off x="6417229" y="1715588"/>
            <a:ext cx="100999" cy="2067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69" name="Connector 268"/>
          <p:cNvCxnSpPr/>
          <p:nvPr/>
        </p:nvCxnSpPr>
        <p:spPr>
          <a:xfrm flipV="1">
            <a:off x="6518228" y="1619003"/>
            <a:ext cx="43242" cy="11726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0" name="Connector 269"/>
          <p:cNvCxnSpPr/>
          <p:nvPr/>
        </p:nvCxnSpPr>
        <p:spPr>
          <a:xfrm flipV="1">
            <a:off x="6518228" y="1592343"/>
            <a:ext cx="75086" cy="14392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1" name="Connector 270"/>
          <p:cNvCxnSpPr/>
          <p:nvPr/>
        </p:nvCxnSpPr>
        <p:spPr>
          <a:xfrm>
            <a:off x="6518228" y="1736266"/>
            <a:ext cx="83990" cy="14594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2" name="Connector 271"/>
          <p:cNvCxnSpPr/>
          <p:nvPr/>
        </p:nvCxnSpPr>
        <p:spPr>
          <a:xfrm>
            <a:off x="6827468" y="4759451"/>
            <a:ext cx="32557" cy="10064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3" name="Connector 272"/>
          <p:cNvCxnSpPr/>
          <p:nvPr/>
        </p:nvCxnSpPr>
        <p:spPr>
          <a:xfrm>
            <a:off x="6336067" y="3961692"/>
            <a:ext cx="76480" cy="24344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4" name="Connector 273"/>
          <p:cNvCxnSpPr/>
          <p:nvPr/>
        </p:nvCxnSpPr>
        <p:spPr>
          <a:xfrm flipH="1" flipV="1">
            <a:off x="5630588" y="3239086"/>
            <a:ext cx="85319" cy="22103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5" name="Connector 274"/>
          <p:cNvCxnSpPr/>
          <p:nvPr/>
        </p:nvCxnSpPr>
        <p:spPr>
          <a:xfrm flipV="1">
            <a:off x="6613922" y="2650021"/>
            <a:ext cx="80910" cy="4418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6" name="Connector 275"/>
          <p:cNvCxnSpPr/>
          <p:nvPr/>
        </p:nvCxnSpPr>
        <p:spPr>
          <a:xfrm flipH="1" flipV="1">
            <a:off x="6456077" y="2611096"/>
            <a:ext cx="157845" cy="8310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7" name="Connector 276"/>
          <p:cNvCxnSpPr/>
          <p:nvPr/>
        </p:nvCxnSpPr>
        <p:spPr>
          <a:xfrm flipV="1">
            <a:off x="6613922" y="2512929"/>
            <a:ext cx="23441" cy="18127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8" name="Connector 277"/>
          <p:cNvCxnSpPr/>
          <p:nvPr/>
        </p:nvCxnSpPr>
        <p:spPr>
          <a:xfrm flipH="1" flipV="1">
            <a:off x="6336847" y="2580338"/>
            <a:ext cx="119230" cy="3075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79" name="Connector 278"/>
          <p:cNvCxnSpPr/>
          <p:nvPr/>
        </p:nvCxnSpPr>
        <p:spPr>
          <a:xfrm flipH="1">
            <a:off x="6277510" y="2611096"/>
            <a:ext cx="178567" cy="2408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0" name="Connector 279"/>
          <p:cNvCxnSpPr/>
          <p:nvPr/>
        </p:nvCxnSpPr>
        <p:spPr>
          <a:xfrm>
            <a:off x="6943376" y="2974048"/>
            <a:ext cx="77353" cy="5345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1" name="Connector 280"/>
          <p:cNvCxnSpPr/>
          <p:nvPr/>
        </p:nvCxnSpPr>
        <p:spPr>
          <a:xfrm flipV="1">
            <a:off x="5961200" y="4824470"/>
            <a:ext cx="32384" cy="15864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2" name="Connector 281"/>
          <p:cNvCxnSpPr/>
          <p:nvPr/>
        </p:nvCxnSpPr>
        <p:spPr>
          <a:xfrm flipH="1" flipV="1">
            <a:off x="5904210" y="4727319"/>
            <a:ext cx="56990" cy="2557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3" name="Connector 282"/>
          <p:cNvCxnSpPr/>
          <p:nvPr/>
        </p:nvCxnSpPr>
        <p:spPr>
          <a:xfrm flipV="1">
            <a:off x="5961200" y="4824238"/>
            <a:ext cx="281938" cy="15887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4" name="Connector 283"/>
          <p:cNvCxnSpPr/>
          <p:nvPr/>
        </p:nvCxnSpPr>
        <p:spPr>
          <a:xfrm flipH="1">
            <a:off x="7207478" y="2481417"/>
            <a:ext cx="84205" cy="23794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5" name="Connector 284"/>
          <p:cNvCxnSpPr/>
          <p:nvPr/>
        </p:nvCxnSpPr>
        <p:spPr>
          <a:xfrm flipH="1">
            <a:off x="6944096" y="2481417"/>
            <a:ext cx="347587" cy="21959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6" name="Connector 285"/>
          <p:cNvCxnSpPr/>
          <p:nvPr/>
        </p:nvCxnSpPr>
        <p:spPr>
          <a:xfrm>
            <a:off x="7291683" y="2481417"/>
            <a:ext cx="36433" cy="43511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7" name="Connector 286"/>
          <p:cNvCxnSpPr/>
          <p:nvPr/>
        </p:nvCxnSpPr>
        <p:spPr>
          <a:xfrm flipH="1" flipV="1">
            <a:off x="6040323" y="3523930"/>
            <a:ext cx="28667" cy="8210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8" name="Connector 287"/>
          <p:cNvCxnSpPr/>
          <p:nvPr/>
        </p:nvCxnSpPr>
        <p:spPr>
          <a:xfrm flipH="1">
            <a:off x="5488491" y="2136162"/>
            <a:ext cx="184653" cy="16782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89" name="Connector 288"/>
          <p:cNvCxnSpPr/>
          <p:nvPr/>
        </p:nvCxnSpPr>
        <p:spPr>
          <a:xfrm>
            <a:off x="5673144" y="2136162"/>
            <a:ext cx="320976" cy="9380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0" name="Connector 289"/>
          <p:cNvCxnSpPr/>
          <p:nvPr/>
        </p:nvCxnSpPr>
        <p:spPr>
          <a:xfrm flipH="1" flipV="1">
            <a:off x="6790897" y="1440724"/>
            <a:ext cx="210379" cy="9827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1" name="Connector 290"/>
          <p:cNvCxnSpPr/>
          <p:nvPr/>
        </p:nvCxnSpPr>
        <p:spPr>
          <a:xfrm flipH="1">
            <a:off x="6651566" y="1538996"/>
            <a:ext cx="349710" cy="7587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2" name="Connector 291"/>
          <p:cNvCxnSpPr/>
          <p:nvPr/>
        </p:nvCxnSpPr>
        <p:spPr>
          <a:xfrm flipH="1">
            <a:off x="6593314" y="1538996"/>
            <a:ext cx="407962" cy="5334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3" name="Connector 292"/>
          <p:cNvCxnSpPr/>
          <p:nvPr/>
        </p:nvCxnSpPr>
        <p:spPr>
          <a:xfrm flipH="1" flipV="1">
            <a:off x="6602218" y="1882215"/>
            <a:ext cx="123078" cy="40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4" name="Connector 293"/>
          <p:cNvCxnSpPr/>
          <p:nvPr/>
        </p:nvCxnSpPr>
        <p:spPr>
          <a:xfrm flipV="1">
            <a:off x="6561470" y="1592343"/>
            <a:ext cx="31844" cy="2666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5" name="Connector 294"/>
          <p:cNvCxnSpPr/>
          <p:nvPr/>
        </p:nvCxnSpPr>
        <p:spPr>
          <a:xfrm flipV="1">
            <a:off x="6561470" y="1614875"/>
            <a:ext cx="90096" cy="412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6" name="Connector 295"/>
          <p:cNvCxnSpPr/>
          <p:nvPr/>
        </p:nvCxnSpPr>
        <p:spPr>
          <a:xfrm flipV="1">
            <a:off x="6277510" y="2580338"/>
            <a:ext cx="59337" cy="5484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7" name="Connector 296"/>
          <p:cNvCxnSpPr/>
          <p:nvPr/>
        </p:nvCxnSpPr>
        <p:spPr>
          <a:xfrm flipH="1">
            <a:off x="6130468" y="2635178"/>
            <a:ext cx="147042" cy="347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8" name="Connector 297"/>
          <p:cNvCxnSpPr/>
          <p:nvPr/>
        </p:nvCxnSpPr>
        <p:spPr>
          <a:xfrm>
            <a:off x="6243138" y="4824238"/>
            <a:ext cx="73818" cy="7501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299" name="Connector 298"/>
          <p:cNvCxnSpPr/>
          <p:nvPr/>
        </p:nvCxnSpPr>
        <p:spPr>
          <a:xfrm>
            <a:off x="6243138" y="4824238"/>
            <a:ext cx="137120" cy="13515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0" name="Connector 299"/>
          <p:cNvCxnSpPr/>
          <p:nvPr/>
        </p:nvCxnSpPr>
        <p:spPr>
          <a:xfrm flipH="1" flipV="1">
            <a:off x="6105254" y="4689727"/>
            <a:ext cx="137884" cy="13451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1" name="Connector 300"/>
          <p:cNvCxnSpPr/>
          <p:nvPr/>
        </p:nvCxnSpPr>
        <p:spPr>
          <a:xfrm>
            <a:off x="5847785" y="1673834"/>
            <a:ext cx="219775" cy="16783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2" name="Connector 301"/>
          <p:cNvCxnSpPr/>
          <p:nvPr/>
        </p:nvCxnSpPr>
        <p:spPr>
          <a:xfrm flipV="1">
            <a:off x="7100492" y="3530888"/>
            <a:ext cx="44427" cy="15987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3" name="Connector 302"/>
          <p:cNvCxnSpPr/>
          <p:nvPr/>
        </p:nvCxnSpPr>
        <p:spPr>
          <a:xfrm>
            <a:off x="7100492" y="3690767"/>
            <a:ext cx="10968" cy="18864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4" name="Connector 303"/>
          <p:cNvCxnSpPr/>
          <p:nvPr/>
        </p:nvCxnSpPr>
        <p:spPr>
          <a:xfrm>
            <a:off x="6316956" y="4899254"/>
            <a:ext cx="63302" cy="6013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5" name="Connector 304"/>
          <p:cNvCxnSpPr/>
          <p:nvPr/>
        </p:nvCxnSpPr>
        <p:spPr>
          <a:xfrm flipV="1">
            <a:off x="5630588" y="3137052"/>
            <a:ext cx="42939" cy="10203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6" name="Connector 305"/>
          <p:cNvCxnSpPr/>
          <p:nvPr/>
        </p:nvCxnSpPr>
        <p:spPr>
          <a:xfrm flipH="1" flipV="1">
            <a:off x="5628843" y="3007554"/>
            <a:ext cx="1745" cy="23153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7" name="Connector 306"/>
          <p:cNvCxnSpPr/>
          <p:nvPr/>
        </p:nvCxnSpPr>
        <p:spPr>
          <a:xfrm flipH="1" flipV="1">
            <a:off x="6417229" y="1715588"/>
            <a:ext cx="184989" cy="16662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8" name="Connector 307"/>
          <p:cNvCxnSpPr/>
          <p:nvPr/>
        </p:nvCxnSpPr>
        <p:spPr>
          <a:xfrm flipH="1" flipV="1">
            <a:off x="6088117" y="3241393"/>
            <a:ext cx="141451" cy="457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09" name="Connector 308"/>
          <p:cNvCxnSpPr/>
          <p:nvPr/>
        </p:nvCxnSpPr>
        <p:spPr>
          <a:xfrm flipH="1" flipV="1">
            <a:off x="5930454" y="3256988"/>
            <a:ext cx="299114" cy="3016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0" name="Connector 309"/>
          <p:cNvCxnSpPr/>
          <p:nvPr/>
        </p:nvCxnSpPr>
        <p:spPr>
          <a:xfrm flipH="1">
            <a:off x="6040323" y="3287148"/>
            <a:ext cx="189245" cy="23678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1" name="Connector 310"/>
          <p:cNvCxnSpPr/>
          <p:nvPr/>
        </p:nvCxnSpPr>
        <p:spPr>
          <a:xfrm>
            <a:off x="5904210" y="4727319"/>
            <a:ext cx="89374" cy="9715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2" name="Connector 311"/>
          <p:cNvCxnSpPr/>
          <p:nvPr/>
        </p:nvCxnSpPr>
        <p:spPr>
          <a:xfrm flipV="1">
            <a:off x="5904210" y="4689727"/>
            <a:ext cx="201044" cy="375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3" name="Connector 312"/>
          <p:cNvCxnSpPr/>
          <p:nvPr/>
        </p:nvCxnSpPr>
        <p:spPr>
          <a:xfrm flipH="1">
            <a:off x="6698932" y="2041167"/>
            <a:ext cx="403707" cy="15436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4" name="Connector 313"/>
          <p:cNvCxnSpPr/>
          <p:nvPr/>
        </p:nvCxnSpPr>
        <p:spPr>
          <a:xfrm>
            <a:off x="6593314" y="1592343"/>
            <a:ext cx="58252" cy="2253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5" name="Connector 314"/>
          <p:cNvCxnSpPr/>
          <p:nvPr/>
        </p:nvCxnSpPr>
        <p:spPr>
          <a:xfrm flipH="1" flipV="1">
            <a:off x="7207478" y="2719361"/>
            <a:ext cx="120638" cy="19716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6" name="Connector 315"/>
          <p:cNvCxnSpPr/>
          <p:nvPr/>
        </p:nvCxnSpPr>
        <p:spPr>
          <a:xfrm flipH="1">
            <a:off x="7055295" y="4370925"/>
            <a:ext cx="178764" cy="15280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7" name="Connector 316"/>
          <p:cNvCxnSpPr/>
          <p:nvPr/>
        </p:nvCxnSpPr>
        <p:spPr>
          <a:xfrm flipH="1">
            <a:off x="7006229" y="4370925"/>
            <a:ext cx="227830" cy="10839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8" name="Connector 317"/>
          <p:cNvCxnSpPr/>
          <p:nvPr/>
        </p:nvCxnSpPr>
        <p:spPr>
          <a:xfrm flipH="1" flipV="1">
            <a:off x="6637363" y="2512929"/>
            <a:ext cx="57469" cy="1370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19" name="Connector 318"/>
          <p:cNvCxnSpPr/>
          <p:nvPr/>
        </p:nvCxnSpPr>
        <p:spPr>
          <a:xfrm flipV="1">
            <a:off x="5930454" y="3241393"/>
            <a:ext cx="157663" cy="1559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0" name="Connector 319"/>
          <p:cNvCxnSpPr/>
          <p:nvPr/>
        </p:nvCxnSpPr>
        <p:spPr>
          <a:xfrm flipH="1" flipV="1">
            <a:off x="6804131" y="4624468"/>
            <a:ext cx="91739" cy="12407"/>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1" name="Connector 320"/>
          <p:cNvCxnSpPr/>
          <p:nvPr/>
        </p:nvCxnSpPr>
        <p:spPr>
          <a:xfrm flipH="1" flipV="1">
            <a:off x="7144919" y="3530888"/>
            <a:ext cx="241891" cy="10676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2" name="Connector 321"/>
          <p:cNvCxnSpPr/>
          <p:nvPr/>
        </p:nvCxnSpPr>
        <p:spPr>
          <a:xfrm flipH="1" flipV="1">
            <a:off x="6948505" y="4480771"/>
            <a:ext cx="8902" cy="859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3" name="Connector 322"/>
          <p:cNvCxnSpPr/>
          <p:nvPr/>
        </p:nvCxnSpPr>
        <p:spPr>
          <a:xfrm flipH="1" flipV="1">
            <a:off x="6948968" y="4445746"/>
            <a:ext cx="8439" cy="4361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4" name="Connector 323"/>
          <p:cNvCxnSpPr/>
          <p:nvPr/>
        </p:nvCxnSpPr>
        <p:spPr>
          <a:xfrm flipV="1">
            <a:off x="6957407" y="4479321"/>
            <a:ext cx="48822" cy="1004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5" name="Connector 324"/>
          <p:cNvCxnSpPr/>
          <p:nvPr/>
        </p:nvCxnSpPr>
        <p:spPr>
          <a:xfrm>
            <a:off x="5598033" y="4489336"/>
            <a:ext cx="87084" cy="724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6" name="Connector 325"/>
          <p:cNvCxnSpPr/>
          <p:nvPr/>
        </p:nvCxnSpPr>
        <p:spPr>
          <a:xfrm>
            <a:off x="5609276" y="2914616"/>
            <a:ext cx="19567" cy="9293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7" name="Connector 326"/>
          <p:cNvCxnSpPr/>
          <p:nvPr/>
        </p:nvCxnSpPr>
        <p:spPr>
          <a:xfrm flipH="1">
            <a:off x="6948505" y="4445746"/>
            <a:ext cx="463" cy="3502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8" name="Connector 327"/>
          <p:cNvCxnSpPr/>
          <p:nvPr/>
        </p:nvCxnSpPr>
        <p:spPr>
          <a:xfrm>
            <a:off x="6948968" y="4445746"/>
            <a:ext cx="57261" cy="3357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29" name="Connector 328"/>
          <p:cNvCxnSpPr/>
          <p:nvPr/>
        </p:nvCxnSpPr>
        <p:spPr>
          <a:xfrm>
            <a:off x="6625560" y="4820654"/>
            <a:ext cx="27422" cy="15791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0" name="Connector 329"/>
          <p:cNvCxnSpPr/>
          <p:nvPr/>
        </p:nvCxnSpPr>
        <p:spPr>
          <a:xfrm flipH="1">
            <a:off x="6639332" y="4978570"/>
            <a:ext cx="13650" cy="690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1" name="Connector 330"/>
          <p:cNvCxnSpPr/>
          <p:nvPr/>
        </p:nvCxnSpPr>
        <p:spPr>
          <a:xfrm flipH="1" flipV="1">
            <a:off x="6944096" y="2701015"/>
            <a:ext cx="263382" cy="1834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2" name="Connector 331"/>
          <p:cNvCxnSpPr/>
          <p:nvPr/>
        </p:nvCxnSpPr>
        <p:spPr>
          <a:xfrm flipH="1">
            <a:off x="5642830" y="3922726"/>
            <a:ext cx="215504" cy="168492"/>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3" name="Connector 332"/>
          <p:cNvCxnSpPr/>
          <p:nvPr/>
        </p:nvCxnSpPr>
        <p:spPr>
          <a:xfrm flipH="1">
            <a:off x="5672310" y="3922726"/>
            <a:ext cx="186024" cy="22906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4" name="Connector 333"/>
          <p:cNvCxnSpPr/>
          <p:nvPr/>
        </p:nvCxnSpPr>
        <p:spPr>
          <a:xfrm flipV="1">
            <a:off x="6948505" y="4479321"/>
            <a:ext cx="57724" cy="145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5" name="Connector 334"/>
          <p:cNvCxnSpPr/>
          <p:nvPr/>
        </p:nvCxnSpPr>
        <p:spPr>
          <a:xfrm>
            <a:off x="6507622" y="4161921"/>
            <a:ext cx="2084" cy="8406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6" name="Connector 335"/>
          <p:cNvCxnSpPr/>
          <p:nvPr/>
        </p:nvCxnSpPr>
        <p:spPr>
          <a:xfrm flipH="1">
            <a:off x="6412547" y="4161921"/>
            <a:ext cx="95075" cy="4321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7" name="Connector 336"/>
          <p:cNvCxnSpPr/>
          <p:nvPr/>
        </p:nvCxnSpPr>
        <p:spPr>
          <a:xfrm>
            <a:off x="6507622" y="4161921"/>
            <a:ext cx="135234" cy="4033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8" name="Connector 337"/>
          <p:cNvCxnSpPr/>
          <p:nvPr/>
        </p:nvCxnSpPr>
        <p:spPr>
          <a:xfrm flipH="1" flipV="1">
            <a:off x="5642830" y="4091218"/>
            <a:ext cx="29480" cy="6057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39" name="Connector 338"/>
          <p:cNvCxnSpPr/>
          <p:nvPr/>
        </p:nvCxnSpPr>
        <p:spPr>
          <a:xfrm flipH="1" flipV="1">
            <a:off x="6888401" y="4217458"/>
            <a:ext cx="55939" cy="117255"/>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0" name="Connector 339"/>
          <p:cNvCxnSpPr/>
          <p:nvPr/>
        </p:nvCxnSpPr>
        <p:spPr>
          <a:xfrm flipH="1" flipV="1">
            <a:off x="6412547" y="4205139"/>
            <a:ext cx="97159" cy="4085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1" name="Connector 340"/>
          <p:cNvCxnSpPr/>
          <p:nvPr/>
        </p:nvCxnSpPr>
        <p:spPr>
          <a:xfrm flipV="1">
            <a:off x="6509706" y="4202254"/>
            <a:ext cx="133150" cy="4373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2" name="Connector 341"/>
          <p:cNvCxnSpPr/>
          <p:nvPr/>
        </p:nvCxnSpPr>
        <p:spPr>
          <a:xfrm flipH="1">
            <a:off x="6888401" y="4121557"/>
            <a:ext cx="5573" cy="9590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3" name="Connector 342"/>
          <p:cNvCxnSpPr/>
          <p:nvPr/>
        </p:nvCxnSpPr>
        <p:spPr>
          <a:xfrm>
            <a:off x="5314910" y="2991612"/>
            <a:ext cx="39493" cy="181464"/>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4" name="Connector 343"/>
          <p:cNvCxnSpPr/>
          <p:nvPr/>
        </p:nvCxnSpPr>
        <p:spPr>
          <a:xfrm flipH="1">
            <a:off x="6651566" y="1440724"/>
            <a:ext cx="139331" cy="174151"/>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5" name="Connector 344"/>
          <p:cNvCxnSpPr/>
          <p:nvPr/>
        </p:nvCxnSpPr>
        <p:spPr>
          <a:xfrm flipH="1">
            <a:off x="6509311" y="5047625"/>
            <a:ext cx="130021" cy="14243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6" name="Connector 345"/>
          <p:cNvCxnSpPr/>
          <p:nvPr/>
        </p:nvCxnSpPr>
        <p:spPr>
          <a:xfrm flipH="1" flipV="1">
            <a:off x="5628843" y="3007554"/>
            <a:ext cx="44684" cy="129498"/>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7" name="Connector 346"/>
          <p:cNvCxnSpPr/>
          <p:nvPr/>
        </p:nvCxnSpPr>
        <p:spPr>
          <a:xfrm flipH="1" flipV="1">
            <a:off x="7006229" y="4479321"/>
            <a:ext cx="49066" cy="44409"/>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8" name="Connector 347"/>
          <p:cNvCxnSpPr/>
          <p:nvPr/>
        </p:nvCxnSpPr>
        <p:spPr>
          <a:xfrm flipV="1">
            <a:off x="5993584" y="4689727"/>
            <a:ext cx="111670" cy="134743"/>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49" name="Connector 348"/>
          <p:cNvCxnSpPr/>
          <p:nvPr/>
        </p:nvCxnSpPr>
        <p:spPr>
          <a:xfrm flipV="1">
            <a:off x="5545959" y="2802021"/>
            <a:ext cx="14507" cy="3446"/>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50" name="Connector 349"/>
          <p:cNvCxnSpPr/>
          <p:nvPr/>
        </p:nvCxnSpPr>
        <p:spPr>
          <a:xfrm flipH="1">
            <a:off x="5891559" y="2755114"/>
            <a:ext cx="28558" cy="10563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51" name="Connector 350"/>
          <p:cNvCxnSpPr/>
          <p:nvPr/>
        </p:nvCxnSpPr>
        <p:spPr>
          <a:xfrm flipH="1">
            <a:off x="5628843" y="2860744"/>
            <a:ext cx="262716" cy="146810"/>
          </a:xfrm>
          <a:prstGeom prst="line">
            <a:avLst/>
          </a:prstGeom>
          <a:ln w="6985">
            <a:solidFill>
              <a:srgbClr val="33453E"/>
            </a:solidFill>
          </a:ln>
          <a:effectLst/>
        </p:spPr>
        <p:style>
          <a:lnRef idx="2">
            <a:schemeClr val="accent1"/>
          </a:lnRef>
          <a:fillRef idx="0">
            <a:schemeClr val="accent1"/>
          </a:fillRef>
          <a:effectRef idx="0">
            <a:schemeClr val="accent1"/>
          </a:effectRef>
          <a:fontRef idx="minor">
            <a:schemeClr val="tx1"/>
          </a:fontRef>
        </p:style>
      </p:cxnSp>
      <p:cxnSp>
        <p:nvCxnSpPr>
          <p:cNvPr id="352" name="Connector 351"/>
          <p:cNvCxnSpPr/>
          <p:nvPr/>
        </p:nvCxnSpPr>
        <p:spPr>
          <a:xfrm flipH="1" flipV="1">
            <a:off x="5628843" y="3007554"/>
            <a:ext cx="1231182" cy="1852545"/>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53" name="Connector 352"/>
          <p:cNvCxnSpPr/>
          <p:nvPr/>
        </p:nvCxnSpPr>
        <p:spPr>
          <a:xfrm>
            <a:off x="5835320" y="2308572"/>
            <a:ext cx="205003" cy="1215358"/>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54" name="Connector 353"/>
          <p:cNvCxnSpPr/>
          <p:nvPr/>
        </p:nvCxnSpPr>
        <p:spPr>
          <a:xfrm>
            <a:off x="6413556" y="2333870"/>
            <a:ext cx="820503" cy="2037055"/>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55" name="Connector 354"/>
          <p:cNvCxnSpPr/>
          <p:nvPr/>
        </p:nvCxnSpPr>
        <p:spPr>
          <a:xfrm>
            <a:off x="6413556" y="2333870"/>
            <a:ext cx="914560" cy="582657"/>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56" name="Connector 355"/>
          <p:cNvCxnSpPr/>
          <p:nvPr/>
        </p:nvCxnSpPr>
        <p:spPr>
          <a:xfrm flipV="1">
            <a:off x="6105254" y="4624468"/>
            <a:ext cx="698877" cy="65259"/>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57" name="Connector 356"/>
          <p:cNvCxnSpPr/>
          <p:nvPr/>
        </p:nvCxnSpPr>
        <p:spPr>
          <a:xfrm flipH="1">
            <a:off x="5642830" y="2136162"/>
            <a:ext cx="30314" cy="1955056"/>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58" name="Connector 357"/>
          <p:cNvCxnSpPr/>
          <p:nvPr/>
        </p:nvCxnSpPr>
        <p:spPr>
          <a:xfrm flipH="1">
            <a:off x="5642830" y="2694203"/>
            <a:ext cx="971092" cy="1397015"/>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59" name="Connector 358"/>
          <p:cNvCxnSpPr/>
          <p:nvPr/>
        </p:nvCxnSpPr>
        <p:spPr>
          <a:xfrm>
            <a:off x="6582519" y="1972290"/>
            <a:ext cx="520120" cy="68877"/>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0" name="Connector 359"/>
          <p:cNvCxnSpPr/>
          <p:nvPr/>
        </p:nvCxnSpPr>
        <p:spPr>
          <a:xfrm flipH="1">
            <a:off x="6242601" y="4370925"/>
            <a:ext cx="991458" cy="130190"/>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1" name="Connector 360"/>
          <p:cNvCxnSpPr/>
          <p:nvPr/>
        </p:nvCxnSpPr>
        <p:spPr>
          <a:xfrm flipV="1">
            <a:off x="5483673" y="3508617"/>
            <a:ext cx="1251836" cy="147179"/>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2" name="Connector 361"/>
          <p:cNvCxnSpPr/>
          <p:nvPr/>
        </p:nvCxnSpPr>
        <p:spPr>
          <a:xfrm>
            <a:off x="5835320" y="2308572"/>
            <a:ext cx="265369" cy="1260932"/>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3" name="Connector 362"/>
          <p:cNvCxnSpPr/>
          <p:nvPr/>
        </p:nvCxnSpPr>
        <p:spPr>
          <a:xfrm>
            <a:off x="6935877" y="2910434"/>
            <a:ext cx="298182" cy="1460491"/>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4" name="Connector 363"/>
          <p:cNvCxnSpPr/>
          <p:nvPr/>
        </p:nvCxnSpPr>
        <p:spPr>
          <a:xfrm flipV="1">
            <a:off x="6308113" y="3083190"/>
            <a:ext cx="817681" cy="1283921"/>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5" name="Connector 364"/>
          <p:cNvCxnSpPr/>
          <p:nvPr/>
        </p:nvCxnSpPr>
        <p:spPr>
          <a:xfrm flipV="1">
            <a:off x="5858334" y="3569504"/>
            <a:ext cx="242355" cy="353222"/>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6" name="Connector 365"/>
          <p:cNvCxnSpPr/>
          <p:nvPr/>
        </p:nvCxnSpPr>
        <p:spPr>
          <a:xfrm>
            <a:off x="6670395" y="3152565"/>
            <a:ext cx="816377" cy="479073"/>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7" name="Connector 366"/>
          <p:cNvCxnSpPr/>
          <p:nvPr/>
        </p:nvCxnSpPr>
        <p:spPr>
          <a:xfrm flipH="1" flipV="1">
            <a:off x="5560466" y="2802021"/>
            <a:ext cx="1604997" cy="798308"/>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8" name="Connector 367"/>
          <p:cNvCxnSpPr/>
          <p:nvPr/>
        </p:nvCxnSpPr>
        <p:spPr>
          <a:xfrm flipV="1">
            <a:off x="6873518" y="3549217"/>
            <a:ext cx="398649" cy="1294511"/>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69" name="Connector 368"/>
          <p:cNvCxnSpPr/>
          <p:nvPr/>
        </p:nvCxnSpPr>
        <p:spPr>
          <a:xfrm flipV="1">
            <a:off x="5904210" y="2719361"/>
            <a:ext cx="1303268" cy="2007958"/>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70" name="Connector 369"/>
          <p:cNvCxnSpPr/>
          <p:nvPr/>
        </p:nvCxnSpPr>
        <p:spPr>
          <a:xfrm flipH="1" flipV="1">
            <a:off x="5882459" y="3327998"/>
            <a:ext cx="1066046" cy="1152773"/>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cxnSp>
        <p:nvCxnSpPr>
          <p:cNvPr id="371" name="Connector 370"/>
          <p:cNvCxnSpPr/>
          <p:nvPr/>
        </p:nvCxnSpPr>
        <p:spPr>
          <a:xfrm flipH="1" flipV="1">
            <a:off x="6277510" y="2635178"/>
            <a:ext cx="232196" cy="1610812"/>
          </a:xfrm>
          <a:prstGeom prst="line">
            <a:avLst/>
          </a:prstGeom>
          <a:ln w="6350">
            <a:solidFill>
              <a:srgbClr val="2B3A35"/>
            </a:solidFill>
          </a:ln>
          <a:effectLst/>
        </p:spPr>
        <p:style>
          <a:lnRef idx="2">
            <a:schemeClr val="accent1"/>
          </a:lnRef>
          <a:fillRef idx="0">
            <a:schemeClr val="accent1"/>
          </a:fillRef>
          <a:effectRef idx="0">
            <a:schemeClr val="accent1"/>
          </a:effectRef>
          <a:fontRef idx="minor">
            <a:schemeClr val="tx1"/>
          </a:fontRef>
        </p:style>
      </p:cxnSp>
      <p:sp>
        <p:nvSpPr>
          <p:cNvPr id="372" name="Oval 371"/>
          <p:cNvSpPr/>
          <p:nvPr/>
        </p:nvSpPr>
        <p:spPr>
          <a:xfrm>
            <a:off x="6003253" y="173775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Oval 372"/>
          <p:cNvSpPr/>
          <p:nvPr/>
        </p:nvSpPr>
        <p:spPr>
          <a:xfrm>
            <a:off x="5533902" y="437880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Oval 373"/>
          <p:cNvSpPr/>
          <p:nvPr/>
        </p:nvSpPr>
        <p:spPr>
          <a:xfrm>
            <a:off x="6294397" y="435339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Oval 374"/>
          <p:cNvSpPr/>
          <p:nvPr/>
        </p:nvSpPr>
        <p:spPr>
          <a:xfrm>
            <a:off x="6824002" y="412533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Oval 375"/>
          <p:cNvSpPr/>
          <p:nvPr/>
        </p:nvSpPr>
        <p:spPr>
          <a:xfrm>
            <a:off x="6377803" y="4001434"/>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Oval 376"/>
          <p:cNvSpPr/>
          <p:nvPr/>
        </p:nvSpPr>
        <p:spPr>
          <a:xfrm>
            <a:off x="5862460" y="439037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Oval 377"/>
          <p:cNvSpPr/>
          <p:nvPr/>
        </p:nvSpPr>
        <p:spPr>
          <a:xfrm>
            <a:off x="7230573" y="427714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Oval 378"/>
          <p:cNvSpPr/>
          <p:nvPr/>
        </p:nvSpPr>
        <p:spPr>
          <a:xfrm>
            <a:off x="6249473" y="246435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Oval 379"/>
          <p:cNvSpPr/>
          <p:nvPr/>
        </p:nvSpPr>
        <p:spPr>
          <a:xfrm>
            <a:off x="6538022" y="149009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Oval 380"/>
          <p:cNvSpPr/>
          <p:nvPr/>
        </p:nvSpPr>
        <p:spPr>
          <a:xfrm>
            <a:off x="6254869" y="140879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Oval 381"/>
          <p:cNvSpPr/>
          <p:nvPr/>
        </p:nvSpPr>
        <p:spPr>
          <a:xfrm>
            <a:off x="6204681" y="254186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Oval 382"/>
          <p:cNvSpPr/>
          <p:nvPr/>
        </p:nvSpPr>
        <p:spPr>
          <a:xfrm>
            <a:off x="5534289" y="372167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Oval 383"/>
          <p:cNvSpPr/>
          <p:nvPr/>
        </p:nvSpPr>
        <p:spPr>
          <a:xfrm>
            <a:off x="5895409" y="3465149"/>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5" name="Oval 384"/>
          <p:cNvSpPr/>
          <p:nvPr/>
        </p:nvSpPr>
        <p:spPr>
          <a:xfrm>
            <a:off x="6646384" y="257111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Oval 385"/>
          <p:cNvSpPr/>
          <p:nvPr/>
        </p:nvSpPr>
        <p:spPr>
          <a:xfrm>
            <a:off x="6963586" y="426984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Oval 386"/>
          <p:cNvSpPr/>
          <p:nvPr/>
        </p:nvSpPr>
        <p:spPr>
          <a:xfrm>
            <a:off x="6362738" y="462096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Oval 387"/>
          <p:cNvSpPr/>
          <p:nvPr/>
        </p:nvSpPr>
        <p:spPr>
          <a:xfrm>
            <a:off x="5932348" y="475986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9" name="Oval 388"/>
          <p:cNvSpPr/>
          <p:nvPr/>
        </p:nvSpPr>
        <p:spPr>
          <a:xfrm>
            <a:off x="5897619" y="154357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0" name="Oval 389"/>
          <p:cNvSpPr/>
          <p:nvPr/>
        </p:nvSpPr>
        <p:spPr>
          <a:xfrm>
            <a:off x="5360035" y="323758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Oval 390"/>
          <p:cNvSpPr/>
          <p:nvPr/>
        </p:nvSpPr>
        <p:spPr>
          <a:xfrm>
            <a:off x="6208581" y="3973566"/>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Oval 391"/>
          <p:cNvSpPr/>
          <p:nvPr/>
        </p:nvSpPr>
        <p:spPr>
          <a:xfrm>
            <a:off x="6030509" y="364064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Oval 392"/>
          <p:cNvSpPr/>
          <p:nvPr/>
        </p:nvSpPr>
        <p:spPr>
          <a:xfrm>
            <a:off x="6326889" y="274384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Oval 393"/>
          <p:cNvSpPr/>
          <p:nvPr/>
        </p:nvSpPr>
        <p:spPr>
          <a:xfrm>
            <a:off x="7151747" y="358661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Oval 394"/>
          <p:cNvSpPr/>
          <p:nvPr/>
        </p:nvSpPr>
        <p:spPr>
          <a:xfrm>
            <a:off x="7163942" y="285103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Oval 395"/>
          <p:cNvSpPr/>
          <p:nvPr/>
        </p:nvSpPr>
        <p:spPr>
          <a:xfrm>
            <a:off x="6395393" y="4857469"/>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Oval 396"/>
          <p:cNvSpPr/>
          <p:nvPr/>
        </p:nvSpPr>
        <p:spPr>
          <a:xfrm>
            <a:off x="5974059" y="247766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Oval 397"/>
          <p:cNvSpPr/>
          <p:nvPr/>
        </p:nvSpPr>
        <p:spPr>
          <a:xfrm>
            <a:off x="6338114" y="244557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Oval 398"/>
          <p:cNvSpPr/>
          <p:nvPr/>
        </p:nvSpPr>
        <p:spPr>
          <a:xfrm>
            <a:off x="6436971" y="535931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Oval 399"/>
          <p:cNvSpPr/>
          <p:nvPr/>
        </p:nvSpPr>
        <p:spPr>
          <a:xfrm>
            <a:off x="5762730" y="2027147"/>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Oval 400"/>
          <p:cNvSpPr/>
          <p:nvPr/>
        </p:nvSpPr>
        <p:spPr>
          <a:xfrm>
            <a:off x="5552686" y="409031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Oval 401"/>
          <p:cNvSpPr/>
          <p:nvPr/>
        </p:nvSpPr>
        <p:spPr>
          <a:xfrm>
            <a:off x="7003043" y="4496016"/>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Oval 402"/>
          <p:cNvSpPr/>
          <p:nvPr/>
        </p:nvSpPr>
        <p:spPr>
          <a:xfrm>
            <a:off x="6789176" y="2441596"/>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4" name="Oval 403"/>
          <p:cNvSpPr/>
          <p:nvPr/>
        </p:nvSpPr>
        <p:spPr>
          <a:xfrm>
            <a:off x="6071286" y="4613878"/>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5" name="Oval 404"/>
          <p:cNvSpPr/>
          <p:nvPr/>
        </p:nvSpPr>
        <p:spPr>
          <a:xfrm>
            <a:off x="6873432" y="319504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6" name="Oval 405"/>
          <p:cNvSpPr/>
          <p:nvPr/>
        </p:nvSpPr>
        <p:spPr>
          <a:xfrm>
            <a:off x="6086973" y="355578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7" name="Oval 406"/>
          <p:cNvSpPr/>
          <p:nvPr/>
        </p:nvSpPr>
        <p:spPr>
          <a:xfrm>
            <a:off x="5808750" y="440144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8" name="Oval 407"/>
          <p:cNvSpPr/>
          <p:nvPr/>
        </p:nvSpPr>
        <p:spPr>
          <a:xfrm>
            <a:off x="6198785" y="5413459"/>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Oval 408"/>
          <p:cNvSpPr/>
          <p:nvPr/>
        </p:nvSpPr>
        <p:spPr>
          <a:xfrm>
            <a:off x="6859802" y="483001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Oval 409"/>
          <p:cNvSpPr/>
          <p:nvPr/>
        </p:nvSpPr>
        <p:spPr>
          <a:xfrm>
            <a:off x="5501588" y="296599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Oval 410"/>
          <p:cNvSpPr/>
          <p:nvPr/>
        </p:nvSpPr>
        <p:spPr>
          <a:xfrm>
            <a:off x="5963104" y="197099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Oval 411"/>
          <p:cNvSpPr/>
          <p:nvPr/>
        </p:nvSpPr>
        <p:spPr>
          <a:xfrm>
            <a:off x="6552335" y="2227834"/>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3" name="Oval 412"/>
          <p:cNvSpPr/>
          <p:nvPr/>
        </p:nvSpPr>
        <p:spPr>
          <a:xfrm>
            <a:off x="5617428" y="255815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4" name="Oval 413"/>
          <p:cNvSpPr/>
          <p:nvPr/>
        </p:nvSpPr>
        <p:spPr>
          <a:xfrm>
            <a:off x="5580144" y="298989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5" name="Oval 414"/>
          <p:cNvSpPr/>
          <p:nvPr/>
        </p:nvSpPr>
        <p:spPr>
          <a:xfrm>
            <a:off x="6085256" y="249364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6" name="Oval 415"/>
          <p:cNvSpPr/>
          <p:nvPr/>
        </p:nvSpPr>
        <p:spPr>
          <a:xfrm>
            <a:off x="6442856" y="4723660"/>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Oval 416"/>
          <p:cNvSpPr/>
          <p:nvPr/>
        </p:nvSpPr>
        <p:spPr>
          <a:xfrm>
            <a:off x="6399840" y="232015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8" name="Oval 417"/>
          <p:cNvSpPr/>
          <p:nvPr/>
        </p:nvSpPr>
        <p:spPr>
          <a:xfrm>
            <a:off x="6943048" y="457100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9" name="Oval 418"/>
          <p:cNvSpPr/>
          <p:nvPr/>
        </p:nvSpPr>
        <p:spPr>
          <a:xfrm>
            <a:off x="5469957" y="364208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Oval 419"/>
          <p:cNvSpPr/>
          <p:nvPr/>
        </p:nvSpPr>
        <p:spPr>
          <a:xfrm>
            <a:off x="6310879" y="4301769"/>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Oval 420"/>
          <p:cNvSpPr/>
          <p:nvPr/>
        </p:nvSpPr>
        <p:spPr>
          <a:xfrm>
            <a:off x="6770205" y="432765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Oval 421"/>
          <p:cNvSpPr/>
          <p:nvPr/>
        </p:nvSpPr>
        <p:spPr>
          <a:xfrm>
            <a:off x="6215705" y="282583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3" name="Oval 422"/>
          <p:cNvSpPr/>
          <p:nvPr/>
        </p:nvSpPr>
        <p:spPr>
          <a:xfrm>
            <a:off x="7387958" y="407525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Oval 423"/>
          <p:cNvSpPr/>
          <p:nvPr/>
        </p:nvSpPr>
        <p:spPr>
          <a:xfrm>
            <a:off x="6828678" y="1715212"/>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Oval 424"/>
          <p:cNvSpPr/>
          <p:nvPr/>
        </p:nvSpPr>
        <p:spPr>
          <a:xfrm>
            <a:off x="6568803" y="195857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Oval 425"/>
          <p:cNvSpPr/>
          <p:nvPr/>
        </p:nvSpPr>
        <p:spPr>
          <a:xfrm>
            <a:off x="6774783" y="322660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7" name="Oval 426"/>
          <p:cNvSpPr/>
          <p:nvPr/>
        </p:nvSpPr>
        <p:spPr>
          <a:xfrm>
            <a:off x="5821604" y="2294856"/>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8" name="Oval 427"/>
          <p:cNvSpPr/>
          <p:nvPr/>
        </p:nvSpPr>
        <p:spPr>
          <a:xfrm>
            <a:off x="6216083" y="4474597"/>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Oval 428"/>
          <p:cNvSpPr/>
          <p:nvPr/>
        </p:nvSpPr>
        <p:spPr>
          <a:xfrm>
            <a:off x="6840628" y="3628506"/>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Oval 429"/>
          <p:cNvSpPr/>
          <p:nvPr/>
        </p:nvSpPr>
        <p:spPr>
          <a:xfrm>
            <a:off x="5868743" y="331428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Oval 430"/>
          <p:cNvSpPr/>
          <p:nvPr/>
        </p:nvSpPr>
        <p:spPr>
          <a:xfrm>
            <a:off x="6378357" y="211029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Oval 431"/>
          <p:cNvSpPr/>
          <p:nvPr/>
        </p:nvSpPr>
        <p:spPr>
          <a:xfrm>
            <a:off x="6794911" y="4792285"/>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Oval 432"/>
          <p:cNvSpPr/>
          <p:nvPr/>
        </p:nvSpPr>
        <p:spPr>
          <a:xfrm>
            <a:off x="6759339" y="468307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Oval 433"/>
          <p:cNvSpPr/>
          <p:nvPr/>
        </p:nvSpPr>
        <p:spPr>
          <a:xfrm>
            <a:off x="6323319" y="286054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Oval 434"/>
          <p:cNvSpPr/>
          <p:nvPr/>
        </p:nvSpPr>
        <p:spPr>
          <a:xfrm>
            <a:off x="6518927" y="487542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Oval 435"/>
          <p:cNvSpPr/>
          <p:nvPr/>
        </p:nvSpPr>
        <p:spPr>
          <a:xfrm>
            <a:off x="6177837" y="4084490"/>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Oval 436"/>
          <p:cNvSpPr/>
          <p:nvPr/>
        </p:nvSpPr>
        <p:spPr>
          <a:xfrm>
            <a:off x="7199927" y="328689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8" name="Oval 437"/>
          <p:cNvSpPr/>
          <p:nvPr/>
        </p:nvSpPr>
        <p:spPr>
          <a:xfrm>
            <a:off x="6576787" y="426946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Oval 438"/>
          <p:cNvSpPr/>
          <p:nvPr/>
        </p:nvSpPr>
        <p:spPr>
          <a:xfrm>
            <a:off x="7187049" y="397818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0" name="Oval 439"/>
          <p:cNvSpPr/>
          <p:nvPr/>
        </p:nvSpPr>
        <p:spPr>
          <a:xfrm>
            <a:off x="5400956" y="347158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1" name="Oval 440"/>
          <p:cNvSpPr/>
          <p:nvPr/>
        </p:nvSpPr>
        <p:spPr>
          <a:xfrm>
            <a:off x="7112078" y="306947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Oval 441"/>
          <p:cNvSpPr/>
          <p:nvPr/>
        </p:nvSpPr>
        <p:spPr>
          <a:xfrm>
            <a:off x="5625303" y="297736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Oval 442"/>
          <p:cNvSpPr/>
          <p:nvPr/>
        </p:nvSpPr>
        <p:spPr>
          <a:xfrm>
            <a:off x="7473056" y="361792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Oval 443"/>
          <p:cNvSpPr/>
          <p:nvPr/>
        </p:nvSpPr>
        <p:spPr>
          <a:xfrm>
            <a:off x="6647617" y="2355354"/>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Oval 444"/>
          <p:cNvSpPr/>
          <p:nvPr/>
        </p:nvSpPr>
        <p:spPr>
          <a:xfrm>
            <a:off x="6745966" y="290703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Oval 445"/>
          <p:cNvSpPr/>
          <p:nvPr/>
        </p:nvSpPr>
        <p:spPr>
          <a:xfrm>
            <a:off x="7258451" y="353550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Oval 446"/>
          <p:cNvSpPr/>
          <p:nvPr/>
        </p:nvSpPr>
        <p:spPr>
          <a:xfrm>
            <a:off x="6450262" y="507863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8" name="Oval 447"/>
          <p:cNvSpPr/>
          <p:nvPr/>
        </p:nvSpPr>
        <p:spPr>
          <a:xfrm>
            <a:off x="6517116" y="1502152"/>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9" name="Oval 448"/>
          <p:cNvSpPr/>
          <p:nvPr/>
        </p:nvSpPr>
        <p:spPr>
          <a:xfrm>
            <a:off x="6931880" y="400407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0" name="Oval 449"/>
          <p:cNvSpPr/>
          <p:nvPr/>
        </p:nvSpPr>
        <p:spPr>
          <a:xfrm>
            <a:off x="6922161" y="289671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Oval 450"/>
          <p:cNvSpPr/>
          <p:nvPr/>
        </p:nvSpPr>
        <p:spPr>
          <a:xfrm>
            <a:off x="6444693" y="495789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Oval 451"/>
          <p:cNvSpPr/>
          <p:nvPr/>
        </p:nvSpPr>
        <p:spPr>
          <a:xfrm>
            <a:off x="6077964" y="4102490"/>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Oval 452"/>
          <p:cNvSpPr/>
          <p:nvPr/>
        </p:nvSpPr>
        <p:spPr>
          <a:xfrm>
            <a:off x="5437006" y="299229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Oval 453"/>
          <p:cNvSpPr/>
          <p:nvPr/>
        </p:nvSpPr>
        <p:spPr>
          <a:xfrm>
            <a:off x="6221858" y="302405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Oval 454"/>
          <p:cNvSpPr/>
          <p:nvPr/>
        </p:nvSpPr>
        <p:spPr>
          <a:xfrm>
            <a:off x="5877258" y="327764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Oval 455"/>
          <p:cNvSpPr/>
          <p:nvPr/>
        </p:nvSpPr>
        <p:spPr>
          <a:xfrm>
            <a:off x="6274842" y="447585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Oval 456"/>
          <p:cNvSpPr/>
          <p:nvPr/>
        </p:nvSpPr>
        <p:spPr>
          <a:xfrm>
            <a:off x="7561082" y="3176326"/>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Oval 457"/>
          <p:cNvSpPr/>
          <p:nvPr/>
        </p:nvSpPr>
        <p:spPr>
          <a:xfrm>
            <a:off x="6504512" y="172255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Oval 458"/>
          <p:cNvSpPr/>
          <p:nvPr/>
        </p:nvSpPr>
        <p:spPr>
          <a:xfrm>
            <a:off x="6813752" y="474573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Oval 459"/>
          <p:cNvSpPr/>
          <p:nvPr/>
        </p:nvSpPr>
        <p:spPr>
          <a:xfrm>
            <a:off x="6309549" y="3935174"/>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Oval 460"/>
          <p:cNvSpPr/>
          <p:nvPr/>
        </p:nvSpPr>
        <p:spPr>
          <a:xfrm>
            <a:off x="5702191" y="344640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Oval 461"/>
          <p:cNvSpPr/>
          <p:nvPr/>
        </p:nvSpPr>
        <p:spPr>
          <a:xfrm>
            <a:off x="6600206" y="268048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Oval 462"/>
          <p:cNvSpPr/>
          <p:nvPr/>
        </p:nvSpPr>
        <p:spPr>
          <a:xfrm>
            <a:off x="6442361" y="259738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Oval 463"/>
          <p:cNvSpPr/>
          <p:nvPr/>
        </p:nvSpPr>
        <p:spPr>
          <a:xfrm>
            <a:off x="6916858" y="2947530"/>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Oval 464"/>
          <p:cNvSpPr/>
          <p:nvPr/>
        </p:nvSpPr>
        <p:spPr>
          <a:xfrm>
            <a:off x="5947484" y="496939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Oval 465"/>
          <p:cNvSpPr/>
          <p:nvPr/>
        </p:nvSpPr>
        <p:spPr>
          <a:xfrm>
            <a:off x="7277967" y="246770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Oval 466"/>
          <p:cNvSpPr/>
          <p:nvPr/>
        </p:nvSpPr>
        <p:spPr>
          <a:xfrm>
            <a:off x="6055274" y="359232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Oval 467"/>
          <p:cNvSpPr/>
          <p:nvPr/>
        </p:nvSpPr>
        <p:spPr>
          <a:xfrm>
            <a:off x="5646627" y="2109645"/>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Oval 468"/>
          <p:cNvSpPr/>
          <p:nvPr/>
        </p:nvSpPr>
        <p:spPr>
          <a:xfrm>
            <a:off x="6987560" y="152528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0" name="Oval 469"/>
          <p:cNvSpPr/>
          <p:nvPr/>
        </p:nvSpPr>
        <p:spPr>
          <a:xfrm>
            <a:off x="6711580" y="186890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1" name="Oval 470"/>
          <p:cNvSpPr/>
          <p:nvPr/>
        </p:nvSpPr>
        <p:spPr>
          <a:xfrm>
            <a:off x="6547754" y="160528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Oval 471"/>
          <p:cNvSpPr/>
          <p:nvPr/>
        </p:nvSpPr>
        <p:spPr>
          <a:xfrm>
            <a:off x="6250992" y="2608661"/>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3" name="Oval 472"/>
          <p:cNvSpPr/>
          <p:nvPr/>
        </p:nvSpPr>
        <p:spPr>
          <a:xfrm>
            <a:off x="5474775" y="229027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4" name="Oval 473"/>
          <p:cNvSpPr/>
          <p:nvPr/>
        </p:nvSpPr>
        <p:spPr>
          <a:xfrm>
            <a:off x="7007013" y="301378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5" name="Oval 474"/>
          <p:cNvSpPr/>
          <p:nvPr/>
        </p:nvSpPr>
        <p:spPr>
          <a:xfrm>
            <a:off x="6229422" y="481052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6" name="Oval 475"/>
          <p:cNvSpPr/>
          <p:nvPr/>
        </p:nvSpPr>
        <p:spPr>
          <a:xfrm>
            <a:off x="5821268" y="164731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7" name="Oval 476"/>
          <p:cNvSpPr/>
          <p:nvPr/>
        </p:nvSpPr>
        <p:spPr>
          <a:xfrm>
            <a:off x="7086776" y="367705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8" name="Oval 477"/>
          <p:cNvSpPr/>
          <p:nvPr/>
        </p:nvSpPr>
        <p:spPr>
          <a:xfrm>
            <a:off x="6303240" y="488553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9" name="Oval 478"/>
          <p:cNvSpPr/>
          <p:nvPr/>
        </p:nvSpPr>
        <p:spPr>
          <a:xfrm>
            <a:off x="5616872" y="322537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0" name="Oval 479"/>
          <p:cNvSpPr/>
          <p:nvPr/>
        </p:nvSpPr>
        <p:spPr>
          <a:xfrm>
            <a:off x="6575701" y="1855698"/>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1" name="Oval 480"/>
          <p:cNvSpPr/>
          <p:nvPr/>
        </p:nvSpPr>
        <p:spPr>
          <a:xfrm>
            <a:off x="6215852" y="327343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2" name="Oval 481"/>
          <p:cNvSpPr/>
          <p:nvPr/>
        </p:nvSpPr>
        <p:spPr>
          <a:xfrm>
            <a:off x="5890494" y="471360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3" name="Oval 482"/>
          <p:cNvSpPr/>
          <p:nvPr/>
        </p:nvSpPr>
        <p:spPr>
          <a:xfrm>
            <a:off x="7088923" y="202745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4" name="Oval 483"/>
          <p:cNvSpPr/>
          <p:nvPr/>
        </p:nvSpPr>
        <p:spPr>
          <a:xfrm>
            <a:off x="6566797" y="156582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5" name="Oval 484"/>
          <p:cNvSpPr/>
          <p:nvPr/>
        </p:nvSpPr>
        <p:spPr>
          <a:xfrm>
            <a:off x="7314400" y="290281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6" name="Oval 485"/>
          <p:cNvSpPr/>
          <p:nvPr/>
        </p:nvSpPr>
        <p:spPr>
          <a:xfrm>
            <a:off x="7220343" y="435720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7" name="Oval 486"/>
          <p:cNvSpPr/>
          <p:nvPr/>
        </p:nvSpPr>
        <p:spPr>
          <a:xfrm>
            <a:off x="6681116" y="263630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8" name="Oval 487"/>
          <p:cNvSpPr/>
          <p:nvPr/>
        </p:nvSpPr>
        <p:spPr>
          <a:xfrm>
            <a:off x="5903937" y="3230471"/>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9" name="Oval 488"/>
          <p:cNvSpPr/>
          <p:nvPr/>
        </p:nvSpPr>
        <p:spPr>
          <a:xfrm>
            <a:off x="6882154" y="462315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0" name="Oval 489"/>
          <p:cNvSpPr/>
          <p:nvPr/>
        </p:nvSpPr>
        <p:spPr>
          <a:xfrm>
            <a:off x="7373094" y="362393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1" name="Oval 490"/>
          <p:cNvSpPr/>
          <p:nvPr/>
        </p:nvSpPr>
        <p:spPr>
          <a:xfrm>
            <a:off x="6943691" y="447564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2" name="Oval 491"/>
          <p:cNvSpPr/>
          <p:nvPr/>
        </p:nvSpPr>
        <p:spPr>
          <a:xfrm>
            <a:off x="5571515" y="4462818"/>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3" name="Oval 492"/>
          <p:cNvSpPr/>
          <p:nvPr/>
        </p:nvSpPr>
        <p:spPr>
          <a:xfrm>
            <a:off x="6656679" y="313884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Oval 493"/>
          <p:cNvSpPr/>
          <p:nvPr/>
        </p:nvSpPr>
        <p:spPr>
          <a:xfrm>
            <a:off x="5595560" y="290090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Oval 494"/>
          <p:cNvSpPr/>
          <p:nvPr/>
        </p:nvSpPr>
        <p:spPr>
          <a:xfrm>
            <a:off x="6935252" y="443203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6" name="Oval 495"/>
          <p:cNvSpPr/>
          <p:nvPr/>
        </p:nvSpPr>
        <p:spPr>
          <a:xfrm>
            <a:off x="6599043" y="479413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7" name="Oval 496"/>
          <p:cNvSpPr/>
          <p:nvPr/>
        </p:nvSpPr>
        <p:spPr>
          <a:xfrm>
            <a:off x="6026607" y="351021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8" name="Oval 497"/>
          <p:cNvSpPr/>
          <p:nvPr/>
        </p:nvSpPr>
        <p:spPr>
          <a:xfrm>
            <a:off x="6116752" y="262493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9" name="Oval 498"/>
          <p:cNvSpPr/>
          <p:nvPr/>
        </p:nvSpPr>
        <p:spPr>
          <a:xfrm>
            <a:off x="7131203" y="351717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0" name="Oval 499"/>
          <p:cNvSpPr/>
          <p:nvPr/>
        </p:nvSpPr>
        <p:spPr>
          <a:xfrm>
            <a:off x="5967602" y="2203447"/>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1" name="Oval 500"/>
          <p:cNvSpPr/>
          <p:nvPr/>
        </p:nvSpPr>
        <p:spPr>
          <a:xfrm>
            <a:off x="6639266" y="496485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Oval 501"/>
          <p:cNvSpPr/>
          <p:nvPr/>
        </p:nvSpPr>
        <p:spPr>
          <a:xfrm>
            <a:off x="6685216" y="218181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3" name="Oval 502"/>
          <p:cNvSpPr/>
          <p:nvPr/>
        </p:nvSpPr>
        <p:spPr>
          <a:xfrm>
            <a:off x="7193762" y="270564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4" name="Oval 503"/>
          <p:cNvSpPr/>
          <p:nvPr/>
        </p:nvSpPr>
        <p:spPr>
          <a:xfrm>
            <a:off x="5831816" y="3896209"/>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5" name="Oval 504"/>
          <p:cNvSpPr/>
          <p:nvPr/>
        </p:nvSpPr>
        <p:spPr>
          <a:xfrm>
            <a:off x="6934789" y="446705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6" name="Oval 505"/>
          <p:cNvSpPr/>
          <p:nvPr/>
        </p:nvSpPr>
        <p:spPr>
          <a:xfrm>
            <a:off x="6493906" y="414820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7" name="Oval 506"/>
          <p:cNvSpPr/>
          <p:nvPr/>
        </p:nvSpPr>
        <p:spPr>
          <a:xfrm>
            <a:off x="5658594" y="413807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8" name="Oval 507"/>
          <p:cNvSpPr/>
          <p:nvPr/>
        </p:nvSpPr>
        <p:spPr>
          <a:xfrm>
            <a:off x="7084942" y="3852891"/>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9" name="Oval 508"/>
          <p:cNvSpPr/>
          <p:nvPr/>
        </p:nvSpPr>
        <p:spPr>
          <a:xfrm>
            <a:off x="5629114" y="407750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Oval 509"/>
          <p:cNvSpPr/>
          <p:nvPr/>
        </p:nvSpPr>
        <p:spPr>
          <a:xfrm>
            <a:off x="6930624" y="432099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1" name="Oval 510"/>
          <p:cNvSpPr/>
          <p:nvPr/>
        </p:nvSpPr>
        <p:spPr>
          <a:xfrm>
            <a:off x="6495990" y="423227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2" name="Oval 511"/>
          <p:cNvSpPr/>
          <p:nvPr/>
        </p:nvSpPr>
        <p:spPr>
          <a:xfrm>
            <a:off x="6867456" y="4095039"/>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3" name="Oval 512"/>
          <p:cNvSpPr/>
          <p:nvPr/>
        </p:nvSpPr>
        <p:spPr>
          <a:xfrm>
            <a:off x="6403513" y="170187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4" name="Oval 513"/>
          <p:cNvSpPr/>
          <p:nvPr/>
        </p:nvSpPr>
        <p:spPr>
          <a:xfrm>
            <a:off x="5301194" y="2977896"/>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5" name="Oval 514"/>
          <p:cNvSpPr/>
          <p:nvPr/>
        </p:nvSpPr>
        <p:spPr>
          <a:xfrm>
            <a:off x="6074401" y="322767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6" name="Oval 515"/>
          <p:cNvSpPr/>
          <p:nvPr/>
        </p:nvSpPr>
        <p:spPr>
          <a:xfrm>
            <a:off x="6041042" y="1815154"/>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7" name="Oval 516"/>
          <p:cNvSpPr/>
          <p:nvPr/>
        </p:nvSpPr>
        <p:spPr>
          <a:xfrm>
            <a:off x="6777181" y="142700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8" name="Oval 517"/>
          <p:cNvSpPr/>
          <p:nvPr/>
        </p:nvSpPr>
        <p:spPr>
          <a:xfrm>
            <a:off x="6625616" y="503390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9" name="Oval 518"/>
          <p:cNvSpPr/>
          <p:nvPr/>
        </p:nvSpPr>
        <p:spPr>
          <a:xfrm>
            <a:off x="6930380" y="268729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0" name="Oval 519"/>
          <p:cNvSpPr/>
          <p:nvPr/>
        </p:nvSpPr>
        <p:spPr>
          <a:xfrm>
            <a:off x="5647010" y="3110534"/>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1" name="Oval 520"/>
          <p:cNvSpPr/>
          <p:nvPr/>
        </p:nvSpPr>
        <p:spPr>
          <a:xfrm>
            <a:off x="5671401" y="448286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Oval 521"/>
          <p:cNvSpPr/>
          <p:nvPr/>
        </p:nvSpPr>
        <p:spPr>
          <a:xfrm>
            <a:off x="6790415" y="461075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Oval 522"/>
          <p:cNvSpPr/>
          <p:nvPr/>
        </p:nvSpPr>
        <p:spPr>
          <a:xfrm>
            <a:off x="6874685" y="420374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Oval 523"/>
          <p:cNvSpPr/>
          <p:nvPr/>
        </p:nvSpPr>
        <p:spPr>
          <a:xfrm>
            <a:off x="6616339" y="4175737"/>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Oval 524"/>
          <p:cNvSpPr/>
          <p:nvPr/>
        </p:nvSpPr>
        <p:spPr>
          <a:xfrm>
            <a:off x="5340687" y="315936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Oval 525"/>
          <p:cNvSpPr/>
          <p:nvPr/>
        </p:nvSpPr>
        <p:spPr>
          <a:xfrm>
            <a:off x="7041579" y="451001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Oval 526"/>
          <p:cNvSpPr/>
          <p:nvPr/>
        </p:nvSpPr>
        <p:spPr>
          <a:xfrm>
            <a:off x="5379076" y="3584987"/>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Oval 527"/>
          <p:cNvSpPr/>
          <p:nvPr/>
        </p:nvSpPr>
        <p:spPr>
          <a:xfrm>
            <a:off x="6353740" y="4932873"/>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Oval 528"/>
          <p:cNvSpPr/>
          <p:nvPr/>
        </p:nvSpPr>
        <p:spPr>
          <a:xfrm>
            <a:off x="6637850" y="1601159"/>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Oval 529"/>
          <p:cNvSpPr/>
          <p:nvPr/>
        </p:nvSpPr>
        <p:spPr>
          <a:xfrm>
            <a:off x="5979868" y="4810754"/>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Oval 530"/>
          <p:cNvSpPr/>
          <p:nvPr/>
        </p:nvSpPr>
        <p:spPr>
          <a:xfrm>
            <a:off x="6846309" y="484638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Oval 531"/>
          <p:cNvSpPr/>
          <p:nvPr/>
        </p:nvSpPr>
        <p:spPr>
          <a:xfrm>
            <a:off x="6140844" y="4380884"/>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Oval 532"/>
          <p:cNvSpPr/>
          <p:nvPr/>
        </p:nvSpPr>
        <p:spPr>
          <a:xfrm>
            <a:off x="6623647" y="249921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Oval 533"/>
          <p:cNvSpPr/>
          <p:nvPr/>
        </p:nvSpPr>
        <p:spPr>
          <a:xfrm>
            <a:off x="5532243" y="279175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Oval 534"/>
          <p:cNvSpPr/>
          <p:nvPr/>
        </p:nvSpPr>
        <p:spPr>
          <a:xfrm>
            <a:off x="5906401" y="274139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Oval 535"/>
          <p:cNvSpPr/>
          <p:nvPr/>
        </p:nvSpPr>
        <p:spPr>
          <a:xfrm>
            <a:off x="6078736" y="4663210"/>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Oval 536"/>
          <p:cNvSpPr/>
          <p:nvPr/>
        </p:nvSpPr>
        <p:spPr>
          <a:xfrm>
            <a:off x="6398831" y="4191423"/>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Oval 537"/>
          <p:cNvSpPr/>
          <p:nvPr/>
        </p:nvSpPr>
        <p:spPr>
          <a:xfrm>
            <a:off x="6721793" y="3494901"/>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Oval 538"/>
          <p:cNvSpPr/>
          <p:nvPr/>
        </p:nvSpPr>
        <p:spPr>
          <a:xfrm>
            <a:off x="6272061" y="217609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Oval 539"/>
          <p:cNvSpPr/>
          <p:nvPr/>
        </p:nvSpPr>
        <p:spPr>
          <a:xfrm>
            <a:off x="6398927" y="4660811"/>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Oval 540"/>
          <p:cNvSpPr/>
          <p:nvPr/>
        </p:nvSpPr>
        <p:spPr>
          <a:xfrm>
            <a:off x="6992513" y="446560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Oval 541"/>
          <p:cNvSpPr/>
          <p:nvPr/>
        </p:nvSpPr>
        <p:spPr>
          <a:xfrm>
            <a:off x="5546750" y="278830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Oval 542"/>
          <p:cNvSpPr/>
          <p:nvPr/>
        </p:nvSpPr>
        <p:spPr>
          <a:xfrm>
            <a:off x="5877843" y="2847028"/>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Oval 543"/>
          <p:cNvSpPr/>
          <p:nvPr/>
        </p:nvSpPr>
        <p:spPr>
          <a:xfrm>
            <a:off x="5602325" y="2981036"/>
            <a:ext cx="53035" cy="53035"/>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Oval 544"/>
          <p:cNvSpPr/>
          <p:nvPr/>
        </p:nvSpPr>
        <p:spPr>
          <a:xfrm>
            <a:off x="6495595" y="5176345"/>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Oval 545"/>
          <p:cNvSpPr/>
          <p:nvPr/>
        </p:nvSpPr>
        <p:spPr>
          <a:xfrm>
            <a:off x="6323131" y="2566622"/>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Oval 546"/>
          <p:cNvSpPr/>
          <p:nvPr/>
        </p:nvSpPr>
        <p:spPr>
          <a:xfrm>
            <a:off x="6352062" y="2809160"/>
            <a:ext cx="27432" cy="27432"/>
          </a:xfrm>
          <a:prstGeom prst="ellipse">
            <a:avLst/>
          </a:prstGeom>
          <a:solidFill>
            <a:srgbClr val="5E85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48" name="Connector 547"/>
          <p:cNvCxnSpPr/>
          <p:nvPr/>
        </p:nvCxnSpPr>
        <p:spPr>
          <a:xfrm>
            <a:off x="7574798" y="3190042"/>
            <a:ext cx="395478" cy="147518"/>
          </a:xfrm>
          <a:prstGeom prst="line">
            <a:avLst/>
          </a:prstGeom>
          <a:ln w="1651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549" name="Connector 548"/>
          <p:cNvCxnSpPr/>
          <p:nvPr/>
        </p:nvCxnSpPr>
        <p:spPr>
          <a:xfrm flipV="1">
            <a:off x="7401674" y="3337560"/>
            <a:ext cx="568602" cy="751410"/>
          </a:xfrm>
          <a:prstGeom prst="line">
            <a:avLst/>
          </a:prstGeom>
          <a:ln w="1651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550" name="Connector 549"/>
          <p:cNvCxnSpPr/>
          <p:nvPr/>
        </p:nvCxnSpPr>
        <p:spPr>
          <a:xfrm>
            <a:off x="7291683" y="2481417"/>
            <a:ext cx="678593" cy="856143"/>
          </a:xfrm>
          <a:prstGeom prst="line">
            <a:avLst/>
          </a:prstGeom>
          <a:ln w="16510">
            <a:solidFill>
              <a:srgbClr val="A6C9B8"/>
            </a:solidFill>
          </a:ln>
          <a:effectLst/>
        </p:spPr>
        <p:style>
          <a:lnRef idx="2">
            <a:schemeClr val="accent1"/>
          </a:lnRef>
          <a:fillRef idx="0">
            <a:schemeClr val="accent1"/>
          </a:fillRef>
          <a:effectRef idx="0">
            <a:schemeClr val="accent1"/>
          </a:effectRef>
          <a:fontRef idx="minor">
            <a:schemeClr val="tx1"/>
          </a:fontRef>
        </p:style>
      </p:cxnSp>
      <p:cxnSp>
        <p:nvCxnSpPr>
          <p:cNvPr id="551" name="Connector 550"/>
          <p:cNvCxnSpPr/>
          <p:nvPr/>
        </p:nvCxnSpPr>
        <p:spPr>
          <a:xfrm>
            <a:off x="7001276" y="1538996"/>
            <a:ext cx="969000" cy="1798564"/>
          </a:xfrm>
          <a:prstGeom prst="line">
            <a:avLst/>
          </a:prstGeom>
          <a:ln w="1651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52" name="Oval 551"/>
          <p:cNvSpPr/>
          <p:nvPr/>
        </p:nvSpPr>
        <p:spPr>
          <a:xfrm>
            <a:off x="7514448" y="3129691"/>
            <a:ext cx="120700" cy="120700"/>
          </a:xfrm>
          <a:prstGeom prst="ellipse">
            <a:avLst/>
          </a:prstGeom>
          <a:solidFill>
            <a:srgbClr val="17201F"/>
          </a:solidFill>
          <a:ln>
            <a:solidFill>
              <a:srgbClr val="A6C9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Oval 552"/>
          <p:cNvSpPr/>
          <p:nvPr/>
        </p:nvSpPr>
        <p:spPr>
          <a:xfrm>
            <a:off x="7547366" y="3162610"/>
            <a:ext cx="54864" cy="54864"/>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Oval 553"/>
          <p:cNvSpPr/>
          <p:nvPr/>
        </p:nvSpPr>
        <p:spPr>
          <a:xfrm>
            <a:off x="7341323" y="4028619"/>
            <a:ext cx="120700" cy="120700"/>
          </a:xfrm>
          <a:prstGeom prst="ellipse">
            <a:avLst/>
          </a:prstGeom>
          <a:solidFill>
            <a:srgbClr val="17201F"/>
          </a:solidFill>
          <a:ln>
            <a:solidFill>
              <a:srgbClr val="A6C9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Oval 554"/>
          <p:cNvSpPr/>
          <p:nvPr/>
        </p:nvSpPr>
        <p:spPr>
          <a:xfrm>
            <a:off x="7374242" y="4061538"/>
            <a:ext cx="54864" cy="54864"/>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Oval 555"/>
          <p:cNvSpPr/>
          <p:nvPr/>
        </p:nvSpPr>
        <p:spPr>
          <a:xfrm>
            <a:off x="7231333" y="2421067"/>
            <a:ext cx="120700" cy="120700"/>
          </a:xfrm>
          <a:prstGeom prst="ellipse">
            <a:avLst/>
          </a:prstGeom>
          <a:solidFill>
            <a:srgbClr val="17201F"/>
          </a:solidFill>
          <a:ln>
            <a:solidFill>
              <a:srgbClr val="A6C9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Oval 556"/>
          <p:cNvSpPr/>
          <p:nvPr/>
        </p:nvSpPr>
        <p:spPr>
          <a:xfrm>
            <a:off x="7264251" y="2453985"/>
            <a:ext cx="54864" cy="54864"/>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Oval 557"/>
          <p:cNvSpPr/>
          <p:nvPr/>
        </p:nvSpPr>
        <p:spPr>
          <a:xfrm>
            <a:off x="6940925" y="1478646"/>
            <a:ext cx="120700" cy="120700"/>
          </a:xfrm>
          <a:prstGeom prst="ellipse">
            <a:avLst/>
          </a:prstGeom>
          <a:solidFill>
            <a:srgbClr val="17201F"/>
          </a:solidFill>
          <a:ln>
            <a:solidFill>
              <a:srgbClr val="A6C9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Oval 558"/>
          <p:cNvSpPr/>
          <p:nvPr/>
        </p:nvSpPr>
        <p:spPr>
          <a:xfrm>
            <a:off x="6973844" y="1511564"/>
            <a:ext cx="54864" cy="54864"/>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Oval 559"/>
          <p:cNvSpPr/>
          <p:nvPr/>
        </p:nvSpPr>
        <p:spPr>
          <a:xfrm>
            <a:off x="7886151" y="3253435"/>
            <a:ext cx="168249" cy="168249"/>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61" name="Connector 560"/>
          <p:cNvCxnSpPr/>
          <p:nvPr/>
        </p:nvCxnSpPr>
        <p:spPr>
          <a:xfrm flipV="1">
            <a:off x="7970276" y="2387041"/>
            <a:ext cx="786384" cy="950519"/>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62" name="Oval 561"/>
          <p:cNvSpPr/>
          <p:nvPr/>
        </p:nvSpPr>
        <p:spPr>
          <a:xfrm>
            <a:off x="8709111" y="2339492"/>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63" name="Connector 562"/>
          <p:cNvCxnSpPr/>
          <p:nvPr/>
        </p:nvCxnSpPr>
        <p:spPr>
          <a:xfrm flipV="1">
            <a:off x="8756660" y="1864255"/>
            <a:ext cx="786384" cy="522786"/>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64" name="Oval 563"/>
          <p:cNvSpPr/>
          <p:nvPr/>
        </p:nvSpPr>
        <p:spPr>
          <a:xfrm>
            <a:off x="9495495" y="1816707"/>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65" name="Connector 564"/>
          <p:cNvCxnSpPr/>
          <p:nvPr/>
        </p:nvCxnSpPr>
        <p:spPr>
          <a:xfrm flipV="1">
            <a:off x="9543044" y="1576723"/>
            <a:ext cx="786384" cy="287532"/>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66" name="Oval 565"/>
          <p:cNvSpPr/>
          <p:nvPr/>
        </p:nvSpPr>
        <p:spPr>
          <a:xfrm>
            <a:off x="10263591" y="1510887"/>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67" name="Connector 566"/>
          <p:cNvCxnSpPr/>
          <p:nvPr/>
        </p:nvCxnSpPr>
        <p:spPr>
          <a:xfrm>
            <a:off x="9543044" y="1864255"/>
            <a:ext cx="786384" cy="287532"/>
          </a:xfrm>
          <a:prstGeom prst="line">
            <a:avLst/>
          </a:prstGeom>
          <a:ln w="15240">
            <a:solidFill>
              <a:srgbClr val="3F5750"/>
            </a:solidFill>
          </a:ln>
          <a:effectLst/>
        </p:spPr>
        <p:style>
          <a:lnRef idx="2">
            <a:schemeClr val="accent1"/>
          </a:lnRef>
          <a:fillRef idx="0">
            <a:schemeClr val="accent1"/>
          </a:fillRef>
          <a:effectRef idx="0">
            <a:schemeClr val="accent1"/>
          </a:effectRef>
          <a:fontRef idx="minor">
            <a:schemeClr val="tx1"/>
          </a:fontRef>
        </p:style>
      </p:cxnSp>
      <p:sp>
        <p:nvSpPr>
          <p:cNvPr id="568" name="Oval 567"/>
          <p:cNvSpPr/>
          <p:nvPr/>
        </p:nvSpPr>
        <p:spPr>
          <a:xfrm>
            <a:off x="10297424" y="2119783"/>
            <a:ext cx="64008" cy="64008"/>
          </a:xfrm>
          <a:prstGeom prst="ellipse">
            <a:avLst/>
          </a:prstGeom>
          <a:solidFill>
            <a:srgbClr val="3F5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69" name="Connector 568"/>
          <p:cNvCxnSpPr/>
          <p:nvPr/>
        </p:nvCxnSpPr>
        <p:spPr>
          <a:xfrm>
            <a:off x="8756660" y="2387041"/>
            <a:ext cx="786384" cy="522785"/>
          </a:xfrm>
          <a:prstGeom prst="line">
            <a:avLst/>
          </a:prstGeom>
          <a:ln w="15240">
            <a:solidFill>
              <a:srgbClr val="3F5750"/>
            </a:solidFill>
          </a:ln>
          <a:effectLst/>
        </p:spPr>
        <p:style>
          <a:lnRef idx="2">
            <a:schemeClr val="accent1"/>
          </a:lnRef>
          <a:fillRef idx="0">
            <a:schemeClr val="accent1"/>
          </a:fillRef>
          <a:effectRef idx="0">
            <a:schemeClr val="accent1"/>
          </a:effectRef>
          <a:fontRef idx="minor">
            <a:schemeClr val="tx1"/>
          </a:fontRef>
        </p:style>
      </p:cxnSp>
      <p:sp>
        <p:nvSpPr>
          <p:cNvPr id="570" name="Oval 569"/>
          <p:cNvSpPr/>
          <p:nvPr/>
        </p:nvSpPr>
        <p:spPr>
          <a:xfrm>
            <a:off x="9511040" y="2877822"/>
            <a:ext cx="64008" cy="64008"/>
          </a:xfrm>
          <a:prstGeom prst="ellipse">
            <a:avLst/>
          </a:prstGeom>
          <a:solidFill>
            <a:srgbClr val="3F5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71" name="Connector 570"/>
          <p:cNvCxnSpPr/>
          <p:nvPr/>
        </p:nvCxnSpPr>
        <p:spPr>
          <a:xfrm>
            <a:off x="7970276" y="3337560"/>
            <a:ext cx="786384" cy="950518"/>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72" name="Oval 571"/>
          <p:cNvSpPr/>
          <p:nvPr/>
        </p:nvSpPr>
        <p:spPr>
          <a:xfrm>
            <a:off x="8709111" y="4240530"/>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73" name="Connector 572"/>
          <p:cNvCxnSpPr/>
          <p:nvPr/>
        </p:nvCxnSpPr>
        <p:spPr>
          <a:xfrm flipV="1">
            <a:off x="8756660" y="3765293"/>
            <a:ext cx="786384" cy="522785"/>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74" name="Oval 573"/>
          <p:cNvSpPr/>
          <p:nvPr/>
        </p:nvSpPr>
        <p:spPr>
          <a:xfrm>
            <a:off x="9495495" y="3717744"/>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75" name="Connector 574"/>
          <p:cNvCxnSpPr/>
          <p:nvPr/>
        </p:nvCxnSpPr>
        <p:spPr>
          <a:xfrm flipV="1">
            <a:off x="9543044" y="3477761"/>
            <a:ext cx="786384" cy="287532"/>
          </a:xfrm>
          <a:prstGeom prst="line">
            <a:avLst/>
          </a:prstGeom>
          <a:ln w="15240">
            <a:solidFill>
              <a:srgbClr val="3F5750"/>
            </a:solidFill>
          </a:ln>
          <a:effectLst/>
        </p:spPr>
        <p:style>
          <a:lnRef idx="2">
            <a:schemeClr val="accent1"/>
          </a:lnRef>
          <a:fillRef idx="0">
            <a:schemeClr val="accent1"/>
          </a:fillRef>
          <a:effectRef idx="0">
            <a:schemeClr val="accent1"/>
          </a:effectRef>
          <a:fontRef idx="minor">
            <a:schemeClr val="tx1"/>
          </a:fontRef>
        </p:style>
      </p:cxnSp>
      <p:sp>
        <p:nvSpPr>
          <p:cNvPr id="576" name="Oval 575"/>
          <p:cNvSpPr/>
          <p:nvPr/>
        </p:nvSpPr>
        <p:spPr>
          <a:xfrm>
            <a:off x="10297424" y="3445757"/>
            <a:ext cx="64008" cy="64008"/>
          </a:xfrm>
          <a:prstGeom prst="ellipse">
            <a:avLst/>
          </a:prstGeom>
          <a:solidFill>
            <a:srgbClr val="3F5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77" name="Connector 576"/>
          <p:cNvCxnSpPr/>
          <p:nvPr/>
        </p:nvCxnSpPr>
        <p:spPr>
          <a:xfrm>
            <a:off x="9543044" y="3765293"/>
            <a:ext cx="786384" cy="287532"/>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78" name="Oval 577"/>
          <p:cNvSpPr/>
          <p:nvPr/>
        </p:nvSpPr>
        <p:spPr>
          <a:xfrm>
            <a:off x="10263591" y="3986988"/>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79" name="Connector 578"/>
          <p:cNvCxnSpPr/>
          <p:nvPr/>
        </p:nvCxnSpPr>
        <p:spPr>
          <a:xfrm>
            <a:off x="8756660" y="4288078"/>
            <a:ext cx="786384" cy="522786"/>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80" name="Oval 579"/>
          <p:cNvSpPr/>
          <p:nvPr/>
        </p:nvSpPr>
        <p:spPr>
          <a:xfrm>
            <a:off x="9495495" y="4763315"/>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1" name="Connector 580"/>
          <p:cNvCxnSpPr/>
          <p:nvPr/>
        </p:nvCxnSpPr>
        <p:spPr>
          <a:xfrm flipV="1">
            <a:off x="9543044" y="4523332"/>
            <a:ext cx="786384" cy="287532"/>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82" name="Oval 581"/>
          <p:cNvSpPr/>
          <p:nvPr/>
        </p:nvSpPr>
        <p:spPr>
          <a:xfrm>
            <a:off x="10263591" y="4457495"/>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3" name="Connector 582"/>
          <p:cNvCxnSpPr/>
          <p:nvPr/>
        </p:nvCxnSpPr>
        <p:spPr>
          <a:xfrm>
            <a:off x="9543044" y="4810864"/>
            <a:ext cx="786384" cy="287532"/>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584" name="Oval 583"/>
          <p:cNvSpPr/>
          <p:nvPr/>
        </p:nvSpPr>
        <p:spPr>
          <a:xfrm>
            <a:off x="10263591" y="5032559"/>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5" name="Connector 584"/>
          <p:cNvCxnSpPr/>
          <p:nvPr/>
        </p:nvCxnSpPr>
        <p:spPr>
          <a:xfrm>
            <a:off x="11431097" y="1478767"/>
            <a:ext cx="0" cy="3717585"/>
          </a:xfrm>
          <a:prstGeom prst="line">
            <a:avLst/>
          </a:prstGeom>
          <a:ln w="27940">
            <a:solidFill>
              <a:srgbClr val="DEB577"/>
            </a:solidFill>
            <a:prstDash val="dash"/>
          </a:ln>
          <a:effectLst/>
        </p:spPr>
        <p:style>
          <a:lnRef idx="2">
            <a:schemeClr val="accent1"/>
          </a:lnRef>
          <a:fillRef idx="0">
            <a:schemeClr val="accent1"/>
          </a:fillRef>
          <a:effectRef idx="0">
            <a:schemeClr val="accent1"/>
          </a:effectRef>
          <a:fontRef idx="minor">
            <a:schemeClr val="tx1"/>
          </a:fontRef>
        </p:style>
      </p:cxnSp>
      <p:cxnSp>
        <p:nvCxnSpPr>
          <p:cNvPr id="586" name="Connector 585"/>
          <p:cNvCxnSpPr/>
          <p:nvPr/>
        </p:nvCxnSpPr>
        <p:spPr>
          <a:xfrm>
            <a:off x="10329428" y="1576723"/>
            <a:ext cx="1101669" cy="0"/>
          </a:xfrm>
          <a:prstGeom prst="line">
            <a:avLst/>
          </a:prstGeom>
          <a:ln w="24130">
            <a:solidFill>
              <a:srgbClr val="DEB577"/>
            </a:solidFill>
          </a:ln>
          <a:effectLst/>
        </p:spPr>
        <p:style>
          <a:lnRef idx="2">
            <a:schemeClr val="accent1"/>
          </a:lnRef>
          <a:fillRef idx="0">
            <a:schemeClr val="accent1"/>
          </a:fillRef>
          <a:effectRef idx="0">
            <a:schemeClr val="accent1"/>
          </a:effectRef>
          <a:fontRef idx="minor">
            <a:schemeClr val="tx1"/>
          </a:fontRef>
        </p:style>
      </p:cxnSp>
      <p:sp>
        <p:nvSpPr>
          <p:cNvPr id="587" name="Oval 586"/>
          <p:cNvSpPr/>
          <p:nvPr/>
        </p:nvSpPr>
        <p:spPr>
          <a:xfrm>
            <a:off x="11368918" y="1514544"/>
            <a:ext cx="124358" cy="124358"/>
          </a:xfrm>
          <a:prstGeom prst="ellipse">
            <a:avLst/>
          </a:prstGeom>
          <a:solidFill>
            <a:srgbClr val="DEB5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8" name="Connector 587"/>
          <p:cNvCxnSpPr/>
          <p:nvPr/>
        </p:nvCxnSpPr>
        <p:spPr>
          <a:xfrm>
            <a:off x="10329428" y="4523332"/>
            <a:ext cx="1101669" cy="0"/>
          </a:xfrm>
          <a:prstGeom prst="line">
            <a:avLst/>
          </a:prstGeom>
          <a:ln w="24130">
            <a:solidFill>
              <a:srgbClr val="DEB577"/>
            </a:solidFill>
          </a:ln>
          <a:effectLst/>
        </p:spPr>
        <p:style>
          <a:lnRef idx="2">
            <a:schemeClr val="accent1"/>
          </a:lnRef>
          <a:fillRef idx="0">
            <a:schemeClr val="accent1"/>
          </a:fillRef>
          <a:effectRef idx="0">
            <a:schemeClr val="accent1"/>
          </a:effectRef>
          <a:fontRef idx="minor">
            <a:schemeClr val="tx1"/>
          </a:fontRef>
        </p:style>
      </p:cxnSp>
      <p:sp>
        <p:nvSpPr>
          <p:cNvPr id="589" name="Oval 588"/>
          <p:cNvSpPr/>
          <p:nvPr/>
        </p:nvSpPr>
        <p:spPr>
          <a:xfrm>
            <a:off x="11368918" y="4461153"/>
            <a:ext cx="124358" cy="124358"/>
          </a:xfrm>
          <a:prstGeom prst="ellipse">
            <a:avLst/>
          </a:prstGeom>
          <a:solidFill>
            <a:srgbClr val="DEB5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TextBox 589"/>
          <p:cNvSpPr txBox="1"/>
          <p:nvPr/>
        </p:nvSpPr>
        <p:spPr>
          <a:xfrm>
            <a:off x="5754136" y="5504688"/>
            <a:ext cx="1578620" cy="219456"/>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FB9B2"/>
                </a:solidFill>
                <a:latin typeface="IBM Plex Mono"/>
              </a:rPr>
              <a:t>LITERATURE GRAPH</a:t>
            </a:r>
          </a:p>
        </p:txBody>
      </p:sp>
      <p:sp>
        <p:nvSpPr>
          <p:cNvPr id="591" name="TextBox 590"/>
          <p:cNvSpPr txBox="1"/>
          <p:nvPr/>
        </p:nvSpPr>
        <p:spPr>
          <a:xfrm>
            <a:off x="8061350" y="5504688"/>
            <a:ext cx="1578620" cy="219456"/>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FB9B2"/>
                </a:solidFill>
                <a:latin typeface="IBM Plex Mono"/>
              </a:rPr>
              <a:t>RECURSIVE SESSIONS</a:t>
            </a:r>
          </a:p>
        </p:txBody>
      </p:sp>
      <p:sp>
        <p:nvSpPr>
          <p:cNvPr id="592" name="TextBox 591"/>
          <p:cNvSpPr txBox="1"/>
          <p:nvPr/>
        </p:nvSpPr>
        <p:spPr>
          <a:xfrm>
            <a:off x="10489996" y="5504688"/>
            <a:ext cx="1578620" cy="219456"/>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FB9B2"/>
                </a:solidFill>
                <a:latin typeface="IBM Plex Mono"/>
              </a:rPr>
              <a:t>HUMAN GATE</a:t>
            </a:r>
          </a:p>
        </p:txBody>
      </p:sp>
      <p:sp>
        <p:nvSpPr>
          <p:cNvPr id="593" name="TextBox 592"/>
          <p:cNvSpPr txBox="1"/>
          <p:nvPr/>
        </p:nvSpPr>
        <p:spPr>
          <a:xfrm>
            <a:off x="548640" y="1280160"/>
            <a:ext cx="5212080" cy="1920240"/>
          </a:xfrm>
          <a:prstGeom prst="rect">
            <a:avLst/>
          </a:prstGeom>
          <a:noFill/>
        </p:spPr>
        <p:txBody>
          <a:bodyPr wrap="square" lIns="0" rIns="0" tIns="0" bIns="0" anchor="t">
            <a:noAutofit/>
          </a:bodyPr>
          <a:lstStyle/>
          <a:p>
            <a:pPr algn="l">
              <a:lnSpc>
                <a:spcPct val="108000"/>
              </a:lnSpc>
              <a:spcBef>
                <a:spcPts val="0"/>
              </a:spcBef>
              <a:spcAft>
                <a:spcPts val="0"/>
              </a:spcAft>
            </a:pPr>
            <a:r>
              <a:rPr sz="3400" b="1">
                <a:solidFill>
                  <a:srgbClr val="F1EFE7"/>
                </a:solidFill>
                <a:latin typeface="IBM Plex Sans"/>
              </a:rPr>
              <a:t>Autonomous research</a:t>
            </a:r>
          </a:p>
          <a:p>
            <a:pPr algn="l">
              <a:lnSpc>
                <a:spcPct val="108000"/>
              </a:lnSpc>
              <a:spcBef>
                <a:spcPts val="0"/>
              </a:spcBef>
              <a:spcAft>
                <a:spcPts val="0"/>
              </a:spcAft>
            </a:pPr>
            <a:r>
              <a:rPr sz="3400" b="1">
                <a:solidFill>
                  <a:srgbClr val="F1EFE7"/>
                </a:solidFill>
                <a:latin typeface="IBM Plex Sans"/>
              </a:rPr>
              <a:t>for biological</a:t>
            </a:r>
          </a:p>
          <a:p>
            <a:pPr algn="l">
              <a:lnSpc>
                <a:spcPct val="108000"/>
              </a:lnSpc>
              <a:spcBef>
                <a:spcPts val="0"/>
              </a:spcBef>
              <a:spcAft>
                <a:spcPts val="0"/>
              </a:spcAft>
            </a:pPr>
            <a:r>
              <a:rPr sz="3400" b="1">
                <a:solidFill>
                  <a:srgbClr val="F1EFE7"/>
                </a:solidFill>
                <a:latin typeface="IBM Plex Sans"/>
              </a:rPr>
              <a:t>foresight</a:t>
            </a:r>
          </a:p>
        </p:txBody>
      </p:sp>
      <p:sp>
        <p:nvSpPr>
          <p:cNvPr id="594" name="TextBox 593"/>
          <p:cNvSpPr txBox="1"/>
          <p:nvPr/>
        </p:nvSpPr>
        <p:spPr>
          <a:xfrm>
            <a:off x="576072" y="3675887"/>
            <a:ext cx="4846320" cy="822960"/>
          </a:xfrm>
          <a:prstGeom prst="rect">
            <a:avLst/>
          </a:prstGeom>
          <a:noFill/>
        </p:spPr>
        <p:txBody>
          <a:bodyPr wrap="square" lIns="0" rIns="0" tIns="0" bIns="0" anchor="t">
            <a:noAutofit/>
          </a:bodyPr>
          <a:lstStyle/>
          <a:p>
            <a:pPr algn="l">
              <a:lnSpc>
                <a:spcPct val="108000"/>
              </a:lnSpc>
              <a:spcBef>
                <a:spcPts val="0"/>
              </a:spcBef>
              <a:spcAft>
                <a:spcPts val="0"/>
              </a:spcAft>
            </a:pPr>
            <a:r>
              <a:rPr sz="1900" b="0">
                <a:solidFill>
                  <a:srgbClr val="A6C9B8"/>
                </a:solidFill>
                <a:latin typeface="IBM Plex Sans"/>
              </a:rPr>
              <a:t>Biological breakthroughs can create</a:t>
            </a:r>
          </a:p>
          <a:p>
            <a:pPr algn="l">
              <a:lnSpc>
                <a:spcPct val="108000"/>
              </a:lnSpc>
              <a:spcBef>
                <a:spcPts val="0"/>
              </a:spcBef>
              <a:spcAft>
                <a:spcPts val="0"/>
              </a:spcAft>
            </a:pPr>
            <a:r>
              <a:rPr sz="1900" b="0">
                <a:solidFill>
                  <a:srgbClr val="A6C9B8"/>
                </a:solidFill>
                <a:latin typeface="IBM Plex Sans"/>
              </a:rPr>
              <a:t>unilateral power before defenses adapt.</a:t>
            </a:r>
          </a:p>
        </p:txBody>
      </p:sp>
      <p:sp>
        <p:nvSpPr>
          <p:cNvPr id="595" name="TextBox 594"/>
          <p:cNvSpPr txBox="1"/>
          <p:nvPr/>
        </p:nvSpPr>
        <p:spPr>
          <a:xfrm>
            <a:off x="576072" y="4846320"/>
            <a:ext cx="4937760" cy="822960"/>
          </a:xfrm>
          <a:prstGeom prst="rect">
            <a:avLst/>
          </a:prstGeom>
          <a:noFill/>
        </p:spPr>
        <p:txBody>
          <a:bodyPr wrap="square" lIns="0" rIns="0" tIns="0" bIns="0" anchor="t">
            <a:noAutofit/>
          </a:bodyPr>
          <a:lstStyle/>
          <a:p>
            <a:pPr algn="l">
              <a:lnSpc>
                <a:spcPct val="108000"/>
              </a:lnSpc>
              <a:spcBef>
                <a:spcPts val="0"/>
              </a:spcBef>
              <a:spcAft>
                <a:spcPts val="0"/>
              </a:spcAft>
            </a:pPr>
            <a:r>
              <a:rPr sz="1800" b="0">
                <a:solidFill>
                  <a:srgbClr val="F1EFE7"/>
                </a:solidFill>
                <a:latin typeface="IBM Plex Sans"/>
              </a:rPr>
              <a:t>We connect the literature to executable</a:t>
            </a:r>
          </a:p>
          <a:p>
            <a:pPr algn="l">
              <a:lnSpc>
                <a:spcPct val="108000"/>
              </a:lnSpc>
              <a:spcBef>
                <a:spcPts val="0"/>
              </a:spcBef>
              <a:spcAft>
                <a:spcPts val="0"/>
              </a:spcAft>
            </a:pPr>
            <a:r>
              <a:rPr sz="1800" b="0">
                <a:solidFill>
                  <a:srgbClr val="F1EFE7"/>
                </a:solidFill>
                <a:latin typeface="IBM Plex Sans"/>
              </a:rPr>
              <a:t>experiments and inspectable evidence.</a:t>
            </a:r>
          </a:p>
        </p:txBody>
      </p:sp>
      <p:sp>
        <p:nvSpPr>
          <p:cNvPr id="596" name="TextBox 595"/>
          <p:cNvSpPr txBox="1"/>
          <p:nvPr/>
        </p:nvSpPr>
        <p:spPr>
          <a:xfrm>
            <a:off x="548640" y="6272784"/>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PROTOTYPE  ·  DNHACKS 2026  ·  OPEN CATEGORY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WHY NOW / NATIONAL SECURITY FRAMING</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02</a:t>
            </a:r>
          </a:p>
        </p:txBody>
      </p:sp>
      <p:sp>
        <p:nvSpPr>
          <p:cNvPr id="8" name="TextBox 7"/>
          <p:cNvSpPr txBox="1"/>
          <p:nvPr/>
        </p:nvSpPr>
        <p:spPr>
          <a:xfrm>
            <a:off x="548640" y="950976"/>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400" b="1">
                <a:solidFill>
                  <a:srgbClr val="F1EFE7"/>
                </a:solidFill>
                <a:latin typeface="IBM Plex Sans"/>
              </a:rPr>
              <a:t>AI is accelerating biology.</a:t>
            </a:r>
          </a:p>
          <a:p>
            <a:pPr algn="l">
              <a:lnSpc>
                <a:spcPct val="108000"/>
              </a:lnSpc>
              <a:spcBef>
                <a:spcPts val="0"/>
              </a:spcBef>
              <a:spcAft>
                <a:spcPts val="0"/>
              </a:spcAft>
            </a:pPr>
            <a:r>
              <a:rPr sz="3400" b="1">
                <a:solidFill>
                  <a:srgbClr val="F1EFE7"/>
                </a:solidFill>
                <a:latin typeface="IBM Plex Sans"/>
              </a:rPr>
              <a:t>Defense needs a head start.</a:t>
            </a:r>
          </a:p>
        </p:txBody>
      </p:sp>
      <p:cxnSp>
        <p:nvCxnSpPr>
          <p:cNvPr id="9" name="Connector 8"/>
          <p:cNvCxnSpPr/>
          <p:nvPr/>
        </p:nvCxnSpPr>
        <p:spPr>
          <a:xfrm>
            <a:off x="566928" y="2432304"/>
            <a:ext cx="3438144" cy="0"/>
          </a:xfrm>
          <a:prstGeom prst="line">
            <a:avLst/>
          </a:prstGeom>
          <a:ln w="2032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66928" y="2596896"/>
            <a:ext cx="3383280"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A6C9B8"/>
                </a:solidFill>
                <a:latin typeface="IBM Plex Mono"/>
              </a:rPr>
              <a:t>CAPABILITY</a:t>
            </a:r>
          </a:p>
        </p:txBody>
      </p:sp>
      <p:sp>
        <p:nvSpPr>
          <p:cNvPr id="11" name="TextBox 10"/>
          <p:cNvSpPr txBox="1"/>
          <p:nvPr/>
        </p:nvSpPr>
        <p:spPr>
          <a:xfrm>
            <a:off x="566928" y="2926080"/>
            <a:ext cx="3566160" cy="841248"/>
          </a:xfrm>
          <a:prstGeom prst="rect">
            <a:avLst/>
          </a:prstGeom>
          <a:noFill/>
        </p:spPr>
        <p:txBody>
          <a:bodyPr wrap="square" lIns="0" rIns="0" tIns="0" bIns="0" anchor="t">
            <a:noAutofit/>
          </a:bodyPr>
          <a:lstStyle/>
          <a:p>
            <a:pPr algn="l">
              <a:lnSpc>
                <a:spcPct val="108000"/>
              </a:lnSpc>
              <a:spcBef>
                <a:spcPts val="0"/>
              </a:spcBef>
              <a:spcAft>
                <a:spcPts val="0"/>
              </a:spcAft>
            </a:pPr>
            <a:r>
              <a:rPr sz="4200" b="1">
                <a:solidFill>
                  <a:srgbClr val="F1EFE7"/>
                </a:solidFill>
                <a:latin typeface="IBM Plex Sans"/>
              </a:rPr>
              <a:t>Up to 60%</a:t>
            </a:r>
          </a:p>
        </p:txBody>
      </p:sp>
      <p:sp>
        <p:nvSpPr>
          <p:cNvPr id="12" name="TextBox 11"/>
          <p:cNvSpPr txBox="1"/>
          <p:nvPr/>
        </p:nvSpPr>
        <p:spPr>
          <a:xfrm>
            <a:off x="566928" y="3858768"/>
            <a:ext cx="3401568" cy="1371600"/>
          </a:xfrm>
          <a:prstGeom prst="rect">
            <a:avLst/>
          </a:prstGeom>
          <a:noFill/>
        </p:spPr>
        <p:txBody>
          <a:bodyPr wrap="square" lIns="0" rIns="0" tIns="0" bIns="0" anchor="t">
            <a:noAutofit/>
          </a:bodyPr>
          <a:lstStyle/>
          <a:p>
            <a:pPr algn="l">
              <a:lnSpc>
                <a:spcPct val="108000"/>
              </a:lnSpc>
              <a:spcBef>
                <a:spcPts val="0"/>
              </a:spcBef>
              <a:spcAft>
                <a:spcPts val="0"/>
              </a:spcAft>
            </a:pPr>
            <a:r>
              <a:rPr sz="1550" b="0">
                <a:solidFill>
                  <a:srgbClr val="AFB9B2"/>
                </a:solidFill>
                <a:latin typeface="IBM Plex Sans"/>
              </a:rPr>
              <a:t>above PhD-level baselines on selected biology and chemistry questions.</a:t>
            </a:r>
          </a:p>
        </p:txBody>
      </p:sp>
      <p:sp>
        <p:nvSpPr>
          <p:cNvPr id="13" name="TextBox 12"/>
          <p:cNvSpPr txBox="1"/>
          <p:nvPr/>
        </p:nvSpPr>
        <p:spPr>
          <a:xfrm>
            <a:off x="566928" y="5138928"/>
            <a:ext cx="3419856" cy="274320"/>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6C9B8"/>
                </a:solidFill>
                <a:latin typeface="IBM Plex Mono"/>
              </a:rPr>
              <a:t>AISI · pre-deployment evaluations</a:t>
            </a:r>
          </a:p>
        </p:txBody>
      </p:sp>
      <p:cxnSp>
        <p:nvCxnSpPr>
          <p:cNvPr id="14" name="Connector 13"/>
          <p:cNvCxnSpPr/>
          <p:nvPr/>
        </p:nvCxnSpPr>
        <p:spPr>
          <a:xfrm>
            <a:off x="4343400" y="2432304"/>
            <a:ext cx="3438144" cy="0"/>
          </a:xfrm>
          <a:prstGeom prst="line">
            <a:avLst/>
          </a:prstGeom>
          <a:ln w="20320">
            <a:solidFill>
              <a:srgbClr val="DEB577"/>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4343400" y="2596896"/>
            <a:ext cx="3383280"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DEB577"/>
                </a:solidFill>
                <a:latin typeface="IBM Plex Mono"/>
              </a:rPr>
              <a:t>SAFEGUARDS</a:t>
            </a:r>
          </a:p>
        </p:txBody>
      </p:sp>
      <p:sp>
        <p:nvSpPr>
          <p:cNvPr id="16" name="TextBox 15"/>
          <p:cNvSpPr txBox="1"/>
          <p:nvPr/>
        </p:nvSpPr>
        <p:spPr>
          <a:xfrm>
            <a:off x="4343400" y="2926080"/>
            <a:ext cx="3566160" cy="841248"/>
          </a:xfrm>
          <a:prstGeom prst="rect">
            <a:avLst/>
          </a:prstGeom>
          <a:noFill/>
        </p:spPr>
        <p:txBody>
          <a:bodyPr wrap="square" lIns="0" rIns="0" tIns="0" bIns="0" anchor="t">
            <a:noAutofit/>
          </a:bodyPr>
          <a:lstStyle/>
          <a:p>
            <a:pPr algn="l">
              <a:lnSpc>
                <a:spcPct val="108000"/>
              </a:lnSpc>
              <a:spcBef>
                <a:spcPts val="0"/>
              </a:spcBef>
              <a:spcAft>
                <a:spcPts val="0"/>
              </a:spcAft>
            </a:pPr>
            <a:r>
              <a:rPr sz="4200" b="1">
                <a:solidFill>
                  <a:srgbClr val="F1EFE7"/>
                </a:solidFill>
                <a:latin typeface="IBM Plex Sans"/>
              </a:rPr>
              <a:t>79% → 100%</a:t>
            </a:r>
          </a:p>
        </p:txBody>
      </p:sp>
      <p:sp>
        <p:nvSpPr>
          <p:cNvPr id="17" name="TextBox 16"/>
          <p:cNvSpPr txBox="1"/>
          <p:nvPr/>
        </p:nvSpPr>
        <p:spPr>
          <a:xfrm>
            <a:off x="4343400" y="3858768"/>
            <a:ext cx="3401568" cy="1371600"/>
          </a:xfrm>
          <a:prstGeom prst="rect">
            <a:avLst/>
          </a:prstGeom>
          <a:noFill/>
        </p:spPr>
        <p:txBody>
          <a:bodyPr wrap="square" lIns="0" rIns="0" tIns="0" bIns="0" anchor="t">
            <a:noAutofit/>
          </a:bodyPr>
          <a:lstStyle/>
          <a:p>
            <a:pPr algn="l">
              <a:lnSpc>
                <a:spcPct val="108000"/>
              </a:lnSpc>
              <a:spcBef>
                <a:spcPts val="0"/>
              </a:spcBef>
              <a:spcAft>
                <a:spcPts val="0"/>
              </a:spcAft>
            </a:pPr>
            <a:r>
              <a:rPr sz="1550" b="0">
                <a:solidFill>
                  <a:srgbClr val="AFB9B2"/>
                </a:solidFill>
                <a:latin typeface="IBM Plex Sans"/>
              </a:rPr>
              <a:t>attack success of one published jailbreak template on a 100-item bioweapons query set, against a classifier-guarded frontier model.</a:t>
            </a:r>
          </a:p>
        </p:txBody>
      </p:sp>
      <p:sp>
        <p:nvSpPr>
          <p:cNvPr id="18" name="TextBox 17"/>
          <p:cNvSpPr txBox="1"/>
          <p:nvPr/>
        </p:nvSpPr>
        <p:spPr>
          <a:xfrm>
            <a:off x="4343400" y="5138928"/>
            <a:ext cx="3419856" cy="274320"/>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DEB577"/>
                </a:solidFill>
                <a:latin typeface="IBM Plex Mono"/>
              </a:rPr>
              <a:t>arXiv:2506.24068 · appendix K.1</a:t>
            </a:r>
          </a:p>
        </p:txBody>
      </p:sp>
      <p:cxnSp>
        <p:nvCxnSpPr>
          <p:cNvPr id="19" name="Connector 18"/>
          <p:cNvCxnSpPr/>
          <p:nvPr/>
        </p:nvCxnSpPr>
        <p:spPr>
          <a:xfrm>
            <a:off x="8119871" y="2432304"/>
            <a:ext cx="3438144" cy="0"/>
          </a:xfrm>
          <a:prstGeom prst="line">
            <a:avLst/>
          </a:prstGeom>
          <a:ln w="20320">
            <a:solidFill>
              <a:srgbClr val="D99E99"/>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8119871" y="2596896"/>
            <a:ext cx="3383280" cy="256032"/>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D99E99"/>
                </a:solidFill>
                <a:latin typeface="IBM Plex Mono"/>
              </a:rPr>
              <a:t>THE WINDOW</a:t>
            </a:r>
          </a:p>
        </p:txBody>
      </p:sp>
      <p:sp>
        <p:nvSpPr>
          <p:cNvPr id="21" name="TextBox 20"/>
          <p:cNvSpPr txBox="1"/>
          <p:nvPr/>
        </p:nvSpPr>
        <p:spPr>
          <a:xfrm>
            <a:off x="8119871" y="2926080"/>
            <a:ext cx="3566160" cy="841248"/>
          </a:xfrm>
          <a:prstGeom prst="rect">
            <a:avLst/>
          </a:prstGeom>
          <a:noFill/>
        </p:spPr>
        <p:txBody>
          <a:bodyPr wrap="square" lIns="0" rIns="0" tIns="0" bIns="0" anchor="t">
            <a:noAutofit/>
          </a:bodyPr>
          <a:lstStyle/>
          <a:p>
            <a:pPr algn="l">
              <a:lnSpc>
                <a:spcPct val="108000"/>
              </a:lnSpc>
              <a:spcBef>
                <a:spcPts val="0"/>
              </a:spcBef>
              <a:spcAft>
                <a:spcPts val="0"/>
              </a:spcAft>
            </a:pPr>
            <a:r>
              <a:rPr sz="4200" b="1">
                <a:solidFill>
                  <a:srgbClr val="F1EFE7"/>
                </a:solidFill>
                <a:latin typeface="IBM Plex Sans"/>
              </a:rPr>
              <a:t>3 years</a:t>
            </a:r>
          </a:p>
        </p:txBody>
      </p:sp>
      <p:sp>
        <p:nvSpPr>
          <p:cNvPr id="22" name="TextBox 21"/>
          <p:cNvSpPr txBox="1"/>
          <p:nvPr/>
        </p:nvSpPr>
        <p:spPr>
          <a:xfrm>
            <a:off x="8119871" y="3858768"/>
            <a:ext cx="3401568" cy="1371600"/>
          </a:xfrm>
          <a:prstGeom prst="rect">
            <a:avLst/>
          </a:prstGeom>
          <a:noFill/>
        </p:spPr>
        <p:txBody>
          <a:bodyPr wrap="square" lIns="0" rIns="0" tIns="0" bIns="0" anchor="t">
            <a:noAutofit/>
          </a:bodyPr>
          <a:lstStyle/>
          <a:p>
            <a:pPr algn="l">
              <a:lnSpc>
                <a:spcPct val="108000"/>
              </a:lnSpc>
              <a:spcBef>
                <a:spcPts val="0"/>
              </a:spcBef>
              <a:spcAft>
                <a:spcPts val="0"/>
              </a:spcAft>
            </a:pPr>
            <a:r>
              <a:rPr sz="1550" b="0">
                <a:solidFill>
                  <a:srgbClr val="AFB9B2"/>
                </a:solidFill>
                <a:latin typeface="IBM Plex Sans"/>
              </a:rPr>
              <a:t>the window Congress’s biotechnology commission gives the United States to hold, or regain, the lead.</a:t>
            </a:r>
          </a:p>
        </p:txBody>
      </p:sp>
      <p:sp>
        <p:nvSpPr>
          <p:cNvPr id="23" name="TextBox 22"/>
          <p:cNvSpPr txBox="1"/>
          <p:nvPr/>
        </p:nvSpPr>
        <p:spPr>
          <a:xfrm>
            <a:off x="8119871" y="5138928"/>
            <a:ext cx="3419856" cy="274320"/>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D99E99"/>
                </a:solidFill>
                <a:latin typeface="IBM Plex Mono"/>
              </a:rPr>
              <a:t>NSCEB action plan · April 2025</a:t>
            </a:r>
          </a:p>
        </p:txBody>
      </p:sp>
      <p:cxnSp>
        <p:nvCxnSpPr>
          <p:cNvPr id="24" name="Connector 23"/>
          <p:cNvCxnSpPr/>
          <p:nvPr/>
        </p:nvCxnSpPr>
        <p:spPr>
          <a:xfrm>
            <a:off x="548640" y="5468112"/>
            <a:ext cx="11091672"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576072" y="5596128"/>
            <a:ext cx="7589520" cy="694944"/>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“The United States tends to play catch-up after critical</a:t>
            </a:r>
          </a:p>
          <a:p>
            <a:pPr algn="l">
              <a:lnSpc>
                <a:spcPct val="108000"/>
              </a:lnSpc>
              <a:spcBef>
                <a:spcPts val="0"/>
              </a:spcBef>
              <a:spcAft>
                <a:spcPts val="0"/>
              </a:spcAft>
            </a:pPr>
            <a:r>
              <a:rPr sz="1700" b="1">
                <a:solidFill>
                  <a:srgbClr val="F1EFE7"/>
                </a:solidFill>
                <a:latin typeface="IBM Plex Sans"/>
              </a:rPr>
              <a:t>technologies have already become mainstream.”</a:t>
            </a:r>
          </a:p>
        </p:txBody>
      </p:sp>
      <p:sp>
        <p:nvSpPr>
          <p:cNvPr id="26" name="TextBox 25"/>
          <p:cNvSpPr txBox="1"/>
          <p:nvPr/>
        </p:nvSpPr>
        <p:spPr>
          <a:xfrm>
            <a:off x="8686800" y="5632704"/>
            <a:ext cx="2926080" cy="603504"/>
          </a:xfrm>
          <a:prstGeom prst="rect">
            <a:avLst/>
          </a:prstGeom>
          <a:noFill/>
        </p:spPr>
        <p:txBody>
          <a:bodyPr wrap="square" lIns="0" rIns="0" tIns="0" bIns="0" anchor="t">
            <a:noAutofit/>
          </a:bodyPr>
          <a:lstStyle/>
          <a:p>
            <a:pPr algn="l">
              <a:lnSpc>
                <a:spcPct val="108000"/>
              </a:lnSpc>
              <a:spcBef>
                <a:spcPts val="0"/>
              </a:spcBef>
              <a:spcAft>
                <a:spcPts val="0"/>
              </a:spcAft>
            </a:pPr>
            <a:r>
              <a:rPr sz="1100" b="0">
                <a:solidFill>
                  <a:srgbClr val="A6C9B8"/>
                </a:solidFill>
                <a:latin typeface="IBM Plex Mono"/>
              </a:rPr>
              <a:t>NSCEB</a:t>
            </a:r>
          </a:p>
          <a:p>
            <a:pPr algn="l">
              <a:lnSpc>
                <a:spcPct val="108000"/>
              </a:lnSpc>
              <a:spcBef>
                <a:spcPts val="0"/>
              </a:spcBef>
              <a:spcAft>
                <a:spcPts val="0"/>
              </a:spcAft>
            </a:pPr>
            <a:r>
              <a:rPr sz="1100" b="0">
                <a:solidFill>
                  <a:srgbClr val="A6C9B8"/>
                </a:solidFill>
                <a:latin typeface="IBM Plex Mono"/>
              </a:rPr>
              <a:t>2025 FINAL REPORT · §1.3</a:t>
            </a:r>
          </a:p>
        </p:txBody>
      </p:sp>
      <p:sp>
        <p:nvSpPr>
          <p:cNvPr id="27" name="TextBox 26"/>
          <p:cNvSpPr txBox="1"/>
          <p:nvPr/>
        </p:nvSpPr>
        <p:spPr>
          <a:xfrm>
            <a:off x="548640" y="6272784"/>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PUBLIC SOURCES · The jailbreak template reached 100% once the queries were rephrased. Quoted from cited public evaluations; our engine has not been used for threat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THE SYSTEM / HIGH-LEVEL</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03</a:t>
            </a:r>
          </a:p>
        </p:txBody>
      </p:sp>
      <p:sp>
        <p:nvSpPr>
          <p:cNvPr id="8" name="TextBox 7"/>
          <p:cNvSpPr txBox="1"/>
          <p:nvPr/>
        </p:nvSpPr>
        <p:spPr>
          <a:xfrm>
            <a:off x="548640" y="950976"/>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400" b="1">
                <a:solidFill>
                  <a:srgbClr val="F1EFE7"/>
                </a:solidFill>
                <a:latin typeface="IBM Plex Sans"/>
              </a:rPr>
              <a:t>A claim graph aims the compute.</a:t>
            </a:r>
          </a:p>
          <a:p>
            <a:pPr algn="l">
              <a:lnSpc>
                <a:spcPct val="108000"/>
              </a:lnSpc>
              <a:spcBef>
                <a:spcPts val="0"/>
              </a:spcBef>
              <a:spcAft>
                <a:spcPts val="0"/>
              </a:spcAft>
            </a:pPr>
            <a:r>
              <a:rPr sz="3400" b="1">
                <a:solidFill>
                  <a:srgbClr val="F1EFE7"/>
                </a:solidFill>
                <a:latin typeface="IBM Plex Sans"/>
              </a:rPr>
              <a:t>A floor, then a person, decides.</a:t>
            </a:r>
          </a:p>
        </p:txBody>
      </p:sp>
      <p:sp>
        <p:nvSpPr>
          <p:cNvPr id="9" name="Oval 8"/>
          <p:cNvSpPr/>
          <p:nvPr/>
        </p:nvSpPr>
        <p:spPr>
          <a:xfrm>
            <a:off x="623620" y="3055924"/>
            <a:ext cx="142646" cy="142646"/>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 name="Connector 9"/>
          <p:cNvCxnSpPr/>
          <p:nvPr/>
        </p:nvCxnSpPr>
        <p:spPr>
          <a:xfrm>
            <a:off x="832104" y="3127248"/>
            <a:ext cx="1929384" cy="0"/>
          </a:xfrm>
          <a:prstGeom prst="line">
            <a:avLst/>
          </a:prstGeom>
          <a:ln w="25400">
            <a:solidFill>
              <a:srgbClr val="3A4944"/>
            </a:solidFill>
            <a:tailEnd type="triangle"/>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03504" y="2633472"/>
            <a:ext cx="196596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6C9B8"/>
                </a:solidFill>
                <a:latin typeface="IBM Plex Mono"/>
              </a:rPr>
              <a:t>01</a:t>
            </a:r>
          </a:p>
        </p:txBody>
      </p:sp>
      <p:sp>
        <p:nvSpPr>
          <p:cNvPr id="12" name="TextBox 11"/>
          <p:cNvSpPr txBox="1"/>
          <p:nvPr/>
        </p:nvSpPr>
        <p:spPr>
          <a:xfrm>
            <a:off x="603504" y="3474720"/>
            <a:ext cx="2011680" cy="530352"/>
          </a:xfrm>
          <a:prstGeom prst="rect">
            <a:avLst/>
          </a:prstGeom>
          <a:noFill/>
        </p:spPr>
        <p:txBody>
          <a:bodyPr wrap="square" lIns="0" rIns="0" tIns="0" bIns="0" anchor="t">
            <a:noAutofit/>
          </a:bodyPr>
          <a:lstStyle/>
          <a:p>
            <a:pPr algn="l">
              <a:lnSpc>
                <a:spcPct val="108000"/>
              </a:lnSpc>
              <a:spcBef>
                <a:spcPts val="0"/>
              </a:spcBef>
              <a:spcAft>
                <a:spcPts val="0"/>
              </a:spcAft>
            </a:pPr>
            <a:r>
              <a:rPr sz="2600" b="1">
                <a:solidFill>
                  <a:srgbClr val="F1EFE7"/>
                </a:solidFill>
                <a:latin typeface="IBM Plex Sans"/>
              </a:rPr>
              <a:t>Read</a:t>
            </a:r>
          </a:p>
        </p:txBody>
      </p:sp>
      <p:sp>
        <p:nvSpPr>
          <p:cNvPr id="13" name="TextBox 12"/>
          <p:cNvSpPr txBox="1"/>
          <p:nvPr/>
        </p:nvSpPr>
        <p:spPr>
          <a:xfrm>
            <a:off x="603504" y="4206240"/>
            <a:ext cx="2048256" cy="1097280"/>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Open-access full text becomes typed claim rows.</a:t>
            </a:r>
          </a:p>
        </p:txBody>
      </p:sp>
      <p:sp>
        <p:nvSpPr>
          <p:cNvPr id="14" name="Oval 13"/>
          <p:cNvSpPr/>
          <p:nvPr/>
        </p:nvSpPr>
        <p:spPr>
          <a:xfrm>
            <a:off x="2873044" y="3055924"/>
            <a:ext cx="142646" cy="142646"/>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3081528" y="3127248"/>
            <a:ext cx="1929384" cy="0"/>
          </a:xfrm>
          <a:prstGeom prst="line">
            <a:avLst/>
          </a:prstGeom>
          <a:ln w="25400">
            <a:solidFill>
              <a:srgbClr val="3A4944"/>
            </a:solidFill>
            <a:tailEnd type="triangle"/>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852928" y="2633472"/>
            <a:ext cx="196596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6C9B8"/>
                </a:solidFill>
                <a:latin typeface="IBM Plex Mono"/>
              </a:rPr>
              <a:t>02</a:t>
            </a:r>
          </a:p>
        </p:txBody>
      </p:sp>
      <p:sp>
        <p:nvSpPr>
          <p:cNvPr id="17" name="TextBox 16"/>
          <p:cNvSpPr txBox="1"/>
          <p:nvPr/>
        </p:nvSpPr>
        <p:spPr>
          <a:xfrm>
            <a:off x="2852928" y="3474720"/>
            <a:ext cx="2011680" cy="530352"/>
          </a:xfrm>
          <a:prstGeom prst="rect">
            <a:avLst/>
          </a:prstGeom>
          <a:noFill/>
        </p:spPr>
        <p:txBody>
          <a:bodyPr wrap="square" lIns="0" rIns="0" tIns="0" bIns="0" anchor="t">
            <a:noAutofit/>
          </a:bodyPr>
          <a:lstStyle/>
          <a:p>
            <a:pPr algn="l">
              <a:lnSpc>
                <a:spcPct val="108000"/>
              </a:lnSpc>
              <a:spcBef>
                <a:spcPts val="0"/>
              </a:spcBef>
              <a:spcAft>
                <a:spcPts val="0"/>
              </a:spcAft>
            </a:pPr>
            <a:r>
              <a:rPr sz="2600" b="1">
                <a:solidFill>
                  <a:srgbClr val="F1EFE7"/>
                </a:solidFill>
                <a:latin typeface="IBM Plex Sans"/>
              </a:rPr>
              <a:t>Connect</a:t>
            </a:r>
          </a:p>
        </p:txBody>
      </p:sp>
      <p:sp>
        <p:nvSpPr>
          <p:cNvPr id="18" name="TextBox 17"/>
          <p:cNvSpPr txBox="1"/>
          <p:nvPr/>
        </p:nvSpPr>
        <p:spPr>
          <a:xfrm>
            <a:off x="2852928" y="4206240"/>
            <a:ext cx="2048256" cy="1097280"/>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Missing edges between hubs become questions.</a:t>
            </a:r>
          </a:p>
        </p:txBody>
      </p:sp>
      <p:sp>
        <p:nvSpPr>
          <p:cNvPr id="19" name="Oval 18"/>
          <p:cNvSpPr/>
          <p:nvPr/>
        </p:nvSpPr>
        <p:spPr>
          <a:xfrm>
            <a:off x="5122468" y="3055924"/>
            <a:ext cx="142646" cy="142646"/>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5330952" y="3127248"/>
            <a:ext cx="1929384" cy="0"/>
          </a:xfrm>
          <a:prstGeom prst="line">
            <a:avLst/>
          </a:prstGeom>
          <a:ln w="25400">
            <a:solidFill>
              <a:srgbClr val="3A4944"/>
            </a:solidFill>
            <a:tailEnd type="triangle"/>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5102352" y="2633472"/>
            <a:ext cx="196596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6C9B8"/>
                </a:solidFill>
                <a:latin typeface="IBM Plex Mono"/>
              </a:rPr>
              <a:t>03</a:t>
            </a:r>
          </a:p>
        </p:txBody>
      </p:sp>
      <p:sp>
        <p:nvSpPr>
          <p:cNvPr id="22" name="TextBox 21"/>
          <p:cNvSpPr txBox="1"/>
          <p:nvPr/>
        </p:nvSpPr>
        <p:spPr>
          <a:xfrm>
            <a:off x="5102352" y="3474720"/>
            <a:ext cx="2011680" cy="530352"/>
          </a:xfrm>
          <a:prstGeom prst="rect">
            <a:avLst/>
          </a:prstGeom>
          <a:noFill/>
        </p:spPr>
        <p:txBody>
          <a:bodyPr wrap="square" lIns="0" rIns="0" tIns="0" bIns="0" anchor="t">
            <a:noAutofit/>
          </a:bodyPr>
          <a:lstStyle/>
          <a:p>
            <a:pPr algn="l">
              <a:lnSpc>
                <a:spcPct val="108000"/>
              </a:lnSpc>
              <a:spcBef>
                <a:spcPts val="0"/>
              </a:spcBef>
              <a:spcAft>
                <a:spcPts val="0"/>
              </a:spcAft>
            </a:pPr>
            <a:r>
              <a:rPr sz="2600" b="1">
                <a:solidFill>
                  <a:srgbClr val="F1EFE7"/>
                </a:solidFill>
                <a:latin typeface="IBM Plex Sans"/>
              </a:rPr>
              <a:t>Execute</a:t>
            </a:r>
          </a:p>
        </p:txBody>
      </p:sp>
      <p:sp>
        <p:nvSpPr>
          <p:cNvPr id="23" name="TextBox 22"/>
          <p:cNvSpPr txBox="1"/>
          <p:nvPr/>
        </p:nvSpPr>
        <p:spPr>
          <a:xfrm>
            <a:off x="5102352" y="4206240"/>
            <a:ext cx="2048256" cy="1097280"/>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Agents write and run code against real data.</a:t>
            </a:r>
          </a:p>
        </p:txBody>
      </p:sp>
      <p:sp>
        <p:nvSpPr>
          <p:cNvPr id="24" name="Oval 23"/>
          <p:cNvSpPr/>
          <p:nvPr/>
        </p:nvSpPr>
        <p:spPr>
          <a:xfrm>
            <a:off x="7371892" y="3055924"/>
            <a:ext cx="142646" cy="142646"/>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7580375" y="3127248"/>
            <a:ext cx="1929384" cy="0"/>
          </a:xfrm>
          <a:prstGeom prst="line">
            <a:avLst/>
          </a:prstGeom>
          <a:ln w="25400">
            <a:solidFill>
              <a:srgbClr val="3A4944"/>
            </a:solidFill>
            <a:tailEnd type="triangle"/>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351775" y="2633472"/>
            <a:ext cx="196596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6C9B8"/>
                </a:solidFill>
                <a:latin typeface="IBM Plex Mono"/>
              </a:rPr>
              <a:t>04</a:t>
            </a:r>
          </a:p>
        </p:txBody>
      </p:sp>
      <p:sp>
        <p:nvSpPr>
          <p:cNvPr id="27" name="TextBox 26"/>
          <p:cNvSpPr txBox="1"/>
          <p:nvPr/>
        </p:nvSpPr>
        <p:spPr>
          <a:xfrm>
            <a:off x="7351775" y="3474720"/>
            <a:ext cx="2011680" cy="530352"/>
          </a:xfrm>
          <a:prstGeom prst="rect">
            <a:avLst/>
          </a:prstGeom>
          <a:noFill/>
        </p:spPr>
        <p:txBody>
          <a:bodyPr wrap="square" lIns="0" rIns="0" tIns="0" bIns="0" anchor="t">
            <a:noAutofit/>
          </a:bodyPr>
          <a:lstStyle/>
          <a:p>
            <a:pPr algn="l">
              <a:lnSpc>
                <a:spcPct val="108000"/>
              </a:lnSpc>
              <a:spcBef>
                <a:spcPts val="0"/>
              </a:spcBef>
              <a:spcAft>
                <a:spcPts val="0"/>
              </a:spcAft>
            </a:pPr>
            <a:r>
              <a:rPr sz="2600" b="1">
                <a:solidFill>
                  <a:srgbClr val="F1EFE7"/>
                </a:solidFill>
                <a:latin typeface="IBM Plex Sans"/>
              </a:rPr>
              <a:t>Challenge</a:t>
            </a:r>
          </a:p>
        </p:txBody>
      </p:sp>
      <p:sp>
        <p:nvSpPr>
          <p:cNvPr id="28" name="TextBox 27"/>
          <p:cNvSpPr txBox="1"/>
          <p:nvPr/>
        </p:nvSpPr>
        <p:spPr>
          <a:xfrm>
            <a:off x="7351775" y="4206240"/>
            <a:ext cx="2048256" cy="1097280"/>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Typed checks, comparators and recorded artifacts.</a:t>
            </a:r>
          </a:p>
        </p:txBody>
      </p:sp>
      <p:sp>
        <p:nvSpPr>
          <p:cNvPr id="29" name="Oval 28"/>
          <p:cNvSpPr/>
          <p:nvPr/>
        </p:nvSpPr>
        <p:spPr>
          <a:xfrm>
            <a:off x="9621316" y="3055924"/>
            <a:ext cx="142646" cy="142646"/>
          </a:xfrm>
          <a:prstGeom prst="ellipse">
            <a:avLst/>
          </a:prstGeom>
          <a:solidFill>
            <a:srgbClr val="DEB5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9601200" y="2633472"/>
            <a:ext cx="196596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DEB577"/>
                </a:solidFill>
                <a:latin typeface="IBM Plex Mono"/>
              </a:rPr>
              <a:t>05</a:t>
            </a:r>
          </a:p>
        </p:txBody>
      </p:sp>
      <p:sp>
        <p:nvSpPr>
          <p:cNvPr id="31" name="TextBox 30"/>
          <p:cNvSpPr txBox="1"/>
          <p:nvPr/>
        </p:nvSpPr>
        <p:spPr>
          <a:xfrm>
            <a:off x="9601200" y="3474720"/>
            <a:ext cx="2011680" cy="530352"/>
          </a:xfrm>
          <a:prstGeom prst="rect">
            <a:avLst/>
          </a:prstGeom>
          <a:noFill/>
        </p:spPr>
        <p:txBody>
          <a:bodyPr wrap="square" lIns="0" rIns="0" tIns="0" bIns="0" anchor="t">
            <a:noAutofit/>
          </a:bodyPr>
          <a:lstStyle/>
          <a:p>
            <a:pPr algn="l">
              <a:lnSpc>
                <a:spcPct val="108000"/>
              </a:lnSpc>
              <a:spcBef>
                <a:spcPts val="0"/>
              </a:spcBef>
              <a:spcAft>
                <a:spcPts val="0"/>
              </a:spcAft>
            </a:pPr>
            <a:r>
              <a:rPr sz="2600" b="1">
                <a:solidFill>
                  <a:srgbClr val="F1EFE7"/>
                </a:solidFill>
                <a:latin typeface="IBM Plex Sans"/>
              </a:rPr>
              <a:t>Review</a:t>
            </a:r>
          </a:p>
        </p:txBody>
      </p:sp>
      <p:sp>
        <p:nvSpPr>
          <p:cNvPr id="32" name="TextBox 31"/>
          <p:cNvSpPr txBox="1"/>
          <p:nvPr/>
        </p:nvSpPr>
        <p:spPr>
          <a:xfrm>
            <a:off x="9601200" y="4206240"/>
            <a:ext cx="2048256" cy="1097280"/>
          </a:xfrm>
          <a:prstGeom prst="rect">
            <a:avLst/>
          </a:prstGeom>
          <a:noFill/>
        </p:spPr>
        <p:txBody>
          <a:bodyPr wrap="square" lIns="0" rIns="0" tIns="0" bIns="0" anchor="t">
            <a:noAutofit/>
          </a:bodyPr>
          <a:lstStyle/>
          <a:p>
            <a:pPr algn="l">
              <a:lnSpc>
                <a:spcPct val="108000"/>
              </a:lnSpc>
              <a:spcBef>
                <a:spcPts val="0"/>
              </a:spcBef>
              <a:spcAft>
                <a:spcPts val="0"/>
              </a:spcAft>
            </a:pPr>
            <a:r>
              <a:rPr sz="1700" b="0">
                <a:solidFill>
                  <a:srgbClr val="AFB9B2"/>
                </a:solidFill>
                <a:latin typeface="IBM Plex Sans"/>
              </a:rPr>
              <a:t>A named person accepts, with a written note.</a:t>
            </a:r>
          </a:p>
        </p:txBody>
      </p:sp>
      <p:cxnSp>
        <p:nvCxnSpPr>
          <p:cNvPr id="33" name="Connector 32"/>
          <p:cNvCxnSpPr/>
          <p:nvPr/>
        </p:nvCxnSpPr>
        <p:spPr>
          <a:xfrm>
            <a:off x="548640" y="5431536"/>
            <a:ext cx="11091672"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566928" y="5559552"/>
            <a:ext cx="274320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PAPERS → IDENTIFIERS</a:t>
            </a:r>
          </a:p>
        </p:txBody>
      </p:sp>
      <p:sp>
        <p:nvSpPr>
          <p:cNvPr id="35" name="TextBox 34"/>
          <p:cNvSpPr txBox="1"/>
          <p:nvPr/>
        </p:nvSpPr>
        <p:spPr>
          <a:xfrm>
            <a:off x="566928" y="5833872"/>
            <a:ext cx="2743200" cy="292608"/>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AFB9B2"/>
                </a:solidFill>
                <a:latin typeface="IBM Plex Sans"/>
              </a:rPr>
              <a:t>no free text in an identity</a:t>
            </a:r>
          </a:p>
        </p:txBody>
      </p:sp>
      <p:sp>
        <p:nvSpPr>
          <p:cNvPr id="36" name="TextBox 35"/>
          <p:cNvSpPr txBox="1"/>
          <p:nvPr/>
        </p:nvSpPr>
        <p:spPr>
          <a:xfrm>
            <a:off x="3392424" y="5559552"/>
            <a:ext cx="274320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18 ACTIONS / CHECKPOINT</a:t>
            </a:r>
          </a:p>
        </p:txBody>
      </p:sp>
      <p:sp>
        <p:nvSpPr>
          <p:cNvPr id="37" name="TextBox 36"/>
          <p:cNvSpPr txBox="1"/>
          <p:nvPr/>
        </p:nvSpPr>
        <p:spPr>
          <a:xfrm>
            <a:off x="3392424" y="5833872"/>
            <a:ext cx="2743200" cy="292608"/>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AFB9B2"/>
                </a:solidFill>
                <a:latin typeface="IBM Plex Sans"/>
              </a:rPr>
              <a:t>the parent allocates the next round</a:t>
            </a:r>
          </a:p>
        </p:txBody>
      </p:sp>
      <p:sp>
        <p:nvSpPr>
          <p:cNvPr id="38" name="TextBox 37"/>
          <p:cNvSpPr txBox="1"/>
          <p:nvPr/>
        </p:nvSpPr>
        <p:spPr>
          <a:xfrm>
            <a:off x="6217920" y="5559552"/>
            <a:ext cx="274320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2,880 ACTIONS / TREE</a:t>
            </a:r>
          </a:p>
        </p:txBody>
      </p:sp>
      <p:sp>
        <p:nvSpPr>
          <p:cNvPr id="39" name="TextBox 38"/>
          <p:cNvSpPr txBox="1"/>
          <p:nvPr/>
        </p:nvSpPr>
        <p:spPr>
          <a:xfrm>
            <a:off x="6217920" y="5833872"/>
            <a:ext cx="2743200" cy="292608"/>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AFB9B2"/>
                </a:solidFill>
                <a:latin typeface="IBM Plex Sans"/>
              </a:rPr>
              <a:t>one frozen budget, counted in actions</a:t>
            </a:r>
          </a:p>
        </p:txBody>
      </p:sp>
      <p:sp>
        <p:nvSpPr>
          <p:cNvPr id="40" name="TextBox 39"/>
          <p:cNvSpPr txBox="1"/>
          <p:nvPr/>
        </p:nvSpPr>
        <p:spPr>
          <a:xfrm>
            <a:off x="9043415" y="5559552"/>
            <a:ext cx="274320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MASTER GRAPH</a:t>
            </a:r>
          </a:p>
        </p:txBody>
      </p:sp>
      <p:sp>
        <p:nvSpPr>
          <p:cNvPr id="41" name="TextBox 40"/>
          <p:cNvSpPr txBox="1"/>
          <p:nvPr/>
        </p:nvSpPr>
        <p:spPr>
          <a:xfrm>
            <a:off x="9043415" y="5833872"/>
            <a:ext cx="2743200" cy="292608"/>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AFB9B2"/>
                </a:solidFill>
                <a:latin typeface="IBM Plex Sans"/>
              </a:rPr>
              <a:t>never entered without a person</a:t>
            </a:r>
          </a:p>
        </p:txBody>
      </p:sp>
      <p:sp>
        <p:nvSpPr>
          <p:cNvPr id="42" name="TextBox 41"/>
          <p:cNvSpPr txBox="1"/>
          <p:nvPr/>
        </p:nvSpPr>
        <p:spPr>
          <a:xfrm>
            <a:off x="548640" y="6272784"/>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IMPLEMENTED · Source-linked claims, recursive sessions, soundness floor and human gate all run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KNOWLEDGE GRAPH / TWO-VIEW STRUCTURE</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04</a:t>
            </a:r>
          </a:p>
        </p:txBody>
      </p:sp>
      <p:sp>
        <p:nvSpPr>
          <p:cNvPr id="8" name="TextBox 7"/>
          <p:cNvSpPr txBox="1"/>
          <p:nvPr/>
        </p:nvSpPr>
        <p:spPr>
          <a:xfrm>
            <a:off x="548640" y="932688"/>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Papers become rows a computer can argue with.</a:t>
            </a:r>
          </a:p>
        </p:txBody>
      </p:sp>
      <p:sp>
        <p:nvSpPr>
          <p:cNvPr id="9" name="Rectangle 8"/>
          <p:cNvSpPr/>
          <p:nvPr/>
        </p:nvSpPr>
        <p:spPr>
          <a:xfrm>
            <a:off x="566928" y="1700784"/>
            <a:ext cx="1810512" cy="804672"/>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94944" y="1801368"/>
            <a:ext cx="1645920" cy="201168"/>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6C9B8"/>
                </a:solidFill>
                <a:latin typeface="IBM Plex Mono"/>
              </a:rPr>
              <a:t>SUBJECT</a:t>
            </a:r>
          </a:p>
        </p:txBody>
      </p:sp>
      <p:sp>
        <p:nvSpPr>
          <p:cNvPr id="11" name="TextBox 10"/>
          <p:cNvSpPr txBox="1"/>
          <p:nvPr/>
        </p:nvSpPr>
        <p:spPr>
          <a:xfrm>
            <a:off x="694944" y="2020824"/>
            <a:ext cx="1645920" cy="31089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SMAD4</a:t>
            </a:r>
          </a:p>
        </p:txBody>
      </p:sp>
      <p:sp>
        <p:nvSpPr>
          <p:cNvPr id="12" name="TextBox 11"/>
          <p:cNvSpPr txBox="1"/>
          <p:nvPr/>
        </p:nvSpPr>
        <p:spPr>
          <a:xfrm>
            <a:off x="694944" y="2286000"/>
            <a:ext cx="1682496" cy="20116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HGNC:6770</a:t>
            </a:r>
          </a:p>
        </p:txBody>
      </p:sp>
      <p:sp>
        <p:nvSpPr>
          <p:cNvPr id="13" name="Rectangle 12"/>
          <p:cNvSpPr/>
          <p:nvPr/>
        </p:nvSpPr>
        <p:spPr>
          <a:xfrm>
            <a:off x="2542032" y="1700784"/>
            <a:ext cx="1810512" cy="804672"/>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2670048" y="1801368"/>
            <a:ext cx="1645920" cy="201168"/>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6C9B8"/>
                </a:solidFill>
                <a:latin typeface="IBM Plex Mono"/>
              </a:rPr>
              <a:t>PREDICATE</a:t>
            </a:r>
          </a:p>
        </p:txBody>
      </p:sp>
      <p:sp>
        <p:nvSpPr>
          <p:cNvPr id="15" name="TextBox 14"/>
          <p:cNvSpPr txBox="1"/>
          <p:nvPr/>
        </p:nvSpPr>
        <p:spPr>
          <a:xfrm>
            <a:off x="2670048" y="2020824"/>
            <a:ext cx="1645920" cy="31089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increases</a:t>
            </a:r>
          </a:p>
        </p:txBody>
      </p:sp>
      <p:sp>
        <p:nvSpPr>
          <p:cNvPr id="16" name="TextBox 15"/>
          <p:cNvSpPr txBox="1"/>
          <p:nvPr/>
        </p:nvSpPr>
        <p:spPr>
          <a:xfrm>
            <a:off x="2670048" y="2286000"/>
            <a:ext cx="1682496" cy="20116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closed set</a:t>
            </a:r>
          </a:p>
        </p:txBody>
      </p:sp>
      <p:sp>
        <p:nvSpPr>
          <p:cNvPr id="17" name="Rectangle 16"/>
          <p:cNvSpPr/>
          <p:nvPr/>
        </p:nvSpPr>
        <p:spPr>
          <a:xfrm>
            <a:off x="4517136" y="1700784"/>
            <a:ext cx="1810512" cy="804672"/>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45152" y="1801368"/>
            <a:ext cx="1645920" cy="201168"/>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6C9B8"/>
                </a:solidFill>
                <a:latin typeface="IBM Plex Mono"/>
              </a:rPr>
              <a:t>OBJECT</a:t>
            </a:r>
          </a:p>
        </p:txBody>
      </p:sp>
      <p:sp>
        <p:nvSpPr>
          <p:cNvPr id="19" name="TextBox 18"/>
          <p:cNvSpPr txBox="1"/>
          <p:nvPr/>
        </p:nvSpPr>
        <p:spPr>
          <a:xfrm>
            <a:off x="4645152" y="2020824"/>
            <a:ext cx="1645920" cy="31089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metastasis</a:t>
            </a:r>
          </a:p>
        </p:txBody>
      </p:sp>
      <p:sp>
        <p:nvSpPr>
          <p:cNvPr id="20" name="TextBox 19"/>
          <p:cNvSpPr txBox="1"/>
          <p:nvPr/>
        </p:nvSpPr>
        <p:spPr>
          <a:xfrm>
            <a:off x="4645152" y="2286000"/>
            <a:ext cx="1682496" cy="20116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GO:0033627</a:t>
            </a:r>
          </a:p>
        </p:txBody>
      </p:sp>
      <p:sp>
        <p:nvSpPr>
          <p:cNvPr id="21" name="Rectangle 20"/>
          <p:cNvSpPr/>
          <p:nvPr/>
        </p:nvSpPr>
        <p:spPr>
          <a:xfrm>
            <a:off x="6492240" y="1700784"/>
            <a:ext cx="1810512" cy="804672"/>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620256" y="1801368"/>
            <a:ext cx="1645920" cy="201168"/>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6C9B8"/>
                </a:solidFill>
                <a:latin typeface="IBM Plex Mono"/>
              </a:rPr>
              <a:t>ASPECT</a:t>
            </a:r>
          </a:p>
        </p:txBody>
      </p:sp>
      <p:sp>
        <p:nvSpPr>
          <p:cNvPr id="23" name="TextBox 22"/>
          <p:cNvSpPr txBox="1"/>
          <p:nvPr/>
        </p:nvSpPr>
        <p:spPr>
          <a:xfrm>
            <a:off x="6620256" y="2020824"/>
            <a:ext cx="1645920" cy="31089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burden</a:t>
            </a:r>
          </a:p>
        </p:txBody>
      </p:sp>
      <p:sp>
        <p:nvSpPr>
          <p:cNvPr id="24" name="TextBox 23"/>
          <p:cNvSpPr txBox="1"/>
          <p:nvPr/>
        </p:nvSpPr>
        <p:spPr>
          <a:xfrm>
            <a:off x="6620256" y="2286000"/>
            <a:ext cx="1682496" cy="20116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quantity</a:t>
            </a:r>
          </a:p>
        </p:txBody>
      </p:sp>
      <p:sp>
        <p:nvSpPr>
          <p:cNvPr id="25" name="TextBox 24"/>
          <p:cNvSpPr txBox="1"/>
          <p:nvPr/>
        </p:nvSpPr>
        <p:spPr>
          <a:xfrm>
            <a:off x="8540496" y="1737360"/>
            <a:ext cx="3108960" cy="768096"/>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AFB9B2"/>
                </a:solidFill>
                <a:latin typeface="IBM Plex Sans"/>
              </a:rPr>
              <a:t>The model picks from closed menus and quotes the passage. Code grounds every name against fifteen owner vocabularies; anything ungroundable becomes a counted deferral row.</a:t>
            </a:r>
          </a:p>
        </p:txBody>
      </p:sp>
      <p:cxnSp>
        <p:nvCxnSpPr>
          <p:cNvPr id="26" name="Connector 25"/>
          <p:cNvCxnSpPr/>
          <p:nvPr/>
        </p:nvCxnSpPr>
        <p:spPr>
          <a:xfrm>
            <a:off x="548640" y="2706624"/>
            <a:ext cx="11091672"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66928" y="2834640"/>
            <a:ext cx="3657600" cy="219456"/>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AFB9B2"/>
                </a:solidFill>
                <a:latin typeface="IBM Plex Mono"/>
              </a:rPr>
              <a:t>FLAVORGRAPH · SCI REP 11:931 (2021)</a:t>
            </a:r>
          </a:p>
        </p:txBody>
      </p:sp>
      <p:sp>
        <p:nvSpPr>
          <p:cNvPr id="28" name="TextBox 27"/>
          <p:cNvSpPr txBox="1"/>
          <p:nvPr/>
        </p:nvSpPr>
        <p:spPr>
          <a:xfrm>
            <a:off x="566928" y="3108960"/>
            <a:ext cx="3383280" cy="347472"/>
          </a:xfrm>
          <a:prstGeom prst="rect">
            <a:avLst/>
          </a:prstGeom>
          <a:noFill/>
        </p:spPr>
        <p:txBody>
          <a:bodyPr wrap="square" lIns="0" rIns="0" tIns="0" bIns="0" anchor="t">
            <a:noAutofit/>
          </a:bodyPr>
          <a:lstStyle/>
          <a:p>
            <a:pPr algn="l">
              <a:lnSpc>
                <a:spcPct val="108000"/>
              </a:lnSpc>
              <a:spcBef>
                <a:spcPts val="0"/>
              </a:spcBef>
              <a:spcAft>
                <a:spcPts val="0"/>
              </a:spcAft>
            </a:pPr>
            <a:r>
              <a:rPr sz="1900" b="1">
                <a:solidFill>
                  <a:srgbClr val="A6C9B8"/>
                </a:solidFill>
                <a:latin typeface="IBM Plex Sans"/>
              </a:rPr>
              <a:t>Two views, one embedding</a:t>
            </a:r>
          </a:p>
        </p:txBody>
      </p:sp>
      <p:sp>
        <p:nvSpPr>
          <p:cNvPr id="29" name="TextBox 28"/>
          <p:cNvSpPr txBox="1"/>
          <p:nvPr/>
        </p:nvSpPr>
        <p:spPr>
          <a:xfrm>
            <a:off x="566928" y="3547872"/>
            <a:ext cx="3346704" cy="644271"/>
          </a:xfrm>
          <a:prstGeom prst="rect">
            <a:avLst/>
          </a:prstGeom>
          <a:noFill/>
        </p:spPr>
        <p:txBody>
          <a:bodyPr wrap="square" lIns="0" rIns="0" tIns="0" bIns="0" anchor="t">
            <a:noAutofit/>
          </a:bodyPr>
          <a:lstStyle/>
          <a:p>
            <a:pPr algn="l">
              <a:lnSpc>
                <a:spcPct val="108000"/>
              </a:lnSpc>
              <a:spcBef>
                <a:spcPts val="0"/>
              </a:spcBef>
              <a:spcAft>
                <a:spcPts val="0"/>
              </a:spcAft>
            </a:pPr>
            <a:r>
              <a:rPr sz="1450" b="0">
                <a:solidFill>
                  <a:srgbClr val="F1EFE7"/>
                </a:solidFill>
                <a:latin typeface="IBM Plex Sans"/>
              </a:rPr>
              <a:t>Usage: metapath2vec walks over a graph of 1M recipes — what cooks put together.</a:t>
            </a:r>
          </a:p>
        </p:txBody>
      </p:sp>
      <p:sp>
        <p:nvSpPr>
          <p:cNvPr id="30" name="TextBox 29"/>
          <p:cNvSpPr txBox="1"/>
          <p:nvPr/>
        </p:nvSpPr>
        <p:spPr>
          <a:xfrm>
            <a:off x="566928" y="4292727"/>
            <a:ext cx="3346704" cy="441706"/>
          </a:xfrm>
          <a:prstGeom prst="rect">
            <a:avLst/>
          </a:prstGeom>
          <a:noFill/>
        </p:spPr>
        <p:txBody>
          <a:bodyPr wrap="square" lIns="0" rIns="0" tIns="0" bIns="0" anchor="t">
            <a:noAutofit/>
          </a:bodyPr>
          <a:lstStyle/>
          <a:p>
            <a:pPr algn="l">
              <a:lnSpc>
                <a:spcPct val="108000"/>
              </a:lnSpc>
              <a:spcBef>
                <a:spcPts val="0"/>
              </a:spcBef>
              <a:spcAft>
                <a:spcPts val="0"/>
              </a:spcAft>
            </a:pPr>
            <a:r>
              <a:rPr sz="1450" b="0">
                <a:solidFill>
                  <a:srgbClr val="F1EFE7"/>
                </a:solidFill>
                <a:latin typeface="IBM Plex Sans"/>
              </a:rPr>
              <a:t>Meaning: an 881-bit PubChem fingerprint — what an ingredient is.</a:t>
            </a:r>
          </a:p>
        </p:txBody>
      </p:sp>
      <p:sp>
        <p:nvSpPr>
          <p:cNvPr id="31" name="TextBox 30"/>
          <p:cNvSpPr txBox="1"/>
          <p:nvPr/>
        </p:nvSpPr>
        <p:spPr>
          <a:xfrm>
            <a:off x="566928" y="4835017"/>
            <a:ext cx="3346704" cy="1049401"/>
          </a:xfrm>
          <a:prstGeom prst="rect">
            <a:avLst/>
          </a:prstGeom>
          <a:noFill/>
        </p:spPr>
        <p:txBody>
          <a:bodyPr wrap="square" lIns="0" rIns="0" tIns="0" bIns="0" anchor="t">
            <a:noAutofit/>
          </a:bodyPr>
          <a:lstStyle/>
          <a:p>
            <a:pPr algn="l">
              <a:lnSpc>
                <a:spcPct val="108000"/>
              </a:lnSpc>
              <a:spcBef>
                <a:spcPts val="0"/>
              </a:spcBef>
              <a:spcAft>
                <a:spcPts val="0"/>
              </a:spcAft>
            </a:pPr>
            <a:r>
              <a:rPr sz="1450" b="0">
                <a:solidFill>
                  <a:srgbClr val="AFB9B2"/>
                </a:solidFill>
                <a:latin typeface="IBM Plex Sans"/>
              </a:rPr>
              <a:t>The move: chemistry is not a second score. An auxiliary loss makes the embedding reconstruct the fingerprint, so it shapes the 94% with none.</a:t>
            </a:r>
          </a:p>
        </p:txBody>
      </p:sp>
      <p:sp>
        <p:nvSpPr>
          <p:cNvPr id="32" name="TextBox 31"/>
          <p:cNvSpPr txBox="1"/>
          <p:nvPr/>
        </p:nvSpPr>
        <p:spPr>
          <a:xfrm>
            <a:off x="4261104" y="2834640"/>
            <a:ext cx="3657600" cy="219456"/>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AFB9B2"/>
                </a:solidFill>
                <a:latin typeface="IBM Plex Mono"/>
              </a:rPr>
              <a:t>OUR ANALOGUE · litmap/pairing.py</a:t>
            </a:r>
          </a:p>
        </p:txBody>
      </p:sp>
      <p:sp>
        <p:nvSpPr>
          <p:cNvPr id="33" name="TextBox 32"/>
          <p:cNvSpPr txBox="1"/>
          <p:nvPr/>
        </p:nvSpPr>
        <p:spPr>
          <a:xfrm>
            <a:off x="4261104" y="3108960"/>
            <a:ext cx="3474720" cy="347472"/>
          </a:xfrm>
          <a:prstGeom prst="rect">
            <a:avLst/>
          </a:prstGeom>
          <a:noFill/>
        </p:spPr>
        <p:txBody>
          <a:bodyPr wrap="square" lIns="0" rIns="0" tIns="0" bIns="0" anchor="t">
            <a:noAutofit/>
          </a:bodyPr>
          <a:lstStyle/>
          <a:p>
            <a:pPr algn="l">
              <a:lnSpc>
                <a:spcPct val="108000"/>
              </a:lnSpc>
              <a:spcBef>
                <a:spcPts val="0"/>
              </a:spcBef>
              <a:spcAft>
                <a:spcPts val="0"/>
              </a:spcAft>
            </a:pPr>
            <a:r>
              <a:rPr sz="1900" b="1">
                <a:solidFill>
                  <a:srgbClr val="DEB577"/>
                </a:solidFill>
                <a:latin typeface="IBM Plex Sans"/>
              </a:rPr>
              <a:t>Co-occurrence + meaning</a:t>
            </a:r>
          </a:p>
        </p:txBody>
      </p:sp>
      <p:sp>
        <p:nvSpPr>
          <p:cNvPr id="34" name="TextBox 33"/>
          <p:cNvSpPr txBox="1"/>
          <p:nvPr/>
        </p:nvSpPr>
        <p:spPr>
          <a:xfrm>
            <a:off x="4261104" y="3547872"/>
            <a:ext cx="3346704" cy="644271"/>
          </a:xfrm>
          <a:prstGeom prst="rect">
            <a:avLst/>
          </a:prstGeom>
          <a:noFill/>
        </p:spPr>
        <p:txBody>
          <a:bodyPr wrap="square" lIns="0" rIns="0" tIns="0" bIns="0" anchor="t">
            <a:noAutofit/>
          </a:bodyPr>
          <a:lstStyle/>
          <a:p>
            <a:pPr algn="l">
              <a:lnSpc>
                <a:spcPct val="108000"/>
              </a:lnSpc>
              <a:spcBef>
                <a:spcPts val="0"/>
              </a:spcBef>
              <a:spcAft>
                <a:spcPts val="0"/>
              </a:spcAft>
            </a:pPr>
            <a:r>
              <a:rPr sz="1450" b="0">
                <a:solidFill>
                  <a:srgbClr val="F1EFE7"/>
                </a:solidFill>
                <a:latin typeface="IBM Plex Sans"/>
              </a:rPr>
              <a:t>Usage: PPMI over entity co-occurrence in claims — what the field has studied together.</a:t>
            </a:r>
          </a:p>
        </p:txBody>
      </p:sp>
      <p:sp>
        <p:nvSpPr>
          <p:cNvPr id="35" name="TextBox 34"/>
          <p:cNvSpPr txBox="1"/>
          <p:nvPr/>
        </p:nvSpPr>
        <p:spPr>
          <a:xfrm>
            <a:off x="4261104" y="4292727"/>
            <a:ext cx="3346704" cy="644271"/>
          </a:xfrm>
          <a:prstGeom prst="rect">
            <a:avLst/>
          </a:prstGeom>
          <a:noFill/>
        </p:spPr>
        <p:txBody>
          <a:bodyPr wrap="square" lIns="0" rIns="0" tIns="0" bIns="0" anchor="t">
            <a:noAutofit/>
          </a:bodyPr>
          <a:lstStyle/>
          <a:p>
            <a:pPr algn="l">
              <a:lnSpc>
                <a:spcPct val="108000"/>
              </a:lnSpc>
              <a:spcBef>
                <a:spcPts val="0"/>
              </a:spcBef>
              <a:spcAft>
                <a:spcPts val="0"/>
              </a:spcAft>
            </a:pPr>
            <a:r>
              <a:rPr sz="1450" b="0">
                <a:solidFill>
                  <a:srgbClr val="F1EFE7"/>
                </a:solidFill>
                <a:latin typeface="IBM Plex Sans"/>
              </a:rPr>
              <a:t>Meaning: pooled MiniLM vectors of an entity’s claims — what is said about it.</a:t>
            </a:r>
          </a:p>
        </p:txBody>
      </p:sp>
      <p:sp>
        <p:nvSpPr>
          <p:cNvPr id="36" name="TextBox 35"/>
          <p:cNvSpPr txBox="1"/>
          <p:nvPr/>
        </p:nvSpPr>
        <p:spPr>
          <a:xfrm>
            <a:off x="4261104" y="5037582"/>
            <a:ext cx="3346704" cy="1049401"/>
          </a:xfrm>
          <a:prstGeom prst="rect">
            <a:avLst/>
          </a:prstGeom>
          <a:noFill/>
        </p:spPr>
        <p:txBody>
          <a:bodyPr wrap="square" lIns="0" rIns="0" tIns="0" bIns="0" anchor="t">
            <a:noAutofit/>
          </a:bodyPr>
          <a:lstStyle/>
          <a:p>
            <a:pPr algn="l">
              <a:lnSpc>
                <a:spcPct val="108000"/>
              </a:lnSpc>
              <a:spcBef>
                <a:spcPts val="0"/>
              </a:spcBef>
              <a:spcAft>
                <a:spcPts val="0"/>
              </a:spcAft>
            </a:pPr>
            <a:r>
              <a:rPr sz="1450" b="0">
                <a:solidFill>
                  <a:srgbClr val="AFB9B2"/>
                </a:solidFill>
                <a:latin typeface="IBM Plex Sans"/>
              </a:rPr>
              <a:t>One truncated SVD over both, meaning rescaled to the usage norm. High on both, no claim between them = an untested bridge. It ranks; it never asserts.</a:t>
            </a:r>
          </a:p>
        </p:txBody>
      </p:sp>
      <p:pic>
        <p:nvPicPr>
          <p:cNvPr id="37" name="Picture 36" descr="pairing_ours.png"/>
          <p:cNvPicPr>
            <a:picLocks noChangeAspect="1"/>
          </p:cNvPicPr>
          <p:nvPr/>
        </p:nvPicPr>
        <p:blipFill>
          <a:blip r:embed="rId2"/>
          <a:stretch>
            <a:fillRect/>
          </a:stretch>
        </p:blipFill>
        <p:spPr>
          <a:xfrm>
            <a:off x="7991856" y="2850642"/>
            <a:ext cx="3657600" cy="2857500"/>
          </a:xfrm>
          <a:prstGeom prst="rect">
            <a:avLst/>
          </a:prstGeom>
        </p:spPr>
      </p:pic>
      <p:sp>
        <p:nvSpPr>
          <p:cNvPr id="38" name="TextBox 37"/>
          <p:cNvSpPr txBox="1"/>
          <p:nvPr/>
        </p:nvSpPr>
        <p:spPr>
          <a:xfrm>
            <a:off x="548640" y="6254496"/>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MEASURED · Synthetic graph with a known answer, 5 seeds, 25% of edges held out and ranked back against chance. Not yet measured on the PDAC corpus.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RECURSIVE SESSIONS / AGENT ARCHITECTURE</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05</a:t>
            </a:r>
          </a:p>
        </p:txBody>
      </p:sp>
      <p:sp>
        <p:nvSpPr>
          <p:cNvPr id="8" name="TextBox 7"/>
          <p:cNvSpPr txBox="1"/>
          <p:nvPr/>
        </p:nvSpPr>
        <p:spPr>
          <a:xfrm>
            <a:off x="548640" y="950976"/>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One action per turn, and instruments</a:t>
            </a:r>
          </a:p>
          <a:p>
            <a:pPr algn="l">
              <a:lnSpc>
                <a:spcPct val="108000"/>
              </a:lnSpc>
              <a:spcBef>
                <a:spcPts val="0"/>
              </a:spcBef>
              <a:spcAft>
                <a:spcPts val="0"/>
              </a:spcAft>
            </a:pPr>
            <a:r>
              <a:rPr sz="3200" b="1">
                <a:solidFill>
                  <a:srgbClr val="F1EFE7"/>
                </a:solidFill>
                <a:latin typeface="IBM Plex Sans"/>
              </a:rPr>
              <a:t>it has to check itself against.</a:t>
            </a:r>
          </a:p>
        </p:txBody>
      </p:sp>
      <p:cxnSp>
        <p:nvCxnSpPr>
          <p:cNvPr id="9" name="Connector 8"/>
          <p:cNvCxnSpPr/>
          <p:nvPr/>
        </p:nvCxnSpPr>
        <p:spPr>
          <a:xfrm>
            <a:off x="566928" y="2176272"/>
            <a:ext cx="530352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66928" y="2286000"/>
            <a:ext cx="5303520" cy="29565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A6C9B8"/>
                </a:solidFill>
                <a:latin typeface="IBM Plex Sans"/>
              </a:rPr>
              <a:t>One action, then an observation</a:t>
            </a:r>
          </a:p>
        </p:txBody>
      </p:sp>
      <p:sp>
        <p:nvSpPr>
          <p:cNvPr id="11" name="TextBox 10"/>
          <p:cNvSpPr txBox="1"/>
          <p:nvPr/>
        </p:nvSpPr>
        <p:spPr>
          <a:xfrm>
            <a:off x="566928" y="2559050"/>
            <a:ext cx="5303520" cy="420624"/>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The session emits one JSON action. Code executes it and returns the result. No hidden tool loop.</a:t>
            </a:r>
          </a:p>
        </p:txBody>
      </p:sp>
      <p:cxnSp>
        <p:nvCxnSpPr>
          <p:cNvPr id="12" name="Connector 11"/>
          <p:cNvCxnSpPr/>
          <p:nvPr/>
        </p:nvCxnSpPr>
        <p:spPr>
          <a:xfrm>
            <a:off x="566928" y="3162554"/>
            <a:ext cx="530352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566928" y="3272282"/>
            <a:ext cx="5303520" cy="29565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A6C9B8"/>
                </a:solidFill>
                <a:latin typeface="IBM Plex Sans"/>
              </a:rPr>
              <a:t>Children inherit real instruments</a:t>
            </a:r>
          </a:p>
        </p:txBody>
      </p:sp>
      <p:sp>
        <p:nvSpPr>
          <p:cNvPr id="14" name="TextBox 13"/>
          <p:cNvSpPr txBox="1"/>
          <p:nvPr/>
        </p:nvSpPr>
        <p:spPr>
          <a:xfrm>
            <a:off x="566928" y="3545332"/>
            <a:ext cx="5303520" cy="420624"/>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Graph and paper search, dataset lookup, parallel Python, and scoped 3D molecular, binder, tissue and spindle tools.</a:t>
            </a:r>
          </a:p>
        </p:txBody>
      </p:sp>
      <p:cxnSp>
        <p:nvCxnSpPr>
          <p:cNvPr id="15" name="Connector 14"/>
          <p:cNvCxnSpPr/>
          <p:nvPr/>
        </p:nvCxnSpPr>
        <p:spPr>
          <a:xfrm>
            <a:off x="566928" y="4148836"/>
            <a:ext cx="530352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66928" y="4258564"/>
            <a:ext cx="5303520" cy="29565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A6C9B8"/>
                </a:solidFill>
                <a:latin typeface="IBM Plex Sans"/>
              </a:rPr>
              <a:t>Structure enters as an embedding</a:t>
            </a:r>
          </a:p>
        </p:txBody>
      </p:sp>
      <p:sp>
        <p:nvSpPr>
          <p:cNvPr id="17" name="TextBox 16"/>
          <p:cNvSpPr txBox="1"/>
          <p:nvPr/>
        </p:nvSpPr>
        <p:spPr>
          <a:xfrm>
            <a:off x="566928" y="4531614"/>
            <a:ext cx="5303520" cy="420624"/>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Geometry is consumed as vectors beside the claim graph. The render exists so the agent, and a person, can look.</a:t>
            </a:r>
          </a:p>
        </p:txBody>
      </p:sp>
      <p:cxnSp>
        <p:nvCxnSpPr>
          <p:cNvPr id="18" name="Connector 17"/>
          <p:cNvCxnSpPr/>
          <p:nvPr/>
        </p:nvCxnSpPr>
        <p:spPr>
          <a:xfrm>
            <a:off x="566928" y="5135118"/>
            <a:ext cx="530352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566928" y="5244846"/>
            <a:ext cx="5303520" cy="295656"/>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A6C9B8"/>
                </a:solidFill>
                <a:latin typeface="IBM Plex Sans"/>
              </a:rPr>
              <a:t>Nothing is trusted on sight</a:t>
            </a:r>
          </a:p>
        </p:txBody>
      </p:sp>
      <p:sp>
        <p:nvSpPr>
          <p:cNvPr id="20" name="TextBox 19"/>
          <p:cNvSpPr txBox="1"/>
          <p:nvPr/>
        </p:nvSpPr>
        <p:spPr>
          <a:xfrm>
            <a:off x="566928" y="5517896"/>
            <a:ext cx="5303520" cy="420624"/>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Every experiment prints one typed RESULT line. Code screens it; the kill lands on the agent’s memory row.</a:t>
            </a:r>
          </a:p>
        </p:txBody>
      </p:sp>
      <p:sp>
        <p:nvSpPr>
          <p:cNvPr id="21" name="Oval 20"/>
          <p:cNvSpPr/>
          <p:nvPr/>
        </p:nvSpPr>
        <p:spPr>
          <a:xfrm>
            <a:off x="6672193" y="3394252"/>
            <a:ext cx="155448" cy="155448"/>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75597" y="3618280"/>
            <a:ext cx="914400" cy="219456"/>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FB9B2"/>
                </a:solidFill>
                <a:latin typeface="IBM Plex Mono"/>
              </a:rPr>
              <a:t>ROOT</a:t>
            </a:r>
          </a:p>
        </p:txBody>
      </p:sp>
      <p:cxnSp>
        <p:nvCxnSpPr>
          <p:cNvPr id="23" name="Connector 22"/>
          <p:cNvCxnSpPr/>
          <p:nvPr/>
        </p:nvCxnSpPr>
        <p:spPr>
          <a:xfrm flipV="1">
            <a:off x="6749917" y="2862529"/>
            <a:ext cx="786384" cy="609447"/>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7488753" y="2814980"/>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flipV="1">
            <a:off x="7536301" y="2527333"/>
            <a:ext cx="786384" cy="335196"/>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26" name="Oval 25"/>
          <p:cNvSpPr/>
          <p:nvPr/>
        </p:nvSpPr>
        <p:spPr>
          <a:xfrm>
            <a:off x="8275137" y="2479784"/>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flipV="1">
            <a:off x="8322685" y="2342975"/>
            <a:ext cx="786384" cy="184358"/>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28" name="Oval 27"/>
          <p:cNvSpPr/>
          <p:nvPr/>
        </p:nvSpPr>
        <p:spPr>
          <a:xfrm>
            <a:off x="9043233" y="2277138"/>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9" name="Connector 28"/>
          <p:cNvCxnSpPr/>
          <p:nvPr/>
        </p:nvCxnSpPr>
        <p:spPr>
          <a:xfrm>
            <a:off x="8322685" y="2527333"/>
            <a:ext cx="786384" cy="184357"/>
          </a:xfrm>
          <a:prstGeom prst="line">
            <a:avLst/>
          </a:prstGeom>
          <a:ln w="15240">
            <a:solidFill>
              <a:srgbClr val="3F5750"/>
            </a:solidFill>
          </a:ln>
          <a:effectLst/>
        </p:spPr>
        <p:style>
          <a:lnRef idx="2">
            <a:schemeClr val="accent1"/>
          </a:lnRef>
          <a:fillRef idx="0">
            <a:schemeClr val="accent1"/>
          </a:fillRef>
          <a:effectRef idx="0">
            <a:schemeClr val="accent1"/>
          </a:effectRef>
          <a:fontRef idx="minor">
            <a:schemeClr val="tx1"/>
          </a:fontRef>
        </p:style>
      </p:cxnSp>
      <p:sp>
        <p:nvSpPr>
          <p:cNvPr id="30" name="Oval 29"/>
          <p:cNvSpPr/>
          <p:nvPr/>
        </p:nvSpPr>
        <p:spPr>
          <a:xfrm>
            <a:off x="9077065" y="2679686"/>
            <a:ext cx="64008" cy="64008"/>
          </a:xfrm>
          <a:prstGeom prst="ellipse">
            <a:avLst/>
          </a:prstGeom>
          <a:solidFill>
            <a:srgbClr val="3F5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Connector 30"/>
          <p:cNvCxnSpPr/>
          <p:nvPr/>
        </p:nvCxnSpPr>
        <p:spPr>
          <a:xfrm>
            <a:off x="7536301" y="2862529"/>
            <a:ext cx="786384" cy="335196"/>
          </a:xfrm>
          <a:prstGeom prst="line">
            <a:avLst/>
          </a:prstGeom>
          <a:ln w="15240">
            <a:solidFill>
              <a:srgbClr val="3F5750"/>
            </a:solidFill>
          </a:ln>
          <a:effectLst/>
        </p:spPr>
        <p:style>
          <a:lnRef idx="2">
            <a:schemeClr val="accent1"/>
          </a:lnRef>
          <a:fillRef idx="0">
            <a:schemeClr val="accent1"/>
          </a:fillRef>
          <a:effectRef idx="0">
            <a:schemeClr val="accent1"/>
          </a:effectRef>
          <a:fontRef idx="minor">
            <a:schemeClr val="tx1"/>
          </a:fontRef>
        </p:style>
      </p:cxnSp>
      <p:sp>
        <p:nvSpPr>
          <p:cNvPr id="32" name="Oval 31"/>
          <p:cNvSpPr/>
          <p:nvPr/>
        </p:nvSpPr>
        <p:spPr>
          <a:xfrm>
            <a:off x="8290681" y="3165721"/>
            <a:ext cx="64008" cy="64008"/>
          </a:xfrm>
          <a:prstGeom prst="ellipse">
            <a:avLst/>
          </a:prstGeom>
          <a:solidFill>
            <a:srgbClr val="3F5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3" name="Connector 32"/>
          <p:cNvCxnSpPr/>
          <p:nvPr/>
        </p:nvCxnSpPr>
        <p:spPr>
          <a:xfrm>
            <a:off x="6749917" y="3471976"/>
            <a:ext cx="786384" cy="609448"/>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34" name="Oval 33"/>
          <p:cNvSpPr/>
          <p:nvPr/>
        </p:nvSpPr>
        <p:spPr>
          <a:xfrm>
            <a:off x="7488753" y="4033875"/>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Connector 34"/>
          <p:cNvCxnSpPr/>
          <p:nvPr/>
        </p:nvCxnSpPr>
        <p:spPr>
          <a:xfrm flipV="1">
            <a:off x="7536301" y="3746228"/>
            <a:ext cx="786384" cy="335196"/>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36" name="Oval 35"/>
          <p:cNvSpPr/>
          <p:nvPr/>
        </p:nvSpPr>
        <p:spPr>
          <a:xfrm>
            <a:off x="8275137" y="3698679"/>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7" name="Connector 36"/>
          <p:cNvCxnSpPr/>
          <p:nvPr/>
        </p:nvCxnSpPr>
        <p:spPr>
          <a:xfrm flipV="1">
            <a:off x="8322685" y="3561870"/>
            <a:ext cx="786384" cy="184358"/>
          </a:xfrm>
          <a:prstGeom prst="line">
            <a:avLst/>
          </a:prstGeom>
          <a:ln w="15240">
            <a:solidFill>
              <a:srgbClr val="3F5750"/>
            </a:solidFill>
          </a:ln>
          <a:effectLst/>
        </p:spPr>
        <p:style>
          <a:lnRef idx="2">
            <a:schemeClr val="accent1"/>
          </a:lnRef>
          <a:fillRef idx="0">
            <a:schemeClr val="accent1"/>
          </a:fillRef>
          <a:effectRef idx="0">
            <a:schemeClr val="accent1"/>
          </a:effectRef>
          <a:fontRef idx="minor">
            <a:schemeClr val="tx1"/>
          </a:fontRef>
        </p:style>
      </p:cxnSp>
      <p:sp>
        <p:nvSpPr>
          <p:cNvPr id="38" name="Oval 37"/>
          <p:cNvSpPr/>
          <p:nvPr/>
        </p:nvSpPr>
        <p:spPr>
          <a:xfrm>
            <a:off x="9077065" y="3529866"/>
            <a:ext cx="64008" cy="64008"/>
          </a:xfrm>
          <a:prstGeom prst="ellipse">
            <a:avLst/>
          </a:prstGeom>
          <a:solidFill>
            <a:srgbClr val="3F5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9" name="Connector 38"/>
          <p:cNvCxnSpPr/>
          <p:nvPr/>
        </p:nvCxnSpPr>
        <p:spPr>
          <a:xfrm>
            <a:off x="8322685" y="3746228"/>
            <a:ext cx="786384" cy="184358"/>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40" name="Oval 39"/>
          <p:cNvSpPr/>
          <p:nvPr/>
        </p:nvSpPr>
        <p:spPr>
          <a:xfrm>
            <a:off x="9043233" y="3864749"/>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1" name="Connector 40"/>
          <p:cNvCxnSpPr/>
          <p:nvPr/>
        </p:nvCxnSpPr>
        <p:spPr>
          <a:xfrm>
            <a:off x="7536301" y="4081424"/>
            <a:ext cx="786384" cy="335196"/>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42" name="Oval 41"/>
          <p:cNvSpPr/>
          <p:nvPr/>
        </p:nvSpPr>
        <p:spPr>
          <a:xfrm>
            <a:off x="8275137" y="4369071"/>
            <a:ext cx="95097" cy="95097"/>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3" name="Connector 42"/>
          <p:cNvCxnSpPr/>
          <p:nvPr/>
        </p:nvCxnSpPr>
        <p:spPr>
          <a:xfrm flipV="1">
            <a:off x="8322685" y="4232262"/>
            <a:ext cx="786384" cy="184358"/>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44" name="Oval 43"/>
          <p:cNvSpPr/>
          <p:nvPr/>
        </p:nvSpPr>
        <p:spPr>
          <a:xfrm>
            <a:off x="9043233" y="4166425"/>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8322685" y="4416620"/>
            <a:ext cx="786384" cy="184358"/>
          </a:xfrm>
          <a:prstGeom prst="line">
            <a:avLst/>
          </a:prstGeom>
          <a:ln w="3048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46" name="Oval 45"/>
          <p:cNvSpPr/>
          <p:nvPr/>
        </p:nvSpPr>
        <p:spPr>
          <a:xfrm>
            <a:off x="9043233" y="4535141"/>
            <a:ext cx="131673" cy="131673"/>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9072493" y="2306399"/>
            <a:ext cx="73152" cy="73152"/>
          </a:xfrm>
          <a:prstGeom prst="ellipse">
            <a:avLst/>
          </a:prstGeom>
          <a:solidFill>
            <a:srgbClr val="DEB5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9072493" y="4195686"/>
            <a:ext cx="73152" cy="73152"/>
          </a:xfrm>
          <a:prstGeom prst="ellipse">
            <a:avLst/>
          </a:prstGeom>
          <a:solidFill>
            <a:srgbClr val="DEB5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Oval 48"/>
          <p:cNvSpPr/>
          <p:nvPr/>
        </p:nvSpPr>
        <p:spPr>
          <a:xfrm>
            <a:off x="6432804" y="4905756"/>
            <a:ext cx="82296" cy="82296"/>
          </a:xfrm>
          <a:prstGeom prst="ellipse">
            <a:avLst/>
          </a:prstGeom>
          <a:solidFill>
            <a:srgbClr val="A6C9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620256" y="4864608"/>
            <a:ext cx="1566672" cy="219456"/>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FB9B2"/>
                </a:solidFill>
                <a:latin typeface="IBM Plex Mono"/>
              </a:rPr>
              <a:t>ACTIVE BRANCH</a:t>
            </a:r>
          </a:p>
        </p:txBody>
      </p:sp>
      <p:sp>
        <p:nvSpPr>
          <p:cNvPr id="51" name="Oval 50"/>
          <p:cNvSpPr/>
          <p:nvPr/>
        </p:nvSpPr>
        <p:spPr>
          <a:xfrm>
            <a:off x="8182356" y="4905756"/>
            <a:ext cx="82296" cy="82296"/>
          </a:xfrm>
          <a:prstGeom prst="ellipse">
            <a:avLst/>
          </a:prstGeom>
          <a:solidFill>
            <a:srgbClr val="3F575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369808" y="4864608"/>
            <a:ext cx="1566672" cy="219456"/>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FB9B2"/>
                </a:solidFill>
                <a:latin typeface="IBM Plex Mono"/>
              </a:rPr>
              <a:t>PRUNED</a:t>
            </a:r>
          </a:p>
        </p:txBody>
      </p:sp>
      <p:sp>
        <p:nvSpPr>
          <p:cNvPr id="53" name="Oval 52"/>
          <p:cNvSpPr/>
          <p:nvPr/>
        </p:nvSpPr>
        <p:spPr>
          <a:xfrm>
            <a:off x="9931908" y="4905756"/>
            <a:ext cx="82296" cy="82296"/>
          </a:xfrm>
          <a:prstGeom prst="ellipse">
            <a:avLst/>
          </a:prstGeom>
          <a:solidFill>
            <a:srgbClr val="DEB57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10119360" y="4864608"/>
            <a:ext cx="1566672" cy="219456"/>
          </a:xfrm>
          <a:prstGeom prst="rect">
            <a:avLst/>
          </a:prstGeom>
          <a:noFill/>
        </p:spPr>
        <p:txBody>
          <a:bodyPr wrap="square" lIns="0" rIns="0" tIns="0" bIns="0" anchor="t">
            <a:noAutofit/>
          </a:bodyPr>
          <a:lstStyle/>
          <a:p>
            <a:pPr algn="l">
              <a:lnSpc>
                <a:spcPct val="108000"/>
              </a:lnSpc>
              <a:spcBef>
                <a:spcPts val="0"/>
              </a:spcBef>
              <a:spcAft>
                <a:spcPts val="0"/>
              </a:spcAft>
            </a:pPr>
            <a:r>
              <a:rPr sz="950" b="1">
                <a:solidFill>
                  <a:srgbClr val="AFB9B2"/>
                </a:solidFill>
                <a:latin typeface="IBM Plex Mono"/>
              </a:rPr>
              <a:t>SUBMITTED</a:t>
            </a:r>
          </a:p>
        </p:txBody>
      </p:sp>
      <p:sp>
        <p:nvSpPr>
          <p:cNvPr id="55" name="TextBox 54"/>
          <p:cNvSpPr txBox="1"/>
          <p:nvPr/>
        </p:nvSpPr>
        <p:spPr>
          <a:xfrm>
            <a:off x="6400800" y="5175504"/>
            <a:ext cx="5230368" cy="731520"/>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AFB9B2"/>
                </a:solidFill>
                <a:latin typeface="IBM Plex Sans"/>
              </a:rPr>
              <a:t>Every 18 actions the worker stops and files a checkpoint report. The parent reads it and continues, forks, finishes or prunes. Nothing forks itself; all descendants share one frozen budget.</a:t>
            </a:r>
          </a:p>
        </p:txBody>
      </p:sp>
      <p:sp>
        <p:nvSpPr>
          <p:cNvPr id="56" name="TextBox 55"/>
          <p:cNvSpPr txBox="1"/>
          <p:nvPr/>
        </p:nvSpPr>
        <p:spPr>
          <a:xfrm>
            <a:off x="548640" y="6053328"/>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FROZEN SUBTREE CONTRACT · depth 6 · 72 descendant slots · 96 actions per node · 2,880 across the tree.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SELECTION POLICY / WHAT SURVIVES AND WHY</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06</a:t>
            </a:r>
          </a:p>
        </p:txBody>
      </p:sp>
      <p:sp>
        <p:nvSpPr>
          <p:cNvPr id="8" name="TextBox 7"/>
          <p:cNvSpPr txBox="1"/>
          <p:nvPr/>
        </p:nvSpPr>
        <p:spPr>
          <a:xfrm>
            <a:off x="548640" y="932688"/>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No model decides whether a result is sound.</a:t>
            </a:r>
          </a:p>
        </p:txBody>
      </p:sp>
      <p:sp>
        <p:nvSpPr>
          <p:cNvPr id="9" name="TextBox 8"/>
          <p:cNvSpPr txBox="1"/>
          <p:nvPr/>
        </p:nvSpPr>
        <p:spPr>
          <a:xfrm>
            <a:off x="566928" y="1737360"/>
            <a:ext cx="10881360" cy="548640"/>
          </a:xfrm>
          <a:prstGeom prst="rect">
            <a:avLst/>
          </a:prstGeom>
          <a:noFill/>
        </p:spPr>
        <p:txBody>
          <a:bodyPr wrap="square" lIns="0" rIns="0" tIns="0" bIns="0" anchor="t">
            <a:noAutofit/>
          </a:bodyPr>
          <a:lstStyle/>
          <a:p>
            <a:pPr algn="l">
              <a:lnSpc>
                <a:spcPct val="108000"/>
              </a:lnSpc>
              <a:spcBef>
                <a:spcPts val="0"/>
              </a:spcBef>
              <a:spcAft>
                <a:spcPts val="0"/>
              </a:spcAft>
            </a:pPr>
            <a:r>
              <a:rPr sz="1800" b="0">
                <a:solidFill>
                  <a:srgbClr val="AFB9B2"/>
                </a:solidFill>
                <a:latin typeface="IBM Plex Sans"/>
              </a:rPr>
              <a:t>Three gates, in this order: a floor written in code, evidence that stays valid whenever you look, and an allocator that would rather stay silent than guess.</a:t>
            </a:r>
          </a:p>
        </p:txBody>
      </p:sp>
      <p:sp>
        <p:nvSpPr>
          <p:cNvPr id="10" name="TextBox 9"/>
          <p:cNvSpPr txBox="1"/>
          <p:nvPr/>
        </p:nvSpPr>
        <p:spPr>
          <a:xfrm>
            <a:off x="566928" y="2468880"/>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01 · THE FLOOR</a:t>
            </a:r>
          </a:p>
        </p:txBody>
      </p:sp>
      <p:cxnSp>
        <p:nvCxnSpPr>
          <p:cNvPr id="11" name="Connector 10"/>
          <p:cNvCxnSpPr/>
          <p:nvPr/>
        </p:nvCxnSpPr>
        <p:spPr>
          <a:xfrm>
            <a:off x="566928" y="2743200"/>
            <a:ext cx="3401568" cy="0"/>
          </a:xfrm>
          <a:prstGeom prst="line">
            <a:avLst/>
          </a:prstGeom>
          <a:ln w="1905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66928" y="2871216"/>
            <a:ext cx="1664208" cy="219456"/>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DEB577"/>
                </a:solidFill>
                <a:latin typeface="IBM Plex Mono"/>
              </a:rPr>
              <a:t>no-effect</a:t>
            </a:r>
          </a:p>
        </p:txBody>
      </p:sp>
      <p:sp>
        <p:nvSpPr>
          <p:cNvPr id="13" name="TextBox 12"/>
          <p:cNvSpPr txBox="1"/>
          <p:nvPr/>
        </p:nvSpPr>
        <p:spPr>
          <a:xfrm>
            <a:off x="2267712" y="2871216"/>
            <a:ext cx="1755648" cy="438912"/>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F1EFE7"/>
                </a:solidFill>
                <a:latin typeface="IBM Plex Sans"/>
              </a:rPr>
              <a:t>effect not finite</a:t>
            </a:r>
          </a:p>
        </p:txBody>
      </p:sp>
      <p:sp>
        <p:nvSpPr>
          <p:cNvPr id="14" name="TextBox 13"/>
          <p:cNvSpPr txBox="1"/>
          <p:nvPr/>
        </p:nvSpPr>
        <p:spPr>
          <a:xfrm>
            <a:off x="566928" y="3328416"/>
            <a:ext cx="1664208" cy="219456"/>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DEB577"/>
                </a:solidFill>
                <a:latin typeface="IBM Plex Mono"/>
              </a:rPr>
              <a:t>too-few-units</a:t>
            </a:r>
          </a:p>
        </p:txBody>
      </p:sp>
      <p:sp>
        <p:nvSpPr>
          <p:cNvPr id="15" name="TextBox 14"/>
          <p:cNvSpPr txBox="1"/>
          <p:nvPr/>
        </p:nvSpPr>
        <p:spPr>
          <a:xfrm>
            <a:off x="2267712" y="3328416"/>
            <a:ext cx="1755648" cy="438912"/>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F1EFE7"/>
                </a:solidFill>
                <a:latin typeface="IBM Plex Sans"/>
              </a:rPr>
              <a:t>fewer than 8 units</a:t>
            </a:r>
          </a:p>
        </p:txBody>
      </p:sp>
      <p:sp>
        <p:nvSpPr>
          <p:cNvPr id="16" name="TextBox 15"/>
          <p:cNvSpPr txBox="1"/>
          <p:nvPr/>
        </p:nvSpPr>
        <p:spPr>
          <a:xfrm>
            <a:off x="566928" y="3785616"/>
            <a:ext cx="1664208" cy="219456"/>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DEB577"/>
                </a:solidFill>
                <a:latin typeface="IBM Plex Mono"/>
              </a:rPr>
              <a:t>malformed-p</a:t>
            </a:r>
          </a:p>
        </p:txBody>
      </p:sp>
      <p:sp>
        <p:nvSpPr>
          <p:cNvPr id="17" name="TextBox 16"/>
          <p:cNvSpPr txBox="1"/>
          <p:nvPr/>
        </p:nvSpPr>
        <p:spPr>
          <a:xfrm>
            <a:off x="2267712" y="3785616"/>
            <a:ext cx="1755648" cy="438912"/>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F1EFE7"/>
                </a:solidFill>
                <a:latin typeface="IBM Plex Sans"/>
              </a:rPr>
              <a:t>p outside (0, 1]</a:t>
            </a:r>
          </a:p>
        </p:txBody>
      </p:sp>
      <p:sp>
        <p:nvSpPr>
          <p:cNvPr id="18" name="TextBox 17"/>
          <p:cNvSpPr txBox="1"/>
          <p:nvPr/>
        </p:nvSpPr>
        <p:spPr>
          <a:xfrm>
            <a:off x="566928" y="4242816"/>
            <a:ext cx="1664208" cy="219456"/>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DEB577"/>
                </a:solidFill>
                <a:latin typeface="IBM Plex Mono"/>
              </a:rPr>
              <a:t>direction-wrong</a:t>
            </a:r>
          </a:p>
        </p:txBody>
      </p:sp>
      <p:sp>
        <p:nvSpPr>
          <p:cNvPr id="19" name="TextBox 18"/>
          <p:cNvSpPr txBox="1"/>
          <p:nvPr/>
        </p:nvSpPr>
        <p:spPr>
          <a:xfrm>
            <a:off x="2267712" y="4242816"/>
            <a:ext cx="1755648" cy="438912"/>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F1EFE7"/>
                </a:solidFill>
                <a:latin typeface="IBM Plex Sans"/>
              </a:rPr>
              <a:t>sign disagrees with the prediction</a:t>
            </a:r>
          </a:p>
        </p:txBody>
      </p:sp>
      <p:sp>
        <p:nvSpPr>
          <p:cNvPr id="20" name="TextBox 19"/>
          <p:cNvSpPr txBox="1"/>
          <p:nvPr/>
        </p:nvSpPr>
        <p:spPr>
          <a:xfrm>
            <a:off x="566928" y="4700016"/>
            <a:ext cx="1664208" cy="219456"/>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DEB577"/>
                </a:solidFill>
                <a:latin typeface="IBM Plex Mono"/>
              </a:rPr>
              <a:t>not-significant</a:t>
            </a:r>
          </a:p>
        </p:txBody>
      </p:sp>
      <p:sp>
        <p:nvSpPr>
          <p:cNvPr id="21" name="TextBox 20"/>
          <p:cNvSpPr txBox="1"/>
          <p:nvPr/>
        </p:nvSpPr>
        <p:spPr>
          <a:xfrm>
            <a:off x="2267712" y="4700016"/>
            <a:ext cx="1755648" cy="438912"/>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F1EFE7"/>
                </a:solidFill>
                <a:latin typeface="IBM Plex Sans"/>
              </a:rPr>
              <a:t>p above 0.05</a:t>
            </a:r>
          </a:p>
        </p:txBody>
      </p:sp>
      <p:sp>
        <p:nvSpPr>
          <p:cNvPr id="22" name="TextBox 21"/>
          <p:cNvSpPr txBox="1"/>
          <p:nvPr/>
        </p:nvSpPr>
        <p:spPr>
          <a:xfrm>
            <a:off x="566928" y="5157216"/>
            <a:ext cx="1664208" cy="219456"/>
          </a:xfrm>
          <a:prstGeom prst="rect">
            <a:avLst/>
          </a:prstGeom>
          <a:noFill/>
        </p:spPr>
        <p:txBody>
          <a:bodyPr wrap="square" lIns="0" rIns="0" tIns="0" bIns="0" anchor="t">
            <a:noAutofit/>
          </a:bodyPr>
          <a:lstStyle/>
          <a:p>
            <a:pPr algn="l">
              <a:lnSpc>
                <a:spcPct val="108000"/>
              </a:lnSpc>
              <a:spcBef>
                <a:spcPts val="0"/>
              </a:spcBef>
              <a:spcAft>
                <a:spcPts val="0"/>
              </a:spcAft>
            </a:pPr>
            <a:r>
              <a:rPr sz="1200" b="1">
                <a:solidFill>
                  <a:srgbClr val="DEB577"/>
                </a:solidFill>
                <a:latin typeface="IBM Plex Mono"/>
              </a:rPr>
              <a:t>not-robust</a:t>
            </a:r>
          </a:p>
        </p:txBody>
      </p:sp>
      <p:sp>
        <p:nvSpPr>
          <p:cNvPr id="23" name="TextBox 22"/>
          <p:cNvSpPr txBox="1"/>
          <p:nvPr/>
        </p:nvSpPr>
        <p:spPr>
          <a:xfrm>
            <a:off x="2267712" y="5157216"/>
            <a:ext cx="1755648" cy="438912"/>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F1EFE7"/>
                </a:solidFill>
                <a:latin typeface="IBM Plex Sans"/>
              </a:rPr>
              <a:t>leave-one-group-out failed</a:t>
            </a:r>
          </a:p>
        </p:txBody>
      </p:sp>
      <p:sp>
        <p:nvSpPr>
          <p:cNvPr id="24" name="TextBox 23"/>
          <p:cNvSpPr txBox="1"/>
          <p:nvPr/>
        </p:nvSpPr>
        <p:spPr>
          <a:xfrm>
            <a:off x="566928" y="5742432"/>
            <a:ext cx="3474720" cy="457200"/>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AFB9B2"/>
                </a:solidFill>
                <a:latin typeface="IBM Plex Sans"/>
              </a:rPr>
              <a:t>No minimum-effect gate, deliberately: a constant against incommensurable quantities is not a comparison.</a:t>
            </a:r>
          </a:p>
        </p:txBody>
      </p:sp>
      <p:sp>
        <p:nvSpPr>
          <p:cNvPr id="25" name="TextBox 24"/>
          <p:cNvSpPr txBox="1"/>
          <p:nvPr/>
        </p:nvSpPr>
        <p:spPr>
          <a:xfrm>
            <a:off x="4370832" y="2468880"/>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02 · THE EVIDENCE</a:t>
            </a:r>
          </a:p>
        </p:txBody>
      </p:sp>
      <p:cxnSp>
        <p:nvCxnSpPr>
          <p:cNvPr id="26" name="Connector 25"/>
          <p:cNvCxnSpPr/>
          <p:nvPr/>
        </p:nvCxnSpPr>
        <p:spPr>
          <a:xfrm>
            <a:off x="4370832" y="2743200"/>
            <a:ext cx="3401568" cy="0"/>
          </a:xfrm>
          <a:prstGeom prst="line">
            <a:avLst/>
          </a:prstGeom>
          <a:ln w="1905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370832" y="2871216"/>
            <a:ext cx="3474720" cy="256032"/>
          </a:xfrm>
          <a:prstGeom prst="rect">
            <a:avLst/>
          </a:prstGeom>
          <a:noFill/>
        </p:spPr>
        <p:txBody>
          <a:bodyPr wrap="square" lIns="0" rIns="0" tIns="0" bIns="0" anchor="t">
            <a:noAutofit/>
          </a:bodyPr>
          <a:lstStyle/>
          <a:p>
            <a:pPr algn="l">
              <a:lnSpc>
                <a:spcPct val="108000"/>
              </a:lnSpc>
              <a:spcBef>
                <a:spcPts val="0"/>
              </a:spcBef>
              <a:spcAft>
                <a:spcPts val="0"/>
              </a:spcAft>
            </a:pPr>
            <a:r>
              <a:rPr sz="1250" b="1">
                <a:solidFill>
                  <a:srgbClr val="A6C9B8"/>
                </a:solidFill>
                <a:latin typeface="IBM Plex Mono"/>
              </a:rPr>
              <a:t>qₜ = 1 + tanh(dₜ)     Eₜ = Eₜ₋₁ × qₜ</a:t>
            </a:r>
          </a:p>
        </p:txBody>
      </p:sp>
      <p:sp>
        <p:nvSpPr>
          <p:cNvPr id="28" name="TextBox 27"/>
          <p:cNvSpPr txBox="1"/>
          <p:nvPr/>
        </p:nvSpPr>
        <p:spPr>
          <a:xfrm>
            <a:off x="4370832" y="3200400"/>
            <a:ext cx="3364992" cy="979551"/>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A bettor, not a classifier. The payoff is bounded and odd: swap the two groups and the score negates, so under the null the expected payoff is exactly one.</a:t>
            </a:r>
          </a:p>
        </p:txBody>
      </p:sp>
      <p:sp>
        <p:nvSpPr>
          <p:cNvPr id="29" name="TextBox 28"/>
          <p:cNvSpPr txBox="1"/>
          <p:nvPr/>
        </p:nvSpPr>
        <p:spPr>
          <a:xfrm>
            <a:off x="4370832" y="4326255"/>
            <a:ext cx="3364992" cy="602361"/>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AFB9B2"/>
                </a:solidFill>
                <a:latin typeface="IBM Plex Sans"/>
              </a:rPr>
              <a:t>Ville’s inequality caps the chance wealth ever exceeds 1/α at α, so the agent may peek after every batch.</a:t>
            </a:r>
          </a:p>
        </p:txBody>
      </p:sp>
      <p:sp>
        <p:nvSpPr>
          <p:cNvPr id="30" name="TextBox 29"/>
          <p:cNvSpPr txBox="1"/>
          <p:nvPr/>
        </p:nvSpPr>
        <p:spPr>
          <a:xfrm>
            <a:off x="4370832" y="5230368"/>
            <a:ext cx="1097280" cy="256032"/>
          </a:xfrm>
          <a:prstGeom prst="rect">
            <a:avLst/>
          </a:prstGeom>
          <a:noFill/>
        </p:spPr>
        <p:txBody>
          <a:bodyPr wrap="square" lIns="0" rIns="0" tIns="0" bIns="0" anchor="t">
            <a:noAutofit/>
          </a:bodyPr>
          <a:lstStyle/>
          <a:p>
            <a:pPr algn="l">
              <a:lnSpc>
                <a:spcPct val="108000"/>
              </a:lnSpc>
              <a:spcBef>
                <a:spcPts val="0"/>
              </a:spcBef>
              <a:spcAft>
                <a:spcPts val="0"/>
              </a:spcAft>
            </a:pPr>
            <a:r>
              <a:rPr sz="1400" b="1">
                <a:solidFill>
                  <a:srgbClr val="AFB9B2"/>
                </a:solidFill>
                <a:latin typeface="IBM Plex Mono"/>
              </a:rPr>
              <a:t>≤5.00%</a:t>
            </a:r>
          </a:p>
        </p:txBody>
      </p:sp>
      <p:sp>
        <p:nvSpPr>
          <p:cNvPr id="31" name="TextBox 30"/>
          <p:cNvSpPr txBox="1"/>
          <p:nvPr/>
        </p:nvSpPr>
        <p:spPr>
          <a:xfrm>
            <a:off x="5541264" y="5230368"/>
            <a:ext cx="2286000" cy="25603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Ville bound</a:t>
            </a:r>
          </a:p>
        </p:txBody>
      </p:sp>
      <p:sp>
        <p:nvSpPr>
          <p:cNvPr id="32" name="TextBox 31"/>
          <p:cNvSpPr txBox="1"/>
          <p:nvPr/>
        </p:nvSpPr>
        <p:spPr>
          <a:xfrm>
            <a:off x="4370832" y="5596128"/>
            <a:ext cx="1097280" cy="256032"/>
          </a:xfrm>
          <a:prstGeom prst="rect">
            <a:avLst/>
          </a:prstGeom>
          <a:noFill/>
        </p:spPr>
        <p:txBody>
          <a:bodyPr wrap="square" lIns="0" rIns="0" tIns="0" bIns="0" anchor="t">
            <a:noAutofit/>
          </a:bodyPr>
          <a:lstStyle/>
          <a:p>
            <a:pPr algn="l">
              <a:lnSpc>
                <a:spcPct val="108000"/>
              </a:lnSpc>
              <a:spcBef>
                <a:spcPts val="0"/>
              </a:spcBef>
              <a:spcAft>
                <a:spcPts val="0"/>
              </a:spcAft>
            </a:pPr>
            <a:r>
              <a:rPr sz="1400" b="1">
                <a:solidFill>
                  <a:srgbClr val="DEB577"/>
                </a:solidFill>
                <a:latin typeface="IBM Plex Mono"/>
              </a:rPr>
              <a:t>1.12%</a:t>
            </a:r>
          </a:p>
        </p:txBody>
      </p:sp>
      <p:sp>
        <p:nvSpPr>
          <p:cNvPr id="33" name="TextBox 32"/>
          <p:cNvSpPr txBox="1"/>
          <p:nvPr/>
        </p:nvSpPr>
        <p:spPr>
          <a:xfrm>
            <a:off x="5541264" y="5596128"/>
            <a:ext cx="2286000" cy="25603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measured ever-crossing</a:t>
            </a:r>
          </a:p>
        </p:txBody>
      </p:sp>
      <p:sp>
        <p:nvSpPr>
          <p:cNvPr id="34" name="TextBox 33"/>
          <p:cNvSpPr txBox="1"/>
          <p:nvPr/>
        </p:nvSpPr>
        <p:spPr>
          <a:xfrm>
            <a:off x="4370832" y="5961888"/>
            <a:ext cx="1097280" cy="256032"/>
          </a:xfrm>
          <a:prstGeom prst="rect">
            <a:avLst/>
          </a:prstGeom>
          <a:noFill/>
        </p:spPr>
        <p:txBody>
          <a:bodyPr wrap="square" lIns="0" rIns="0" tIns="0" bIns="0" anchor="t">
            <a:noAutofit/>
          </a:bodyPr>
          <a:lstStyle/>
          <a:p>
            <a:pPr algn="l">
              <a:lnSpc>
                <a:spcPct val="108000"/>
              </a:lnSpc>
              <a:spcBef>
                <a:spcPts val="0"/>
              </a:spcBef>
              <a:spcAft>
                <a:spcPts val="0"/>
              </a:spcAft>
            </a:pPr>
            <a:r>
              <a:rPr sz="1400" b="1">
                <a:solidFill>
                  <a:srgbClr val="A6C9B8"/>
                </a:solidFill>
                <a:latin typeface="IBM Plex Mono"/>
              </a:rPr>
              <a:t>100%</a:t>
            </a:r>
          </a:p>
        </p:txBody>
      </p:sp>
      <p:sp>
        <p:nvSpPr>
          <p:cNvPr id="35" name="TextBox 34"/>
          <p:cNvSpPr txBox="1"/>
          <p:nvPr/>
        </p:nvSpPr>
        <p:spPr>
          <a:xfrm>
            <a:off x="5541264" y="5961888"/>
            <a:ext cx="2286000" cy="25603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cheating critic caught</a:t>
            </a:r>
          </a:p>
        </p:txBody>
      </p:sp>
      <p:sp>
        <p:nvSpPr>
          <p:cNvPr id="36" name="TextBox 35"/>
          <p:cNvSpPr txBox="1"/>
          <p:nvPr/>
        </p:nvSpPr>
        <p:spPr>
          <a:xfrm>
            <a:off x="8174736" y="2468880"/>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03 · THE ALLOCATOR</a:t>
            </a:r>
          </a:p>
        </p:txBody>
      </p:sp>
      <p:cxnSp>
        <p:nvCxnSpPr>
          <p:cNvPr id="37" name="Connector 36"/>
          <p:cNvCxnSpPr/>
          <p:nvPr/>
        </p:nvCxnSpPr>
        <p:spPr>
          <a:xfrm>
            <a:off x="8174736" y="2743200"/>
            <a:ext cx="3456432" cy="0"/>
          </a:xfrm>
          <a:prstGeom prst="line">
            <a:avLst/>
          </a:prstGeom>
          <a:ln w="1905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8174736" y="2871216"/>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450" b="1">
                <a:solidFill>
                  <a:srgbClr val="DEB577"/>
                </a:solidFill>
                <a:latin typeface="IBM Plex Sans"/>
              </a:rPr>
              <a:t>Every branch is an episode</a:t>
            </a:r>
          </a:p>
        </p:txBody>
      </p:sp>
      <p:sp>
        <p:nvSpPr>
          <p:cNvPr id="39" name="TextBox 38"/>
          <p:cNvSpPr txBox="1"/>
          <p:nvPr/>
        </p:nvSpPr>
        <p:spPr>
          <a:xfrm>
            <a:off x="8174736" y="3127248"/>
            <a:ext cx="3456432" cy="603504"/>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A checkpoint report and its evidence trail, enrolled under a frozen policy and budget.</a:t>
            </a:r>
          </a:p>
        </p:txBody>
      </p:sp>
      <p:sp>
        <p:nvSpPr>
          <p:cNvPr id="40" name="TextBox 39"/>
          <p:cNvSpPr txBox="1"/>
          <p:nvPr/>
        </p:nvSpPr>
        <p:spPr>
          <a:xfrm>
            <a:off x="8174736" y="3767328"/>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450" b="1">
                <a:solidFill>
                  <a:srgbClr val="DEB577"/>
                </a:solidFill>
                <a:latin typeface="IBM Plex Sans"/>
              </a:rPr>
              <a:t>Trained on observed outcomes</a:t>
            </a:r>
          </a:p>
        </p:txBody>
      </p:sp>
      <p:sp>
        <p:nvSpPr>
          <p:cNvPr id="41" name="TextBox 40"/>
          <p:cNvSpPr txBox="1"/>
          <p:nvPr/>
        </p:nvSpPr>
        <p:spPr>
          <a:xfrm>
            <a:off x="8174736" y="4023360"/>
            <a:ext cx="3456432" cy="603504"/>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Did continuing this line produce a verified, non-duplicate finding inside budget?</a:t>
            </a:r>
          </a:p>
        </p:txBody>
      </p:sp>
      <p:sp>
        <p:nvSpPr>
          <p:cNvPr id="42" name="TextBox 41"/>
          <p:cNvSpPr txBox="1"/>
          <p:nvPr/>
        </p:nvSpPr>
        <p:spPr>
          <a:xfrm>
            <a:off x="8174736" y="4663440"/>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450" b="1">
                <a:solidFill>
                  <a:srgbClr val="DEB577"/>
                </a:solidFill>
                <a:latin typeface="IBM Plex Sans"/>
              </a:rPr>
              <a:t>Silence beats a guess</a:t>
            </a:r>
          </a:p>
        </p:txBody>
      </p:sp>
      <p:sp>
        <p:nvSpPr>
          <p:cNvPr id="43" name="TextBox 42"/>
          <p:cNvSpPr txBox="1"/>
          <p:nvPr/>
        </p:nvSpPr>
        <p:spPr>
          <a:xfrm>
            <a:off x="8174736" y="4919472"/>
            <a:ext cx="3456432" cy="603504"/>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Below 116 independent episodes it returns no threshold at all.</a:t>
            </a:r>
          </a:p>
        </p:txBody>
      </p:sp>
      <p:sp>
        <p:nvSpPr>
          <p:cNvPr id="44" name="TextBox 43"/>
          <p:cNvSpPr txBox="1"/>
          <p:nvPr/>
        </p:nvSpPr>
        <p:spPr>
          <a:xfrm>
            <a:off x="8174736" y="5559552"/>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450" b="1">
                <a:solidFill>
                  <a:srgbClr val="DEB577"/>
                </a:solidFill>
                <a:latin typeface="IBM Plex Sans"/>
              </a:rPr>
              <a:t>Review is never a label</a:t>
            </a:r>
          </a:p>
        </p:txBody>
      </p:sp>
      <p:sp>
        <p:nvSpPr>
          <p:cNvPr id="45" name="TextBox 44"/>
          <p:cNvSpPr txBox="1"/>
          <p:nvPr/>
        </p:nvSpPr>
        <p:spPr>
          <a:xfrm>
            <a:off x="8174736" y="5815584"/>
            <a:ext cx="3456432" cy="603504"/>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Human accept and reject decisions are excluded, so it cannot flatter the reviewer.</a:t>
            </a:r>
          </a:p>
        </p:txBody>
      </p:sp>
      <p:sp>
        <p:nvSpPr>
          <p:cNvPr id="46" name="TextBox 45"/>
          <p:cNvSpPr txBox="1"/>
          <p:nvPr/>
        </p:nvSpPr>
        <p:spPr>
          <a:xfrm>
            <a:off x="548640" y="6327648"/>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IMPLEMENTED · falsifier.py thresholds and slugs. The null audit is a standalone synthetic diagnostic; branch monitoring is observation-only.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BACKTEST / FROZEN CORPUS</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07</a:t>
            </a:r>
          </a:p>
        </p:txBody>
      </p:sp>
      <p:sp>
        <p:nvSpPr>
          <p:cNvPr id="8" name="TextBox 7"/>
          <p:cNvSpPr txBox="1"/>
          <p:nvPr/>
        </p:nvSpPr>
        <p:spPr>
          <a:xfrm>
            <a:off x="548640" y="950976"/>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Freeze the literature, then rerun</a:t>
            </a:r>
          </a:p>
          <a:p>
            <a:pPr algn="l">
              <a:lnSpc>
                <a:spcPct val="108000"/>
              </a:lnSpc>
              <a:spcBef>
                <a:spcPts val="0"/>
              </a:spcBef>
              <a:spcAft>
                <a:spcPts val="0"/>
              </a:spcAft>
            </a:pPr>
            <a:r>
              <a:rPr sz="3200" b="1">
                <a:solidFill>
                  <a:srgbClr val="F1EFE7"/>
                </a:solidFill>
                <a:latin typeface="IBM Plex Sans"/>
              </a:rPr>
              <a:t>the loop against the past.</a:t>
            </a:r>
          </a:p>
        </p:txBody>
      </p:sp>
      <p:sp>
        <p:nvSpPr>
          <p:cNvPr id="9" name="TextBox 8"/>
          <p:cNvSpPr txBox="1"/>
          <p:nvPr/>
        </p:nvSpPr>
        <p:spPr>
          <a:xfrm>
            <a:off x="566928" y="2231136"/>
            <a:ext cx="10881360" cy="548640"/>
          </a:xfrm>
          <a:prstGeom prst="rect">
            <a:avLst/>
          </a:prstGeom>
          <a:noFill/>
        </p:spPr>
        <p:txBody>
          <a:bodyPr wrap="square" lIns="0" rIns="0" tIns="0" bIns="0" anchor="t">
            <a:noAutofit/>
          </a:bodyPr>
          <a:lstStyle/>
          <a:p>
            <a:pPr algn="l">
              <a:lnSpc>
                <a:spcPct val="108000"/>
              </a:lnSpc>
              <a:spcBef>
                <a:spcPts val="0"/>
              </a:spcBef>
              <a:spcAft>
                <a:spcPts val="0"/>
              </a:spcAft>
            </a:pPr>
            <a:r>
              <a:rPr sz="1800" b="0">
                <a:solidFill>
                  <a:srgbClr val="AFB9B2"/>
                </a:solidFill>
                <a:latin typeface="IBM Plex Sans"/>
              </a:rPr>
              <a:t>The only honest way to ask whether the aim is real: give it what was known, and see whether it reaches what came next.</a:t>
            </a:r>
          </a:p>
        </p:txBody>
      </p:sp>
      <p:cxnSp>
        <p:nvCxnSpPr>
          <p:cNvPr id="10" name="Connector 9"/>
          <p:cNvCxnSpPr/>
          <p:nvPr/>
        </p:nvCxnSpPr>
        <p:spPr>
          <a:xfrm>
            <a:off x="566928" y="2834640"/>
            <a:ext cx="5358384"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66928" y="2944368"/>
            <a:ext cx="5358384" cy="310896"/>
          </a:xfrm>
          <a:prstGeom prst="rect">
            <a:avLst/>
          </a:prstGeom>
          <a:noFill/>
        </p:spPr>
        <p:txBody>
          <a:bodyPr wrap="square" lIns="0" rIns="0" tIns="0" bIns="0" anchor="t">
            <a:noAutofit/>
          </a:bodyPr>
          <a:lstStyle/>
          <a:p>
            <a:pPr algn="l">
              <a:lnSpc>
                <a:spcPct val="108000"/>
              </a:lnSpc>
              <a:spcBef>
                <a:spcPts val="0"/>
              </a:spcBef>
              <a:spcAft>
                <a:spcPts val="0"/>
              </a:spcAft>
            </a:pPr>
            <a:r>
              <a:rPr sz="1800" b="1">
                <a:solidFill>
                  <a:srgbClr val="A6C9B8"/>
                </a:solidFill>
                <a:latin typeface="IBM Plex Sans"/>
              </a:rPr>
              <a:t>Corpus frozen at a dated boundary</a:t>
            </a:r>
          </a:p>
        </p:txBody>
      </p:sp>
      <p:sp>
        <p:nvSpPr>
          <p:cNvPr id="12" name="TextBox 11"/>
          <p:cNvSpPr txBox="1"/>
          <p:nvPr/>
        </p:nvSpPr>
        <p:spPr>
          <a:xfrm>
            <a:off x="566928" y="3232404"/>
            <a:ext cx="5358384" cy="434848"/>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F1EFE7"/>
                </a:solidFill>
                <a:latin typeface="IBM Plex Sans"/>
              </a:rPr>
              <a:t>Every paper, dataset and claim the agent can touch predates it. Corpus and data hashes are recorded with the run ID.</a:t>
            </a:r>
          </a:p>
        </p:txBody>
      </p:sp>
      <p:cxnSp>
        <p:nvCxnSpPr>
          <p:cNvPr id="13" name="Connector 12"/>
          <p:cNvCxnSpPr/>
          <p:nvPr/>
        </p:nvCxnSpPr>
        <p:spPr>
          <a:xfrm>
            <a:off x="566928" y="3868420"/>
            <a:ext cx="5358384"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66928" y="3978148"/>
            <a:ext cx="5358384" cy="310896"/>
          </a:xfrm>
          <a:prstGeom prst="rect">
            <a:avLst/>
          </a:prstGeom>
          <a:noFill/>
        </p:spPr>
        <p:txBody>
          <a:bodyPr wrap="square" lIns="0" rIns="0" tIns="0" bIns="0" anchor="t">
            <a:noAutofit/>
          </a:bodyPr>
          <a:lstStyle/>
          <a:p>
            <a:pPr algn="l">
              <a:lnSpc>
                <a:spcPct val="108000"/>
              </a:lnSpc>
              <a:spcBef>
                <a:spcPts val="0"/>
              </a:spcBef>
              <a:spcAft>
                <a:spcPts val="0"/>
              </a:spcAft>
            </a:pPr>
            <a:r>
              <a:rPr sz="1800" b="1">
                <a:solidFill>
                  <a:srgbClr val="A6C9B8"/>
                </a:solidFill>
                <a:latin typeface="IBM Plex Sans"/>
              </a:rPr>
              <a:t>Retrieval is scoped and logged</a:t>
            </a:r>
          </a:p>
        </p:txBody>
      </p:sp>
      <p:sp>
        <p:nvSpPr>
          <p:cNvPr id="15" name="TextBox 14"/>
          <p:cNvSpPr txBox="1"/>
          <p:nvPr/>
        </p:nvSpPr>
        <p:spPr>
          <a:xfrm>
            <a:off x="566928" y="4266184"/>
            <a:ext cx="5358384" cy="434848"/>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F1EFE7"/>
                </a:solidFill>
                <a:latin typeface="IBM Plex Sans"/>
              </a:rPr>
              <a:t>Tool calls are recorded with their scope, so an out-of-boundary read appears in the audit instead of disappearing.</a:t>
            </a:r>
          </a:p>
        </p:txBody>
      </p:sp>
      <p:cxnSp>
        <p:nvCxnSpPr>
          <p:cNvPr id="16" name="Connector 15"/>
          <p:cNvCxnSpPr/>
          <p:nvPr/>
        </p:nvCxnSpPr>
        <p:spPr>
          <a:xfrm>
            <a:off x="566928" y="4902200"/>
            <a:ext cx="5358384"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566928" y="5011928"/>
            <a:ext cx="5358384" cy="310896"/>
          </a:xfrm>
          <a:prstGeom prst="rect">
            <a:avLst/>
          </a:prstGeom>
          <a:noFill/>
        </p:spPr>
        <p:txBody>
          <a:bodyPr wrap="square" lIns="0" rIns="0" tIns="0" bIns="0" anchor="t">
            <a:noAutofit/>
          </a:bodyPr>
          <a:lstStyle/>
          <a:p>
            <a:pPr algn="l">
              <a:lnSpc>
                <a:spcPct val="108000"/>
              </a:lnSpc>
              <a:spcBef>
                <a:spcPts val="0"/>
              </a:spcBef>
              <a:spcAft>
                <a:spcPts val="0"/>
              </a:spcAft>
            </a:pPr>
            <a:r>
              <a:rPr sz="1800" b="1">
                <a:solidFill>
                  <a:srgbClr val="A6C9B8"/>
                </a:solidFill>
                <a:latin typeface="IBM Plex Sans"/>
              </a:rPr>
              <a:t>The matching paper is withheld</a:t>
            </a:r>
          </a:p>
        </p:txBody>
      </p:sp>
      <p:sp>
        <p:nvSpPr>
          <p:cNvPr id="18" name="TextBox 17"/>
          <p:cNvSpPr txBox="1"/>
          <p:nvPr/>
        </p:nvSpPr>
        <p:spPr>
          <a:xfrm>
            <a:off x="566928" y="5299963"/>
            <a:ext cx="5358384" cy="434848"/>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F1EFE7"/>
                </a:solidFill>
                <a:latin typeface="IBM Plex Sans"/>
              </a:rPr>
              <a:t>Held outside the evidence store entirely, not merely down-ranked.</a:t>
            </a:r>
          </a:p>
        </p:txBody>
      </p:sp>
      <p:sp>
        <p:nvSpPr>
          <p:cNvPr id="19" name="TextBox 18"/>
          <p:cNvSpPr txBox="1"/>
          <p:nvPr/>
        </p:nvSpPr>
        <p:spPr>
          <a:xfrm>
            <a:off x="566928" y="5650992"/>
            <a:ext cx="548640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THE COLLECTION, AS FROZEN</a:t>
            </a:r>
          </a:p>
        </p:txBody>
      </p:sp>
      <p:sp>
        <p:nvSpPr>
          <p:cNvPr id="20" name="TextBox 19"/>
          <p:cNvSpPr txBox="1"/>
          <p:nvPr/>
        </p:nvSpPr>
        <p:spPr>
          <a:xfrm>
            <a:off x="566928" y="5907024"/>
            <a:ext cx="5577840" cy="457200"/>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AFB9B2"/>
                </a:solidFill>
                <a:latin typeface="IBM Plex Sans"/>
              </a:rPr>
              <a:t>100 open-access papers, 2007–2025 · boundary 2026-01-25 · 7,212,281 characters · 89 JATS XML, 11 HTML · SHA-256 per file and manifest.</a:t>
            </a:r>
          </a:p>
        </p:txBody>
      </p:sp>
      <p:sp>
        <p:nvSpPr>
          <p:cNvPr id="21" name="Rectangle 20"/>
          <p:cNvSpPr/>
          <p:nvPr/>
        </p:nvSpPr>
        <p:spPr>
          <a:xfrm>
            <a:off x="6364224" y="2889504"/>
            <a:ext cx="5285232" cy="2560320"/>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601968" y="3035808"/>
            <a:ext cx="475488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DEB577"/>
                </a:solidFill>
                <a:latin typeface="IBM Plex Mono"/>
              </a:rPr>
              <a:t>WHERE THE GPU GOES</a:t>
            </a:r>
          </a:p>
        </p:txBody>
      </p:sp>
      <p:sp>
        <p:nvSpPr>
          <p:cNvPr id="23" name="TextBox 22"/>
          <p:cNvSpPr txBox="1"/>
          <p:nvPr/>
        </p:nvSpPr>
        <p:spPr>
          <a:xfrm>
            <a:off x="6601968" y="3310128"/>
            <a:ext cx="4846320" cy="402336"/>
          </a:xfrm>
          <a:prstGeom prst="rect">
            <a:avLst/>
          </a:prstGeom>
          <a:noFill/>
        </p:spPr>
        <p:txBody>
          <a:bodyPr wrap="square" lIns="0" rIns="0" tIns="0" bIns="0" anchor="t">
            <a:noAutofit/>
          </a:bodyPr>
          <a:lstStyle/>
          <a:p>
            <a:pPr algn="l">
              <a:lnSpc>
                <a:spcPct val="108000"/>
              </a:lnSpc>
              <a:spcBef>
                <a:spcPts val="0"/>
              </a:spcBef>
              <a:spcAft>
                <a:spcPts val="0"/>
              </a:spcAft>
            </a:pPr>
            <a:r>
              <a:rPr sz="2200" b="1">
                <a:solidFill>
                  <a:srgbClr val="F1EFE7"/>
                </a:solidFill>
                <a:latin typeface="IBM Plex Sans"/>
              </a:rPr>
              <a:t>ONE NVIDIA L40S · 3.41s FIT</a:t>
            </a:r>
          </a:p>
        </p:txBody>
      </p:sp>
      <p:sp>
        <p:nvSpPr>
          <p:cNvPr id="24" name="TextBox 23"/>
          <p:cNvSpPr txBox="1"/>
          <p:nvPr/>
        </p:nvSpPr>
        <p:spPr>
          <a:xfrm>
            <a:off x="6601968" y="3803904"/>
            <a:ext cx="4791456" cy="731520"/>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AFB9B2"/>
                </a:solidFill>
                <a:latin typeface="IBM Plex Sans"/>
              </a:rPr>
              <a:t>19,000 → 512 → 128 masked encoder · 15% masking · 100 epochs · float32 · fixed seed. The only training run inside the loop.</a:t>
            </a:r>
          </a:p>
        </p:txBody>
      </p:sp>
      <p:sp>
        <p:nvSpPr>
          <p:cNvPr id="25" name="TextBox 24"/>
          <p:cNvSpPr txBox="1"/>
          <p:nvPr/>
        </p:nvSpPr>
        <p:spPr>
          <a:xfrm>
            <a:off x="6601968" y="4590288"/>
            <a:ext cx="4791456" cy="822960"/>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F1EFE7"/>
                </a:solidFill>
                <a:latin typeface="IBM Plex Sans"/>
              </a:rPr>
              <a:t>Trained once behind the boundary, then frozen. The bettor, the permutation calibration and the null audit are cheap and replayable on CPU, so a candidate costs logged actions rather than a new model.</a:t>
            </a:r>
          </a:p>
        </p:txBody>
      </p:sp>
      <p:sp>
        <p:nvSpPr>
          <p:cNvPr id="26" name="TextBox 25"/>
          <p:cNvSpPr txBox="1"/>
          <p:nvPr/>
        </p:nvSpPr>
        <p:spPr>
          <a:xfrm>
            <a:off x="6455664" y="5614416"/>
            <a:ext cx="5120640" cy="548640"/>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DEB577"/>
                </a:solidFill>
                <a:latin typeface="IBM Plex Sans"/>
              </a:rPr>
              <a:t>A frozen corpus bounds the evidence, never what a pretrained model already knew. This is a controlled recovery test; post-cutoff registration is the next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BACKTEST / THE RESULT</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08</a:t>
            </a:r>
          </a:p>
        </p:txBody>
      </p:sp>
      <p:sp>
        <p:nvSpPr>
          <p:cNvPr id="8" name="TextBox 7"/>
          <p:cNvSpPr txBox="1"/>
          <p:nvPr/>
        </p:nvSpPr>
        <p:spPr>
          <a:xfrm>
            <a:off x="548640" y="932688"/>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A candidate the frozen corpus could not have told it.</a:t>
            </a:r>
          </a:p>
        </p:txBody>
      </p:sp>
      <p:sp>
        <p:nvSpPr>
          <p:cNvPr id="9" name="TextBox 8"/>
          <p:cNvSpPr txBox="1"/>
          <p:nvPr/>
        </p:nvSpPr>
        <p:spPr>
          <a:xfrm>
            <a:off x="566928" y="1828800"/>
            <a:ext cx="2651760" cy="768096"/>
          </a:xfrm>
          <a:prstGeom prst="rect">
            <a:avLst/>
          </a:prstGeom>
          <a:noFill/>
        </p:spPr>
        <p:txBody>
          <a:bodyPr wrap="square" lIns="0" rIns="0" tIns="0" bIns="0" anchor="t">
            <a:noAutofit/>
          </a:bodyPr>
          <a:lstStyle/>
          <a:p>
            <a:pPr algn="l">
              <a:lnSpc>
                <a:spcPct val="108000"/>
              </a:lnSpc>
              <a:spcBef>
                <a:spcPts val="0"/>
              </a:spcBef>
              <a:spcAft>
                <a:spcPts val="0"/>
              </a:spcAft>
            </a:pPr>
            <a:r>
              <a:rPr sz="3800" b="1">
                <a:solidFill>
                  <a:srgbClr val="A6C9B8"/>
                </a:solidFill>
                <a:latin typeface="IBM Plex Sans"/>
              </a:rPr>
              <a:t>[ X ]</a:t>
            </a:r>
          </a:p>
        </p:txBody>
      </p:sp>
      <p:sp>
        <p:nvSpPr>
          <p:cNvPr id="10" name="TextBox 9"/>
          <p:cNvSpPr txBox="1"/>
          <p:nvPr/>
        </p:nvSpPr>
        <p:spPr>
          <a:xfrm>
            <a:off x="566928" y="2633472"/>
            <a:ext cx="2688336" cy="438912"/>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AFB9B2"/>
                </a:solidFill>
                <a:latin typeface="IBM Plex Sans"/>
              </a:rPr>
              <a:t>candidates proposed</a:t>
            </a:r>
          </a:p>
        </p:txBody>
      </p:sp>
      <p:sp>
        <p:nvSpPr>
          <p:cNvPr id="11" name="TextBox 10"/>
          <p:cNvSpPr txBox="1"/>
          <p:nvPr/>
        </p:nvSpPr>
        <p:spPr>
          <a:xfrm>
            <a:off x="3392424" y="1828800"/>
            <a:ext cx="2651760" cy="768096"/>
          </a:xfrm>
          <a:prstGeom prst="rect">
            <a:avLst/>
          </a:prstGeom>
          <a:noFill/>
        </p:spPr>
        <p:txBody>
          <a:bodyPr wrap="square" lIns="0" rIns="0" tIns="0" bIns="0" anchor="t">
            <a:noAutofit/>
          </a:bodyPr>
          <a:lstStyle/>
          <a:p>
            <a:pPr algn="l">
              <a:lnSpc>
                <a:spcPct val="108000"/>
              </a:lnSpc>
              <a:spcBef>
                <a:spcPts val="0"/>
              </a:spcBef>
              <a:spcAft>
                <a:spcPts val="0"/>
              </a:spcAft>
            </a:pPr>
            <a:r>
              <a:rPr sz="3800" b="1">
                <a:solidFill>
                  <a:srgbClr val="A6C9B8"/>
                </a:solidFill>
                <a:latin typeface="IBM Plex Sans"/>
              </a:rPr>
              <a:t>[ X ]</a:t>
            </a:r>
          </a:p>
        </p:txBody>
      </p:sp>
      <p:sp>
        <p:nvSpPr>
          <p:cNvPr id="12" name="TextBox 11"/>
          <p:cNvSpPr txBox="1"/>
          <p:nvPr/>
        </p:nvSpPr>
        <p:spPr>
          <a:xfrm>
            <a:off x="3392424" y="2633472"/>
            <a:ext cx="2688336" cy="438912"/>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AFB9B2"/>
                </a:solidFill>
                <a:latin typeface="IBM Plex Sans"/>
              </a:rPr>
              <a:t>passed the soundness floor</a:t>
            </a:r>
          </a:p>
        </p:txBody>
      </p:sp>
      <p:sp>
        <p:nvSpPr>
          <p:cNvPr id="13" name="TextBox 12"/>
          <p:cNvSpPr txBox="1"/>
          <p:nvPr/>
        </p:nvSpPr>
        <p:spPr>
          <a:xfrm>
            <a:off x="6217920" y="1828800"/>
            <a:ext cx="2651760" cy="768096"/>
          </a:xfrm>
          <a:prstGeom prst="rect">
            <a:avLst/>
          </a:prstGeom>
          <a:noFill/>
        </p:spPr>
        <p:txBody>
          <a:bodyPr wrap="square" lIns="0" rIns="0" tIns="0" bIns="0" anchor="t">
            <a:noAutofit/>
          </a:bodyPr>
          <a:lstStyle/>
          <a:p>
            <a:pPr algn="l">
              <a:lnSpc>
                <a:spcPct val="108000"/>
              </a:lnSpc>
              <a:spcBef>
                <a:spcPts val="0"/>
              </a:spcBef>
              <a:spcAft>
                <a:spcPts val="0"/>
              </a:spcAft>
            </a:pPr>
            <a:r>
              <a:rPr sz="3800" b="1">
                <a:solidFill>
                  <a:srgbClr val="A6C9B8"/>
                </a:solidFill>
                <a:latin typeface="IBM Plex Sans"/>
              </a:rPr>
              <a:t>[ X ]</a:t>
            </a:r>
          </a:p>
        </p:txBody>
      </p:sp>
      <p:sp>
        <p:nvSpPr>
          <p:cNvPr id="14" name="TextBox 13"/>
          <p:cNvSpPr txBox="1"/>
          <p:nvPr/>
        </p:nvSpPr>
        <p:spPr>
          <a:xfrm>
            <a:off x="6217920" y="2633472"/>
            <a:ext cx="2688336" cy="438912"/>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AFB9B2"/>
                </a:solidFill>
                <a:latin typeface="IBM Plex Sans"/>
              </a:rPr>
              <a:t>reached the human gate</a:t>
            </a:r>
          </a:p>
        </p:txBody>
      </p:sp>
      <p:sp>
        <p:nvSpPr>
          <p:cNvPr id="15" name="TextBox 14"/>
          <p:cNvSpPr txBox="1"/>
          <p:nvPr/>
        </p:nvSpPr>
        <p:spPr>
          <a:xfrm>
            <a:off x="9043415" y="1828800"/>
            <a:ext cx="2651760" cy="768096"/>
          </a:xfrm>
          <a:prstGeom prst="rect">
            <a:avLst/>
          </a:prstGeom>
          <a:noFill/>
        </p:spPr>
        <p:txBody>
          <a:bodyPr wrap="square" lIns="0" rIns="0" tIns="0" bIns="0" anchor="t">
            <a:noAutofit/>
          </a:bodyPr>
          <a:lstStyle/>
          <a:p>
            <a:pPr algn="l">
              <a:lnSpc>
                <a:spcPct val="108000"/>
              </a:lnSpc>
              <a:spcBef>
                <a:spcPts val="0"/>
              </a:spcBef>
              <a:spcAft>
                <a:spcPts val="0"/>
              </a:spcAft>
            </a:pPr>
            <a:r>
              <a:rPr sz="3800" b="1">
                <a:solidFill>
                  <a:srgbClr val="DEB577"/>
                </a:solidFill>
                <a:latin typeface="IBM Plex Sans"/>
              </a:rPr>
              <a:t>1</a:t>
            </a:r>
          </a:p>
        </p:txBody>
      </p:sp>
      <p:sp>
        <p:nvSpPr>
          <p:cNvPr id="16" name="TextBox 15"/>
          <p:cNvSpPr txBox="1"/>
          <p:nvPr/>
        </p:nvSpPr>
        <p:spPr>
          <a:xfrm>
            <a:off x="9043415" y="2633472"/>
            <a:ext cx="2688336" cy="438912"/>
          </a:xfrm>
          <a:prstGeom prst="rect">
            <a:avLst/>
          </a:prstGeom>
          <a:noFill/>
        </p:spPr>
        <p:txBody>
          <a:bodyPr wrap="square" lIns="0" rIns="0" tIns="0" bIns="0" anchor="t">
            <a:noAutofit/>
          </a:bodyPr>
          <a:lstStyle/>
          <a:p>
            <a:pPr algn="l">
              <a:lnSpc>
                <a:spcPct val="108000"/>
              </a:lnSpc>
              <a:spcBef>
                <a:spcPts val="0"/>
              </a:spcBef>
              <a:spcAft>
                <a:spcPts val="0"/>
              </a:spcAft>
            </a:pPr>
            <a:r>
              <a:rPr sz="1500" b="0">
                <a:solidFill>
                  <a:srgbClr val="AFB9B2"/>
                </a:solidFill>
                <a:latin typeface="IBM Plex Sans"/>
              </a:rPr>
              <a:t>matched a later paper</a:t>
            </a:r>
          </a:p>
        </p:txBody>
      </p:sp>
      <p:cxnSp>
        <p:nvCxnSpPr>
          <p:cNvPr id="17" name="Connector 16"/>
          <p:cNvCxnSpPr/>
          <p:nvPr/>
        </p:nvCxnSpPr>
        <p:spPr>
          <a:xfrm>
            <a:off x="548640" y="3163824"/>
            <a:ext cx="11091672"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566928" y="3291840"/>
            <a:ext cx="539496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THE SURVIVING CANDIDATE</a:t>
            </a:r>
          </a:p>
        </p:txBody>
      </p:sp>
      <p:sp>
        <p:nvSpPr>
          <p:cNvPr id="19" name="TextBox 18"/>
          <p:cNvSpPr txBox="1"/>
          <p:nvPr/>
        </p:nvSpPr>
        <p:spPr>
          <a:xfrm>
            <a:off x="566928" y="3566160"/>
            <a:ext cx="5394960" cy="731520"/>
          </a:xfrm>
          <a:prstGeom prst="rect">
            <a:avLst/>
          </a:prstGeom>
          <a:noFill/>
        </p:spPr>
        <p:txBody>
          <a:bodyPr wrap="square" lIns="0" rIns="0" tIns="0" bIns="0" anchor="t">
            <a:noAutofit/>
          </a:bodyPr>
          <a:lstStyle/>
          <a:p>
            <a:pPr algn="l">
              <a:lnSpc>
                <a:spcPct val="108000"/>
              </a:lnSpc>
              <a:spcBef>
                <a:spcPts val="0"/>
              </a:spcBef>
              <a:spcAft>
                <a:spcPts val="0"/>
              </a:spcAft>
            </a:pPr>
            <a:r>
              <a:rPr sz="1900" b="1">
                <a:solidFill>
                  <a:srgbClr val="F1EFE7"/>
                </a:solidFill>
                <a:latin typeface="IBM Plex Sans"/>
              </a:rPr>
              <a:t>[ subject → predicate → object · aspect ]</a:t>
            </a:r>
          </a:p>
        </p:txBody>
      </p:sp>
      <p:sp>
        <p:nvSpPr>
          <p:cNvPr id="20" name="TextBox 19"/>
          <p:cNvSpPr txBox="1"/>
          <p:nvPr/>
        </p:nvSpPr>
        <p:spPr>
          <a:xfrm>
            <a:off x="566928" y="4389120"/>
            <a:ext cx="539496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FB9B2"/>
                </a:solidFill>
                <a:latin typeface="IBM Plex Mono"/>
              </a:rPr>
              <a:t>CHECKS PASSED</a:t>
            </a:r>
          </a:p>
        </p:txBody>
      </p:sp>
      <p:sp>
        <p:nvSpPr>
          <p:cNvPr id="21" name="TextBox 20"/>
          <p:cNvSpPr txBox="1"/>
          <p:nvPr/>
        </p:nvSpPr>
        <p:spPr>
          <a:xfrm>
            <a:off x="566928" y="4663440"/>
            <a:ext cx="5358384" cy="731520"/>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F1EFE7"/>
                </a:solidFill>
                <a:latin typeface="IBM Plex Sans"/>
              </a:rPr>
              <a:t>≥8 independent units · permutation p never exactly zero · direction declared before the result · leave-one-group-out held</a:t>
            </a:r>
          </a:p>
        </p:txBody>
      </p:sp>
      <p:sp>
        <p:nvSpPr>
          <p:cNvPr id="22" name="TextBox 21"/>
          <p:cNvSpPr txBox="1"/>
          <p:nvPr/>
        </p:nvSpPr>
        <p:spPr>
          <a:xfrm>
            <a:off x="566928" y="5394960"/>
            <a:ext cx="5394960" cy="457200"/>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AFB9B2"/>
                </a:solidFill>
                <a:latin typeface="IBM Plex Mono"/>
              </a:rPr>
              <a:t>PROPOSED AT ACTION [ X ] OF [ X ] · BRANCH [ X ] · ACCEPTED BY [ NAME ]</a:t>
            </a:r>
          </a:p>
        </p:txBody>
      </p:sp>
      <p:sp>
        <p:nvSpPr>
          <p:cNvPr id="23" name="Rectangle 22"/>
          <p:cNvSpPr/>
          <p:nvPr/>
        </p:nvSpPr>
        <p:spPr>
          <a:xfrm>
            <a:off x="6364224" y="3291840"/>
            <a:ext cx="5285232" cy="2377440"/>
          </a:xfrm>
          <a:prstGeom prst="rect">
            <a:avLst/>
          </a:prstGeom>
          <a:solidFill>
            <a:srgbClr val="222E2A"/>
          </a:solidFill>
          <a:ln w="8890">
            <a:solidFill>
              <a:srgbClr val="3A494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601968" y="3456432"/>
            <a:ext cx="4791456"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DEB577"/>
                </a:solidFill>
                <a:latin typeface="IBM Plex Mono"/>
              </a:rPr>
              <a:t>[ JOURNAL ] · PUBLISHED AFTER OUR CUTOFF</a:t>
            </a:r>
          </a:p>
        </p:txBody>
      </p:sp>
      <p:sp>
        <p:nvSpPr>
          <p:cNvPr id="25" name="TextBox 24"/>
          <p:cNvSpPr txBox="1"/>
          <p:nvPr/>
        </p:nvSpPr>
        <p:spPr>
          <a:xfrm>
            <a:off x="6601968" y="3749039"/>
            <a:ext cx="4791456" cy="731520"/>
          </a:xfrm>
          <a:prstGeom prst="rect">
            <a:avLst/>
          </a:prstGeom>
          <a:noFill/>
        </p:spPr>
        <p:txBody>
          <a:bodyPr wrap="square" lIns="0" rIns="0" tIns="0" bIns="0" anchor="t">
            <a:noAutofit/>
          </a:bodyPr>
          <a:lstStyle/>
          <a:p>
            <a:pPr algn="l">
              <a:lnSpc>
                <a:spcPct val="108000"/>
              </a:lnSpc>
              <a:spcBef>
                <a:spcPts val="0"/>
              </a:spcBef>
              <a:spcAft>
                <a:spcPts val="0"/>
              </a:spcAft>
            </a:pPr>
            <a:r>
              <a:rPr sz="1700" b="1">
                <a:solidFill>
                  <a:srgbClr val="F1EFE7"/>
                </a:solidFill>
                <a:latin typeface="IBM Plex Sans"/>
              </a:rPr>
              <a:t>[ Paper title — the independently published finding ]</a:t>
            </a:r>
          </a:p>
        </p:txBody>
      </p:sp>
      <p:sp>
        <p:nvSpPr>
          <p:cNvPr id="26" name="TextBox 25"/>
          <p:cNvSpPr txBox="1"/>
          <p:nvPr/>
        </p:nvSpPr>
        <p:spPr>
          <a:xfrm>
            <a:off x="6601968" y="4590288"/>
            <a:ext cx="4791456" cy="274320"/>
          </a:xfrm>
          <a:prstGeom prst="rect">
            <a:avLst/>
          </a:prstGeom>
          <a:noFill/>
        </p:spPr>
        <p:txBody>
          <a:bodyPr wrap="square" lIns="0" rIns="0" tIns="0" bIns="0" anchor="t">
            <a:noAutofit/>
          </a:bodyPr>
          <a:lstStyle/>
          <a:p>
            <a:pPr algn="l">
              <a:lnSpc>
                <a:spcPct val="108000"/>
              </a:lnSpc>
              <a:spcBef>
                <a:spcPts val="0"/>
              </a:spcBef>
              <a:spcAft>
                <a:spcPts val="0"/>
              </a:spcAft>
            </a:pPr>
            <a:r>
              <a:rPr sz="1200" b="0">
                <a:solidFill>
                  <a:srgbClr val="AFB9B2"/>
                </a:solidFill>
                <a:latin typeface="IBM Plex Mono"/>
              </a:rPr>
              <a:t>[ AUTHORS ] · [ INSTITUTION ] · doi:[ DOI ]</a:t>
            </a:r>
          </a:p>
        </p:txBody>
      </p:sp>
      <p:sp>
        <p:nvSpPr>
          <p:cNvPr id="27" name="TextBox 26"/>
          <p:cNvSpPr txBox="1"/>
          <p:nvPr/>
        </p:nvSpPr>
        <p:spPr>
          <a:xfrm>
            <a:off x="6601968" y="4919472"/>
            <a:ext cx="4791456" cy="640080"/>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F1EFE7"/>
                </a:solidFill>
                <a:latin typeface="IBM Plex Sans"/>
              </a:rPr>
              <a:t>[ The one sentence in this paper that matches our candidate ]</a:t>
            </a:r>
          </a:p>
        </p:txBody>
      </p:sp>
      <p:sp>
        <p:nvSpPr>
          <p:cNvPr id="28" name="TextBox 27"/>
          <p:cNvSpPr txBox="1"/>
          <p:nvPr/>
        </p:nvSpPr>
        <p:spPr>
          <a:xfrm>
            <a:off x="566928" y="5888736"/>
            <a:ext cx="11064240" cy="365760"/>
          </a:xfrm>
          <a:prstGeom prst="rect">
            <a:avLst/>
          </a:prstGeom>
          <a:noFill/>
        </p:spPr>
        <p:txBody>
          <a:bodyPr wrap="square" lIns="0" rIns="0" tIns="0" bIns="0" anchor="t">
            <a:noAutofit/>
          </a:bodyPr>
          <a:lstStyle/>
          <a:p>
            <a:pPr algn="l">
              <a:lnSpc>
                <a:spcPct val="108000"/>
              </a:lnSpc>
              <a:spcBef>
                <a:spcPts val="0"/>
              </a:spcBef>
              <a:spcAft>
                <a:spcPts val="0"/>
              </a:spcAft>
            </a:pPr>
            <a:r>
              <a:rPr sz="1450" b="0">
                <a:solidFill>
                  <a:srgbClr val="DEB577"/>
                </a:solidFill>
                <a:latin typeface="IBM Plex Sans"/>
              </a:rPr>
              <a:t>Sound numbers are not truth. What this shows is aim: a graph plus a strict gate pointed compute at real, findable science.</a:t>
            </a:r>
          </a:p>
        </p:txBody>
      </p:sp>
      <p:sp>
        <p:nvSpPr>
          <p:cNvPr id="29" name="TextBox 28"/>
          <p:cNvSpPr txBox="1"/>
          <p:nvPr/>
        </p:nvSpPr>
        <p:spPr>
          <a:xfrm>
            <a:off x="548640" y="6181344"/>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RUN PENDING AUDIT · Bracketed values are placeholders. Do not present this slide until the run and the paper match are audited.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PREPARED ANSWERS / THE OBJECTIONS WE EXPECT</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09</a:t>
            </a:r>
          </a:p>
        </p:txBody>
      </p:sp>
      <p:sp>
        <p:nvSpPr>
          <p:cNvPr id="8" name="TextBox 7"/>
          <p:cNvSpPr txBox="1"/>
          <p:nvPr/>
        </p:nvSpPr>
        <p:spPr>
          <a:xfrm>
            <a:off x="548640" y="932688"/>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200" b="1">
                <a:solidFill>
                  <a:srgbClr val="F1EFE7"/>
                </a:solidFill>
                <a:latin typeface="IBM Plex Sans"/>
              </a:rPr>
              <a:t>The questions we would ask us.</a:t>
            </a:r>
          </a:p>
        </p:txBody>
      </p:sp>
      <p:cxnSp>
        <p:nvCxnSpPr>
          <p:cNvPr id="9" name="Connector 8"/>
          <p:cNvCxnSpPr/>
          <p:nvPr/>
        </p:nvCxnSpPr>
        <p:spPr>
          <a:xfrm>
            <a:off x="566928" y="1792224"/>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66928" y="1901952"/>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“This is retrieval with extra steps.”</a:t>
            </a:r>
          </a:p>
        </p:txBody>
      </p:sp>
      <p:sp>
        <p:nvSpPr>
          <p:cNvPr id="11" name="TextBox 10"/>
          <p:cNvSpPr txBox="1"/>
          <p:nvPr/>
        </p:nvSpPr>
        <p:spPr>
          <a:xfrm>
            <a:off x="566928" y="2212848"/>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Retrieval finds text. The graph computes identity, echo and contradiction — none of those is a lookup.</a:t>
            </a:r>
          </a:p>
        </p:txBody>
      </p:sp>
      <p:cxnSp>
        <p:nvCxnSpPr>
          <p:cNvPr id="12" name="Connector 11"/>
          <p:cNvCxnSpPr/>
          <p:nvPr/>
        </p:nvCxnSpPr>
        <p:spPr>
          <a:xfrm>
            <a:off x="6272784" y="1792224"/>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272784" y="1901952"/>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“The model will invent identifiers.”</a:t>
            </a:r>
          </a:p>
        </p:txBody>
      </p:sp>
      <p:sp>
        <p:nvSpPr>
          <p:cNvPr id="14" name="TextBox 13"/>
          <p:cNvSpPr txBox="1"/>
          <p:nvPr/>
        </p:nvSpPr>
        <p:spPr>
          <a:xfrm>
            <a:off x="6272784" y="2212848"/>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It cannot write one. It picks from closed menus and code grounds the choice; failures become counted deferral rows.</a:t>
            </a:r>
          </a:p>
        </p:txBody>
      </p:sp>
      <p:cxnSp>
        <p:nvCxnSpPr>
          <p:cNvPr id="15" name="Connector 14"/>
          <p:cNvCxnSpPr/>
          <p:nvPr/>
        </p:nvCxnSpPr>
        <p:spPr>
          <a:xfrm>
            <a:off x="566928" y="2816352"/>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66928" y="2926080"/>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“Sound numbers are not true biology.”</a:t>
            </a:r>
          </a:p>
        </p:txBody>
      </p:sp>
      <p:sp>
        <p:nvSpPr>
          <p:cNvPr id="17" name="TextBox 16"/>
          <p:cNvSpPr txBox="1"/>
          <p:nvPr/>
        </p:nvSpPr>
        <p:spPr>
          <a:xfrm>
            <a:off x="566928" y="3236976"/>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Agreed, and designed in. Nothing enters the master graph without a named person and a written note.</a:t>
            </a:r>
          </a:p>
        </p:txBody>
      </p:sp>
      <p:cxnSp>
        <p:nvCxnSpPr>
          <p:cNvPr id="18" name="Connector 17"/>
          <p:cNvCxnSpPr/>
          <p:nvPr/>
        </p:nvCxnSpPr>
        <p:spPr>
          <a:xfrm>
            <a:off x="6272784" y="2816352"/>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6272784" y="2926080"/>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“A frozen corpus is not a clean test.”</a:t>
            </a:r>
          </a:p>
        </p:txBody>
      </p:sp>
      <p:sp>
        <p:nvSpPr>
          <p:cNvPr id="20" name="TextBox 19"/>
          <p:cNvSpPr txBox="1"/>
          <p:nvPr/>
        </p:nvSpPr>
        <p:spPr>
          <a:xfrm>
            <a:off x="6272784" y="3236976"/>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Correct. It bounds the evidence, never pretraining memory. It shows aim and rigour, not clairvoyance.</a:t>
            </a:r>
          </a:p>
        </p:txBody>
      </p:sp>
      <p:cxnSp>
        <p:nvCxnSpPr>
          <p:cNvPr id="21" name="Connector 20"/>
          <p:cNvCxnSpPr/>
          <p:nvPr/>
        </p:nvCxnSpPr>
        <p:spPr>
          <a:xfrm>
            <a:off x="566928" y="3840480"/>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566928" y="3950208"/>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“Your e-value is a fancy p-value.”</a:t>
            </a:r>
          </a:p>
        </p:txBody>
      </p:sp>
      <p:sp>
        <p:nvSpPr>
          <p:cNvPr id="23" name="TextBox 22"/>
          <p:cNvSpPr txBox="1"/>
          <p:nvPr/>
        </p:nvSpPr>
        <p:spPr>
          <a:xfrm>
            <a:off x="566928" y="4261104"/>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It stays valid at any stopping time, so the agent may peek after every batch. A p-value does not.</a:t>
            </a:r>
          </a:p>
        </p:txBody>
      </p:sp>
      <p:cxnSp>
        <p:nvCxnSpPr>
          <p:cNvPr id="24" name="Connector 23"/>
          <p:cNvCxnSpPr/>
          <p:nvPr/>
        </p:nvCxnSpPr>
        <p:spPr>
          <a:xfrm>
            <a:off x="6272784" y="3840480"/>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272784" y="3950208"/>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“Then the learned bettor must win.”</a:t>
            </a:r>
          </a:p>
        </p:txBody>
      </p:sp>
      <p:sp>
        <p:nvSpPr>
          <p:cNvPr id="26" name="TextBox 25"/>
          <p:cNvSpPr txBox="1"/>
          <p:nvPr/>
        </p:nvSpPr>
        <p:spPr>
          <a:xfrm>
            <a:off x="6272784" y="4261104"/>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It does not. Permutation beats it on mean shifts and a single feature beats it on variance. We show that.</a:t>
            </a:r>
          </a:p>
        </p:txBody>
      </p:sp>
      <p:cxnSp>
        <p:nvCxnSpPr>
          <p:cNvPr id="27" name="Connector 26"/>
          <p:cNvCxnSpPr/>
          <p:nvPr/>
        </p:nvCxnSpPr>
        <p:spPr>
          <a:xfrm>
            <a:off x="566928" y="4864608"/>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566928" y="4974336"/>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“The branch monitor trains on itself.”</a:t>
            </a:r>
          </a:p>
        </p:txBody>
      </p:sp>
      <p:sp>
        <p:nvSpPr>
          <p:cNvPr id="29" name="TextBox 28"/>
          <p:cNvSpPr txBox="1"/>
          <p:nvPr/>
        </p:nvSpPr>
        <p:spPr>
          <a:xfrm>
            <a:off x="566928" y="5285232"/>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Prospectively, on independent episodes, with human review decisions excluded from labels — and it is observation-only today.</a:t>
            </a:r>
          </a:p>
        </p:txBody>
      </p:sp>
      <p:cxnSp>
        <p:nvCxnSpPr>
          <p:cNvPr id="30" name="Connector 29"/>
          <p:cNvCxnSpPr/>
          <p:nvPr/>
        </p:nvCxnSpPr>
        <p:spPr>
          <a:xfrm>
            <a:off x="6272784" y="4864608"/>
            <a:ext cx="5394960" cy="0"/>
          </a:xfrm>
          <a:prstGeom prst="line">
            <a:avLst/>
          </a:prstGeom>
          <a:ln w="1270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6272784" y="4974336"/>
            <a:ext cx="5376672" cy="292608"/>
          </a:xfrm>
          <a:prstGeom prst="rect">
            <a:avLst/>
          </a:prstGeom>
          <a:noFill/>
        </p:spPr>
        <p:txBody>
          <a:bodyPr wrap="square" lIns="0" rIns="0" tIns="0" bIns="0" anchor="t">
            <a:noAutofit/>
          </a:bodyPr>
          <a:lstStyle/>
          <a:p>
            <a:pPr algn="l">
              <a:lnSpc>
                <a:spcPct val="108000"/>
              </a:lnSpc>
              <a:spcBef>
                <a:spcPts val="0"/>
              </a:spcBef>
              <a:spcAft>
                <a:spcPts val="0"/>
              </a:spcAft>
            </a:pPr>
            <a:r>
              <a:rPr sz="1650" b="1">
                <a:solidFill>
                  <a:srgbClr val="A6C9B8"/>
                </a:solidFill>
                <a:latin typeface="IBM Plex Sans"/>
              </a:rPr>
              <a:t>“Better models make this obsolete.”</a:t>
            </a:r>
          </a:p>
        </p:txBody>
      </p:sp>
      <p:sp>
        <p:nvSpPr>
          <p:cNvPr id="32" name="TextBox 31"/>
          <p:cNvSpPr txBox="1"/>
          <p:nvPr/>
        </p:nvSpPr>
        <p:spPr>
          <a:xfrm>
            <a:off x="6272784" y="5285232"/>
            <a:ext cx="5358384" cy="530352"/>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Every guarantee sits outside the model: grounding, one action per turn, the floor, anytime validity, the gate.</a:t>
            </a:r>
          </a:p>
        </p:txBody>
      </p:sp>
      <p:sp>
        <p:nvSpPr>
          <p:cNvPr id="33" name="TextBox 32"/>
          <p:cNvSpPr txBox="1"/>
          <p:nvPr/>
        </p:nvSpPr>
        <p:spPr>
          <a:xfrm>
            <a:off x="566928" y="5760720"/>
            <a:ext cx="11064240" cy="457200"/>
          </a:xfrm>
          <a:prstGeom prst="rect">
            <a:avLst/>
          </a:prstGeom>
          <a:noFill/>
        </p:spPr>
        <p:txBody>
          <a:bodyPr wrap="square" lIns="0" rIns="0" tIns="0" bIns="0" anchor="t">
            <a:noAutofit/>
          </a:bodyPr>
          <a:lstStyle/>
          <a:p>
            <a:pPr algn="l">
              <a:lnSpc>
                <a:spcPct val="108000"/>
              </a:lnSpc>
              <a:spcBef>
                <a:spcPts val="0"/>
              </a:spcBef>
              <a:spcAft>
                <a:spcPts val="0"/>
              </a:spcAft>
            </a:pPr>
            <a:r>
              <a:rPr sz="1400" b="0">
                <a:solidFill>
                  <a:srgbClr val="DEB577"/>
                </a:solidFill>
                <a:latin typeface="IBM Plex Sans"/>
              </a:rPr>
              <a:t>Ask us the one on your mind. Every answer has a number behind it, and four of them are places where our own result is negative: PCA beat our denoiser, the docking benchmark failed, a permutation test beats our bettor on mean shifts, and the allocator has no live calibration.</a:t>
            </a:r>
          </a:p>
        </p:txBody>
      </p:sp>
      <p:sp>
        <p:nvSpPr>
          <p:cNvPr id="34" name="TextBox 33"/>
          <p:cNvSpPr txBox="1"/>
          <p:nvPr/>
        </p:nvSpPr>
        <p:spPr>
          <a:xfrm>
            <a:off x="548640" y="6272784"/>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COVERAGE · Open-access full text only, with a Chao2 capture-recapture completeness estimate and deferrals counted, not hidden.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1F"/>
        </a:solidFill>
        <a:effectLst/>
      </p:bgPr>
    </p:bg>
    <p:spTree>
      <p:nvGrpSpPr>
        <p:cNvPr id="1" name=""/>
        <p:cNvGrpSpPr/>
        <p:nvPr/>
      </p:nvGrpSpPr>
      <p:grpSpPr/>
      <p:sp>
        <p:nvSpPr>
          <p:cNvPr id="2" name="TextBox 1"/>
          <p:cNvSpPr txBox="1"/>
          <p:nvPr/>
        </p:nvSpPr>
        <p:spPr>
          <a:xfrm>
            <a:off x="502920" y="246888"/>
            <a:ext cx="2377440" cy="219456"/>
          </a:xfrm>
          <a:prstGeom prst="rect">
            <a:avLst/>
          </a:prstGeom>
          <a:noFill/>
        </p:spPr>
        <p:txBody>
          <a:bodyPr wrap="square" lIns="0" rIns="0" tIns="0" bIns="0" anchor="t">
            <a:noAutofit/>
          </a:bodyPr>
          <a:lstStyle/>
          <a:p>
            <a:pPr algn="l">
              <a:lnSpc>
                <a:spcPct val="108000"/>
              </a:lnSpc>
              <a:spcBef>
                <a:spcPts val="0"/>
              </a:spcBef>
              <a:spcAft>
                <a:spcPts val="0"/>
              </a:spcAft>
            </a:pPr>
            <a:r>
              <a:rPr sz="1100" b="1">
                <a:solidFill>
                  <a:srgbClr val="F1EFE7"/>
                </a:solidFill>
                <a:latin typeface="IBM Plex Mono"/>
              </a:rPr>
              <a:t>DN / RESEARCH</a:t>
            </a:r>
          </a:p>
        </p:txBody>
      </p:sp>
      <p:sp>
        <p:nvSpPr>
          <p:cNvPr id="3" name="TextBox 2"/>
          <p:cNvSpPr txBox="1"/>
          <p:nvPr/>
        </p:nvSpPr>
        <p:spPr>
          <a:xfrm>
            <a:off x="4572000" y="256032"/>
            <a:ext cx="7095744" cy="201168"/>
          </a:xfrm>
          <a:prstGeom prst="rect">
            <a:avLst/>
          </a:prstGeom>
          <a:noFill/>
        </p:spPr>
        <p:txBody>
          <a:bodyPr wrap="square" lIns="0" rIns="0" tIns="0" bIns="0" anchor="t">
            <a:noAutofit/>
          </a:bodyPr>
          <a:lstStyle/>
          <a:p>
            <a:pPr algn="r">
              <a:lnSpc>
                <a:spcPct val="108000"/>
              </a:lnSpc>
              <a:spcBef>
                <a:spcPts val="0"/>
              </a:spcBef>
              <a:spcAft>
                <a:spcPts val="0"/>
              </a:spcAft>
            </a:pPr>
            <a:r>
              <a:rPr sz="1000" b="0">
                <a:solidFill>
                  <a:srgbClr val="AFB9B2"/>
                </a:solidFill>
                <a:latin typeface="IBM Plex Mono"/>
              </a:rPr>
              <a:t>DIRECTION / WHY THIS COMPOUNDS</a:t>
            </a:r>
          </a:p>
        </p:txBody>
      </p:sp>
      <p:cxnSp>
        <p:nvCxnSpPr>
          <p:cNvPr id="4" name="Connector 3"/>
          <p:cNvCxnSpPr/>
          <p:nvPr/>
        </p:nvCxnSpPr>
        <p:spPr>
          <a:xfrm>
            <a:off x="502920" y="658368"/>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02920" y="6437376"/>
            <a:ext cx="11183112" cy="0"/>
          </a:xfrm>
          <a:prstGeom prst="line">
            <a:avLst/>
          </a:prstGeom>
          <a:ln w="889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02920" y="6547104"/>
            <a:ext cx="7315200" cy="173736"/>
          </a:xfrm>
          <a:prstGeom prst="rect">
            <a:avLst/>
          </a:prstGeom>
          <a:noFill/>
        </p:spPr>
        <p:txBody>
          <a:bodyPr wrap="square" lIns="0" rIns="0" tIns="0" bIns="0" anchor="t">
            <a:noAutofit/>
          </a:bodyPr>
          <a:lstStyle/>
          <a:p>
            <a:pPr algn="l">
              <a:lnSpc>
                <a:spcPct val="108000"/>
              </a:lnSpc>
              <a:spcBef>
                <a:spcPts val="0"/>
              </a:spcBef>
              <a:spcAft>
                <a:spcPts val="0"/>
              </a:spcAft>
            </a:pPr>
            <a:r>
              <a:rPr sz="800" b="0">
                <a:solidFill>
                  <a:srgbClr val="AFB9B2"/>
                </a:solidFill>
                <a:latin typeface="IBM Plex Mono"/>
              </a:rPr>
              <a:t>DNHACKS 2026  /  WORKING PRESENTATION</a:t>
            </a:r>
          </a:p>
        </p:txBody>
      </p:sp>
      <p:sp>
        <p:nvSpPr>
          <p:cNvPr id="7" name="TextBox 6"/>
          <p:cNvSpPr txBox="1"/>
          <p:nvPr/>
        </p:nvSpPr>
        <p:spPr>
          <a:xfrm>
            <a:off x="11100816" y="6501384"/>
            <a:ext cx="585216" cy="265176"/>
          </a:xfrm>
          <a:prstGeom prst="rect">
            <a:avLst/>
          </a:prstGeom>
          <a:noFill/>
        </p:spPr>
        <p:txBody>
          <a:bodyPr wrap="square" lIns="0" rIns="0" tIns="0" bIns="0" anchor="t">
            <a:noAutofit/>
          </a:bodyPr>
          <a:lstStyle/>
          <a:p>
            <a:pPr algn="r">
              <a:lnSpc>
                <a:spcPct val="108000"/>
              </a:lnSpc>
              <a:spcBef>
                <a:spcPts val="0"/>
              </a:spcBef>
              <a:spcAft>
                <a:spcPts val="0"/>
              </a:spcAft>
            </a:pPr>
            <a:r>
              <a:rPr sz="1200" b="0">
                <a:solidFill>
                  <a:srgbClr val="F1EFE7"/>
                </a:solidFill>
                <a:latin typeface="IBM Plex Mono"/>
              </a:rPr>
              <a:t>10</a:t>
            </a:r>
          </a:p>
        </p:txBody>
      </p:sp>
      <p:sp>
        <p:nvSpPr>
          <p:cNvPr id="8" name="TextBox 7"/>
          <p:cNvSpPr txBox="1"/>
          <p:nvPr/>
        </p:nvSpPr>
        <p:spPr>
          <a:xfrm>
            <a:off x="548640" y="950976"/>
            <a:ext cx="11064240" cy="1133856"/>
          </a:xfrm>
          <a:prstGeom prst="rect">
            <a:avLst/>
          </a:prstGeom>
          <a:noFill/>
        </p:spPr>
        <p:txBody>
          <a:bodyPr wrap="square" lIns="0" rIns="0" tIns="0" bIns="0" anchor="t">
            <a:noAutofit/>
          </a:bodyPr>
          <a:lstStyle/>
          <a:p>
            <a:pPr algn="l">
              <a:lnSpc>
                <a:spcPct val="108000"/>
              </a:lnSpc>
              <a:spcBef>
                <a:spcPts val="0"/>
              </a:spcBef>
              <a:spcAft>
                <a:spcPts val="0"/>
              </a:spcAft>
            </a:pPr>
            <a:r>
              <a:rPr sz="3000" b="1">
                <a:solidFill>
                  <a:srgbClr val="F1EFE7"/>
                </a:solidFill>
                <a:latin typeface="IBM Plex Sans"/>
              </a:rPr>
              <a:t>Every guarantee sits outside the model.</a:t>
            </a:r>
          </a:p>
          <a:p>
            <a:pPr algn="l">
              <a:lnSpc>
                <a:spcPct val="108000"/>
              </a:lnSpc>
              <a:spcBef>
                <a:spcPts val="0"/>
              </a:spcBef>
              <a:spcAft>
                <a:spcPts val="0"/>
              </a:spcAft>
            </a:pPr>
            <a:r>
              <a:rPr sz="3000" b="1">
                <a:solidFill>
                  <a:srgbClr val="F1EFE7"/>
                </a:solidFill>
                <a:latin typeface="IBM Plex Sans"/>
              </a:rPr>
              <a:t>That makes better models an input, not a threat.</a:t>
            </a:r>
          </a:p>
        </p:txBody>
      </p:sp>
      <p:sp>
        <p:nvSpPr>
          <p:cNvPr id="9" name="TextBox 8"/>
          <p:cNvSpPr txBox="1"/>
          <p:nvPr/>
        </p:nvSpPr>
        <p:spPr>
          <a:xfrm>
            <a:off x="566928" y="2231136"/>
            <a:ext cx="347472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A6C9B8"/>
                </a:solidFill>
                <a:latin typeface="IBM Plex Mono"/>
              </a:rPr>
              <a:t>NEXT 90 DAYS</a:t>
            </a:r>
          </a:p>
        </p:txBody>
      </p:sp>
      <p:cxnSp>
        <p:nvCxnSpPr>
          <p:cNvPr id="10" name="Connector 9"/>
          <p:cNvCxnSpPr/>
          <p:nvPr/>
        </p:nvCxnSpPr>
        <p:spPr>
          <a:xfrm>
            <a:off x="566928" y="2505456"/>
            <a:ext cx="3419856" cy="0"/>
          </a:xfrm>
          <a:prstGeom prst="line">
            <a:avLst/>
          </a:prstGeom>
          <a:ln w="19050">
            <a:solidFill>
              <a:srgbClr val="A6C9B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66928" y="2670048"/>
            <a:ext cx="3474720" cy="256032"/>
          </a:xfrm>
          <a:prstGeom prst="rect">
            <a:avLst/>
          </a:prstGeom>
          <a:noFill/>
        </p:spPr>
        <p:txBody>
          <a:bodyPr wrap="square" lIns="0" rIns="0" tIns="0" bIns="0" anchor="t">
            <a:noAutofit/>
          </a:bodyPr>
          <a:lstStyle/>
          <a:p>
            <a:pPr algn="l">
              <a:lnSpc>
                <a:spcPct val="108000"/>
              </a:lnSpc>
              <a:spcBef>
                <a:spcPts val="0"/>
              </a:spcBef>
              <a:spcAft>
                <a:spcPts val="0"/>
              </a:spcAft>
            </a:pPr>
            <a:r>
              <a:rPr sz="1500" b="1">
                <a:solidFill>
                  <a:srgbClr val="F1EFE7"/>
                </a:solidFill>
                <a:latin typeface="IBM Plex Sans"/>
              </a:rPr>
              <a:t>Corpus at scale</a:t>
            </a:r>
          </a:p>
        </p:txBody>
      </p:sp>
      <p:sp>
        <p:nvSpPr>
          <p:cNvPr id="12" name="TextBox 11"/>
          <p:cNvSpPr txBox="1"/>
          <p:nvPr/>
        </p:nvSpPr>
        <p:spPr>
          <a:xfrm>
            <a:off x="566928" y="2926080"/>
            <a:ext cx="3438144" cy="438912"/>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from 100 papers to a field-sized collection, with a Chao2 completeness estimate</a:t>
            </a:r>
          </a:p>
        </p:txBody>
      </p:sp>
      <p:sp>
        <p:nvSpPr>
          <p:cNvPr id="13" name="TextBox 12"/>
          <p:cNvSpPr txBox="1"/>
          <p:nvPr/>
        </p:nvSpPr>
        <p:spPr>
          <a:xfrm>
            <a:off x="566928" y="3511296"/>
            <a:ext cx="3474720" cy="256032"/>
          </a:xfrm>
          <a:prstGeom prst="rect">
            <a:avLst/>
          </a:prstGeom>
          <a:noFill/>
        </p:spPr>
        <p:txBody>
          <a:bodyPr wrap="square" lIns="0" rIns="0" tIns="0" bIns="0" anchor="t">
            <a:noAutofit/>
          </a:bodyPr>
          <a:lstStyle/>
          <a:p>
            <a:pPr algn="l">
              <a:lnSpc>
                <a:spcPct val="108000"/>
              </a:lnSpc>
              <a:spcBef>
                <a:spcPts val="0"/>
              </a:spcBef>
              <a:spcAft>
                <a:spcPts val="0"/>
              </a:spcAft>
            </a:pPr>
            <a:r>
              <a:rPr sz="1500" b="1">
                <a:solidFill>
                  <a:srgbClr val="F1EFE7"/>
                </a:solidFill>
                <a:latin typeface="IBM Plex Sans"/>
              </a:rPr>
              <a:t>First calibrated threshold</a:t>
            </a:r>
          </a:p>
        </p:txBody>
      </p:sp>
      <p:sp>
        <p:nvSpPr>
          <p:cNvPr id="14" name="TextBox 13"/>
          <p:cNvSpPr txBox="1"/>
          <p:nvPr/>
        </p:nvSpPr>
        <p:spPr>
          <a:xfrm>
            <a:off x="566928" y="3767328"/>
            <a:ext cx="3438144" cy="438912"/>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enrol the 116 independent episodes calibration needs, then publish one</a:t>
            </a:r>
          </a:p>
        </p:txBody>
      </p:sp>
      <p:sp>
        <p:nvSpPr>
          <p:cNvPr id="15" name="TextBox 14"/>
          <p:cNvSpPr txBox="1"/>
          <p:nvPr/>
        </p:nvSpPr>
        <p:spPr>
          <a:xfrm>
            <a:off x="566928" y="4352544"/>
            <a:ext cx="3474720" cy="256032"/>
          </a:xfrm>
          <a:prstGeom prst="rect">
            <a:avLst/>
          </a:prstGeom>
          <a:noFill/>
        </p:spPr>
        <p:txBody>
          <a:bodyPr wrap="square" lIns="0" rIns="0" tIns="0" bIns="0" anchor="t">
            <a:noAutofit/>
          </a:bodyPr>
          <a:lstStyle/>
          <a:p>
            <a:pPr algn="l">
              <a:lnSpc>
                <a:spcPct val="108000"/>
              </a:lnSpc>
              <a:spcBef>
                <a:spcPts val="0"/>
              </a:spcBef>
              <a:spcAft>
                <a:spcPts val="0"/>
              </a:spcAft>
            </a:pPr>
            <a:r>
              <a:rPr sz="1500" b="1">
                <a:solidFill>
                  <a:srgbClr val="F1EFE7"/>
                </a:solidFill>
                <a:latin typeface="IBM Plex Sans"/>
              </a:rPr>
              <a:t>Prospective, not retrospective</a:t>
            </a:r>
          </a:p>
        </p:txBody>
      </p:sp>
      <p:sp>
        <p:nvSpPr>
          <p:cNvPr id="16" name="TextBox 15"/>
          <p:cNvSpPr txBox="1"/>
          <p:nvPr/>
        </p:nvSpPr>
        <p:spPr>
          <a:xfrm>
            <a:off x="566928" y="4608576"/>
            <a:ext cx="3438144" cy="438912"/>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register candidates now; score them against literature not yet written</a:t>
            </a:r>
          </a:p>
        </p:txBody>
      </p:sp>
      <p:sp>
        <p:nvSpPr>
          <p:cNvPr id="17" name="TextBox 16"/>
          <p:cNvSpPr txBox="1"/>
          <p:nvPr/>
        </p:nvSpPr>
        <p:spPr>
          <a:xfrm>
            <a:off x="566928" y="5193792"/>
            <a:ext cx="3474720" cy="256032"/>
          </a:xfrm>
          <a:prstGeom prst="rect">
            <a:avLst/>
          </a:prstGeom>
          <a:noFill/>
        </p:spPr>
        <p:txBody>
          <a:bodyPr wrap="square" lIns="0" rIns="0" tIns="0" bIns="0" anchor="t">
            <a:noAutofit/>
          </a:bodyPr>
          <a:lstStyle/>
          <a:p>
            <a:pPr algn="l">
              <a:lnSpc>
                <a:spcPct val="108000"/>
              </a:lnSpc>
              <a:spcBef>
                <a:spcPts val="0"/>
              </a:spcBef>
              <a:spcAft>
                <a:spcPts val="0"/>
              </a:spcAft>
            </a:pPr>
            <a:r>
              <a:rPr sz="1500" b="1">
                <a:solidFill>
                  <a:srgbClr val="F1EFE7"/>
                </a:solidFill>
                <a:latin typeface="IBM Plex Sans"/>
              </a:rPr>
              <a:t>One bench partner</a:t>
            </a:r>
          </a:p>
        </p:txBody>
      </p:sp>
      <p:sp>
        <p:nvSpPr>
          <p:cNvPr id="18" name="TextBox 17"/>
          <p:cNvSpPr txBox="1"/>
          <p:nvPr/>
        </p:nvSpPr>
        <p:spPr>
          <a:xfrm>
            <a:off x="566928" y="5449824"/>
            <a:ext cx="3438144" cy="438912"/>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AFB9B2"/>
                </a:solidFill>
                <a:latin typeface="IBM Plex Sans"/>
              </a:rPr>
              <a:t>take a single accepted candidate to an actual wet-lab experiment</a:t>
            </a:r>
          </a:p>
        </p:txBody>
      </p:sp>
      <p:sp>
        <p:nvSpPr>
          <p:cNvPr id="19" name="TextBox 18"/>
          <p:cNvSpPr txBox="1"/>
          <p:nvPr/>
        </p:nvSpPr>
        <p:spPr>
          <a:xfrm>
            <a:off x="4370832" y="2231136"/>
            <a:ext cx="7223760" cy="237744"/>
          </a:xfrm>
          <a:prstGeom prst="rect">
            <a:avLst/>
          </a:prstGeom>
          <a:noFill/>
        </p:spPr>
        <p:txBody>
          <a:bodyPr wrap="square" lIns="0" rIns="0" tIns="0" bIns="0" anchor="t">
            <a:noAutofit/>
          </a:bodyPr>
          <a:lstStyle/>
          <a:p>
            <a:pPr algn="l">
              <a:lnSpc>
                <a:spcPct val="108000"/>
              </a:lnSpc>
              <a:spcBef>
                <a:spcPts val="0"/>
              </a:spcBef>
              <a:spcAft>
                <a:spcPts val="0"/>
              </a:spcAft>
            </a:pPr>
            <a:r>
              <a:rPr sz="1050" b="1">
                <a:solidFill>
                  <a:srgbClr val="DEB577"/>
                </a:solidFill>
                <a:latin typeface="IBM Plex Mono"/>
              </a:rPr>
              <a:t>THE ONLY METRIC WE ASK TO BE JUDGED ON</a:t>
            </a:r>
          </a:p>
        </p:txBody>
      </p:sp>
      <p:cxnSp>
        <p:nvCxnSpPr>
          <p:cNvPr id="20" name="Connector 19"/>
          <p:cNvCxnSpPr/>
          <p:nvPr/>
        </p:nvCxnSpPr>
        <p:spPr>
          <a:xfrm>
            <a:off x="4370832" y="2505456"/>
            <a:ext cx="7260336" cy="0"/>
          </a:xfrm>
          <a:prstGeom prst="line">
            <a:avLst/>
          </a:prstGeom>
          <a:ln w="19050">
            <a:solidFill>
              <a:srgbClr val="DEB577"/>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370832" y="2633472"/>
            <a:ext cx="7223760" cy="347472"/>
          </a:xfrm>
          <a:prstGeom prst="rect">
            <a:avLst/>
          </a:prstGeom>
          <a:noFill/>
        </p:spPr>
        <p:txBody>
          <a:bodyPr wrap="square" lIns="0" rIns="0" tIns="0" bIns="0" anchor="t">
            <a:noAutofit/>
          </a:bodyPr>
          <a:lstStyle/>
          <a:p>
            <a:pPr algn="l">
              <a:lnSpc>
                <a:spcPct val="108000"/>
              </a:lnSpc>
              <a:spcBef>
                <a:spcPts val="0"/>
              </a:spcBef>
              <a:spcAft>
                <a:spcPts val="0"/>
              </a:spcAft>
            </a:pPr>
            <a:r>
              <a:rPr sz="2000" b="1">
                <a:solidFill>
                  <a:srgbClr val="F1EFE7"/>
                </a:solidFill>
                <a:latin typeface="IBM Plex Sans"/>
              </a:rPr>
              <a:t>Cost and reviewer-minutes per rerunnable accepted finding.</a:t>
            </a:r>
          </a:p>
        </p:txBody>
      </p:sp>
      <p:sp>
        <p:nvSpPr>
          <p:cNvPr id="22" name="TextBox 21"/>
          <p:cNvSpPr txBox="1"/>
          <p:nvPr/>
        </p:nvSpPr>
        <p:spPr>
          <a:xfrm>
            <a:off x="4370832" y="3072384"/>
            <a:ext cx="7223760" cy="640080"/>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AFB9B2"/>
                </a:solidFill>
                <a:latin typeface="IBM Plex Sans"/>
              </a:rPr>
              <a:t>Not tokens, not papers read, not candidates generated. The denominator counts every branch that failed. The runtime records action time and SDK usage today; the ratio itself is unmeasured, and it is the first number a pilot has to produce.</a:t>
            </a:r>
          </a:p>
        </p:txBody>
      </p:sp>
      <p:cxnSp>
        <p:nvCxnSpPr>
          <p:cNvPr id="23" name="Connector 22"/>
          <p:cNvCxnSpPr/>
          <p:nvPr/>
        </p:nvCxnSpPr>
        <p:spPr>
          <a:xfrm>
            <a:off x="4370832" y="3840480"/>
            <a:ext cx="7260336"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4407408" y="3959352"/>
            <a:ext cx="1828800" cy="274320"/>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A6C9B8"/>
                </a:solidFill>
                <a:latin typeface="IBM Plex Mono"/>
              </a:rPr>
              <a:t>WHAT IMPROVES</a:t>
            </a:r>
          </a:p>
        </p:txBody>
      </p:sp>
      <p:sp>
        <p:nvSpPr>
          <p:cNvPr id="25" name="TextBox 24"/>
          <p:cNvSpPr txBox="1"/>
          <p:nvPr/>
        </p:nvSpPr>
        <p:spPr>
          <a:xfrm>
            <a:off x="6364224" y="3959352"/>
            <a:ext cx="3017520" cy="274320"/>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A6C9B8"/>
                </a:solidFill>
                <a:latin typeface="IBM Plex Mono"/>
              </a:rPr>
              <a:t>WHAT IT BUYS HERE</a:t>
            </a:r>
          </a:p>
        </p:txBody>
      </p:sp>
      <p:sp>
        <p:nvSpPr>
          <p:cNvPr id="26" name="TextBox 25"/>
          <p:cNvSpPr txBox="1"/>
          <p:nvPr/>
        </p:nvSpPr>
        <p:spPr>
          <a:xfrm>
            <a:off x="9528048" y="3959352"/>
            <a:ext cx="2139696" cy="274320"/>
          </a:xfrm>
          <a:prstGeom prst="rect">
            <a:avLst/>
          </a:prstGeom>
          <a:noFill/>
        </p:spPr>
        <p:txBody>
          <a:bodyPr wrap="square" lIns="0" rIns="0" tIns="0" bIns="0" anchor="t">
            <a:noAutofit/>
          </a:bodyPr>
          <a:lstStyle/>
          <a:p>
            <a:pPr algn="l">
              <a:lnSpc>
                <a:spcPct val="108000"/>
              </a:lnSpc>
              <a:spcBef>
                <a:spcPts val="0"/>
              </a:spcBef>
              <a:spcAft>
                <a:spcPts val="0"/>
              </a:spcAft>
            </a:pPr>
            <a:r>
              <a:rPr sz="1000" b="1">
                <a:solidFill>
                  <a:srgbClr val="A6C9B8"/>
                </a:solidFill>
                <a:latin typeface="IBM Plex Mono"/>
              </a:rPr>
              <a:t>WHAT DOES NOT MOVE</a:t>
            </a:r>
          </a:p>
        </p:txBody>
      </p:sp>
      <p:cxnSp>
        <p:nvCxnSpPr>
          <p:cNvPr id="27" name="Connector 26"/>
          <p:cNvCxnSpPr/>
          <p:nvPr/>
        </p:nvCxnSpPr>
        <p:spPr>
          <a:xfrm>
            <a:off x="4370832" y="4279392"/>
            <a:ext cx="7260336"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407408" y="4398264"/>
            <a:ext cx="1828800" cy="274320"/>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Extractor</a:t>
            </a:r>
          </a:p>
        </p:txBody>
      </p:sp>
      <p:sp>
        <p:nvSpPr>
          <p:cNvPr id="29" name="TextBox 28"/>
          <p:cNvSpPr txBox="1"/>
          <p:nvPr/>
        </p:nvSpPr>
        <p:spPr>
          <a:xfrm>
            <a:off x="6364224" y="4398264"/>
            <a:ext cx="301752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graph fills faster, coverage rises</a:t>
            </a:r>
          </a:p>
        </p:txBody>
      </p:sp>
      <p:sp>
        <p:nvSpPr>
          <p:cNvPr id="30" name="TextBox 29"/>
          <p:cNvSpPr txBox="1"/>
          <p:nvPr/>
        </p:nvSpPr>
        <p:spPr>
          <a:xfrm>
            <a:off x="9528048" y="4398264"/>
            <a:ext cx="2139696"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grounding + deferrals</a:t>
            </a:r>
          </a:p>
        </p:txBody>
      </p:sp>
      <p:cxnSp>
        <p:nvCxnSpPr>
          <p:cNvPr id="31" name="Connector 30"/>
          <p:cNvCxnSpPr/>
          <p:nvPr/>
        </p:nvCxnSpPr>
        <p:spPr>
          <a:xfrm>
            <a:off x="4370832" y="4718304"/>
            <a:ext cx="7260336"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4407408" y="4837176"/>
            <a:ext cx="1828800" cy="274320"/>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Explorer</a:t>
            </a:r>
          </a:p>
        </p:txBody>
      </p:sp>
      <p:sp>
        <p:nvSpPr>
          <p:cNvPr id="33" name="TextBox 32"/>
          <p:cNvSpPr txBox="1"/>
          <p:nvPr/>
        </p:nvSpPr>
        <p:spPr>
          <a:xfrm>
            <a:off x="6364224" y="4837176"/>
            <a:ext cx="301752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better trajectories to learn from</a:t>
            </a:r>
          </a:p>
        </p:txBody>
      </p:sp>
      <p:sp>
        <p:nvSpPr>
          <p:cNvPr id="34" name="TextBox 33"/>
          <p:cNvSpPr txBox="1"/>
          <p:nvPr/>
        </p:nvSpPr>
        <p:spPr>
          <a:xfrm>
            <a:off x="9528048" y="4837176"/>
            <a:ext cx="2139696"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one action per turn</a:t>
            </a:r>
          </a:p>
        </p:txBody>
      </p:sp>
      <p:cxnSp>
        <p:nvCxnSpPr>
          <p:cNvPr id="35" name="Connector 34"/>
          <p:cNvCxnSpPr/>
          <p:nvPr/>
        </p:nvCxnSpPr>
        <p:spPr>
          <a:xfrm>
            <a:off x="4370832" y="5157216"/>
            <a:ext cx="7260336"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4407408" y="5276088"/>
            <a:ext cx="1828800" cy="274320"/>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Inference cost</a:t>
            </a:r>
          </a:p>
        </p:txBody>
      </p:sp>
      <p:sp>
        <p:nvSpPr>
          <p:cNvPr id="37" name="TextBox 36"/>
          <p:cNvSpPr txBox="1"/>
          <p:nvPr/>
        </p:nvSpPr>
        <p:spPr>
          <a:xfrm>
            <a:off x="6364224" y="5276088"/>
            <a:ext cx="301752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more actions per dollar</a:t>
            </a:r>
          </a:p>
        </p:txBody>
      </p:sp>
      <p:sp>
        <p:nvSpPr>
          <p:cNvPr id="38" name="TextBox 37"/>
          <p:cNvSpPr txBox="1"/>
          <p:nvPr/>
        </p:nvSpPr>
        <p:spPr>
          <a:xfrm>
            <a:off x="9528048" y="5276088"/>
            <a:ext cx="2139696"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the soundness floor</a:t>
            </a:r>
          </a:p>
        </p:txBody>
      </p:sp>
      <p:cxnSp>
        <p:nvCxnSpPr>
          <p:cNvPr id="39" name="Connector 38"/>
          <p:cNvCxnSpPr/>
          <p:nvPr/>
        </p:nvCxnSpPr>
        <p:spPr>
          <a:xfrm>
            <a:off x="4370832" y="5596128"/>
            <a:ext cx="7260336" cy="0"/>
          </a:xfrm>
          <a:prstGeom prst="line">
            <a:avLst/>
          </a:prstGeom>
          <a:ln w="10160">
            <a:solidFill>
              <a:srgbClr val="3A4944"/>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4407408" y="5715000"/>
            <a:ext cx="1828800" cy="274320"/>
          </a:xfrm>
          <a:prstGeom prst="rect">
            <a:avLst/>
          </a:prstGeom>
          <a:noFill/>
        </p:spPr>
        <p:txBody>
          <a:bodyPr wrap="square" lIns="0" rIns="0" tIns="0" bIns="0" anchor="t">
            <a:noAutofit/>
          </a:bodyPr>
          <a:lstStyle/>
          <a:p>
            <a:pPr algn="l">
              <a:lnSpc>
                <a:spcPct val="108000"/>
              </a:lnSpc>
              <a:spcBef>
                <a:spcPts val="0"/>
              </a:spcBef>
              <a:spcAft>
                <a:spcPts val="0"/>
              </a:spcAft>
            </a:pPr>
            <a:r>
              <a:rPr sz="1350" b="0">
                <a:solidFill>
                  <a:srgbClr val="F1EFE7"/>
                </a:solidFill>
                <a:latin typeface="IBM Plex Sans"/>
              </a:rPr>
              <a:t>Instruments</a:t>
            </a:r>
          </a:p>
        </p:txBody>
      </p:sp>
      <p:sp>
        <p:nvSpPr>
          <p:cNvPr id="41" name="TextBox 40"/>
          <p:cNvSpPr txBox="1"/>
          <p:nvPr/>
        </p:nvSpPr>
        <p:spPr>
          <a:xfrm>
            <a:off x="6364224" y="5715000"/>
            <a:ext cx="3017520"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more of biology becomes executable</a:t>
            </a:r>
          </a:p>
        </p:txBody>
      </p:sp>
      <p:sp>
        <p:nvSpPr>
          <p:cNvPr id="42" name="TextBox 41"/>
          <p:cNvSpPr txBox="1"/>
          <p:nvPr/>
        </p:nvSpPr>
        <p:spPr>
          <a:xfrm>
            <a:off x="9528048" y="5715000"/>
            <a:ext cx="2139696" cy="274320"/>
          </a:xfrm>
          <a:prstGeom prst="rect">
            <a:avLst/>
          </a:prstGeom>
          <a:noFill/>
        </p:spPr>
        <p:txBody>
          <a:bodyPr wrap="square" lIns="0" rIns="0" tIns="0" bIns="0" anchor="t">
            <a:noAutofit/>
          </a:bodyPr>
          <a:lstStyle/>
          <a:p>
            <a:pPr algn="l">
              <a:lnSpc>
                <a:spcPct val="108000"/>
              </a:lnSpc>
              <a:spcBef>
                <a:spcPts val="0"/>
              </a:spcBef>
              <a:spcAft>
                <a:spcPts val="0"/>
              </a:spcAft>
            </a:pPr>
            <a:r>
              <a:rPr sz="1300" b="0">
                <a:solidFill>
                  <a:srgbClr val="AFB9B2"/>
                </a:solidFill>
                <a:latin typeface="IBM Plex Sans"/>
              </a:rPr>
              <a:t>the human gate</a:t>
            </a:r>
          </a:p>
        </p:txBody>
      </p:sp>
      <p:sp>
        <p:nvSpPr>
          <p:cNvPr id="43" name="TextBox 42"/>
          <p:cNvSpPr txBox="1"/>
          <p:nvPr/>
        </p:nvSpPr>
        <p:spPr>
          <a:xfrm>
            <a:off x="566928" y="5943600"/>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250" b="0">
                <a:solidFill>
                  <a:srgbClr val="DEB577"/>
                </a:solidFill>
                <a:latin typeface="IBM Plex Sans"/>
              </a:rPr>
              <a:t>Three years out the bottleneck is not reading the literature. It is choosing which machine-proposed experiment deserves a bench, and that is the allocator.</a:t>
            </a:r>
          </a:p>
        </p:txBody>
      </p:sp>
      <p:sp>
        <p:nvSpPr>
          <p:cNvPr id="44" name="TextBox 43"/>
          <p:cNvSpPr txBox="1"/>
          <p:nvPr/>
        </p:nvSpPr>
        <p:spPr>
          <a:xfrm>
            <a:off x="548640" y="6345936"/>
            <a:ext cx="11064240" cy="292608"/>
          </a:xfrm>
          <a:prstGeom prst="rect">
            <a:avLst/>
          </a:prstGeom>
          <a:noFill/>
        </p:spPr>
        <p:txBody>
          <a:bodyPr wrap="square" lIns="0" rIns="0" tIns="0" bIns="0" anchor="t">
            <a:noAutofit/>
          </a:bodyPr>
          <a:lstStyle/>
          <a:p>
            <a:pPr algn="l">
              <a:lnSpc>
                <a:spcPct val="108000"/>
              </a:lnSpc>
              <a:spcBef>
                <a:spcPts val="0"/>
              </a:spcBef>
              <a:spcAft>
                <a:spcPts val="0"/>
              </a:spcAft>
            </a:pPr>
            <a:r>
              <a:rPr sz="1000" b="0">
                <a:solidFill>
                  <a:srgbClr val="AFB9B2"/>
                </a:solidFill>
                <a:latin typeface="IBM Plex Mono"/>
              </a:rPr>
              <a:t>PROPOSED · No customer, revenue or pricing claim. First deployment is one private workspace inside a computational research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 Research — DNHacks 2026</dc:title>
  <dc:subject>Editable working pitch: scientific discovery, AI engineering and trustworthy evidence</dc:subject>
  <dc:creator>DNHacks team</dc:creator>
  <cp:keywords>DNHacks, DN Research, working draft, scientific discovery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