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A useful discovery can start with a connection between papers that nobody has tested together. DN Research is our working name for an engine that finds research directions, writes analyses against public data, and keeps the evidence inspectable. Our ambition is to turn more of the science we already have into experiments worth running.</a:t>
            </a:r>
          </a:p>
          <a:p/>
          <a:p>
            <a:r>
              <a:t>EVIDENCE / STATUS</a:t>
            </a:r>
          </a:p>
          <a:p>
            <a:r>
              <a:t>Working name; prototype. No confirmed new biological discovery or performance improvement is claimed.</a:t>
            </a:r>
          </a:p>
          <a:p/>
          <a:p>
            <a:r>
              <a:t>BEFORE PRESENTING / NEXT EDIT</a:t>
            </a:r>
          </a:p>
          <a:p>
            <a:r>
              <a:t>Replace DN Research after the team selects a product name. Open Category is proposed because the official event describes it as the DTX-sponsored home for cross-cutting technology; this is not a submitted category claim. Confirm the team's entered track. Keep the visual system. Core slides 1–11 target about five minutes, including the demo.</a:t>
            </a:r>
          </a:p>
          <a:p/>
          <a:p>
            <a:r>
              <a:t>JUDGING CRITERIA</a:t>
            </a:r>
          </a:p>
          <a:p>
            <a:r>
              <a:t>Problem &amp; Real-World Impact; Novelty and Importance of AI</a:t>
            </a:r>
          </a:p>
          <a:p/>
          <a:p>
            <a:r>
              <a:t>SOURCES</a:t>
            </a:r>
          </a:p>
          <a:p>
            <a:r>
              <a:t>Repository: ARCHITECTURE.md at 1e83cfb158dd1c9d35894e05006bd9482a566233</a:t>
            </a:r>
          </a:p>
          <a:p>
            <a:r>
              <a:t>Repository: frontend/DESIGN.md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PubMed contains more than forty million citations and abstracts. Finding documents is only the beginning. A researcher still has to connect their claims, choose a tractable question, find the right data and check the result. We are building for that decision: what deserves the next unit of scientific effort?</a:t>
            </a:r>
          </a:p>
          <a:p/>
          <a:p>
            <a:r>
              <a:t>EVIDENCE / STATUS</a:t>
            </a:r>
          </a:p>
          <a:p>
            <a:r>
              <a:t>PubMed scale is an external fact. Workflow bottleneck is our product hypothesis, not a measured user-study finding.</a:t>
            </a:r>
          </a:p>
          <a:p/>
          <a:p>
            <a:r>
              <a:t>BEFORE PRESENTING / NEXT EDIT</a:t>
            </a:r>
          </a:p>
          <a:p>
            <a:r>
              <a:t>Recheck against the final demo build; preserve evidence labels.</a:t>
            </a:r>
          </a:p>
          <a:p/>
          <a:p>
            <a:r>
              <a:t>JUDGING CRITERIA</a:t>
            </a:r>
          </a:p>
          <a:p>
            <a:r>
              <a:t>Problem &amp; Real-World Impact (25)</a:t>
            </a:r>
          </a:p>
          <a:p/>
          <a:p>
            <a:r>
              <a:t>SOURCES</a:t>
            </a:r>
          </a:p>
          <a:p>
            <a:r>
              <a:t>NIH / NLM · About PubMed: https://pubmed.ncbi.nlm.nih.gov/about/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Our initial user is a computational biologist on a small oncology team. They need to decide where scarce experimental time should go. That drives the interface: a research tree for direction, source passages and code for scrutiny, and visible uncertainty. This is a working persona; interviews and usability measurements are still ahead.</a:t>
            </a:r>
          </a:p>
          <a:p/>
          <a:p>
            <a:r>
              <a:t>EVIDENCE / STATUS</a:t>
            </a:r>
          </a:p>
          <a:p>
            <a:r>
              <a:t>Persona is proposed, not based on completed interviews. UI design choices and accessibility features exist. Human approval controls are currently hidden in the frontend.</a:t>
            </a:r>
          </a:p>
          <a:p/>
          <a:p>
            <a:r>
              <a:t>BEFORE PRESENTING / NEXT EDIT</a:t>
            </a:r>
          </a:p>
          <a:p>
            <a:r>
              <a:t>Recheck against the final demo build; preserve evidence labels.</a:t>
            </a:r>
          </a:p>
          <a:p/>
          <a:p>
            <a:r>
              <a:t>JUDGING CRITERIA</a:t>
            </a:r>
          </a:p>
          <a:p>
            <a:r>
              <a:t>Understanding of the User (30); User Experience &amp; Usability (40); Design Quality &amp; Craft (30)</a:t>
            </a:r>
          </a:p>
          <a:p/>
          <a:p>
            <a:r>
              <a:t>SOURCES</a:t>
            </a:r>
          </a:p>
          <a:p>
            <a:r>
              <a:t>Repository: frontend/DESIGN.md at 1e83cfb158dd1c9d35894e05006bd9482a566233</a:t>
            </a:r>
          </a:p>
          <a:p>
            <a:r>
              <a:t>Repository: docs/frontend.md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Here is the system. A knowledge graph connects scientific claims to their sources and context. The agent explores those relationships, writes and runs Python analyses, and submits the result. A deterministic screen can send it back to retry or reframe. A human decision, with a written note, is required before promotion into the accepted graph.</a:t>
            </a:r>
          </a:p>
          <a:p/>
          <a:p>
            <a:r>
              <a:t>EVIDENCE / STATUS</a:t>
            </a:r>
          </a:p>
          <a:p>
            <a:r>
              <a:t>Integrated architecture exists. The current screen validates reported statistics; it does not independently reproduce the analysis. Backend human-review API exists; frontend review controls are hidden.</a:t>
            </a:r>
          </a:p>
          <a:p/>
          <a:p>
            <a:r>
              <a:t>BEFORE PRESENTING / NEXT EDIT</a:t>
            </a:r>
          </a:p>
          <a:p>
            <a:r>
              <a:t>Recheck against the final demo build; preserve evidence labels.</a:t>
            </a:r>
          </a:p>
          <a:p/>
          <a:p>
            <a:r>
              <a:t>JUDGING CRITERIA</a:t>
            </a:r>
          </a:p>
          <a:p>
            <a:r>
              <a:t>Technical Execution (50); AI Technical Sophistication (50); Reliability, Evaluation &amp; Trustworthiness (25)</a:t>
            </a:r>
          </a:p>
          <a:p/>
          <a:p>
            <a:r>
              <a:t>SOURCES</a:t>
            </a:r>
          </a:p>
          <a:p>
            <a:r>
              <a:t>Repository: ARCHITECTURE.md at 1e83cfb158dd1c9d35894e05006bd9482a566233</a:t>
            </a:r>
          </a:p>
          <a:p>
            <a:r>
              <a:t>Repository: src/dnhacksbio/litmap/promote.py at 1e83cfb158dd1c9d35894e05006bd9482a566233</a:t>
            </a:r>
          </a:p>
          <a:p>
            <a:r>
              <a:t>Repository: src/dnhacksbio/explorer/verifyqueue.py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AI is fundamental to interpreting papers, proposing connections and writing task-specific analyses. Our engineering makes that work inspectable: grounded claim identities, explicit actions, and durable branch control. Children report their findings; a parent chooses what continues. A restart preserves the decisions and artifacts. This is the behavior we can demonstrate and evaluate.</a:t>
            </a:r>
          </a:p>
          <a:p/>
          <a:p>
            <a:r>
              <a:t>EVIDENCE / STATUS</a:t>
            </a:r>
          </a:p>
          <a:p>
            <a:r>
              <a:t>Existing implementation: multi-pass extraction and identifier grounding, explicit actions, child reporting/parent decisions, immutable artifacts and ordered runtime events. Fork means split into research branches. Model roles: Opus reads papers, Sonnet checks direction and repairs extraction, MiniLM supports retrieval; no claim that this selection beats alternatives. No first-of-kind or measured superior allocation claim.</a:t>
            </a:r>
          </a:p>
          <a:p/>
          <a:p>
            <a:r>
              <a:t>BEFORE PRESENTING / NEXT EDIT</a:t>
            </a:r>
          </a:p>
          <a:p>
            <a:r>
              <a:t>Recheck against the final demo build; preserve evidence labels.</a:t>
            </a:r>
          </a:p>
          <a:p/>
          <a:p>
            <a:r>
              <a:t>JUDGING CRITERIA</a:t>
            </a:r>
          </a:p>
          <a:p>
            <a:r>
              <a:t>Novelty and Importance of AI (25); AI Technical Sophistication (50); Technical Execution (50)</a:t>
            </a:r>
          </a:p>
          <a:p/>
          <a:p>
            <a:r>
              <a:t>SOURCES</a:t>
            </a:r>
          </a:p>
          <a:p>
            <a:r>
              <a:t>Repository: src/dnhacksbio/litmap/extract.py at 1e83cfb158dd1c9d35894e05006bd9482a566233</a:t>
            </a:r>
          </a:p>
          <a:p>
            <a:r>
              <a:t>Repository: src/dnhacksbio/litmap/grounding.py at 1e83cfb158dd1c9d35894e05006bd9482a566233</a:t>
            </a:r>
          </a:p>
          <a:p>
            <a:r>
              <a:t>Repository: src/dnhacksbio/explorer/control.py at 1e83cfb158dd1c9d35894e05006bd9482a566233</a:t>
            </a:r>
          </a:p>
          <a:p>
            <a:r>
              <a:t>Repository: src/dnhacksbio/explorer/runtime.py at 1e83cfb158dd1c9d35894e05006bd9482a566233</a:t>
            </a:r>
          </a:p>
          <a:p>
            <a:r>
              <a:t>Repository: src/dnhacksbio/llm.py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55 seconds</a:t>
            </a:r>
          </a:p>
          <a:p>
            <a:r>
              <a:t>For the final demo, follow one pancreatic-cancer question through its source, hypothesis, code, result and feedback. We have a curated set of one hundred full-text papers with provenance. This current capture demonstrates the working interface using a synthetic test fixture; it is not a discovery result. Replace it with the recorded scientific investigation as soon as that run is ready.</a:t>
            </a:r>
          </a:p>
          <a:p/>
          <a:p>
            <a:r>
              <a:t>EVIDENCE / STATUS</a:t>
            </a:r>
          </a:p>
          <a:p>
            <a:r>
              <a:t>Screenshot: actual React app rendered by frontend/e2e tests with synthetic data, not a PDAC run. 100-paper corpus is real curation metadata; indexing does not imply completed claim extraction. Pancreatic cancer overall has 13.7% five-year relative survival in SEER 2016–2022; reserve that statistic for Q&amp;A if useful and never imply prototype benefit.</a:t>
            </a:r>
          </a:p>
          <a:p/>
          <a:p>
            <a:r>
              <a:t>BEFORE PRESENTING / NEXT EDIT</a:t>
            </a:r>
          </a:p>
          <a:p>
            <a:r>
              <a:t>CRITICAL REPLACEMENT: choose a real run and record 45–60 seconds. Open exact source; select branch; show code and structured result; show rejection/candidate feedback. Do not promise visible human-review buttons. Keep local video or screenshots as fallback; never label a fixture as real.</a:t>
            </a:r>
          </a:p>
          <a:p/>
          <a:p>
            <a:r>
              <a:t>JUDGING CRITERIA</a:t>
            </a:r>
          </a:p>
          <a:p>
            <a:r>
              <a:t>Technical Execution (prototype works and polish); UX &amp; Usability; Real-World Impact</a:t>
            </a:r>
          </a:p>
          <a:p/>
          <a:p>
            <a:r>
              <a:t>SOURCES</a:t>
            </a:r>
          </a:p>
          <a:p>
            <a:r>
              <a:t>Repository: demo/pdac/README.md at 1e83cfb158dd1c9d35894e05006bd9482a566233</a:t>
            </a:r>
          </a:p>
          <a:p>
            <a:r>
              <a:t>Repository: frontend/e2e/workspace.spec.ts at 1e83cfb158dd1c9d35894e05006bd9482a566233</a:t>
            </a:r>
          </a:p>
          <a:p>
            <a:r>
              <a:t>Repository: docs/frontend.md at 1e83cfb158dd1c9d35894e05006bd9482a566233</a:t>
            </a:r>
          </a:p>
          <a:p>
            <a:r>
              <a:t>NCI SEER · Pancreatic Cancer Stat Facts: https://seer.cancer.gov/statfacts/html/pancreas.html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Trust has three layers: what the source actually said, what the implemented numerical checks accept, and what a scientist concludes. The screen can reject a malformed result or one that contradicts its predicted direction. It still reads reported statistics. Independent reruns and confirmation remain necessary; a candidate is not a confirmed discovery.</a:t>
            </a:r>
          </a:p>
          <a:p/>
          <a:p>
            <a:r>
              <a:t>EVIDENCE / STATUS</a:t>
            </a:r>
          </a:p>
          <a:p>
            <a:r>
              <a:t>Ordinary falsifier checks fields, finite effect, n_units ≥ 8, p in (0,1], expected direction, p ≤ .05 and reported robust flag. This is not proof of independence, correct analysis or family-wide error control.</a:t>
            </a:r>
          </a:p>
          <a:p/>
          <a:p>
            <a:r>
              <a:t>BEFORE PRESENTING / NEXT EDIT</a:t>
            </a:r>
          </a:p>
          <a:p>
            <a:r>
              <a:t>Recheck against the final demo build; preserve evidence labels.</a:t>
            </a:r>
          </a:p>
          <a:p/>
          <a:p>
            <a:r>
              <a:t>JUDGING CRITERIA</a:t>
            </a:r>
          </a:p>
          <a:p>
            <a:r>
              <a:t>Reliability, Evaluation &amp; Trustworthiness (25); Technical Execution (50)</a:t>
            </a:r>
          </a:p>
          <a:p/>
          <a:p>
            <a:r>
              <a:t>SOURCES</a:t>
            </a:r>
          </a:p>
          <a:p>
            <a:r>
              <a:t>Repository: src/dnhacksbio/falsifier.py at 1e83cfb158dd1c9d35894e05006bd9482a566233</a:t>
            </a:r>
          </a:p>
          <a:p>
            <a:r>
              <a:t>Repository: src/dnhacksbio/methods.py at 1e83cfb158dd1c9d35894e05006bd9482a566233</a:t>
            </a:r>
          </a:p>
          <a:p>
            <a:r>
              <a:t>Repository: src/dnhacksbio/litmap/promote.py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We also built a separate learned statistical diagnostic and evaluated its failure behavior. In ten thousand synthetic runs with no group difference, the learned-encoder version crossed its evidence threshold in one point one two percent of runs. Training data and scoring units are separated. This is a concrete component test, not end-to-end discovery accuracy or a deployed guarantee.</a:t>
            </a:r>
          </a:p>
          <a:p/>
          <a:p>
            <a:r>
              <a:t>EVIDENCE / STATUS</a:t>
            </a:r>
          </a:p>
          <a:p>
            <a:r>
              <a:t>Read directly from expanded-null.json: 112/10,000 ever crossings, Wilson 95% CI .93–1.35%; final rejections 20/10,000=.20%. Each repetition 96 independent synthetic pairs, 16 burn-in pairs; frozen synthetic encoder from separate 256-row training set. Ordinary fixed-horizon permutation rejects 513/10,000=5.13%; this is compatible with nominal 5%, not evidence it is unreliable. Invalid label-memorizing control rejects 10,000/10,000. All methods in appendix. Statistical diagnostic is separate from live falsifier.</a:t>
            </a:r>
          </a:p>
          <a:p/>
          <a:p>
            <a:r>
              <a:t>BEFORE PRESENTING / NEXT EDIT</a:t>
            </a:r>
          </a:p>
          <a:p>
            <a:r>
              <a:t>Keep synthetic, standalone and ever-crossing labels. Earlier paragraph in validation README says 10,000 runs not yet run; its later expanded section and JSON supersede that historical pilot statement. Do not imply broad 1.12% product false-positive rate.</a:t>
            </a:r>
          </a:p>
          <a:p/>
          <a:p>
            <a:r>
              <a:t>JUDGING CRITERIA</a:t>
            </a:r>
          </a:p>
          <a:p>
            <a:r>
              <a:t>AI Technical Sophistication (50); Reliability, Evaluation &amp; Trustworthiness (25)</a:t>
            </a:r>
          </a:p>
          <a:p/>
          <a:p>
            <a:r>
              <a:t>SOURCES</a:t>
            </a:r>
          </a:p>
          <a:p>
            <a:r>
              <a:t>Repository: research/learned-evalue-validation/expanded-null.json at 1e83cfb158dd1c9d35894e05006bd9482a566233</a:t>
            </a:r>
          </a:p>
          <a:p>
            <a:r>
              <a:t>Repository: research/learned-evalue-validation/README.md at 1e83cfb158dd1c9d35894e05006bd9482a566233</a:t>
            </a:r>
          </a:p>
          <a:p>
            <a:r>
              <a:t>Repository: src/dnhacksbio/learned_evalue.py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Our first commercial hypothesis is a private research workspace for an oncology team, with compute metered by use. The buyer is the research lead who owns prioritization. A pilot should answer three questions: can another analyst reproduce the output, does the scientist find it useful, and what does each reviewed candidate cost? We have not measured those outcomes yet.</a:t>
            </a:r>
          </a:p>
          <a:p/>
          <a:p>
            <a:r>
              <a:t>EVIDENCE / STATUS</a:t>
            </a:r>
          </a:p>
          <a:p>
            <a:r>
              <a:t>Proposed buyer and commercial model, no customer validation. Existing localhost research service is not production hardened. Cost formula and deployment blockers appear in appendix.</a:t>
            </a:r>
          </a:p>
          <a:p/>
          <a:p>
            <a:r>
              <a:t>BEFORE PRESENTING / NEXT EDIT</a:t>
            </a:r>
          </a:p>
          <a:p>
            <a:r>
              <a:t>Recheck against the final demo build; preserve evidence labels.</a:t>
            </a:r>
          </a:p>
          <a:p/>
          <a:p>
            <a:r>
              <a:t>JUDGING CRITERIA</a:t>
            </a:r>
          </a:p>
          <a:p>
            <a:r>
              <a:t>Feasibility &amp; Deployment Potential (25); Understanding of the User (30)</a:t>
            </a:r>
          </a:p>
          <a:p/>
          <a:p>
            <a:r>
              <a:t>SOURCES</a:t>
            </a:r>
          </a:p>
          <a:p>
            <a:r>
              <a:t>Repository: docs/frontend.md at 1e83cfb158dd1c9d35894e05006bd9482a566233</a:t>
            </a:r>
          </a:p>
          <a:p>
            <a:r>
              <a:t>Repository: docs/runtime.md at 1e83cfb158dd1c9d35894e05006bd9482a566233</a:t>
            </a:r>
          </a:p>
          <a:p>
            <a:r>
              <a:t>Repository: plans/backlog.md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Today we have the inspectable research engine and separate statistical tooling. Next comes the evidence that matters: a real recorded pancreatic-cancer investigation, independent reruns and a matched-budget pilot. The plans extend into learned biological tests and three-dimensional experiment workbenches. We will add those capabilities against explicit validation milestones.</a:t>
            </a:r>
          </a:p>
          <a:p/>
          <a:p>
            <a:r>
              <a:t>EVIDENCE / STATUS</a:t>
            </a:r>
          </a:p>
          <a:p>
            <a:r>
              <a:t>Three learned tool plans are planning-only: protein/phosphosignaling, pharmacotype association and donor-level cellular ecosystems. Existing private expression/dependency/drug-response scoring is distinct from these future learned tools. New 3D plans cover inhibitor workbench, binder design, tumor-stroma and spindle simulation, with explicit reference/prediction/simulation/illustration provenance. They are not implemented tools or existing biological results. Real trajectory training and calibrated stopping are deferred.</a:t>
            </a:r>
          </a:p>
          <a:p/>
          <a:p>
            <a:r>
              <a:t>BEFORE PRESENTING / NEXT EDIT</a:t>
            </a:r>
          </a:p>
          <a:p>
            <a:r>
              <a:t>Recheck against the final demo build; preserve evidence labels.</a:t>
            </a:r>
          </a:p>
          <a:p/>
          <a:p>
            <a:r>
              <a:t>JUDGING CRITERIA</a:t>
            </a:r>
          </a:p>
          <a:p>
            <a:r>
              <a:t>Feasibility &amp; Deployment Potential (25); Technical Execution (50)</a:t>
            </a:r>
          </a:p>
          <a:p/>
          <a:p>
            <a:r>
              <a:t>SOURCES</a:t>
            </a:r>
          </a:p>
          <a:p>
            <a:r>
              <a:t>Repository: plans/evalue-tool-council/README.md at 1e83cfb158dd1c9d35894e05006bd9482a566233</a:t>
            </a:r>
          </a:p>
          <a:p>
            <a:r>
              <a:t>Repository: plans/evalue-tool-council/native-evidence-contract.md at 1e83cfb158dd1c9d35894e05006bd9482a566233</a:t>
            </a:r>
          </a:p>
          <a:p>
            <a:r>
              <a:t>Repository: docs/branch-monitoring.md at 1e83cfb158dd1c9d35894e05006bd9482a566233</a:t>
            </a:r>
          </a:p>
          <a:p>
            <a:r>
              <a:t>Repository: plans/3d-experiment-tools/README.md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20 seconds</a:t>
            </a:r>
          </a:p>
          <a:p>
            <a:r>
              <a:t>Scientific advantage depends on turning knowledge into evidence we can act on. We want to build infrastructure that helps American research teams do more useful science with their compute. Our next milestone is concrete: one independently reproduced, expert-reviewed candidate, with the full path from its source to the result.</a:t>
            </a:r>
          </a:p>
          <a:p/>
          <a:p>
            <a:r>
              <a:t>EVIDENCE / STATUS</a:t>
            </a:r>
          </a:p>
          <a:p>
            <a:r>
              <a:t>Ambition, not measured dollar efficiency. DTX vision emphasizes U.S. leadership across critical technologies including health. This is our audience-fit inference, not DTX endorsement.</a:t>
            </a:r>
          </a:p>
          <a:p/>
          <a:p>
            <a:r>
              <a:t>BEFORE PRESENTING / NEXT EDIT</a:t>
            </a:r>
          </a:p>
          <a:p>
            <a:r>
              <a:t>End the short pitch here and take questions. If a verified result lands, replace next milestone with that result and its precise scope. Add agreed team names/contact only after supplied.</a:t>
            </a:r>
          </a:p>
          <a:p/>
          <a:p>
            <a:r>
              <a:t>JUDGING CRITERIA</a:t>
            </a:r>
          </a:p>
          <a:p>
            <a:r>
              <a:t>Problem &amp; Real-World Impact; Feasibility &amp; Deployment Potential</a:t>
            </a:r>
          </a:p>
          <a:p/>
          <a:p>
            <a:r>
              <a:t>SOURCES</a:t>
            </a:r>
          </a:p>
          <a:p>
            <a:r>
              <a:t>DTX Ventures · Vision: https://www.dtxventures.com/vision (accessed 2026-09-06)</a:t>
            </a:r>
          </a:p>
          <a:p>
            <a:r>
              <a:t>DNHacks · Official event and category descriptions: https://dnhacks.org/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20 seconds</a:t>
            </a:r>
          </a:p>
          <a:p>
            <a:r>
              <a:t>The core story is deliberately weighted toward engineering, which accounts for half the main score and half the AI award. The supporting slides make the evidence, deployment assumptions and user decisions easy to inspect.</a:t>
            </a:r>
          </a:p>
          <a:p/>
          <a:p>
            <a:r>
              <a:t>EVIDENCE / STATUS</a:t>
            </a:r>
          </a:p>
          <a:p>
            <a:r>
              <a:t>All nine rubric items and weights match the user-provided rubric.</a:t>
            </a:r>
          </a:p>
          <a:p/>
          <a:p>
            <a:r>
              <a:t>BEFORE PRESENTING / NEXT EDIT</a:t>
            </a:r>
          </a:p>
          <a:p>
            <a:r>
              <a:t>Recheck against the final demo build; preserve evidence labels.</a:t>
            </a:r>
          </a:p>
          <a:p/>
          <a:p>
            <a:r>
              <a:t>JUDGING CRITERIA</a:t>
            </a:r>
          </a:p>
          <a:p>
            <a:r>
              <a:t>All criteria</a:t>
            </a:r>
          </a:p>
          <a:p/>
          <a:p>
            <a:r>
              <a:t>SOURCES</a:t>
            </a:r>
          </a:p>
          <a:p>
            <a:r>
              <a:t>DNHacks · Official event and category descriptions: https://dnhacks.org/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These status labels separate implementation from data preparation and scientific validation. A frozen corpus is useful infrastructure, but it does not exclude model memory or prove a blind discovery. A working statistical module also does not establish that the full research loop finds better hypotheses.</a:t>
            </a:r>
          </a:p>
          <a:p/>
          <a:p>
            <a:r>
              <a:t>EVIDENCE / STATUS</a:t>
            </a:r>
          </a:p>
          <a:p>
            <a:r>
              <a:t>Claim ledger reconciles current code with plans. Older forecasting materials and historical validation-pilot statements were not reused as current proof.</a:t>
            </a:r>
          </a:p>
          <a:p/>
          <a:p>
            <a:r>
              <a:t>BEFORE PRESENTING / NEXT EDIT</a:t>
            </a:r>
          </a:p>
          <a:p>
            <a:r>
              <a:t>Recheck against the final demo build; preserve evidence labels.</a:t>
            </a:r>
          </a:p>
          <a:p/>
          <a:p>
            <a:r>
              <a:t>JUDGING CRITERIA</a:t>
            </a:r>
          </a:p>
          <a:p>
            <a:r>
              <a:t>Technical Execution; Reliability &amp; Trustworthiness</a:t>
            </a:r>
          </a:p>
          <a:p/>
          <a:p>
            <a:r>
              <a:t>SOURCES</a:t>
            </a:r>
          </a:p>
          <a:p>
            <a:r>
              <a:t>Repository: ARCHITECTURE.md at 1e83cfb158dd1c9d35894e05006bd9482a566233</a:t>
            </a:r>
          </a:p>
          <a:p>
            <a:r>
              <a:t>Repository: demo/pdac/README.md at 1e83cfb158dd1c9d35894e05006bd9482a566233</a:t>
            </a:r>
          </a:p>
          <a:p>
            <a:r>
              <a:t>Repository: research/learned-evalue-validation/README.md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The full comparison matters. A simpler single-feature method can outperform learned features on a particular task. Our real-data example uses a separate observational COVID expression cohort and the same thirty evaluation pairs for each method. It is a diagnostic engineering result, not cancer validation, causality or universal model superiority.</a:t>
            </a:r>
          </a:p>
          <a:p/>
          <a:p>
            <a:r>
              <a:t>EVIDENCE / STATUS</a:t>
            </a:r>
          </a:p>
          <a:p>
            <a:r>
              <a:t>Synthetic table read directly from expanded-null.json. Threshold 20; alpha .05. Permutation comparators have one fixed-horizon decision. Real final e-values: learned3652.81, PCA85.76, IFIT3 scalar5964.41, calibrated permutation99.00. 374 unique day-zero donors split 40/20/40; the same 30 selected evaluation pairs with 91 positive evaluation donors unused. Different representation widths; not an equal-width architecture ablation. Clinical labels not randomized. E-values must not be multiplied across dependent/reused data.</a:t>
            </a:r>
          </a:p>
          <a:p/>
          <a:p>
            <a:r>
              <a:t>BEFORE PRESENTING / NEXT EDIT</a:t>
            </a:r>
          </a:p>
          <a:p>
            <a:r>
              <a:t>Recheck against the final demo build; preserve evidence labels.</a:t>
            </a:r>
          </a:p>
          <a:p/>
          <a:p>
            <a:r>
              <a:t>JUDGING CRITERIA</a:t>
            </a:r>
          </a:p>
          <a:p>
            <a:r>
              <a:t>AI Technical Sophistication (50); Reliability, Evaluation &amp; Trustworthiness (25)</a:t>
            </a:r>
          </a:p>
          <a:p/>
          <a:p>
            <a:r>
              <a:t>SOURCES</a:t>
            </a:r>
          </a:p>
          <a:p>
            <a:r>
              <a:t>Repository: research/learned-evalue-validation/expanded-null.json at 1e83cfb158dd1c9d35894e05006bd9482a566233</a:t>
            </a:r>
          </a:p>
          <a:p>
            <a:r>
              <a:t>Repository: research/learned-evalue-validation/real-expression/README.md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We would start with a narrowly scoped research pilot. We need authenticated access, isolated execution and persistent workers that survive application deployment. The economics must include scientist review as well as model and compute spend. The intended first use is research prioritization; patient-facing decisions would require a separate validation and regulatory path.</a:t>
            </a:r>
          </a:p>
          <a:p/>
          <a:p>
            <a:r>
              <a:t>EVIDENCE / STATUS</a:t>
            </a:r>
          </a:p>
          <a:p>
            <a:r>
              <a:t>Research server is localhost-only in docs. Docker currently implemented; removal is a product decision but replacement environment/permissions unspecified. Security controls in this slide are requirements, not completed implementation or certification. No legal conclusion about device status.</a:t>
            </a:r>
          </a:p>
          <a:p/>
          <a:p>
            <a:r>
              <a:t>BEFORE PRESENTING / NEXT EDIT</a:t>
            </a:r>
          </a:p>
          <a:p>
            <a:r>
              <a:t>Recheck against the final demo build; preserve evidence labels.</a:t>
            </a:r>
          </a:p>
          <a:p/>
          <a:p>
            <a:r>
              <a:t>JUDGING CRITERIA</a:t>
            </a:r>
          </a:p>
          <a:p>
            <a:r>
              <a:t>Feasibility &amp; Deployment Potential (25)</a:t>
            </a:r>
          </a:p>
          <a:p/>
          <a:p>
            <a:r>
              <a:t>SOURCES</a:t>
            </a:r>
          </a:p>
          <a:p>
            <a:r>
              <a:t>Repository: ARCHITECTURE.md at 1e83cfb158dd1c9d35894e05006bd9482a566233</a:t>
            </a:r>
          </a:p>
          <a:p>
            <a:r>
              <a:t>Repository: docs/frontend.md at 1e83cfb158dd1c9d35894e05006bd9482a566233</a:t>
            </a:r>
          </a:p>
          <a:p>
            <a:r>
              <a:t>Repository: docs/runtime.md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We should be compared with serious research agents, not a strawman chatbot. Co-scientist and Elicit already perform substantive research workflows. Our claim is the specific composition we built: grounded relationships, recursive executed investigations and an inspectable decision trail. We still need matched-budget comparisons to establish an advantage.</a:t>
            </a:r>
          </a:p>
          <a:p/>
          <a:p>
            <a:r>
              <a:t>EVIDENCE / STATUS</a:t>
            </a:r>
          </a:p>
          <a:p>
            <a:r>
              <a:t>Primary official descriptions reviewed. Do not claim first autonomous scientist, first multi-agent research system or unique experimental validation. Current Elicit research agent post is August 2026; DeepMind source May 2026.</a:t>
            </a:r>
          </a:p>
          <a:p/>
          <a:p>
            <a:r>
              <a:t>BEFORE PRESENTING / NEXT EDIT</a:t>
            </a:r>
          </a:p>
          <a:p>
            <a:r>
              <a:t>Recheck against the final demo build; preserve evidence labels.</a:t>
            </a:r>
          </a:p>
          <a:p/>
          <a:p>
            <a:r>
              <a:t>JUDGING CRITERIA</a:t>
            </a:r>
          </a:p>
          <a:p>
            <a:r>
              <a:t>Technical Execution (originality); Novelty and Importance of AI (25)</a:t>
            </a:r>
          </a:p>
          <a:p/>
          <a:p>
            <a:r>
              <a:t>SOURCES</a:t>
            </a:r>
          </a:p>
          <a:p>
            <a:r>
              <a:t>Google DeepMind · Co-scientist: https://deepmind.google/blog/co-scientist-a-multi-agent-ai-partner-to-accelerate-research/ (accessed 2026-09-06)</a:t>
            </a:r>
          </a:p>
          <a:p>
            <a:r>
              <a:t>Elicit · Introducing Elicit Research Agent: https://elicit.com/blog/introducing-elicit-research-agent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The next evaluation should compare the research loop with a strong single agent and flat parallel research under the same total budget. Freeze tasks and starting evidence, account for failed branches, and have independent analysts rerun results. Measure expert usefulness and cost. Retrospective dates alone do not remove model-memory contamination.</a:t>
            </a:r>
          </a:p>
          <a:p/>
          <a:p>
            <a:r>
              <a:t>EVIDENCE / STATUS</a:t>
            </a:r>
          </a:p>
          <a:p>
            <a:r>
              <a:t>Evaluation proposal only; no new model runs or training authorized by creation of this deck. Predeclare dataset/task splits, evaluator rubric, budgets, stopping rules, output definitions and exclusions; report exact denominators and uncertainty when justified.</a:t>
            </a:r>
          </a:p>
          <a:p/>
          <a:p>
            <a:r>
              <a:t>BEFORE PRESENTING / NEXT EDIT</a:t>
            </a:r>
          </a:p>
          <a:p>
            <a:r>
              <a:t>Recheck against the final demo build; preserve evidence labels.</a:t>
            </a:r>
          </a:p>
          <a:p/>
          <a:p>
            <a:r>
              <a:t>JUDGING CRITERIA</a:t>
            </a:r>
          </a:p>
          <a:p>
            <a:r>
              <a:t>Reliability, Evaluation &amp; Trustworthiness (25); Technical Execution (50); Feasibility (25)</a:t>
            </a:r>
          </a:p>
          <a:p/>
          <a:p>
            <a:r>
              <a:t>SOURCES</a:t>
            </a:r>
          </a:p>
          <a:p>
            <a:r>
              <a:t>Repository: plans/backlog.md at 1e83cfb158dd1c9d35894e05006bd9482a566233</a:t>
            </a:r>
          </a:p>
          <a:p>
            <a:r>
              <a:t>Repository: plans/PLAN-demo-slides.md at 1e83cfb158dd1c9d35894e05006bd9482a566233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SCIENTIFIC DISCOVERY / WORKING NAME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01</a:t>
            </a:r>
          </a:p>
        </p:txBody>
      </p:sp>
      <p:cxnSp>
        <p:nvCxnSpPr>
          <p:cNvPr id="8" name="Connector 7"/>
          <p:cNvCxnSpPr/>
          <p:nvPr/>
        </p:nvCxnSpPr>
        <p:spPr>
          <a:xfrm flipH="1" flipV="1">
            <a:off x="6836600" y="1901189"/>
            <a:ext cx="208947" cy="29770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 name="Connector 8"/>
          <p:cNvCxnSpPr/>
          <p:nvPr/>
        </p:nvCxnSpPr>
        <p:spPr>
          <a:xfrm flipV="1">
            <a:off x="7045547" y="2149357"/>
            <a:ext cx="418211" cy="4953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flipH="1">
            <a:off x="6940488" y="2198893"/>
            <a:ext cx="105059" cy="46658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flipH="1" flipV="1">
            <a:off x="7036079" y="2877650"/>
            <a:ext cx="189736" cy="11170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7225815" y="2989354"/>
            <a:ext cx="242792" cy="18239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7225815" y="2989354"/>
            <a:ext cx="245768" cy="23931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7237699" y="1676860"/>
            <a:ext cx="396683" cy="3303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7237699" y="1676860"/>
            <a:ext cx="412220" cy="1552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flipH="1">
            <a:off x="6836600" y="1676860"/>
            <a:ext cx="401099" cy="2243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H="1" flipV="1">
            <a:off x="7463758" y="2149357"/>
            <a:ext cx="216031" cy="7650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a:off x="7679789" y="2225865"/>
            <a:ext cx="268094" cy="10600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flipV="1">
            <a:off x="7679789" y="1917135"/>
            <a:ext cx="176388" cy="30873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6940488" y="2665479"/>
            <a:ext cx="95591" cy="21217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flipH="1">
            <a:off x="6723518" y="2665479"/>
            <a:ext cx="216970" cy="32591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7468607" y="3171744"/>
            <a:ext cx="2976" cy="569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V="1">
            <a:off x="7468607" y="2720196"/>
            <a:ext cx="243446" cy="45154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flipH="1">
            <a:off x="7712053" y="2568833"/>
            <a:ext cx="147822" cy="15136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V="1">
            <a:off x="7859875" y="2331874"/>
            <a:ext cx="88008" cy="23695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a:off x="6836600" y="1901189"/>
            <a:ext cx="627158" cy="24816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flipH="1" flipV="1">
            <a:off x="7036079" y="2877650"/>
            <a:ext cx="435504" cy="35102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flipV="1">
            <a:off x="7463758" y="1807391"/>
            <a:ext cx="267203" cy="34196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flipV="1">
            <a:off x="7634382" y="1692384"/>
            <a:ext cx="15537" cy="1751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0" name="Connector 29"/>
          <p:cNvCxnSpPr/>
          <p:nvPr/>
        </p:nvCxnSpPr>
        <p:spPr>
          <a:xfrm>
            <a:off x="7634382" y="1709898"/>
            <a:ext cx="96579" cy="9749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1" name="Connector 30"/>
          <p:cNvCxnSpPr/>
          <p:nvPr/>
        </p:nvCxnSpPr>
        <p:spPr>
          <a:xfrm>
            <a:off x="7634382" y="1709898"/>
            <a:ext cx="174018" cy="15202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flipH="1">
            <a:off x="6723518" y="2877650"/>
            <a:ext cx="312561" cy="11374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flipH="1" flipV="1">
            <a:off x="7856177" y="1917135"/>
            <a:ext cx="91706" cy="41473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7808400" y="1861922"/>
            <a:ext cx="47777" cy="5521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flipH="1" flipV="1">
            <a:off x="7730961" y="1807391"/>
            <a:ext cx="77439" cy="5453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7649919" y="1692384"/>
            <a:ext cx="81042" cy="11500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flipH="1" flipV="1">
            <a:off x="9638663" y="1566570"/>
            <a:ext cx="269284" cy="14385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flipH="1" flipV="1">
            <a:off x="9585080" y="1629406"/>
            <a:ext cx="322867" cy="8101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9" name="Connector 38"/>
          <p:cNvCxnSpPr/>
          <p:nvPr/>
        </p:nvCxnSpPr>
        <p:spPr>
          <a:xfrm flipH="1" flipV="1">
            <a:off x="9515815" y="1468346"/>
            <a:ext cx="392132" cy="24207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0" name="Connector 39"/>
          <p:cNvCxnSpPr/>
          <p:nvPr/>
        </p:nvCxnSpPr>
        <p:spPr>
          <a:xfrm flipH="1" flipV="1">
            <a:off x="9976036" y="2605827"/>
            <a:ext cx="140843" cy="2570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1" name="Connector 40"/>
          <p:cNvCxnSpPr/>
          <p:nvPr/>
        </p:nvCxnSpPr>
        <p:spPr>
          <a:xfrm flipH="1" flipV="1">
            <a:off x="10086959" y="2460648"/>
            <a:ext cx="29920" cy="17088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2" name="Connector 41"/>
          <p:cNvCxnSpPr/>
          <p:nvPr/>
        </p:nvCxnSpPr>
        <p:spPr>
          <a:xfrm flipV="1">
            <a:off x="10116879" y="2608796"/>
            <a:ext cx="270541" cy="2273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3" name="Connector 42"/>
          <p:cNvCxnSpPr/>
          <p:nvPr/>
        </p:nvCxnSpPr>
        <p:spPr>
          <a:xfrm flipH="1">
            <a:off x="10523840" y="2331382"/>
            <a:ext cx="13951" cy="7580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4" name="Connector 43"/>
          <p:cNvCxnSpPr/>
          <p:nvPr/>
        </p:nvCxnSpPr>
        <p:spPr>
          <a:xfrm flipH="1">
            <a:off x="10387420" y="2331382"/>
            <a:ext cx="150371" cy="27741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5" name="Connector 44"/>
          <p:cNvCxnSpPr/>
          <p:nvPr/>
        </p:nvCxnSpPr>
        <p:spPr>
          <a:xfrm flipH="1">
            <a:off x="10086959" y="2331382"/>
            <a:ext cx="450832" cy="12926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6" name="Connector 45"/>
          <p:cNvCxnSpPr/>
          <p:nvPr/>
        </p:nvCxnSpPr>
        <p:spPr>
          <a:xfrm flipH="1">
            <a:off x="10387420" y="2407186"/>
            <a:ext cx="136420" cy="20161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7" name="Connector 46"/>
          <p:cNvCxnSpPr/>
          <p:nvPr/>
        </p:nvCxnSpPr>
        <p:spPr>
          <a:xfrm flipH="1">
            <a:off x="10483795" y="2407186"/>
            <a:ext cx="40045" cy="42316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8" name="Connector 47"/>
          <p:cNvCxnSpPr/>
          <p:nvPr/>
        </p:nvCxnSpPr>
        <p:spPr>
          <a:xfrm flipV="1">
            <a:off x="9585080" y="1566570"/>
            <a:ext cx="53583" cy="6283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9" name="Connector 48"/>
          <p:cNvCxnSpPr/>
          <p:nvPr/>
        </p:nvCxnSpPr>
        <p:spPr>
          <a:xfrm flipH="1" flipV="1">
            <a:off x="9515815" y="1468346"/>
            <a:ext cx="69265" cy="16106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0" name="Connector 49"/>
          <p:cNvCxnSpPr/>
          <p:nvPr/>
        </p:nvCxnSpPr>
        <p:spPr>
          <a:xfrm>
            <a:off x="9646894" y="2447467"/>
            <a:ext cx="142494" cy="12994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1" name="Connector 50"/>
          <p:cNvCxnSpPr/>
          <p:nvPr/>
        </p:nvCxnSpPr>
        <p:spPr>
          <a:xfrm>
            <a:off x="9646894" y="2447467"/>
            <a:ext cx="329142" cy="15836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2" name="Connector 51"/>
          <p:cNvCxnSpPr/>
          <p:nvPr/>
        </p:nvCxnSpPr>
        <p:spPr>
          <a:xfrm>
            <a:off x="9646894" y="2447467"/>
            <a:ext cx="440065" cy="1318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3" name="Connector 52"/>
          <p:cNvCxnSpPr/>
          <p:nvPr/>
        </p:nvCxnSpPr>
        <p:spPr>
          <a:xfrm flipV="1">
            <a:off x="9912897" y="3046411"/>
            <a:ext cx="388357" cy="1984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4" name="Connector 53"/>
          <p:cNvCxnSpPr/>
          <p:nvPr/>
        </p:nvCxnSpPr>
        <p:spPr>
          <a:xfrm flipV="1">
            <a:off x="9912897" y="2605827"/>
            <a:ext cx="63139" cy="46043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5" name="Connector 54"/>
          <p:cNvCxnSpPr/>
          <p:nvPr/>
        </p:nvCxnSpPr>
        <p:spPr>
          <a:xfrm>
            <a:off x="9515815" y="1468346"/>
            <a:ext cx="122848" cy="9822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6" name="Connector 55"/>
          <p:cNvCxnSpPr/>
          <p:nvPr/>
        </p:nvCxnSpPr>
        <p:spPr>
          <a:xfrm flipH="1" flipV="1">
            <a:off x="10387420" y="2608796"/>
            <a:ext cx="96375" cy="22155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7" name="Connector 56"/>
          <p:cNvCxnSpPr/>
          <p:nvPr/>
        </p:nvCxnSpPr>
        <p:spPr>
          <a:xfrm flipH="1">
            <a:off x="10301254" y="2830350"/>
            <a:ext cx="182541" cy="21606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8" name="Connector 57"/>
          <p:cNvCxnSpPr/>
          <p:nvPr/>
        </p:nvCxnSpPr>
        <p:spPr>
          <a:xfrm flipH="1" flipV="1">
            <a:off x="10674134" y="1742842"/>
            <a:ext cx="240055" cy="28920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9" name="Connector 58"/>
          <p:cNvCxnSpPr/>
          <p:nvPr/>
        </p:nvCxnSpPr>
        <p:spPr>
          <a:xfrm flipV="1">
            <a:off x="9170368" y="1566570"/>
            <a:ext cx="468295" cy="23065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0" name="Connector 59"/>
          <p:cNvCxnSpPr/>
          <p:nvPr/>
        </p:nvCxnSpPr>
        <p:spPr>
          <a:xfrm flipH="1">
            <a:off x="10487190" y="1349492"/>
            <a:ext cx="87891" cy="33489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1" name="Connector 60"/>
          <p:cNvCxnSpPr/>
          <p:nvPr/>
        </p:nvCxnSpPr>
        <p:spPr>
          <a:xfrm>
            <a:off x="10575081" y="1349492"/>
            <a:ext cx="99053" cy="39335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2" name="Connector 61"/>
          <p:cNvCxnSpPr/>
          <p:nvPr/>
        </p:nvCxnSpPr>
        <p:spPr>
          <a:xfrm flipH="1">
            <a:off x="9976036" y="2460648"/>
            <a:ext cx="110923" cy="14517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3" name="Connector 62"/>
          <p:cNvCxnSpPr/>
          <p:nvPr/>
        </p:nvCxnSpPr>
        <p:spPr>
          <a:xfrm flipH="1">
            <a:off x="9789388" y="2460648"/>
            <a:ext cx="297571" cy="11676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4" name="Connector 63"/>
          <p:cNvCxnSpPr/>
          <p:nvPr/>
        </p:nvCxnSpPr>
        <p:spPr>
          <a:xfrm>
            <a:off x="9789388" y="2577416"/>
            <a:ext cx="186648" cy="2841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10487190" y="1684390"/>
            <a:ext cx="186944" cy="5845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flipV="1">
            <a:off x="8770430" y="4301378"/>
            <a:ext cx="155478" cy="9042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7" name="Connector 66"/>
          <p:cNvCxnSpPr/>
          <p:nvPr/>
        </p:nvCxnSpPr>
        <p:spPr>
          <a:xfrm>
            <a:off x="8770430" y="4391804"/>
            <a:ext cx="19346" cy="19946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8" name="Connector 67"/>
          <p:cNvCxnSpPr/>
          <p:nvPr/>
        </p:nvCxnSpPr>
        <p:spPr>
          <a:xfrm flipH="1" flipV="1">
            <a:off x="8396165" y="4105561"/>
            <a:ext cx="374265" cy="28624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9" name="Connector 68"/>
          <p:cNvCxnSpPr/>
          <p:nvPr/>
        </p:nvCxnSpPr>
        <p:spPr>
          <a:xfrm>
            <a:off x="8396165" y="4105561"/>
            <a:ext cx="529743" cy="19581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0" name="Connector 69"/>
          <p:cNvCxnSpPr/>
          <p:nvPr/>
        </p:nvCxnSpPr>
        <p:spPr>
          <a:xfrm flipV="1">
            <a:off x="8396165" y="3938904"/>
            <a:ext cx="594804" cy="16665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1" name="Connector 70"/>
          <p:cNvCxnSpPr/>
          <p:nvPr/>
        </p:nvCxnSpPr>
        <p:spPr>
          <a:xfrm flipH="1" flipV="1">
            <a:off x="8789776" y="4591269"/>
            <a:ext cx="79014" cy="30063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2" name="Connector 71"/>
          <p:cNvCxnSpPr/>
          <p:nvPr/>
        </p:nvCxnSpPr>
        <p:spPr>
          <a:xfrm>
            <a:off x="8868790" y="4891899"/>
            <a:ext cx="193043" cy="45278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3" name="Connector 72"/>
          <p:cNvCxnSpPr/>
          <p:nvPr/>
        </p:nvCxnSpPr>
        <p:spPr>
          <a:xfrm flipV="1">
            <a:off x="10113498" y="4575631"/>
            <a:ext cx="14633" cy="655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4" name="Connector 73"/>
          <p:cNvCxnSpPr/>
          <p:nvPr/>
        </p:nvCxnSpPr>
        <p:spPr>
          <a:xfrm>
            <a:off x="10113498" y="4582187"/>
            <a:ext cx="156955" cy="7159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5" name="Connector 74"/>
          <p:cNvCxnSpPr/>
          <p:nvPr/>
        </p:nvCxnSpPr>
        <p:spPr>
          <a:xfrm flipH="1">
            <a:off x="9962843" y="4582187"/>
            <a:ext cx="150655" cy="2498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9695247" y="4803941"/>
            <a:ext cx="267596" cy="2807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9695247" y="4803941"/>
            <a:ext cx="189783" cy="20869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9695247" y="4803941"/>
            <a:ext cx="307576" cy="28504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flipH="1" flipV="1">
            <a:off x="9885030" y="5012636"/>
            <a:ext cx="117793" cy="7634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0" name="Connector 79"/>
          <p:cNvCxnSpPr/>
          <p:nvPr/>
        </p:nvCxnSpPr>
        <p:spPr>
          <a:xfrm flipH="1" flipV="1">
            <a:off x="9962843" y="4832016"/>
            <a:ext cx="39980" cy="25696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1" name="Connector 80"/>
          <p:cNvCxnSpPr/>
          <p:nvPr/>
        </p:nvCxnSpPr>
        <p:spPr>
          <a:xfrm>
            <a:off x="9515242" y="3973173"/>
            <a:ext cx="238902" cy="24326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flipH="1" flipV="1">
            <a:off x="8990969" y="3938904"/>
            <a:ext cx="524273" cy="3426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flipH="1">
            <a:off x="8925908" y="3973173"/>
            <a:ext cx="589334" cy="32820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flipH="1">
            <a:off x="9885030" y="4832016"/>
            <a:ext cx="77813" cy="18062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5" name="Connector 84"/>
          <p:cNvCxnSpPr/>
          <p:nvPr/>
        </p:nvCxnSpPr>
        <p:spPr>
          <a:xfrm>
            <a:off x="10128131" y="4575631"/>
            <a:ext cx="142322" cy="7814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6" name="Connector 85"/>
          <p:cNvCxnSpPr/>
          <p:nvPr/>
        </p:nvCxnSpPr>
        <p:spPr>
          <a:xfrm flipV="1">
            <a:off x="10128131" y="4423702"/>
            <a:ext cx="233123" cy="1519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7" name="Connector 86"/>
          <p:cNvCxnSpPr/>
          <p:nvPr/>
        </p:nvCxnSpPr>
        <p:spPr>
          <a:xfrm flipH="1">
            <a:off x="10270453" y="4423702"/>
            <a:ext cx="90801" cy="23007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8" name="Connector 87"/>
          <p:cNvCxnSpPr/>
          <p:nvPr/>
        </p:nvCxnSpPr>
        <p:spPr>
          <a:xfrm flipH="1">
            <a:off x="8925908" y="3938904"/>
            <a:ext cx="65061" cy="36247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9" name="Connector 88"/>
          <p:cNvCxnSpPr/>
          <p:nvPr/>
        </p:nvCxnSpPr>
        <p:spPr>
          <a:xfrm flipH="1" flipV="1">
            <a:off x="9061833" y="5344685"/>
            <a:ext cx="171571" cy="3316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0" name="Connector 89"/>
          <p:cNvCxnSpPr/>
          <p:nvPr/>
        </p:nvCxnSpPr>
        <p:spPr>
          <a:xfrm flipV="1">
            <a:off x="8252094" y="4591269"/>
            <a:ext cx="537682" cy="28829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1" name="Connector 90"/>
          <p:cNvCxnSpPr/>
          <p:nvPr/>
        </p:nvCxnSpPr>
        <p:spPr>
          <a:xfrm flipV="1">
            <a:off x="9754144" y="4100696"/>
            <a:ext cx="476158" cy="11573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2" name="Connector 91"/>
          <p:cNvCxnSpPr/>
          <p:nvPr/>
        </p:nvCxnSpPr>
        <p:spPr>
          <a:xfrm flipV="1">
            <a:off x="8789776" y="4301378"/>
            <a:ext cx="136132" cy="28989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sp>
        <p:nvSpPr>
          <p:cNvPr id="93" name="Oval 92"/>
          <p:cNvSpPr/>
          <p:nvPr/>
        </p:nvSpPr>
        <p:spPr>
          <a:xfrm>
            <a:off x="7004399" y="2157745"/>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4" name="Oval 93"/>
          <p:cNvSpPr/>
          <p:nvPr/>
        </p:nvSpPr>
        <p:spPr>
          <a:xfrm>
            <a:off x="7202955" y="296649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Oval 94"/>
          <p:cNvSpPr/>
          <p:nvPr/>
        </p:nvSpPr>
        <p:spPr>
          <a:xfrm>
            <a:off x="7214839" y="1654000"/>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Oval 95"/>
          <p:cNvSpPr/>
          <p:nvPr/>
        </p:nvSpPr>
        <p:spPr>
          <a:xfrm>
            <a:off x="7656929" y="220300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Oval 96"/>
          <p:cNvSpPr/>
          <p:nvPr/>
        </p:nvSpPr>
        <p:spPr>
          <a:xfrm>
            <a:off x="6899340" y="2624331"/>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p:cNvSpPr/>
          <p:nvPr/>
        </p:nvSpPr>
        <p:spPr>
          <a:xfrm>
            <a:off x="7445747" y="314888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7837015" y="254597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6813740" y="187832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7430435" y="3187525"/>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7440898" y="212649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7611522" y="168703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7013219" y="2854790"/>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7906735" y="2290726"/>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7689193" y="269733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7785540" y="183906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7627059" y="166952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6166931" y="2217540"/>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6700658" y="296853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7708101" y="178453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7833317" y="189427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9866799" y="1669275"/>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094019" y="260867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514931" y="230852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0500980" y="238432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9543932" y="1588258"/>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9624034" y="242460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Oval 118"/>
          <p:cNvSpPr/>
          <p:nvPr/>
        </p:nvSpPr>
        <p:spPr>
          <a:xfrm>
            <a:off x="9890037" y="304339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Oval 119"/>
          <p:cNvSpPr/>
          <p:nvPr/>
        </p:nvSpPr>
        <p:spPr>
          <a:xfrm>
            <a:off x="9492955" y="144548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Oval 120"/>
          <p:cNvSpPr/>
          <p:nvPr/>
        </p:nvSpPr>
        <p:spPr>
          <a:xfrm>
            <a:off x="10442647" y="2789202"/>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Oval 121"/>
          <p:cNvSpPr/>
          <p:nvPr/>
        </p:nvSpPr>
        <p:spPr>
          <a:xfrm>
            <a:off x="10364560" y="258593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Oval 122"/>
          <p:cNvSpPr/>
          <p:nvPr/>
        </p:nvSpPr>
        <p:spPr>
          <a:xfrm>
            <a:off x="10891329" y="200918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Oval 123"/>
          <p:cNvSpPr/>
          <p:nvPr/>
        </p:nvSpPr>
        <p:spPr>
          <a:xfrm>
            <a:off x="9147508" y="177436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Oval 124"/>
          <p:cNvSpPr/>
          <p:nvPr/>
        </p:nvSpPr>
        <p:spPr>
          <a:xfrm>
            <a:off x="10533933" y="1308344"/>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0064099" y="243778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9766528" y="255455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Oval 127"/>
          <p:cNvSpPr/>
          <p:nvPr/>
        </p:nvSpPr>
        <p:spPr>
          <a:xfrm>
            <a:off x="10278394" y="302355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10446042" y="1643242"/>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Oval 129"/>
          <p:cNvSpPr/>
          <p:nvPr/>
        </p:nvSpPr>
        <p:spPr>
          <a:xfrm>
            <a:off x="9615803" y="1543710"/>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Oval 130"/>
          <p:cNvSpPr/>
          <p:nvPr/>
        </p:nvSpPr>
        <p:spPr>
          <a:xfrm>
            <a:off x="10651274" y="171998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953176" y="258296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Oval 132"/>
          <p:cNvSpPr/>
          <p:nvPr/>
        </p:nvSpPr>
        <p:spPr>
          <a:xfrm>
            <a:off x="8729282" y="4350656"/>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Oval 133"/>
          <p:cNvSpPr/>
          <p:nvPr/>
        </p:nvSpPr>
        <p:spPr>
          <a:xfrm>
            <a:off x="8373305" y="408270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8845930" y="486903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Oval 135"/>
          <p:cNvSpPr/>
          <p:nvPr/>
        </p:nvSpPr>
        <p:spPr>
          <a:xfrm>
            <a:off x="10090638" y="455932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9654099" y="4762793"/>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9979963" y="506612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9492382" y="395031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9939983" y="480915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Oval 140"/>
          <p:cNvSpPr/>
          <p:nvPr/>
        </p:nvSpPr>
        <p:spPr>
          <a:xfrm>
            <a:off x="10086983" y="4534483"/>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2" name="Oval 141"/>
          <p:cNvSpPr/>
          <p:nvPr/>
        </p:nvSpPr>
        <p:spPr>
          <a:xfrm>
            <a:off x="10338394" y="440084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Oval 142"/>
          <p:cNvSpPr/>
          <p:nvPr/>
        </p:nvSpPr>
        <p:spPr>
          <a:xfrm>
            <a:off x="10247593" y="463091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Oval 143"/>
          <p:cNvSpPr/>
          <p:nvPr/>
        </p:nvSpPr>
        <p:spPr>
          <a:xfrm>
            <a:off x="8968109" y="391604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Oval 144"/>
          <p:cNvSpPr/>
          <p:nvPr/>
        </p:nvSpPr>
        <p:spPr>
          <a:xfrm>
            <a:off x="9192256" y="5336702"/>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Oval 145"/>
          <p:cNvSpPr/>
          <p:nvPr/>
        </p:nvSpPr>
        <p:spPr>
          <a:xfrm>
            <a:off x="9862170" y="498977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Oval 146"/>
          <p:cNvSpPr/>
          <p:nvPr/>
        </p:nvSpPr>
        <p:spPr>
          <a:xfrm>
            <a:off x="8229234" y="485670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9731284" y="419357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8748628" y="4550121"/>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10207442" y="407783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9038973" y="532182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8903048" y="427851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3" name="Connector 152"/>
          <p:cNvCxnSpPr/>
          <p:nvPr/>
        </p:nvCxnSpPr>
        <p:spPr>
          <a:xfrm>
            <a:off x="7237699" y="1676860"/>
            <a:ext cx="226059" cy="472497"/>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54" name="Connector 153"/>
          <p:cNvCxnSpPr/>
          <p:nvPr/>
        </p:nvCxnSpPr>
        <p:spPr>
          <a:xfrm>
            <a:off x="7463758" y="2149357"/>
            <a:ext cx="3060082" cy="257829"/>
          </a:xfrm>
          <a:prstGeom prst="line">
            <a:avLst/>
          </a:prstGeom>
          <a:ln w="25400">
            <a:solidFill>
              <a:srgbClr val="A6C9B8"/>
            </a:solidFill>
            <a:prstDash val="dash"/>
          </a:ln>
          <a:effectLst/>
        </p:spPr>
        <p:style>
          <a:lnRef idx="2">
            <a:schemeClr val="accent1"/>
          </a:lnRef>
          <a:fillRef idx="0">
            <a:schemeClr val="accent1"/>
          </a:fillRef>
          <a:effectRef idx="0">
            <a:schemeClr val="accent1"/>
          </a:effectRef>
          <a:fontRef idx="minor">
            <a:schemeClr val="tx1"/>
          </a:fontRef>
        </p:style>
      </p:cxnSp>
      <p:cxnSp>
        <p:nvCxnSpPr>
          <p:cNvPr id="155" name="Connector 154"/>
          <p:cNvCxnSpPr/>
          <p:nvPr/>
        </p:nvCxnSpPr>
        <p:spPr>
          <a:xfrm flipH="1">
            <a:off x="8868790" y="2407186"/>
            <a:ext cx="1655050" cy="2484713"/>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a:off x="8868790" y="4891899"/>
            <a:ext cx="1016240" cy="120737"/>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57" name="Oval 156"/>
          <p:cNvSpPr/>
          <p:nvPr/>
        </p:nvSpPr>
        <p:spPr>
          <a:xfrm>
            <a:off x="7150831" y="1589992"/>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8" name="Oval 157"/>
          <p:cNvSpPr/>
          <p:nvPr/>
        </p:nvSpPr>
        <p:spPr>
          <a:xfrm>
            <a:off x="7201123" y="1640284"/>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9" name="Oval 158"/>
          <p:cNvSpPr/>
          <p:nvPr/>
        </p:nvSpPr>
        <p:spPr>
          <a:xfrm>
            <a:off x="7376890" y="2062489"/>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Oval 159"/>
          <p:cNvSpPr/>
          <p:nvPr/>
        </p:nvSpPr>
        <p:spPr>
          <a:xfrm>
            <a:off x="7427182" y="2112781"/>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1" name="Oval 160"/>
          <p:cNvSpPr/>
          <p:nvPr/>
        </p:nvSpPr>
        <p:spPr>
          <a:xfrm>
            <a:off x="10436972" y="2320318"/>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Oval 161"/>
          <p:cNvSpPr/>
          <p:nvPr/>
        </p:nvSpPr>
        <p:spPr>
          <a:xfrm>
            <a:off x="10487264" y="2370610"/>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Oval 162"/>
          <p:cNvSpPr/>
          <p:nvPr/>
        </p:nvSpPr>
        <p:spPr>
          <a:xfrm>
            <a:off x="8781922" y="4805031"/>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4" name="Oval 163"/>
          <p:cNvSpPr/>
          <p:nvPr/>
        </p:nvSpPr>
        <p:spPr>
          <a:xfrm>
            <a:off x="8832214" y="4855323"/>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5" name="Oval 164"/>
          <p:cNvSpPr/>
          <p:nvPr/>
        </p:nvSpPr>
        <p:spPr>
          <a:xfrm>
            <a:off x="9798162" y="4925768"/>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Oval 165"/>
          <p:cNvSpPr/>
          <p:nvPr/>
        </p:nvSpPr>
        <p:spPr>
          <a:xfrm>
            <a:off x="9848454" y="4976060"/>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7" name="TextBox 166"/>
          <p:cNvSpPr txBox="1"/>
          <p:nvPr/>
        </p:nvSpPr>
        <p:spPr>
          <a:xfrm>
            <a:off x="502920" y="1325880"/>
            <a:ext cx="6492240" cy="2606040"/>
          </a:xfrm>
          <a:prstGeom prst="rect">
            <a:avLst/>
          </a:prstGeom>
          <a:noFill/>
        </p:spPr>
        <p:txBody>
          <a:bodyPr wrap="square" lIns="0" rIns="0" tIns="0" bIns="0" anchor="t">
            <a:noAutofit/>
          </a:bodyPr>
          <a:lstStyle/>
          <a:p>
            <a:pPr algn="l">
              <a:lnSpc>
                <a:spcPct val="108000"/>
              </a:lnSpc>
              <a:spcBef>
                <a:spcPts val="0"/>
              </a:spcBef>
              <a:spcAft>
                <a:spcPts val="0"/>
              </a:spcAft>
            </a:pPr>
            <a:r>
              <a:rPr sz="4600" b="1">
                <a:solidFill>
                  <a:srgbClr val="F1EFE7"/>
                </a:solidFill>
                <a:latin typeface="IBM Plex Sans"/>
              </a:rPr>
              <a:t>Point compute at</a:t>
            </a:r>
          </a:p>
          <a:p>
            <a:pPr algn="l">
              <a:lnSpc>
                <a:spcPct val="108000"/>
              </a:lnSpc>
              <a:spcBef>
                <a:spcPts val="0"/>
              </a:spcBef>
              <a:spcAft>
                <a:spcPts val="0"/>
              </a:spcAft>
            </a:pPr>
            <a:r>
              <a:rPr sz="4600" b="1">
                <a:solidFill>
                  <a:srgbClr val="F1EFE7"/>
                </a:solidFill>
                <a:latin typeface="IBM Plex Sans"/>
              </a:rPr>
              <a:t>the next scientific</a:t>
            </a:r>
          </a:p>
          <a:p>
            <a:pPr algn="l">
              <a:lnSpc>
                <a:spcPct val="108000"/>
              </a:lnSpc>
              <a:spcBef>
                <a:spcPts val="0"/>
              </a:spcBef>
              <a:spcAft>
                <a:spcPts val="0"/>
              </a:spcAft>
            </a:pPr>
            <a:r>
              <a:rPr sz="4600" b="1">
                <a:solidFill>
                  <a:srgbClr val="F1EFE7"/>
                </a:solidFill>
                <a:latin typeface="IBM Plex Sans"/>
              </a:rPr>
              <a:t>discovery.</a:t>
            </a:r>
          </a:p>
        </p:txBody>
      </p:sp>
      <p:sp>
        <p:nvSpPr>
          <p:cNvPr id="168" name="TextBox 167"/>
          <p:cNvSpPr txBox="1"/>
          <p:nvPr/>
        </p:nvSpPr>
        <p:spPr>
          <a:xfrm>
            <a:off x="539496" y="4279392"/>
            <a:ext cx="6400800" cy="914400"/>
          </a:xfrm>
          <a:prstGeom prst="rect">
            <a:avLst/>
          </a:prstGeom>
          <a:noFill/>
        </p:spPr>
        <p:txBody>
          <a:bodyPr wrap="square" lIns="0" rIns="0" tIns="0" bIns="0" anchor="t">
            <a:noAutofit/>
          </a:bodyPr>
          <a:lstStyle/>
          <a:p>
            <a:pPr algn="l">
              <a:lnSpc>
                <a:spcPct val="108000"/>
              </a:lnSpc>
              <a:spcBef>
                <a:spcPts val="0"/>
              </a:spcBef>
              <a:spcAft>
                <a:spcPts val="0"/>
              </a:spcAft>
            </a:pPr>
            <a:r>
              <a:rPr sz="2300" b="0">
                <a:solidFill>
                  <a:srgbClr val="A6C9B8"/>
                </a:solidFill>
                <a:latin typeface="IBM Plex Sans"/>
              </a:rPr>
              <a:t>Published evidence → testable hypotheses →</a:t>
            </a:r>
          </a:p>
          <a:p>
            <a:pPr algn="l">
              <a:lnSpc>
                <a:spcPct val="108000"/>
              </a:lnSpc>
              <a:spcBef>
                <a:spcPts val="0"/>
              </a:spcBef>
              <a:spcAft>
                <a:spcPts val="0"/>
              </a:spcAft>
            </a:pPr>
            <a:r>
              <a:rPr sz="2300" b="0">
                <a:solidFill>
                  <a:srgbClr val="A6C9B8"/>
                </a:solidFill>
                <a:latin typeface="IBM Plex Sans"/>
              </a:rPr>
              <a:t>experiments a scientist can inspect.</a:t>
            </a:r>
          </a:p>
        </p:txBody>
      </p:sp>
      <p:sp>
        <p:nvSpPr>
          <p:cNvPr id="169" name="Rectangle 168"/>
          <p:cNvSpPr/>
          <p:nvPr/>
        </p:nvSpPr>
        <p:spPr>
          <a:xfrm>
            <a:off x="539496" y="5623560"/>
            <a:ext cx="2651760" cy="283464"/>
          </a:xfrm>
          <a:prstGeom prst="rect">
            <a:avLst/>
          </a:prstGeom>
          <a:solidFill>
            <a:srgbClr val="222E2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0" name="TextBox 169"/>
          <p:cNvSpPr txBox="1"/>
          <p:nvPr/>
        </p:nvSpPr>
        <p:spPr>
          <a:xfrm>
            <a:off x="630936" y="5671108"/>
            <a:ext cx="2487168" cy="192024"/>
          </a:xfrm>
          <a:prstGeom prst="rect">
            <a:avLst/>
          </a:prstGeom>
          <a:noFill/>
        </p:spPr>
        <p:txBody>
          <a:bodyPr wrap="square" lIns="0" rIns="0" tIns="0" bIns="0" anchor="t">
            <a:noAutofit/>
          </a:bodyPr>
          <a:lstStyle/>
          <a:p>
            <a:pPr algn="l">
              <a:lnSpc>
                <a:spcPct val="108000"/>
              </a:lnSpc>
              <a:spcBef>
                <a:spcPts val="0"/>
              </a:spcBef>
              <a:spcAft>
                <a:spcPts val="0"/>
              </a:spcAft>
            </a:pPr>
            <a:r>
              <a:rPr sz="940" b="1">
                <a:solidFill>
                  <a:srgbClr val="A6C9B8"/>
                </a:solidFill>
                <a:latin typeface="IBM Plex Mono"/>
              </a:rPr>
              <a:t>PROTOTYPE IN PROGRESS</a:t>
            </a:r>
          </a:p>
        </p:txBody>
      </p:sp>
      <p:sp>
        <p:nvSpPr>
          <p:cNvPr id="171" name="Rectangle 170"/>
          <p:cNvSpPr/>
          <p:nvPr/>
        </p:nvSpPr>
        <p:spPr>
          <a:xfrm>
            <a:off x="3374136" y="5623560"/>
            <a:ext cx="3035808" cy="283464"/>
          </a:xfrm>
          <a:prstGeom prst="rect">
            <a:avLst/>
          </a:prstGeom>
          <a:solidFill>
            <a:srgbClr val="222E2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2" name="TextBox 171"/>
          <p:cNvSpPr txBox="1"/>
          <p:nvPr/>
        </p:nvSpPr>
        <p:spPr>
          <a:xfrm>
            <a:off x="3465576" y="5671108"/>
            <a:ext cx="2871215" cy="192024"/>
          </a:xfrm>
          <a:prstGeom prst="rect">
            <a:avLst/>
          </a:prstGeom>
          <a:noFill/>
        </p:spPr>
        <p:txBody>
          <a:bodyPr wrap="square" lIns="0" rIns="0" tIns="0" bIns="0" anchor="t">
            <a:noAutofit/>
          </a:bodyPr>
          <a:lstStyle/>
          <a:p>
            <a:pPr algn="l">
              <a:lnSpc>
                <a:spcPct val="108000"/>
              </a:lnSpc>
              <a:spcBef>
                <a:spcPts val="0"/>
              </a:spcBef>
              <a:spcAft>
                <a:spcPts val="0"/>
              </a:spcAft>
            </a:pPr>
            <a:r>
              <a:rPr sz="940" b="1">
                <a:solidFill>
                  <a:srgbClr val="A6C9B8"/>
                </a:solidFill>
                <a:latin typeface="IBM Plex Mono"/>
              </a:rPr>
              <a:t>OPEN CATEGORY / PROPOSED</a:t>
            </a:r>
          </a:p>
        </p:txBody>
      </p:sp>
      <p:sp>
        <p:nvSpPr>
          <p:cNvPr id="173" name="TextBox 172"/>
          <p:cNvSpPr txBox="1"/>
          <p:nvPr/>
        </p:nvSpPr>
        <p:spPr>
          <a:xfrm>
            <a:off x="8412480" y="5751576"/>
            <a:ext cx="3017520" cy="201168"/>
          </a:xfrm>
          <a:prstGeom prst="rect">
            <a:avLst/>
          </a:prstGeom>
          <a:noFill/>
        </p:spPr>
        <p:txBody>
          <a:bodyPr wrap="square" lIns="0" rIns="0" tIns="0" bIns="0" anchor="t">
            <a:noAutofit/>
          </a:bodyPr>
          <a:lstStyle/>
          <a:p>
            <a:pPr algn="r">
              <a:lnSpc>
                <a:spcPct val="108000"/>
              </a:lnSpc>
              <a:spcBef>
                <a:spcPts val="0"/>
              </a:spcBef>
              <a:spcAft>
                <a:spcPts val="0"/>
              </a:spcAft>
            </a:pPr>
            <a:r>
              <a:rPr sz="900" b="0">
                <a:solidFill>
                  <a:srgbClr val="AFB9B2"/>
                </a:solidFill>
                <a:latin typeface="IBM Plex Mono"/>
              </a:rPr>
              <a:t>Conceptual research map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FE7"/>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17201F"/>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365E4D"/>
                </a:solidFill>
                <a:latin typeface="IBM Plex Mono"/>
              </a:rPr>
              <a:t>01 / PROBLEM &amp; REAL-WORLD IMPACT</a:t>
            </a:r>
          </a:p>
        </p:txBody>
      </p:sp>
      <p:cxnSp>
        <p:nvCxnSpPr>
          <p:cNvPr id="4" name="Connector 3"/>
          <p:cNvCxnSpPr/>
          <p:nvPr/>
        </p:nvCxnSpPr>
        <p:spPr>
          <a:xfrm>
            <a:off x="502920" y="658368"/>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365E4D"/>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17201F"/>
                </a:solidFill>
                <a:latin typeface="IBM Plex Mono"/>
              </a:rPr>
              <a:t>02</a:t>
            </a:r>
          </a:p>
        </p:txBody>
      </p:sp>
      <p:sp>
        <p:nvSpPr>
          <p:cNvPr id="8" name="TextBox 7"/>
          <p:cNvSpPr txBox="1"/>
          <p:nvPr/>
        </p:nvSpPr>
        <p:spPr>
          <a:xfrm>
            <a:off x="502920" y="1033271"/>
            <a:ext cx="10881360" cy="1371600"/>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17201F"/>
                </a:solidFill>
                <a:latin typeface="IBM Plex Sans"/>
              </a:rPr>
              <a:t>Science is abundant.</a:t>
            </a:r>
          </a:p>
          <a:p>
            <a:pPr algn="l">
              <a:lnSpc>
                <a:spcPct val="108000"/>
              </a:lnSpc>
              <a:spcBef>
                <a:spcPts val="0"/>
              </a:spcBef>
              <a:spcAft>
                <a:spcPts val="0"/>
              </a:spcAft>
            </a:pPr>
            <a:r>
              <a:rPr sz="3900" b="1">
                <a:solidFill>
                  <a:srgbClr val="17201F"/>
                </a:solidFill>
                <a:latin typeface="IBM Plex Sans"/>
              </a:rPr>
              <a:t>The next experiment is scarce.</a:t>
            </a:r>
          </a:p>
        </p:txBody>
      </p:sp>
      <p:sp>
        <p:nvSpPr>
          <p:cNvPr id="9" name="TextBox 8"/>
          <p:cNvSpPr txBox="1"/>
          <p:nvPr/>
        </p:nvSpPr>
        <p:spPr>
          <a:xfrm>
            <a:off x="502920" y="2770632"/>
            <a:ext cx="4754880" cy="1124712"/>
          </a:xfrm>
          <a:prstGeom prst="rect">
            <a:avLst/>
          </a:prstGeom>
          <a:noFill/>
        </p:spPr>
        <p:txBody>
          <a:bodyPr wrap="square" lIns="0" rIns="0" tIns="0" bIns="0" anchor="t">
            <a:noAutofit/>
          </a:bodyPr>
          <a:lstStyle/>
          <a:p>
            <a:pPr algn="l">
              <a:lnSpc>
                <a:spcPct val="108000"/>
              </a:lnSpc>
              <a:spcBef>
                <a:spcPts val="0"/>
              </a:spcBef>
              <a:spcAft>
                <a:spcPts val="0"/>
              </a:spcAft>
            </a:pPr>
            <a:r>
              <a:rPr sz="8200" b="1">
                <a:solidFill>
                  <a:srgbClr val="365E4D"/>
                </a:solidFill>
                <a:latin typeface="IBM Plex Sans"/>
              </a:rPr>
              <a:t>40M+</a:t>
            </a:r>
          </a:p>
        </p:txBody>
      </p:sp>
      <p:sp>
        <p:nvSpPr>
          <p:cNvPr id="10" name="TextBox 9"/>
          <p:cNvSpPr txBox="1"/>
          <p:nvPr/>
        </p:nvSpPr>
        <p:spPr>
          <a:xfrm>
            <a:off x="548640" y="4005072"/>
            <a:ext cx="4800600" cy="868680"/>
          </a:xfrm>
          <a:prstGeom prst="rect">
            <a:avLst/>
          </a:prstGeom>
          <a:noFill/>
        </p:spPr>
        <p:txBody>
          <a:bodyPr wrap="square" lIns="0" rIns="0" tIns="0" bIns="0" anchor="t">
            <a:noAutofit/>
          </a:bodyPr>
          <a:lstStyle/>
          <a:p>
            <a:pPr algn="l">
              <a:lnSpc>
                <a:spcPct val="108000"/>
              </a:lnSpc>
              <a:spcBef>
                <a:spcPts val="0"/>
              </a:spcBef>
              <a:spcAft>
                <a:spcPts val="0"/>
              </a:spcAft>
            </a:pPr>
            <a:r>
              <a:rPr sz="2500" b="0">
                <a:solidFill>
                  <a:srgbClr val="17201F"/>
                </a:solidFill>
                <a:latin typeface="IBM Plex Sans"/>
              </a:rPr>
              <a:t>biomedical citations and abstracts</a:t>
            </a:r>
          </a:p>
          <a:p>
            <a:pPr algn="l">
              <a:lnSpc>
                <a:spcPct val="108000"/>
              </a:lnSpc>
              <a:spcBef>
                <a:spcPts val="0"/>
              </a:spcBef>
              <a:spcAft>
                <a:spcPts val="0"/>
              </a:spcAft>
            </a:pPr>
            <a:r>
              <a:rPr sz="2500" b="0">
                <a:solidFill>
                  <a:srgbClr val="17201F"/>
                </a:solidFill>
                <a:latin typeface="IBM Plex Sans"/>
              </a:rPr>
              <a:t>in PubMed</a:t>
            </a:r>
          </a:p>
        </p:txBody>
      </p:sp>
      <p:cxnSp>
        <p:nvCxnSpPr>
          <p:cNvPr id="11" name="Connector 10"/>
          <p:cNvCxnSpPr/>
          <p:nvPr/>
        </p:nvCxnSpPr>
        <p:spPr>
          <a:xfrm>
            <a:off x="5532120" y="2697480"/>
            <a:ext cx="0" cy="2624328"/>
          </a:xfrm>
          <a:prstGeom prst="line">
            <a:avLst/>
          </a:prstGeom>
          <a:ln w="12700">
            <a:solidFill>
              <a:srgbClr val="B5C0B5"/>
            </a:solidFill>
          </a:ln>
          <a:effectLst/>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89320" y="2788920"/>
            <a:ext cx="59436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365E4D"/>
                </a:solidFill>
                <a:latin typeface="IBM Plex Mono"/>
              </a:rPr>
              <a:t>01</a:t>
            </a:r>
          </a:p>
        </p:txBody>
      </p:sp>
      <p:sp>
        <p:nvSpPr>
          <p:cNvPr id="13" name="TextBox 12"/>
          <p:cNvSpPr txBox="1"/>
          <p:nvPr/>
        </p:nvSpPr>
        <p:spPr>
          <a:xfrm>
            <a:off x="6656832" y="2770632"/>
            <a:ext cx="4800600" cy="731520"/>
          </a:xfrm>
          <a:prstGeom prst="rect">
            <a:avLst/>
          </a:prstGeom>
          <a:noFill/>
        </p:spPr>
        <p:txBody>
          <a:bodyPr wrap="square" lIns="0" rIns="0" tIns="0" bIns="0" anchor="t">
            <a:noAutofit/>
          </a:bodyPr>
          <a:lstStyle/>
          <a:p>
            <a:pPr algn="l">
              <a:lnSpc>
                <a:spcPct val="108000"/>
              </a:lnSpc>
              <a:spcBef>
                <a:spcPts val="0"/>
              </a:spcBef>
              <a:spcAft>
                <a:spcPts val="0"/>
              </a:spcAft>
            </a:pPr>
            <a:r>
              <a:rPr sz="2500" b="0">
                <a:solidFill>
                  <a:srgbClr val="17201F"/>
                </a:solidFill>
                <a:latin typeface="IBM Plex Sans"/>
              </a:rPr>
              <a:t>Evidence is spread across papers.</a:t>
            </a:r>
          </a:p>
        </p:txBody>
      </p:sp>
      <p:sp>
        <p:nvSpPr>
          <p:cNvPr id="14" name="TextBox 13"/>
          <p:cNvSpPr txBox="1"/>
          <p:nvPr/>
        </p:nvSpPr>
        <p:spPr>
          <a:xfrm>
            <a:off x="5989320" y="3703320"/>
            <a:ext cx="59436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365E4D"/>
                </a:solidFill>
                <a:latin typeface="IBM Plex Mono"/>
              </a:rPr>
              <a:t>02</a:t>
            </a:r>
          </a:p>
        </p:txBody>
      </p:sp>
      <p:sp>
        <p:nvSpPr>
          <p:cNvPr id="15" name="TextBox 14"/>
          <p:cNvSpPr txBox="1"/>
          <p:nvPr/>
        </p:nvSpPr>
        <p:spPr>
          <a:xfrm>
            <a:off x="6656832" y="3685032"/>
            <a:ext cx="4800600" cy="731520"/>
          </a:xfrm>
          <a:prstGeom prst="rect">
            <a:avLst/>
          </a:prstGeom>
          <a:noFill/>
        </p:spPr>
        <p:txBody>
          <a:bodyPr wrap="square" lIns="0" rIns="0" tIns="0" bIns="0" anchor="t">
            <a:noAutofit/>
          </a:bodyPr>
          <a:lstStyle/>
          <a:p>
            <a:pPr algn="l">
              <a:lnSpc>
                <a:spcPct val="108000"/>
              </a:lnSpc>
              <a:spcBef>
                <a:spcPts val="0"/>
              </a:spcBef>
              <a:spcAft>
                <a:spcPts val="0"/>
              </a:spcAft>
            </a:pPr>
            <a:r>
              <a:rPr sz="2500" b="0">
                <a:solidFill>
                  <a:srgbClr val="17201F"/>
                </a:solidFill>
                <a:latin typeface="IBM Plex Sans"/>
              </a:rPr>
              <a:t>Plausible connections multiply.</a:t>
            </a:r>
          </a:p>
        </p:txBody>
      </p:sp>
      <p:sp>
        <p:nvSpPr>
          <p:cNvPr id="16" name="TextBox 15"/>
          <p:cNvSpPr txBox="1"/>
          <p:nvPr/>
        </p:nvSpPr>
        <p:spPr>
          <a:xfrm>
            <a:off x="5989320" y="4617720"/>
            <a:ext cx="59436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365E4D"/>
                </a:solidFill>
                <a:latin typeface="IBM Plex Mono"/>
              </a:rPr>
              <a:t>03</a:t>
            </a:r>
          </a:p>
        </p:txBody>
      </p:sp>
      <p:sp>
        <p:nvSpPr>
          <p:cNvPr id="17" name="TextBox 16"/>
          <p:cNvSpPr txBox="1"/>
          <p:nvPr/>
        </p:nvSpPr>
        <p:spPr>
          <a:xfrm>
            <a:off x="6656832" y="4599432"/>
            <a:ext cx="4800600" cy="731520"/>
          </a:xfrm>
          <a:prstGeom prst="rect">
            <a:avLst/>
          </a:prstGeom>
          <a:noFill/>
        </p:spPr>
        <p:txBody>
          <a:bodyPr wrap="square" lIns="0" rIns="0" tIns="0" bIns="0" anchor="t">
            <a:noAutofit/>
          </a:bodyPr>
          <a:lstStyle/>
          <a:p>
            <a:pPr algn="l">
              <a:lnSpc>
                <a:spcPct val="108000"/>
              </a:lnSpc>
              <a:spcBef>
                <a:spcPts val="0"/>
              </a:spcBef>
              <a:spcAft>
                <a:spcPts val="0"/>
              </a:spcAft>
            </a:pPr>
            <a:r>
              <a:rPr sz="2500" b="0">
                <a:solidFill>
                  <a:srgbClr val="17201F"/>
                </a:solidFill>
                <a:latin typeface="IBM Plex Sans"/>
              </a:rPr>
              <a:t>Laboratory time is limited.</a:t>
            </a:r>
          </a:p>
        </p:txBody>
      </p:sp>
      <p:sp>
        <p:nvSpPr>
          <p:cNvPr id="18" name="TextBox 17"/>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365E4D"/>
                </a:solidFill>
                <a:latin typeface="IBM Plex Sans"/>
              </a:rPr>
              <a:t>Source: NIH / NLM, About PubMed. Citations and abstracts; not our ingested corpus.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02 / USER &amp; DESIGN</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03</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Built around a scientist’s next decision.</a:t>
            </a:r>
          </a:p>
        </p:txBody>
      </p:sp>
      <p:sp>
        <p:nvSpPr>
          <p:cNvPr id="9" name="Rectangle 8"/>
          <p:cNvSpPr/>
          <p:nvPr/>
        </p:nvSpPr>
        <p:spPr>
          <a:xfrm>
            <a:off x="539496" y="2267712"/>
            <a:ext cx="2862072" cy="283464"/>
          </a:xfrm>
          <a:prstGeom prst="rect">
            <a:avLst/>
          </a:prstGeom>
          <a:solidFill>
            <a:srgbClr val="222E2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30936" y="2315260"/>
            <a:ext cx="2697479" cy="192024"/>
          </a:xfrm>
          <a:prstGeom prst="rect">
            <a:avLst/>
          </a:prstGeom>
          <a:noFill/>
        </p:spPr>
        <p:txBody>
          <a:bodyPr wrap="square" lIns="0" rIns="0" tIns="0" bIns="0" anchor="t">
            <a:noAutofit/>
          </a:bodyPr>
          <a:lstStyle/>
          <a:p>
            <a:pPr algn="l">
              <a:lnSpc>
                <a:spcPct val="108000"/>
              </a:lnSpc>
              <a:spcBef>
                <a:spcPts val="0"/>
              </a:spcBef>
              <a:spcAft>
                <a:spcPts val="0"/>
              </a:spcAft>
            </a:pPr>
            <a:r>
              <a:rPr sz="940" b="1">
                <a:solidFill>
                  <a:srgbClr val="A6C9B8"/>
                </a:solidFill>
                <a:latin typeface="IBM Plex Mono"/>
              </a:rPr>
              <a:t>WORKING USER HYPOTHESIS</a:t>
            </a:r>
          </a:p>
        </p:txBody>
      </p:sp>
      <p:sp>
        <p:nvSpPr>
          <p:cNvPr id="11" name="TextBox 10"/>
          <p:cNvSpPr txBox="1"/>
          <p:nvPr/>
        </p:nvSpPr>
        <p:spPr>
          <a:xfrm>
            <a:off x="530352" y="2852928"/>
            <a:ext cx="4709160" cy="1188720"/>
          </a:xfrm>
          <a:prstGeom prst="rect">
            <a:avLst/>
          </a:prstGeom>
          <a:noFill/>
        </p:spPr>
        <p:txBody>
          <a:bodyPr wrap="square" lIns="0" rIns="0" tIns="0" bIns="0" anchor="t">
            <a:noAutofit/>
          </a:bodyPr>
          <a:lstStyle/>
          <a:p>
            <a:pPr algn="l">
              <a:lnSpc>
                <a:spcPct val="108000"/>
              </a:lnSpc>
              <a:spcBef>
                <a:spcPts val="0"/>
              </a:spcBef>
              <a:spcAft>
                <a:spcPts val="0"/>
              </a:spcAft>
            </a:pPr>
            <a:r>
              <a:rPr sz="3000" b="1">
                <a:solidFill>
                  <a:srgbClr val="A6C9B8"/>
                </a:solidFill>
                <a:latin typeface="IBM Plex Sans"/>
              </a:rPr>
              <a:t>A computational biologist</a:t>
            </a:r>
          </a:p>
          <a:p>
            <a:pPr algn="l">
              <a:lnSpc>
                <a:spcPct val="108000"/>
              </a:lnSpc>
              <a:spcBef>
                <a:spcPts val="0"/>
              </a:spcBef>
              <a:spcAft>
                <a:spcPts val="0"/>
              </a:spcAft>
            </a:pPr>
            <a:r>
              <a:rPr sz="3000" b="1">
                <a:solidFill>
                  <a:srgbClr val="A6C9B8"/>
                </a:solidFill>
                <a:latin typeface="IBM Plex Sans"/>
              </a:rPr>
              <a:t>in a small oncology team.</a:t>
            </a:r>
          </a:p>
        </p:txBody>
      </p:sp>
      <p:sp>
        <p:nvSpPr>
          <p:cNvPr id="12" name="TextBox 11"/>
          <p:cNvSpPr txBox="1"/>
          <p:nvPr/>
        </p:nvSpPr>
        <p:spPr>
          <a:xfrm>
            <a:off x="530352" y="4279392"/>
            <a:ext cx="4846320" cy="960120"/>
          </a:xfrm>
          <a:prstGeom prst="rect">
            <a:avLst/>
          </a:prstGeom>
          <a:noFill/>
        </p:spPr>
        <p:txBody>
          <a:bodyPr wrap="square" lIns="0" rIns="0" tIns="0" bIns="0" anchor="t">
            <a:noAutofit/>
          </a:bodyPr>
          <a:lstStyle/>
          <a:p>
            <a:pPr algn="l">
              <a:lnSpc>
                <a:spcPct val="108000"/>
              </a:lnSpc>
              <a:spcBef>
                <a:spcPts val="0"/>
              </a:spcBef>
              <a:spcAft>
                <a:spcPts val="0"/>
              </a:spcAft>
            </a:pPr>
            <a:r>
              <a:rPr sz="2500" b="0">
                <a:solidFill>
                  <a:srgbClr val="F1EFE7"/>
                </a:solidFill>
                <a:latin typeface="IBM Plex Sans"/>
              </a:rPr>
              <a:t>“Which mechanism deserves</a:t>
            </a:r>
          </a:p>
          <a:p>
            <a:pPr algn="l">
              <a:lnSpc>
                <a:spcPct val="108000"/>
              </a:lnSpc>
              <a:spcBef>
                <a:spcPts val="0"/>
              </a:spcBef>
              <a:spcAft>
                <a:spcPts val="0"/>
              </a:spcAft>
            </a:pPr>
            <a:r>
              <a:rPr sz="2500" b="0">
                <a:solidFill>
                  <a:srgbClr val="F1EFE7"/>
                </a:solidFill>
                <a:latin typeface="IBM Plex Sans"/>
              </a:rPr>
              <a:t>our next experiment?”</a:t>
            </a:r>
          </a:p>
        </p:txBody>
      </p:sp>
      <p:cxnSp>
        <p:nvCxnSpPr>
          <p:cNvPr id="13" name="Connector 12"/>
          <p:cNvCxnSpPr/>
          <p:nvPr/>
        </p:nvCxnSpPr>
        <p:spPr>
          <a:xfrm>
            <a:off x="5669280" y="2414016"/>
            <a:ext cx="5961888"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806440" y="2606040"/>
            <a:ext cx="5669280" cy="475488"/>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F1EFE7"/>
                </a:solidFill>
                <a:latin typeface="IBM Plex Sans"/>
              </a:rPr>
              <a:t>See the research direction</a:t>
            </a:r>
          </a:p>
        </p:txBody>
      </p:sp>
      <p:sp>
        <p:nvSpPr>
          <p:cNvPr id="15" name="TextBox 14"/>
          <p:cNvSpPr txBox="1"/>
          <p:nvPr/>
        </p:nvSpPr>
        <p:spPr>
          <a:xfrm>
            <a:off x="5806440" y="3127248"/>
            <a:ext cx="5669280" cy="36576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A tree of questions and alternatives</a:t>
            </a:r>
          </a:p>
        </p:txBody>
      </p:sp>
      <p:cxnSp>
        <p:nvCxnSpPr>
          <p:cNvPr id="16" name="Connector 15"/>
          <p:cNvCxnSpPr/>
          <p:nvPr/>
        </p:nvCxnSpPr>
        <p:spPr>
          <a:xfrm>
            <a:off x="5669280" y="3511296"/>
            <a:ext cx="5961888"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5806440" y="3703320"/>
            <a:ext cx="5669280" cy="475488"/>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F1EFE7"/>
                </a:solidFill>
                <a:latin typeface="IBM Plex Sans"/>
              </a:rPr>
              <a:t>Audit the evidence</a:t>
            </a:r>
          </a:p>
        </p:txBody>
      </p:sp>
      <p:sp>
        <p:nvSpPr>
          <p:cNvPr id="18" name="TextBox 17"/>
          <p:cNvSpPr txBox="1"/>
          <p:nvPr/>
        </p:nvSpPr>
        <p:spPr>
          <a:xfrm>
            <a:off x="5806440" y="4224528"/>
            <a:ext cx="5669280" cy="36576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Source passages, code and results</a:t>
            </a:r>
          </a:p>
        </p:txBody>
      </p:sp>
      <p:cxnSp>
        <p:nvCxnSpPr>
          <p:cNvPr id="19" name="Connector 18"/>
          <p:cNvCxnSpPr/>
          <p:nvPr/>
        </p:nvCxnSpPr>
        <p:spPr>
          <a:xfrm>
            <a:off x="5669280" y="4608576"/>
            <a:ext cx="5961888"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5806440" y="4800600"/>
            <a:ext cx="5669280" cy="475488"/>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F1EFE7"/>
                </a:solidFill>
                <a:latin typeface="IBM Plex Sans"/>
              </a:rPr>
              <a:t>Make a deliberate decision</a:t>
            </a:r>
          </a:p>
        </p:txBody>
      </p:sp>
      <p:sp>
        <p:nvSpPr>
          <p:cNvPr id="21" name="TextBox 20"/>
          <p:cNvSpPr txBox="1"/>
          <p:nvPr/>
        </p:nvSpPr>
        <p:spPr>
          <a:xfrm>
            <a:off x="5806440" y="5321808"/>
            <a:ext cx="5669280" cy="36576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Uncertainty and failures stay visible</a:t>
            </a:r>
          </a:p>
        </p:txBody>
      </p:sp>
      <p:sp>
        <p:nvSpPr>
          <p:cNvPr id="22" name="TextBox 21"/>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Design implements keyboard focus, reduced motion and dark/light themes; persona interviews remain to be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03 / TECHNICAL EXECUTION</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04</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A research loop with evidence at every step.</a:t>
            </a:r>
          </a:p>
        </p:txBody>
      </p:sp>
      <p:cxnSp>
        <p:nvCxnSpPr>
          <p:cNvPr id="9" name="Connector 8"/>
          <p:cNvCxnSpPr/>
          <p:nvPr/>
        </p:nvCxnSpPr>
        <p:spPr>
          <a:xfrm>
            <a:off x="530352" y="2423160"/>
            <a:ext cx="1901952" cy="0"/>
          </a:xfrm>
          <a:prstGeom prst="line">
            <a:avLst/>
          </a:prstGeom>
          <a:ln w="2159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30352" y="2633472"/>
            <a:ext cx="1828800"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6C9B8"/>
                </a:solidFill>
                <a:latin typeface="IBM Plex Mono"/>
              </a:rPr>
              <a:t>01</a:t>
            </a:r>
          </a:p>
        </p:txBody>
      </p:sp>
      <p:sp>
        <p:nvSpPr>
          <p:cNvPr id="11" name="TextBox 10"/>
          <p:cNvSpPr txBox="1"/>
          <p:nvPr/>
        </p:nvSpPr>
        <p:spPr>
          <a:xfrm>
            <a:off x="530352" y="3319272"/>
            <a:ext cx="2157984" cy="630936"/>
          </a:xfrm>
          <a:prstGeom prst="rect">
            <a:avLst/>
          </a:prstGeom>
          <a:noFill/>
        </p:spPr>
        <p:txBody>
          <a:bodyPr wrap="square" lIns="0" rIns="0" tIns="0" bIns="0" anchor="t">
            <a:noAutofit/>
          </a:bodyPr>
          <a:lstStyle/>
          <a:p>
            <a:pPr algn="l">
              <a:lnSpc>
                <a:spcPct val="108000"/>
              </a:lnSpc>
              <a:spcBef>
                <a:spcPts val="0"/>
              </a:spcBef>
              <a:spcAft>
                <a:spcPts val="0"/>
              </a:spcAft>
            </a:pPr>
            <a:r>
              <a:rPr sz="2900" b="1">
                <a:solidFill>
                  <a:srgbClr val="F1EFE7"/>
                </a:solidFill>
                <a:latin typeface="IBM Plex Sans"/>
              </a:rPr>
              <a:t>Read</a:t>
            </a:r>
          </a:p>
        </p:txBody>
      </p:sp>
      <p:sp>
        <p:nvSpPr>
          <p:cNvPr id="12" name="TextBox 11"/>
          <p:cNvSpPr txBox="1"/>
          <p:nvPr/>
        </p:nvSpPr>
        <p:spPr>
          <a:xfrm>
            <a:off x="530352" y="4151376"/>
            <a:ext cx="2066543" cy="8686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Papers become</a:t>
            </a:r>
          </a:p>
          <a:p>
            <a:pPr algn="l">
              <a:lnSpc>
                <a:spcPct val="108000"/>
              </a:lnSpc>
              <a:spcBef>
                <a:spcPts val="0"/>
              </a:spcBef>
              <a:spcAft>
                <a:spcPts val="0"/>
              </a:spcAft>
            </a:pPr>
            <a:r>
              <a:rPr sz="1900" b="0">
                <a:solidFill>
                  <a:srgbClr val="AFB9B2"/>
                </a:solidFill>
                <a:latin typeface="IBM Plex Sans"/>
              </a:rPr>
              <a:t>linked claims.</a:t>
            </a:r>
          </a:p>
        </p:txBody>
      </p:sp>
      <p:cxnSp>
        <p:nvCxnSpPr>
          <p:cNvPr id="13" name="Connector 12"/>
          <p:cNvCxnSpPr/>
          <p:nvPr/>
        </p:nvCxnSpPr>
        <p:spPr>
          <a:xfrm>
            <a:off x="2478024" y="3611880"/>
            <a:ext cx="237744" cy="0"/>
          </a:xfrm>
          <a:prstGeom prst="line">
            <a:avLst/>
          </a:prstGeom>
          <a:ln w="16510">
            <a:solidFill>
              <a:srgbClr val="A6C9B8"/>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2807208" y="2423160"/>
            <a:ext cx="1901952" cy="0"/>
          </a:xfrm>
          <a:prstGeom prst="line">
            <a:avLst/>
          </a:prstGeom>
          <a:ln w="2159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2807208" y="2633472"/>
            <a:ext cx="1828800"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6C9B8"/>
                </a:solidFill>
                <a:latin typeface="IBM Plex Mono"/>
              </a:rPr>
              <a:t>02</a:t>
            </a:r>
          </a:p>
        </p:txBody>
      </p:sp>
      <p:sp>
        <p:nvSpPr>
          <p:cNvPr id="16" name="TextBox 15"/>
          <p:cNvSpPr txBox="1"/>
          <p:nvPr/>
        </p:nvSpPr>
        <p:spPr>
          <a:xfrm>
            <a:off x="2807208" y="3319272"/>
            <a:ext cx="2157984" cy="630936"/>
          </a:xfrm>
          <a:prstGeom prst="rect">
            <a:avLst/>
          </a:prstGeom>
          <a:noFill/>
        </p:spPr>
        <p:txBody>
          <a:bodyPr wrap="square" lIns="0" rIns="0" tIns="0" bIns="0" anchor="t">
            <a:noAutofit/>
          </a:bodyPr>
          <a:lstStyle/>
          <a:p>
            <a:pPr algn="l">
              <a:lnSpc>
                <a:spcPct val="108000"/>
              </a:lnSpc>
              <a:spcBef>
                <a:spcPts val="0"/>
              </a:spcBef>
              <a:spcAft>
                <a:spcPts val="0"/>
              </a:spcAft>
            </a:pPr>
            <a:r>
              <a:rPr sz="2900" b="1">
                <a:solidFill>
                  <a:srgbClr val="F1EFE7"/>
                </a:solidFill>
                <a:latin typeface="IBM Plex Sans"/>
              </a:rPr>
              <a:t>Connect</a:t>
            </a:r>
          </a:p>
        </p:txBody>
      </p:sp>
      <p:sp>
        <p:nvSpPr>
          <p:cNvPr id="17" name="TextBox 16"/>
          <p:cNvSpPr txBox="1"/>
          <p:nvPr/>
        </p:nvSpPr>
        <p:spPr>
          <a:xfrm>
            <a:off x="2807208" y="4151376"/>
            <a:ext cx="2066543" cy="8686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Agents explore</a:t>
            </a:r>
          </a:p>
          <a:p>
            <a:pPr algn="l">
              <a:lnSpc>
                <a:spcPct val="108000"/>
              </a:lnSpc>
              <a:spcBef>
                <a:spcPts val="0"/>
              </a:spcBef>
              <a:spcAft>
                <a:spcPts val="0"/>
              </a:spcAft>
            </a:pPr>
            <a:r>
              <a:rPr sz="1900" b="0">
                <a:solidFill>
                  <a:srgbClr val="AFB9B2"/>
                </a:solidFill>
                <a:latin typeface="IBM Plex Sans"/>
              </a:rPr>
              <a:t>possible bridges.</a:t>
            </a:r>
          </a:p>
        </p:txBody>
      </p:sp>
      <p:cxnSp>
        <p:nvCxnSpPr>
          <p:cNvPr id="18" name="Connector 17"/>
          <p:cNvCxnSpPr/>
          <p:nvPr/>
        </p:nvCxnSpPr>
        <p:spPr>
          <a:xfrm>
            <a:off x="4754880" y="3611880"/>
            <a:ext cx="237744" cy="0"/>
          </a:xfrm>
          <a:prstGeom prst="line">
            <a:avLst/>
          </a:prstGeom>
          <a:ln w="16510">
            <a:solidFill>
              <a:srgbClr val="A6C9B8"/>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a:off x="5084064" y="2423160"/>
            <a:ext cx="1901952" cy="0"/>
          </a:xfrm>
          <a:prstGeom prst="line">
            <a:avLst/>
          </a:prstGeom>
          <a:ln w="2159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5084064" y="2633472"/>
            <a:ext cx="1828800"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6C9B8"/>
                </a:solidFill>
                <a:latin typeface="IBM Plex Mono"/>
              </a:rPr>
              <a:t>03</a:t>
            </a:r>
          </a:p>
        </p:txBody>
      </p:sp>
      <p:sp>
        <p:nvSpPr>
          <p:cNvPr id="21" name="TextBox 20"/>
          <p:cNvSpPr txBox="1"/>
          <p:nvPr/>
        </p:nvSpPr>
        <p:spPr>
          <a:xfrm>
            <a:off x="5084064" y="3319272"/>
            <a:ext cx="2157984" cy="630936"/>
          </a:xfrm>
          <a:prstGeom prst="rect">
            <a:avLst/>
          </a:prstGeom>
          <a:noFill/>
        </p:spPr>
        <p:txBody>
          <a:bodyPr wrap="square" lIns="0" rIns="0" tIns="0" bIns="0" anchor="t">
            <a:noAutofit/>
          </a:bodyPr>
          <a:lstStyle/>
          <a:p>
            <a:pPr algn="l">
              <a:lnSpc>
                <a:spcPct val="108000"/>
              </a:lnSpc>
              <a:spcBef>
                <a:spcPts val="0"/>
              </a:spcBef>
              <a:spcAft>
                <a:spcPts val="0"/>
              </a:spcAft>
            </a:pPr>
            <a:r>
              <a:rPr sz="2900" b="1">
                <a:solidFill>
                  <a:srgbClr val="F1EFE7"/>
                </a:solidFill>
                <a:latin typeface="IBM Plex Sans"/>
              </a:rPr>
              <a:t>Test</a:t>
            </a:r>
          </a:p>
        </p:txBody>
      </p:sp>
      <p:sp>
        <p:nvSpPr>
          <p:cNvPr id="22" name="TextBox 21"/>
          <p:cNvSpPr txBox="1"/>
          <p:nvPr/>
        </p:nvSpPr>
        <p:spPr>
          <a:xfrm>
            <a:off x="5084064" y="4151376"/>
            <a:ext cx="2066543" cy="8686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Python analyses</a:t>
            </a:r>
          </a:p>
          <a:p>
            <a:pPr algn="l">
              <a:lnSpc>
                <a:spcPct val="108000"/>
              </a:lnSpc>
              <a:spcBef>
                <a:spcPts val="0"/>
              </a:spcBef>
              <a:spcAft>
                <a:spcPts val="0"/>
              </a:spcAft>
            </a:pPr>
            <a:r>
              <a:rPr sz="1900" b="0">
                <a:solidFill>
                  <a:srgbClr val="AFB9B2"/>
                </a:solidFill>
                <a:latin typeface="IBM Plex Sans"/>
              </a:rPr>
              <a:t>use public data.</a:t>
            </a:r>
          </a:p>
        </p:txBody>
      </p:sp>
      <p:cxnSp>
        <p:nvCxnSpPr>
          <p:cNvPr id="23" name="Connector 22"/>
          <p:cNvCxnSpPr/>
          <p:nvPr/>
        </p:nvCxnSpPr>
        <p:spPr>
          <a:xfrm>
            <a:off x="7031736" y="3611880"/>
            <a:ext cx="237744" cy="0"/>
          </a:xfrm>
          <a:prstGeom prst="line">
            <a:avLst/>
          </a:prstGeom>
          <a:ln w="16510">
            <a:solidFill>
              <a:srgbClr val="A6C9B8"/>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7360920" y="2423160"/>
            <a:ext cx="1901952" cy="0"/>
          </a:xfrm>
          <a:prstGeom prst="line">
            <a:avLst/>
          </a:prstGeom>
          <a:ln w="2159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7360920" y="2633472"/>
            <a:ext cx="1828800"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6C9B8"/>
                </a:solidFill>
                <a:latin typeface="IBM Plex Mono"/>
              </a:rPr>
              <a:t>04</a:t>
            </a:r>
          </a:p>
        </p:txBody>
      </p:sp>
      <p:sp>
        <p:nvSpPr>
          <p:cNvPr id="26" name="TextBox 25"/>
          <p:cNvSpPr txBox="1"/>
          <p:nvPr/>
        </p:nvSpPr>
        <p:spPr>
          <a:xfrm>
            <a:off x="7360920" y="3319272"/>
            <a:ext cx="2157984" cy="630936"/>
          </a:xfrm>
          <a:prstGeom prst="rect">
            <a:avLst/>
          </a:prstGeom>
          <a:noFill/>
        </p:spPr>
        <p:txBody>
          <a:bodyPr wrap="square" lIns="0" rIns="0" tIns="0" bIns="0" anchor="t">
            <a:noAutofit/>
          </a:bodyPr>
          <a:lstStyle/>
          <a:p>
            <a:pPr algn="l">
              <a:lnSpc>
                <a:spcPct val="108000"/>
              </a:lnSpc>
              <a:spcBef>
                <a:spcPts val="0"/>
              </a:spcBef>
              <a:spcAft>
                <a:spcPts val="0"/>
              </a:spcAft>
            </a:pPr>
            <a:r>
              <a:rPr sz="2900" b="1">
                <a:solidFill>
                  <a:srgbClr val="F1EFE7"/>
                </a:solidFill>
                <a:latin typeface="IBM Plex Sans"/>
              </a:rPr>
              <a:t>Challenge</a:t>
            </a:r>
          </a:p>
        </p:txBody>
      </p:sp>
      <p:sp>
        <p:nvSpPr>
          <p:cNvPr id="27" name="TextBox 26"/>
          <p:cNvSpPr txBox="1"/>
          <p:nvPr/>
        </p:nvSpPr>
        <p:spPr>
          <a:xfrm>
            <a:off x="7360920" y="4151376"/>
            <a:ext cx="2066543" cy="8686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A statistical screen</a:t>
            </a:r>
          </a:p>
          <a:p>
            <a:pPr algn="l">
              <a:lnSpc>
                <a:spcPct val="108000"/>
              </a:lnSpc>
              <a:spcBef>
                <a:spcPts val="0"/>
              </a:spcBef>
              <a:spcAft>
                <a:spcPts val="0"/>
              </a:spcAft>
            </a:pPr>
            <a:r>
              <a:rPr sz="1900" b="0">
                <a:solidFill>
                  <a:srgbClr val="AFB9B2"/>
                </a:solidFill>
                <a:latin typeface="IBM Plex Sans"/>
              </a:rPr>
              <a:t>returns feedback.</a:t>
            </a:r>
          </a:p>
        </p:txBody>
      </p:sp>
      <p:cxnSp>
        <p:nvCxnSpPr>
          <p:cNvPr id="28" name="Connector 27"/>
          <p:cNvCxnSpPr/>
          <p:nvPr/>
        </p:nvCxnSpPr>
        <p:spPr>
          <a:xfrm>
            <a:off x="9308592" y="3611880"/>
            <a:ext cx="237744" cy="0"/>
          </a:xfrm>
          <a:prstGeom prst="line">
            <a:avLst/>
          </a:prstGeom>
          <a:ln w="16510">
            <a:solidFill>
              <a:srgbClr val="A6C9B8"/>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a:off x="9637776" y="2423160"/>
            <a:ext cx="1901952" cy="0"/>
          </a:xfrm>
          <a:prstGeom prst="line">
            <a:avLst/>
          </a:prstGeom>
          <a:ln w="2159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9637776" y="2633472"/>
            <a:ext cx="1828800"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DEB577"/>
                </a:solidFill>
                <a:latin typeface="IBM Plex Mono"/>
              </a:rPr>
              <a:t>05</a:t>
            </a:r>
          </a:p>
        </p:txBody>
      </p:sp>
      <p:sp>
        <p:nvSpPr>
          <p:cNvPr id="31" name="TextBox 30"/>
          <p:cNvSpPr txBox="1"/>
          <p:nvPr/>
        </p:nvSpPr>
        <p:spPr>
          <a:xfrm>
            <a:off x="9637776" y="3319272"/>
            <a:ext cx="2157984" cy="630936"/>
          </a:xfrm>
          <a:prstGeom prst="rect">
            <a:avLst/>
          </a:prstGeom>
          <a:noFill/>
        </p:spPr>
        <p:txBody>
          <a:bodyPr wrap="square" lIns="0" rIns="0" tIns="0" bIns="0" anchor="t">
            <a:noAutofit/>
          </a:bodyPr>
          <a:lstStyle/>
          <a:p>
            <a:pPr algn="l">
              <a:lnSpc>
                <a:spcPct val="108000"/>
              </a:lnSpc>
              <a:spcBef>
                <a:spcPts val="0"/>
              </a:spcBef>
              <a:spcAft>
                <a:spcPts val="0"/>
              </a:spcAft>
            </a:pPr>
            <a:r>
              <a:rPr sz="2900" b="1">
                <a:solidFill>
                  <a:srgbClr val="F1EFE7"/>
                </a:solidFill>
                <a:latin typeface="IBM Plex Sans"/>
              </a:rPr>
              <a:t>Review</a:t>
            </a:r>
          </a:p>
        </p:txBody>
      </p:sp>
      <p:sp>
        <p:nvSpPr>
          <p:cNvPr id="32" name="TextBox 31"/>
          <p:cNvSpPr txBox="1"/>
          <p:nvPr/>
        </p:nvSpPr>
        <p:spPr>
          <a:xfrm>
            <a:off x="9637776" y="4151376"/>
            <a:ext cx="2066543" cy="8686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A scientist records</a:t>
            </a:r>
          </a:p>
          <a:p>
            <a:pPr algn="l">
              <a:lnSpc>
                <a:spcPct val="108000"/>
              </a:lnSpc>
              <a:spcBef>
                <a:spcPts val="0"/>
              </a:spcBef>
              <a:spcAft>
                <a:spcPts val="0"/>
              </a:spcAft>
            </a:pPr>
            <a:r>
              <a:rPr sz="1900" b="0">
                <a:solidFill>
                  <a:srgbClr val="AFB9B2"/>
                </a:solidFill>
                <a:latin typeface="IBM Plex Sans"/>
              </a:rPr>
              <a:t>a decision.</a:t>
            </a:r>
          </a:p>
        </p:txBody>
      </p:sp>
      <p:cxnSp>
        <p:nvCxnSpPr>
          <p:cNvPr id="33" name="Connector 32"/>
          <p:cNvCxnSpPr/>
          <p:nvPr/>
        </p:nvCxnSpPr>
        <p:spPr>
          <a:xfrm flipH="1">
            <a:off x="3154680" y="5321808"/>
            <a:ext cx="5148072" cy="0"/>
          </a:xfrm>
          <a:prstGeom prst="line">
            <a:avLst/>
          </a:prstGeom>
          <a:ln w="12700">
            <a:solidFill>
              <a:srgbClr val="A6C9B8"/>
            </a:solidFill>
            <a:tailEnd type="triangle"/>
          </a:ln>
          <a:effectLst/>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3182112" y="5486400"/>
            <a:ext cx="5943600"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6C9B8"/>
                </a:solidFill>
                <a:latin typeface="IBM Plex Sans"/>
              </a:rPr>
              <a:t>Retry, reframe or pursue another branch</a:t>
            </a:r>
          </a:p>
        </p:txBody>
      </p:sp>
      <p:sp>
        <p:nvSpPr>
          <p:cNvPr id="35" name="TextBox 34"/>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Knowledge graph = claims connected to entities, sources and context. Human review exists in the backend.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04 / AI ENGINEERING</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05</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The engineering is in how the loop behaves.</a:t>
            </a:r>
          </a:p>
        </p:txBody>
      </p:sp>
      <p:cxnSp>
        <p:nvCxnSpPr>
          <p:cNvPr id="9" name="Connector 8"/>
          <p:cNvCxnSpPr/>
          <p:nvPr/>
        </p:nvCxnSpPr>
        <p:spPr>
          <a:xfrm flipV="1">
            <a:off x="1920240" y="2660904"/>
            <a:ext cx="1783080" cy="310896"/>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a:off x="1920240" y="2971800"/>
            <a:ext cx="1783080" cy="768096"/>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920240" y="2971800"/>
            <a:ext cx="1783080" cy="1847088"/>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4892040" y="2660904"/>
            <a:ext cx="1170432" cy="493776"/>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flipV="1">
            <a:off x="4892040" y="3154680"/>
            <a:ext cx="1170432" cy="585216"/>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flipV="1">
            <a:off x="4892040" y="3154680"/>
            <a:ext cx="1170432" cy="1664208"/>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548640" y="2514600"/>
            <a:ext cx="1417320" cy="914400"/>
          </a:xfrm>
          <a:prstGeom prst="roundRect">
            <a:avLst>
              <a:gd name="adj" fmla="val 8000"/>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58368" y="2615184"/>
            <a:ext cx="1216152" cy="740664"/>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Question</a:t>
            </a:r>
          </a:p>
        </p:txBody>
      </p:sp>
      <p:sp>
        <p:nvSpPr>
          <p:cNvPr id="17" name="TextBox 16"/>
          <p:cNvSpPr txBox="1"/>
          <p:nvPr/>
        </p:nvSpPr>
        <p:spPr>
          <a:xfrm>
            <a:off x="548640" y="3520440"/>
            <a:ext cx="1417320" cy="237744"/>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Mono"/>
              </a:rPr>
              <a:t>root</a:t>
            </a:r>
          </a:p>
        </p:txBody>
      </p:sp>
      <p:sp>
        <p:nvSpPr>
          <p:cNvPr id="18" name="Rounded Rectangle 17"/>
          <p:cNvSpPr/>
          <p:nvPr/>
        </p:nvSpPr>
        <p:spPr>
          <a:xfrm>
            <a:off x="2743200" y="2286000"/>
            <a:ext cx="2176272" cy="731520"/>
          </a:xfrm>
          <a:prstGeom prst="roundRect">
            <a:avLst>
              <a:gd name="adj" fmla="val 8000"/>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852928" y="2386584"/>
            <a:ext cx="1975103" cy="557784"/>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Hypothesis A</a:t>
            </a:r>
          </a:p>
        </p:txBody>
      </p:sp>
      <p:sp>
        <p:nvSpPr>
          <p:cNvPr id="20" name="TextBox 19"/>
          <p:cNvSpPr txBox="1"/>
          <p:nvPr/>
        </p:nvSpPr>
        <p:spPr>
          <a:xfrm>
            <a:off x="2743200" y="3108960"/>
            <a:ext cx="2176272" cy="237744"/>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Mono"/>
              </a:rPr>
              <a:t>research</a:t>
            </a:r>
          </a:p>
        </p:txBody>
      </p:sp>
      <p:sp>
        <p:nvSpPr>
          <p:cNvPr id="21" name="Rounded Rectangle 20"/>
          <p:cNvSpPr/>
          <p:nvPr/>
        </p:nvSpPr>
        <p:spPr>
          <a:xfrm>
            <a:off x="2743200" y="3364992"/>
            <a:ext cx="2176272" cy="731520"/>
          </a:xfrm>
          <a:prstGeom prst="roundRect">
            <a:avLst>
              <a:gd name="adj" fmla="val 8000"/>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2852928" y="3465576"/>
            <a:ext cx="1975103" cy="557784"/>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Hypothesis B</a:t>
            </a:r>
          </a:p>
        </p:txBody>
      </p:sp>
      <p:sp>
        <p:nvSpPr>
          <p:cNvPr id="23" name="TextBox 22"/>
          <p:cNvSpPr txBox="1"/>
          <p:nvPr/>
        </p:nvSpPr>
        <p:spPr>
          <a:xfrm>
            <a:off x="2743200" y="4187952"/>
            <a:ext cx="2176272" cy="237744"/>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Mono"/>
              </a:rPr>
              <a:t>research</a:t>
            </a:r>
          </a:p>
        </p:txBody>
      </p:sp>
      <p:sp>
        <p:nvSpPr>
          <p:cNvPr id="24" name="Rounded Rectangle 23"/>
          <p:cNvSpPr/>
          <p:nvPr/>
        </p:nvSpPr>
        <p:spPr>
          <a:xfrm>
            <a:off x="2743200" y="4443984"/>
            <a:ext cx="2176272" cy="731520"/>
          </a:xfrm>
          <a:prstGeom prst="roundRect">
            <a:avLst>
              <a:gd name="adj" fmla="val 8000"/>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2852928" y="4544568"/>
            <a:ext cx="1975103" cy="557784"/>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Challenge</a:t>
            </a:r>
          </a:p>
        </p:txBody>
      </p:sp>
      <p:sp>
        <p:nvSpPr>
          <p:cNvPr id="26" name="TextBox 25"/>
          <p:cNvSpPr txBox="1"/>
          <p:nvPr/>
        </p:nvSpPr>
        <p:spPr>
          <a:xfrm>
            <a:off x="2743200" y="5266944"/>
            <a:ext cx="2176272" cy="237744"/>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Mono"/>
              </a:rPr>
              <a:t>counter-evidence</a:t>
            </a:r>
          </a:p>
        </p:txBody>
      </p:sp>
      <p:sp>
        <p:nvSpPr>
          <p:cNvPr id="27" name="Rounded Rectangle 26"/>
          <p:cNvSpPr/>
          <p:nvPr/>
        </p:nvSpPr>
        <p:spPr>
          <a:xfrm>
            <a:off x="5504688" y="2578608"/>
            <a:ext cx="1737360" cy="1188720"/>
          </a:xfrm>
          <a:prstGeom prst="roundRect">
            <a:avLst>
              <a:gd name="adj" fmla="val 8000"/>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614416" y="2679191"/>
            <a:ext cx="1536192" cy="1014984"/>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Report →</a:t>
            </a:r>
          </a:p>
          <a:p>
            <a:pPr algn="l">
              <a:lnSpc>
                <a:spcPct val="108000"/>
              </a:lnSpc>
              <a:spcBef>
                <a:spcPts val="0"/>
              </a:spcBef>
              <a:spcAft>
                <a:spcPts val="0"/>
              </a:spcAft>
            </a:pPr>
            <a:r>
              <a:rPr sz="1600" b="1">
                <a:solidFill>
                  <a:srgbClr val="F1EFE7"/>
                </a:solidFill>
                <a:latin typeface="IBM Plex Sans"/>
              </a:rPr>
              <a:t>decide</a:t>
            </a:r>
          </a:p>
        </p:txBody>
      </p:sp>
      <p:sp>
        <p:nvSpPr>
          <p:cNvPr id="29" name="TextBox 28"/>
          <p:cNvSpPr txBox="1"/>
          <p:nvPr/>
        </p:nvSpPr>
        <p:spPr>
          <a:xfrm>
            <a:off x="5504688" y="3858768"/>
            <a:ext cx="1737360" cy="237744"/>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Mono"/>
              </a:rPr>
              <a:t>parent control</a:t>
            </a:r>
          </a:p>
        </p:txBody>
      </p:sp>
      <p:cxnSp>
        <p:nvCxnSpPr>
          <p:cNvPr id="30" name="Connector 29"/>
          <p:cNvCxnSpPr/>
          <p:nvPr/>
        </p:nvCxnSpPr>
        <p:spPr>
          <a:xfrm>
            <a:off x="6400800" y="4087368"/>
            <a:ext cx="0" cy="1252728"/>
          </a:xfrm>
          <a:prstGeom prst="line">
            <a:avLst/>
          </a:prstGeom>
          <a:ln w="15240">
            <a:solidFill>
              <a:srgbClr val="DEB577"/>
            </a:solidFill>
            <a:tailEnd type="triangle"/>
          </a:ln>
          <a:effectLst/>
        </p:spPr>
        <p:style>
          <a:lnRef idx="2">
            <a:schemeClr val="accent1"/>
          </a:lnRef>
          <a:fillRef idx="0">
            <a:schemeClr val="accent1"/>
          </a:fillRef>
          <a:effectRef idx="0">
            <a:schemeClr val="accent1"/>
          </a:effectRef>
          <a:fontRef idx="minor">
            <a:schemeClr val="tx1"/>
          </a:fontRef>
        </p:style>
      </p:cxnSp>
      <p:sp>
        <p:nvSpPr>
          <p:cNvPr id="31" name="TextBox 30"/>
          <p:cNvSpPr txBox="1"/>
          <p:nvPr/>
        </p:nvSpPr>
        <p:spPr>
          <a:xfrm>
            <a:off x="5248656" y="5504688"/>
            <a:ext cx="2560320" cy="502920"/>
          </a:xfrm>
          <a:prstGeom prst="rect">
            <a:avLst/>
          </a:prstGeom>
          <a:noFill/>
        </p:spPr>
        <p:txBody>
          <a:bodyPr wrap="square" lIns="0" rIns="0" tIns="0" bIns="0" anchor="t">
            <a:noAutofit/>
          </a:bodyPr>
          <a:lstStyle/>
          <a:p>
            <a:pPr algn="ctr">
              <a:lnSpc>
                <a:spcPct val="108000"/>
              </a:lnSpc>
              <a:spcBef>
                <a:spcPts val="0"/>
              </a:spcBef>
              <a:spcAft>
                <a:spcPts val="0"/>
              </a:spcAft>
            </a:pPr>
            <a:r>
              <a:rPr sz="1200" b="0">
                <a:solidFill>
                  <a:srgbClr val="DEB577"/>
                </a:solidFill>
                <a:latin typeface="IBM Plex Mono"/>
              </a:rPr>
              <a:t>continue / fork</a:t>
            </a:r>
          </a:p>
          <a:p>
            <a:pPr algn="ctr">
              <a:lnSpc>
                <a:spcPct val="108000"/>
              </a:lnSpc>
              <a:spcBef>
                <a:spcPts val="0"/>
              </a:spcBef>
              <a:spcAft>
                <a:spcPts val="0"/>
              </a:spcAft>
            </a:pPr>
            <a:r>
              <a:rPr sz="1200" b="0">
                <a:solidFill>
                  <a:srgbClr val="DEB577"/>
                </a:solidFill>
                <a:latin typeface="IBM Plex Mono"/>
              </a:rPr>
              <a:t>finish / prune</a:t>
            </a:r>
          </a:p>
        </p:txBody>
      </p:sp>
      <p:sp>
        <p:nvSpPr>
          <p:cNvPr id="32" name="TextBox 31"/>
          <p:cNvSpPr txBox="1"/>
          <p:nvPr/>
        </p:nvSpPr>
        <p:spPr>
          <a:xfrm>
            <a:off x="7726679" y="2304288"/>
            <a:ext cx="3877056" cy="658368"/>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A6C9B8"/>
                </a:solidFill>
                <a:latin typeface="IBM Plex Sans"/>
              </a:rPr>
              <a:t>Claims tied to sources</a:t>
            </a:r>
          </a:p>
        </p:txBody>
      </p:sp>
      <p:sp>
        <p:nvSpPr>
          <p:cNvPr id="33" name="TextBox 32"/>
          <p:cNvSpPr txBox="1"/>
          <p:nvPr/>
        </p:nvSpPr>
        <p:spPr>
          <a:xfrm>
            <a:off x="7726679" y="2852928"/>
            <a:ext cx="3877056" cy="64008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FB9B2"/>
                </a:solidFill>
                <a:latin typeface="IBM Plex Sans"/>
              </a:rPr>
              <a:t>Exact quotes, identifiers and disagreements.</a:t>
            </a:r>
          </a:p>
        </p:txBody>
      </p:sp>
      <p:sp>
        <p:nvSpPr>
          <p:cNvPr id="34" name="TextBox 33"/>
          <p:cNvSpPr txBox="1"/>
          <p:nvPr/>
        </p:nvSpPr>
        <p:spPr>
          <a:xfrm>
            <a:off x="7726679" y="3520440"/>
            <a:ext cx="3877056" cy="658368"/>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A6C9B8"/>
                </a:solidFill>
                <a:latin typeface="IBM Plex Sans"/>
              </a:rPr>
              <a:t>Explicit research actions</a:t>
            </a:r>
          </a:p>
        </p:txBody>
      </p:sp>
      <p:sp>
        <p:nvSpPr>
          <p:cNvPr id="35" name="TextBox 34"/>
          <p:cNvSpPr txBox="1"/>
          <p:nvPr/>
        </p:nvSpPr>
        <p:spPr>
          <a:xfrm>
            <a:off x="7726679" y="4069080"/>
            <a:ext cx="3877056" cy="64008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FB9B2"/>
                </a:solidFill>
                <a:latin typeface="IBM Plex Sans"/>
              </a:rPr>
              <a:t>Method guidance, executable code and feedback.</a:t>
            </a:r>
          </a:p>
        </p:txBody>
      </p:sp>
      <p:sp>
        <p:nvSpPr>
          <p:cNvPr id="36" name="TextBox 35"/>
          <p:cNvSpPr txBox="1"/>
          <p:nvPr/>
        </p:nvSpPr>
        <p:spPr>
          <a:xfrm>
            <a:off x="7726679" y="4736592"/>
            <a:ext cx="3877056" cy="658368"/>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A6C9B8"/>
                </a:solidFill>
                <a:latin typeface="IBM Plex Sans"/>
              </a:rPr>
              <a:t>Research that resumes</a:t>
            </a:r>
          </a:p>
        </p:txBody>
      </p:sp>
      <p:sp>
        <p:nvSpPr>
          <p:cNvPr id="37" name="TextBox 36"/>
          <p:cNvSpPr txBox="1"/>
          <p:nvPr/>
        </p:nvSpPr>
        <p:spPr>
          <a:xfrm>
            <a:off x="7726679" y="5285231"/>
            <a:ext cx="3877056" cy="64008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FB9B2"/>
                </a:solidFill>
                <a:latin typeface="IBM Plex Sans"/>
              </a:rPr>
              <a:t>Saved reports, decisions, events and artifacts.</a:t>
            </a:r>
          </a:p>
        </p:txBody>
      </p:sp>
      <p:sp>
        <p:nvSpPr>
          <p:cNvPr id="38" name="TextBox 37"/>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Conceptual control diagram. Model judgment allocates research; calibrated statistical pruning is not active.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05 / DEMO</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06</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One question. An inspectable trail.</a:t>
            </a:r>
          </a:p>
        </p:txBody>
      </p:sp>
      <p:pic>
        <p:nvPicPr>
          <p:cNvPr id="9" name="Picture 8" descr="workspace-fixture.png"/>
          <p:cNvPicPr>
            <a:picLocks noChangeAspect="1"/>
          </p:cNvPicPr>
          <p:nvPr/>
        </p:nvPicPr>
        <p:blipFill>
          <a:blip r:embed="rId2"/>
          <a:stretch>
            <a:fillRect/>
          </a:stretch>
        </p:blipFill>
        <p:spPr>
          <a:xfrm>
            <a:off x="512064" y="2002536"/>
            <a:ext cx="6565392" cy="4103370"/>
          </a:xfrm>
          <a:prstGeom prst="rect">
            <a:avLst/>
          </a:prstGeom>
        </p:spPr>
      </p:pic>
      <p:sp>
        <p:nvSpPr>
          <p:cNvPr id="10" name="Rectangle 9"/>
          <p:cNvSpPr/>
          <p:nvPr/>
        </p:nvSpPr>
        <p:spPr>
          <a:xfrm>
            <a:off x="539496" y="1627632"/>
            <a:ext cx="4645152" cy="283464"/>
          </a:xfrm>
          <a:prstGeom prst="rect">
            <a:avLst/>
          </a:prstGeom>
          <a:solidFill>
            <a:srgbClr val="222E2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30936" y="1675180"/>
            <a:ext cx="4480560" cy="192024"/>
          </a:xfrm>
          <a:prstGeom prst="rect">
            <a:avLst/>
          </a:prstGeom>
          <a:noFill/>
        </p:spPr>
        <p:txBody>
          <a:bodyPr wrap="square" lIns="0" rIns="0" tIns="0" bIns="0" anchor="t">
            <a:noAutofit/>
          </a:bodyPr>
          <a:lstStyle/>
          <a:p>
            <a:pPr algn="l">
              <a:lnSpc>
                <a:spcPct val="108000"/>
              </a:lnSpc>
              <a:spcBef>
                <a:spcPts val="0"/>
              </a:spcBef>
              <a:spcAft>
                <a:spcPts val="0"/>
              </a:spcAft>
            </a:pPr>
            <a:r>
              <a:rPr sz="940" b="1">
                <a:solidFill>
                  <a:srgbClr val="DEB577"/>
                </a:solidFill>
                <a:latin typeface="IBM Plex Mono"/>
              </a:rPr>
              <a:t>INTERFACE DEMO / SYNTHETIC DATA</a:t>
            </a:r>
          </a:p>
        </p:txBody>
      </p:sp>
      <p:sp>
        <p:nvSpPr>
          <p:cNvPr id="12" name="Rectangle 11"/>
          <p:cNvSpPr/>
          <p:nvPr/>
        </p:nvSpPr>
        <p:spPr>
          <a:xfrm>
            <a:off x="8275320" y="2103120"/>
            <a:ext cx="3364992" cy="457200"/>
          </a:xfrm>
          <a:prstGeom prst="rect">
            <a:avLst/>
          </a:prstGeom>
          <a:solidFill>
            <a:srgbClr val="365E4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0" y="2221992"/>
            <a:ext cx="3054096" cy="219456"/>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F1EFE7"/>
                </a:solidFill>
                <a:latin typeface="IBM Plex Mono"/>
              </a:rPr>
              <a:t>PREPARED CORPUS</a:t>
            </a:r>
          </a:p>
        </p:txBody>
      </p:sp>
      <p:sp>
        <p:nvSpPr>
          <p:cNvPr id="14" name="TextBox 13"/>
          <p:cNvSpPr txBox="1"/>
          <p:nvPr/>
        </p:nvSpPr>
        <p:spPr>
          <a:xfrm>
            <a:off x="8321040" y="2807208"/>
            <a:ext cx="3200400" cy="914400"/>
          </a:xfrm>
          <a:prstGeom prst="rect">
            <a:avLst/>
          </a:prstGeom>
          <a:noFill/>
        </p:spPr>
        <p:txBody>
          <a:bodyPr wrap="square" lIns="0" rIns="0" tIns="0" bIns="0" anchor="t">
            <a:noAutofit/>
          </a:bodyPr>
          <a:lstStyle/>
          <a:p>
            <a:pPr algn="l">
              <a:lnSpc>
                <a:spcPct val="108000"/>
              </a:lnSpc>
              <a:spcBef>
                <a:spcPts val="0"/>
              </a:spcBef>
              <a:spcAft>
                <a:spcPts val="0"/>
              </a:spcAft>
            </a:pPr>
            <a:r>
              <a:rPr sz="6300" b="1">
                <a:solidFill>
                  <a:srgbClr val="A6C9B8"/>
                </a:solidFill>
                <a:latin typeface="IBM Plex Sans"/>
              </a:rPr>
              <a:t>100</a:t>
            </a:r>
          </a:p>
        </p:txBody>
      </p:sp>
      <p:sp>
        <p:nvSpPr>
          <p:cNvPr id="15" name="TextBox 14"/>
          <p:cNvSpPr txBox="1"/>
          <p:nvPr/>
        </p:nvSpPr>
        <p:spPr>
          <a:xfrm>
            <a:off x="8339327" y="3749039"/>
            <a:ext cx="3218688" cy="868680"/>
          </a:xfrm>
          <a:prstGeom prst="rect">
            <a:avLst/>
          </a:prstGeom>
          <a:noFill/>
        </p:spPr>
        <p:txBody>
          <a:bodyPr wrap="square" lIns="0" rIns="0" tIns="0" bIns="0" anchor="t">
            <a:noAutofit/>
          </a:bodyPr>
          <a:lstStyle/>
          <a:p>
            <a:pPr algn="l">
              <a:lnSpc>
                <a:spcPct val="108000"/>
              </a:lnSpc>
              <a:spcBef>
                <a:spcPts val="0"/>
              </a:spcBef>
              <a:spcAft>
                <a:spcPts val="0"/>
              </a:spcAft>
            </a:pPr>
            <a:r>
              <a:rPr sz="2200" b="0">
                <a:solidFill>
                  <a:srgbClr val="F1EFE7"/>
                </a:solidFill>
                <a:latin typeface="IBM Plex Sans"/>
              </a:rPr>
              <a:t>curated full-text</a:t>
            </a:r>
          </a:p>
          <a:p>
            <a:pPr algn="l">
              <a:lnSpc>
                <a:spcPct val="108000"/>
              </a:lnSpc>
              <a:spcBef>
                <a:spcPts val="0"/>
              </a:spcBef>
              <a:spcAft>
                <a:spcPts val="0"/>
              </a:spcAft>
            </a:pPr>
            <a:r>
              <a:rPr sz="2200" b="0">
                <a:solidFill>
                  <a:srgbClr val="F1EFE7"/>
                </a:solidFill>
                <a:latin typeface="IBM Plex Sans"/>
              </a:rPr>
              <a:t>pancreatic cancer papers</a:t>
            </a:r>
          </a:p>
        </p:txBody>
      </p:sp>
      <p:sp>
        <p:nvSpPr>
          <p:cNvPr id="16" name="TextBox 15"/>
          <p:cNvSpPr txBox="1"/>
          <p:nvPr/>
        </p:nvSpPr>
        <p:spPr>
          <a:xfrm>
            <a:off x="8339327" y="4919472"/>
            <a:ext cx="3200400" cy="841248"/>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AFB9B2"/>
                </a:solidFill>
                <a:latin typeface="IBM Plex Sans"/>
              </a:rPr>
              <a:t>Show source → hypothesis →</a:t>
            </a:r>
          </a:p>
          <a:p>
            <a:pPr algn="l">
              <a:lnSpc>
                <a:spcPct val="108000"/>
              </a:lnSpc>
              <a:spcBef>
                <a:spcPts val="0"/>
              </a:spcBef>
              <a:spcAft>
                <a:spcPts val="0"/>
              </a:spcAft>
            </a:pPr>
            <a:r>
              <a:rPr sz="1800" b="0">
                <a:solidFill>
                  <a:srgbClr val="AFB9B2"/>
                </a:solidFill>
                <a:latin typeface="IBM Plex Sans"/>
              </a:rPr>
              <a:t>code → result → feedback</a:t>
            </a:r>
          </a:p>
        </p:txBody>
      </p:sp>
      <p:sp>
        <p:nvSpPr>
          <p:cNvPr id="17" name="TextBox 16"/>
          <p:cNvSpPr txBox="1"/>
          <p:nvPr/>
        </p:nvSpPr>
        <p:spPr>
          <a:xfrm>
            <a:off x="667512" y="6153912"/>
            <a:ext cx="7114032" cy="228600"/>
          </a:xfrm>
          <a:prstGeom prst="rect">
            <a:avLst/>
          </a:prstGeom>
          <a:noFill/>
        </p:spPr>
        <p:txBody>
          <a:bodyPr wrap="square" lIns="0" rIns="0" tIns="0" bIns="0" anchor="t">
            <a:noAutofit/>
          </a:bodyPr>
          <a:lstStyle/>
          <a:p>
            <a:pPr algn="l">
              <a:lnSpc>
                <a:spcPct val="108000"/>
              </a:lnSpc>
              <a:spcBef>
                <a:spcPts val="0"/>
              </a:spcBef>
              <a:spcAft>
                <a:spcPts val="0"/>
              </a:spcAft>
            </a:pPr>
            <a:r>
              <a:rPr sz="1100" b="0">
                <a:solidFill>
                  <a:srgbClr val="DEB577"/>
                </a:solidFill>
                <a:latin typeface="IBM Plex Sans"/>
              </a:rPr>
              <a:t>Replace this interface fixture with the final scientific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06 / TRUSTWORTHINESS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07</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A plausible result must survive scrutiny.</a:t>
            </a:r>
          </a:p>
        </p:txBody>
      </p:sp>
      <p:cxnSp>
        <p:nvCxnSpPr>
          <p:cNvPr id="9" name="Connector 8"/>
          <p:cNvCxnSpPr/>
          <p:nvPr/>
        </p:nvCxnSpPr>
        <p:spPr>
          <a:xfrm>
            <a:off x="539496" y="2377440"/>
            <a:ext cx="3337560" cy="0"/>
          </a:xfrm>
          <a:prstGeom prst="line">
            <a:avLst/>
          </a:prstGeom>
          <a:ln w="2032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39496" y="2542032"/>
            <a:ext cx="3337560"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6C9B8"/>
                </a:solidFill>
                <a:latin typeface="IBM Plex Mono"/>
              </a:rPr>
              <a:t>01 / SOURCE</a:t>
            </a:r>
          </a:p>
        </p:txBody>
      </p:sp>
      <p:sp>
        <p:nvSpPr>
          <p:cNvPr id="11" name="TextBox 10"/>
          <p:cNvSpPr txBox="1"/>
          <p:nvPr/>
        </p:nvSpPr>
        <p:spPr>
          <a:xfrm>
            <a:off x="539496" y="3035808"/>
            <a:ext cx="3337560"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Did the paper</a:t>
            </a:r>
          </a:p>
          <a:p>
            <a:pPr algn="l">
              <a:lnSpc>
                <a:spcPct val="108000"/>
              </a:lnSpc>
              <a:spcBef>
                <a:spcPts val="0"/>
              </a:spcBef>
              <a:spcAft>
                <a:spcPts val="0"/>
              </a:spcAft>
            </a:pPr>
            <a:r>
              <a:rPr sz="2700" b="1">
                <a:solidFill>
                  <a:srgbClr val="F1EFE7"/>
                </a:solidFill>
                <a:latin typeface="IBM Plex Sans"/>
              </a:rPr>
              <a:t>say that?</a:t>
            </a:r>
          </a:p>
        </p:txBody>
      </p:sp>
      <p:sp>
        <p:nvSpPr>
          <p:cNvPr id="12" name="TextBox 11"/>
          <p:cNvSpPr txBox="1"/>
          <p:nvPr/>
        </p:nvSpPr>
        <p:spPr>
          <a:xfrm>
            <a:off x="539496" y="4096512"/>
            <a:ext cx="3337560"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Quoted spans, grounded IDs,</a:t>
            </a:r>
          </a:p>
          <a:p>
            <a:pPr algn="l">
              <a:lnSpc>
                <a:spcPct val="108000"/>
              </a:lnSpc>
              <a:spcBef>
                <a:spcPts val="0"/>
              </a:spcBef>
              <a:spcAft>
                <a:spcPts val="0"/>
              </a:spcAft>
            </a:pPr>
            <a:r>
              <a:rPr sz="1900" b="0">
                <a:solidFill>
                  <a:srgbClr val="AFB9B2"/>
                </a:solidFill>
                <a:latin typeface="IBM Plex Sans"/>
              </a:rPr>
              <a:t>biological context and</a:t>
            </a:r>
          </a:p>
          <a:p>
            <a:pPr algn="l">
              <a:lnSpc>
                <a:spcPct val="108000"/>
              </a:lnSpc>
              <a:spcBef>
                <a:spcPts val="0"/>
              </a:spcBef>
              <a:spcAft>
                <a:spcPts val="0"/>
              </a:spcAft>
            </a:pPr>
            <a:r>
              <a:rPr sz="1900" b="0">
                <a:solidFill>
                  <a:srgbClr val="AFB9B2"/>
                </a:solidFill>
                <a:latin typeface="IBM Plex Sans"/>
              </a:rPr>
              <a:t>explicit disagreements.</a:t>
            </a:r>
          </a:p>
        </p:txBody>
      </p:sp>
      <p:cxnSp>
        <p:nvCxnSpPr>
          <p:cNvPr id="13" name="Connector 12"/>
          <p:cNvCxnSpPr/>
          <p:nvPr/>
        </p:nvCxnSpPr>
        <p:spPr>
          <a:xfrm>
            <a:off x="4361688" y="2377440"/>
            <a:ext cx="3337560" cy="0"/>
          </a:xfrm>
          <a:prstGeom prst="line">
            <a:avLst/>
          </a:prstGeom>
          <a:ln w="2032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4361688" y="2542032"/>
            <a:ext cx="3337560"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6C9B8"/>
                </a:solidFill>
                <a:latin typeface="IBM Plex Mono"/>
              </a:rPr>
              <a:t>02 / SCREEN</a:t>
            </a:r>
          </a:p>
        </p:txBody>
      </p:sp>
      <p:sp>
        <p:nvSpPr>
          <p:cNvPr id="15" name="TextBox 14"/>
          <p:cNvSpPr txBox="1"/>
          <p:nvPr/>
        </p:nvSpPr>
        <p:spPr>
          <a:xfrm>
            <a:off x="4361688" y="3035808"/>
            <a:ext cx="3337560"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Does the result</a:t>
            </a:r>
          </a:p>
          <a:p>
            <a:pPr algn="l">
              <a:lnSpc>
                <a:spcPct val="108000"/>
              </a:lnSpc>
              <a:spcBef>
                <a:spcPts val="0"/>
              </a:spcBef>
              <a:spcAft>
                <a:spcPts val="0"/>
              </a:spcAft>
            </a:pPr>
            <a:r>
              <a:rPr sz="2700" b="1">
                <a:solidFill>
                  <a:srgbClr val="F1EFE7"/>
                </a:solidFill>
                <a:latin typeface="IBM Plex Sans"/>
              </a:rPr>
              <a:t>pass the checks?</a:t>
            </a:r>
          </a:p>
        </p:txBody>
      </p:sp>
      <p:sp>
        <p:nvSpPr>
          <p:cNvPr id="16" name="TextBox 15"/>
          <p:cNvSpPr txBox="1"/>
          <p:nvPr/>
        </p:nvSpPr>
        <p:spPr>
          <a:xfrm>
            <a:off x="4361688" y="4096512"/>
            <a:ext cx="3337560"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Typed result, reported sample</a:t>
            </a:r>
          </a:p>
          <a:p>
            <a:pPr algn="l">
              <a:lnSpc>
                <a:spcPct val="108000"/>
              </a:lnSpc>
              <a:spcBef>
                <a:spcPts val="0"/>
              </a:spcBef>
              <a:spcAft>
                <a:spcPts val="0"/>
              </a:spcAft>
            </a:pPr>
            <a:r>
              <a:rPr sz="1900" b="0">
                <a:solidFill>
                  <a:srgbClr val="AFB9B2"/>
                </a:solidFill>
                <a:latin typeface="IBM Plex Sans"/>
              </a:rPr>
              <a:t>size, direction, p-value</a:t>
            </a:r>
          </a:p>
          <a:p>
            <a:pPr algn="l">
              <a:lnSpc>
                <a:spcPct val="108000"/>
              </a:lnSpc>
              <a:spcBef>
                <a:spcPts val="0"/>
              </a:spcBef>
              <a:spcAft>
                <a:spcPts val="0"/>
              </a:spcAft>
            </a:pPr>
            <a:r>
              <a:rPr sz="1900" b="0">
                <a:solidFill>
                  <a:srgbClr val="AFB9B2"/>
                </a:solidFill>
                <a:latin typeface="IBM Plex Sans"/>
              </a:rPr>
              <a:t>and robustness.</a:t>
            </a:r>
          </a:p>
        </p:txBody>
      </p:sp>
      <p:cxnSp>
        <p:nvCxnSpPr>
          <p:cNvPr id="17" name="Connector 16"/>
          <p:cNvCxnSpPr/>
          <p:nvPr/>
        </p:nvCxnSpPr>
        <p:spPr>
          <a:xfrm>
            <a:off x="8183879" y="2377440"/>
            <a:ext cx="3456432" cy="0"/>
          </a:xfrm>
          <a:prstGeom prst="line">
            <a:avLst/>
          </a:prstGeom>
          <a:ln w="2032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8183879" y="2542032"/>
            <a:ext cx="3456432"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DEB577"/>
                </a:solidFill>
                <a:latin typeface="IBM Plex Mono"/>
              </a:rPr>
              <a:t>03 / SCIENTIST</a:t>
            </a:r>
          </a:p>
        </p:txBody>
      </p:sp>
      <p:sp>
        <p:nvSpPr>
          <p:cNvPr id="19" name="TextBox 18"/>
          <p:cNvSpPr txBox="1"/>
          <p:nvPr/>
        </p:nvSpPr>
        <p:spPr>
          <a:xfrm>
            <a:off x="8183879" y="3035808"/>
            <a:ext cx="3456432"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Is it worth</a:t>
            </a:r>
          </a:p>
          <a:p>
            <a:pPr algn="l">
              <a:lnSpc>
                <a:spcPct val="108000"/>
              </a:lnSpc>
              <a:spcBef>
                <a:spcPts val="0"/>
              </a:spcBef>
              <a:spcAft>
                <a:spcPts val="0"/>
              </a:spcAft>
            </a:pPr>
            <a:r>
              <a:rPr sz="2700" b="1">
                <a:solidFill>
                  <a:srgbClr val="F1EFE7"/>
                </a:solidFill>
                <a:latin typeface="IBM Plex Sans"/>
              </a:rPr>
              <a:t>pursuing?</a:t>
            </a:r>
          </a:p>
        </p:txBody>
      </p:sp>
      <p:sp>
        <p:nvSpPr>
          <p:cNvPr id="20" name="TextBox 19"/>
          <p:cNvSpPr txBox="1"/>
          <p:nvPr/>
        </p:nvSpPr>
        <p:spPr>
          <a:xfrm>
            <a:off x="8183879" y="4096512"/>
            <a:ext cx="3456432"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Code and evidence remain</a:t>
            </a:r>
          </a:p>
          <a:p>
            <a:pPr algn="l">
              <a:lnSpc>
                <a:spcPct val="108000"/>
              </a:lnSpc>
              <a:spcBef>
                <a:spcPts val="0"/>
              </a:spcBef>
              <a:spcAft>
                <a:spcPts val="0"/>
              </a:spcAft>
            </a:pPr>
            <a:r>
              <a:rPr sz="1900" b="0">
                <a:solidFill>
                  <a:srgbClr val="AFB9B2"/>
                </a:solidFill>
                <a:latin typeface="IBM Plex Sans"/>
              </a:rPr>
              <a:t>reviewable. Human acceptance</a:t>
            </a:r>
          </a:p>
          <a:p>
            <a:pPr algn="l">
              <a:lnSpc>
                <a:spcPct val="108000"/>
              </a:lnSpc>
              <a:spcBef>
                <a:spcPts val="0"/>
              </a:spcBef>
              <a:spcAft>
                <a:spcPts val="0"/>
              </a:spcAft>
            </a:pPr>
            <a:r>
              <a:rPr sz="1900" b="0">
                <a:solidFill>
                  <a:srgbClr val="AFB9B2"/>
                </a:solidFill>
                <a:latin typeface="IBM Plex Sans"/>
              </a:rPr>
              <a:t>requires a written note.</a:t>
            </a:r>
          </a:p>
        </p:txBody>
      </p:sp>
      <p:sp>
        <p:nvSpPr>
          <p:cNvPr id="21" name="TextBox 20"/>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Screened candidate ≠ independently reproduced result ≠ confirmed biological discovery.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FE7"/>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17201F"/>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365E4D"/>
                </a:solidFill>
                <a:latin typeface="IBM Plex Mono"/>
              </a:rPr>
              <a:t>07 / EVALUATION EVIDENCE</a:t>
            </a:r>
          </a:p>
        </p:txBody>
      </p:sp>
      <p:cxnSp>
        <p:nvCxnSpPr>
          <p:cNvPr id="4" name="Connector 3"/>
          <p:cNvCxnSpPr/>
          <p:nvPr/>
        </p:nvCxnSpPr>
        <p:spPr>
          <a:xfrm>
            <a:off x="502920" y="658368"/>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365E4D"/>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17201F"/>
                </a:solidFill>
                <a:latin typeface="IBM Plex Mono"/>
              </a:rPr>
              <a:t>08</a:t>
            </a:r>
          </a:p>
        </p:txBody>
      </p:sp>
      <p:sp>
        <p:nvSpPr>
          <p:cNvPr id="8" name="TextBox 7"/>
          <p:cNvSpPr txBox="1"/>
          <p:nvPr/>
        </p:nvSpPr>
        <p:spPr>
          <a:xfrm>
            <a:off x="502920" y="960120"/>
            <a:ext cx="10972800" cy="914400"/>
          </a:xfrm>
          <a:prstGeom prst="rect">
            <a:avLst/>
          </a:prstGeom>
          <a:noFill/>
        </p:spPr>
        <p:txBody>
          <a:bodyPr wrap="square" lIns="0" rIns="0" tIns="0" bIns="0" anchor="t">
            <a:noAutofit/>
          </a:bodyPr>
          <a:lstStyle/>
          <a:p>
            <a:pPr algn="l">
              <a:lnSpc>
                <a:spcPct val="108000"/>
              </a:lnSpc>
              <a:spcBef>
                <a:spcPts val="0"/>
              </a:spcBef>
              <a:spcAft>
                <a:spcPts val="0"/>
              </a:spcAft>
            </a:pPr>
            <a:r>
              <a:rPr sz="3800" b="1">
                <a:solidFill>
                  <a:srgbClr val="17201F"/>
                </a:solidFill>
                <a:latin typeface="IBM Plex Sans"/>
              </a:rPr>
              <a:t>We test the trust layer, too.</a:t>
            </a:r>
          </a:p>
        </p:txBody>
      </p:sp>
      <p:sp>
        <p:nvSpPr>
          <p:cNvPr id="9" name="Rectangle 8"/>
          <p:cNvSpPr/>
          <p:nvPr/>
        </p:nvSpPr>
        <p:spPr>
          <a:xfrm>
            <a:off x="548640" y="1911095"/>
            <a:ext cx="4050791" cy="283464"/>
          </a:xfrm>
          <a:prstGeom prst="rect">
            <a:avLst/>
          </a:prstGeom>
          <a:solidFill>
            <a:srgbClr val="DFE5D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40080" y="1958644"/>
            <a:ext cx="3886200" cy="192024"/>
          </a:xfrm>
          <a:prstGeom prst="rect">
            <a:avLst/>
          </a:prstGeom>
          <a:noFill/>
        </p:spPr>
        <p:txBody>
          <a:bodyPr wrap="square" lIns="0" rIns="0" tIns="0" bIns="0" anchor="t">
            <a:noAutofit/>
          </a:bodyPr>
          <a:lstStyle/>
          <a:p>
            <a:pPr algn="l">
              <a:lnSpc>
                <a:spcPct val="108000"/>
              </a:lnSpc>
              <a:spcBef>
                <a:spcPts val="0"/>
              </a:spcBef>
              <a:spcAft>
                <a:spcPts val="0"/>
              </a:spcAft>
            </a:pPr>
            <a:r>
              <a:rPr sz="940" b="1">
                <a:solidFill>
                  <a:srgbClr val="365E4D"/>
                </a:solidFill>
                <a:latin typeface="IBM Plex Mono"/>
              </a:rPr>
              <a:t>MEASURED / STANDALONE DIAGNOSTIC</a:t>
            </a:r>
          </a:p>
        </p:txBody>
      </p:sp>
      <p:sp>
        <p:nvSpPr>
          <p:cNvPr id="11" name="TextBox 10"/>
          <p:cNvSpPr txBox="1"/>
          <p:nvPr/>
        </p:nvSpPr>
        <p:spPr>
          <a:xfrm>
            <a:off x="512064" y="2587752"/>
            <a:ext cx="4846320" cy="1051560"/>
          </a:xfrm>
          <a:prstGeom prst="rect">
            <a:avLst/>
          </a:prstGeom>
          <a:noFill/>
        </p:spPr>
        <p:txBody>
          <a:bodyPr wrap="square" lIns="0" rIns="0" tIns="0" bIns="0" anchor="t">
            <a:noAutofit/>
          </a:bodyPr>
          <a:lstStyle/>
          <a:p>
            <a:pPr algn="l">
              <a:lnSpc>
                <a:spcPct val="108000"/>
              </a:lnSpc>
              <a:spcBef>
                <a:spcPts val="0"/>
              </a:spcBef>
              <a:spcAft>
                <a:spcPts val="0"/>
              </a:spcAft>
            </a:pPr>
            <a:r>
              <a:rPr sz="7600" b="1">
                <a:solidFill>
                  <a:srgbClr val="365E4D"/>
                </a:solidFill>
                <a:latin typeface="IBM Plex Sans"/>
              </a:rPr>
              <a:t>10,000</a:t>
            </a:r>
          </a:p>
        </p:txBody>
      </p:sp>
      <p:sp>
        <p:nvSpPr>
          <p:cNvPr id="12" name="TextBox 11"/>
          <p:cNvSpPr txBox="1"/>
          <p:nvPr/>
        </p:nvSpPr>
        <p:spPr>
          <a:xfrm>
            <a:off x="566928" y="3712463"/>
            <a:ext cx="4736592" cy="685800"/>
          </a:xfrm>
          <a:prstGeom prst="rect">
            <a:avLst/>
          </a:prstGeom>
          <a:noFill/>
        </p:spPr>
        <p:txBody>
          <a:bodyPr wrap="square" lIns="0" rIns="0" tIns="0" bIns="0" anchor="t">
            <a:noAutofit/>
          </a:bodyPr>
          <a:lstStyle/>
          <a:p>
            <a:pPr algn="l">
              <a:lnSpc>
                <a:spcPct val="108000"/>
              </a:lnSpc>
              <a:spcBef>
                <a:spcPts val="0"/>
              </a:spcBef>
              <a:spcAft>
                <a:spcPts val="0"/>
              </a:spcAft>
            </a:pPr>
            <a:r>
              <a:rPr sz="2500" b="0">
                <a:solidFill>
                  <a:srgbClr val="17201F"/>
                </a:solidFill>
                <a:latin typeface="IBM Plex Sans"/>
              </a:rPr>
              <a:t>synthetic no-difference runs</a:t>
            </a:r>
          </a:p>
        </p:txBody>
      </p:sp>
      <p:sp>
        <p:nvSpPr>
          <p:cNvPr id="13" name="TextBox 12"/>
          <p:cNvSpPr txBox="1"/>
          <p:nvPr/>
        </p:nvSpPr>
        <p:spPr>
          <a:xfrm>
            <a:off x="566928" y="4672584"/>
            <a:ext cx="4828032" cy="77724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365E4D"/>
                </a:solidFill>
                <a:latin typeface="IBM Plex Sans"/>
              </a:rPr>
              <a:t>Separate training data. Frozen configuration.</a:t>
            </a:r>
          </a:p>
          <a:p>
            <a:pPr algn="l">
              <a:lnSpc>
                <a:spcPct val="108000"/>
              </a:lnSpc>
              <a:spcBef>
                <a:spcPts val="0"/>
              </a:spcBef>
              <a:spcAft>
                <a:spcPts val="0"/>
              </a:spcAft>
            </a:pPr>
            <a:r>
              <a:rPr sz="1900" b="0">
                <a:solidFill>
                  <a:srgbClr val="365E4D"/>
                </a:solidFill>
                <a:latin typeface="IBM Plex Sans"/>
              </a:rPr>
              <a:t>Fresh pairs scored sequentially.</a:t>
            </a:r>
          </a:p>
        </p:txBody>
      </p:sp>
      <p:sp>
        <p:nvSpPr>
          <p:cNvPr id="14" name="TextBox 13"/>
          <p:cNvSpPr txBox="1"/>
          <p:nvPr/>
        </p:nvSpPr>
        <p:spPr>
          <a:xfrm>
            <a:off x="6080760" y="2606040"/>
            <a:ext cx="5212080" cy="1069848"/>
          </a:xfrm>
          <a:prstGeom prst="rect">
            <a:avLst/>
          </a:prstGeom>
          <a:noFill/>
        </p:spPr>
        <p:txBody>
          <a:bodyPr wrap="square" lIns="0" rIns="0" tIns="0" bIns="0" anchor="t">
            <a:noAutofit/>
          </a:bodyPr>
          <a:lstStyle/>
          <a:p>
            <a:pPr algn="l">
              <a:lnSpc>
                <a:spcPct val="108000"/>
              </a:lnSpc>
              <a:spcBef>
                <a:spcPts val="0"/>
              </a:spcBef>
              <a:spcAft>
                <a:spcPts val="0"/>
              </a:spcAft>
            </a:pPr>
            <a:r>
              <a:rPr sz="7600" b="1">
                <a:solidFill>
                  <a:srgbClr val="17201F"/>
                </a:solidFill>
                <a:latin typeface="IBM Plex Sans"/>
              </a:rPr>
              <a:t>1.12%</a:t>
            </a:r>
          </a:p>
        </p:txBody>
      </p:sp>
      <p:sp>
        <p:nvSpPr>
          <p:cNvPr id="15" name="TextBox 14"/>
          <p:cNvSpPr txBox="1"/>
          <p:nvPr/>
        </p:nvSpPr>
        <p:spPr>
          <a:xfrm>
            <a:off x="6144768" y="3712463"/>
            <a:ext cx="5367528" cy="640080"/>
          </a:xfrm>
          <a:prstGeom prst="rect">
            <a:avLst/>
          </a:prstGeom>
          <a:noFill/>
        </p:spPr>
        <p:txBody>
          <a:bodyPr wrap="square" lIns="0" rIns="0" tIns="0" bIns="0" anchor="t">
            <a:noAutofit/>
          </a:bodyPr>
          <a:lstStyle/>
          <a:p>
            <a:pPr algn="l">
              <a:lnSpc>
                <a:spcPct val="108000"/>
              </a:lnSpc>
              <a:spcBef>
                <a:spcPts val="0"/>
              </a:spcBef>
              <a:spcAft>
                <a:spcPts val="0"/>
              </a:spcAft>
            </a:pPr>
            <a:r>
              <a:rPr sz="2300" b="0">
                <a:solidFill>
                  <a:srgbClr val="17201F"/>
                </a:solidFill>
                <a:latin typeface="IBM Plex Sans"/>
              </a:rPr>
              <a:t>false alarms in this simulation</a:t>
            </a:r>
          </a:p>
        </p:txBody>
      </p:sp>
      <p:sp>
        <p:nvSpPr>
          <p:cNvPr id="16" name="TextBox 15"/>
          <p:cNvSpPr txBox="1"/>
          <p:nvPr/>
        </p:nvSpPr>
        <p:spPr>
          <a:xfrm>
            <a:off x="6153912" y="4590288"/>
            <a:ext cx="5431536" cy="749808"/>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365E4D"/>
                </a:solidFill>
                <a:latin typeface="IBM Plex Sans"/>
              </a:rPr>
              <a:t>112 / 10,000 ever crossed the threshold</a:t>
            </a:r>
          </a:p>
          <a:p>
            <a:pPr algn="l">
              <a:lnSpc>
                <a:spcPct val="108000"/>
              </a:lnSpc>
              <a:spcBef>
                <a:spcPts val="0"/>
              </a:spcBef>
              <a:spcAft>
                <a:spcPts val="0"/>
              </a:spcAft>
            </a:pPr>
            <a:r>
              <a:rPr sz="1700" b="0">
                <a:solidFill>
                  <a:srgbClr val="365E4D"/>
                </a:solidFill>
                <a:latin typeface="IBM Plex Sans"/>
              </a:rPr>
              <a:t>95% interval 0.93–1.35% · nominal level 5%</a:t>
            </a:r>
          </a:p>
        </p:txBody>
      </p:sp>
      <p:sp>
        <p:nvSpPr>
          <p:cNvPr id="17" name="TextBox 16"/>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365E4D"/>
                </a:solidFill>
                <a:latin typeface="IBM Plex Sans"/>
              </a:rPr>
              <a:t>Synthetic null audit of learned-encoder diagnostic. Not end-to-end discovery accuracy or a deployed stopping guarantee.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08 / FEASIBILITY &amp; DEPLOYMENT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09</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Start with one team and one research decision.</a:t>
            </a:r>
          </a:p>
        </p:txBody>
      </p:sp>
      <p:sp>
        <p:nvSpPr>
          <p:cNvPr id="9" name="Rectangle 8"/>
          <p:cNvSpPr/>
          <p:nvPr/>
        </p:nvSpPr>
        <p:spPr>
          <a:xfrm>
            <a:off x="539496" y="2194560"/>
            <a:ext cx="2679192" cy="283464"/>
          </a:xfrm>
          <a:prstGeom prst="rect">
            <a:avLst/>
          </a:prstGeom>
          <a:solidFill>
            <a:srgbClr val="222E2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30936" y="2242108"/>
            <a:ext cx="2514600" cy="192024"/>
          </a:xfrm>
          <a:prstGeom prst="rect">
            <a:avLst/>
          </a:prstGeom>
          <a:noFill/>
        </p:spPr>
        <p:txBody>
          <a:bodyPr wrap="square" lIns="0" rIns="0" tIns="0" bIns="0" anchor="t">
            <a:noAutofit/>
          </a:bodyPr>
          <a:lstStyle/>
          <a:p>
            <a:pPr algn="l">
              <a:lnSpc>
                <a:spcPct val="108000"/>
              </a:lnSpc>
              <a:spcBef>
                <a:spcPts val="0"/>
              </a:spcBef>
              <a:spcAft>
                <a:spcPts val="0"/>
              </a:spcAft>
            </a:pPr>
            <a:r>
              <a:rPr sz="940" b="1">
                <a:solidFill>
                  <a:srgbClr val="A6C9B8"/>
                </a:solidFill>
                <a:latin typeface="IBM Plex Mono"/>
              </a:rPr>
              <a:t>PROPOSED FIRST PILOT</a:t>
            </a:r>
          </a:p>
        </p:txBody>
      </p:sp>
      <p:sp>
        <p:nvSpPr>
          <p:cNvPr id="11" name="TextBox 10"/>
          <p:cNvSpPr txBox="1"/>
          <p:nvPr/>
        </p:nvSpPr>
        <p:spPr>
          <a:xfrm>
            <a:off x="539496" y="2761488"/>
            <a:ext cx="4846320" cy="640080"/>
          </a:xfrm>
          <a:prstGeom prst="rect">
            <a:avLst/>
          </a:prstGeom>
          <a:noFill/>
        </p:spPr>
        <p:txBody>
          <a:bodyPr wrap="square" lIns="0" rIns="0" tIns="0" bIns="0" anchor="t">
            <a:noAutofit/>
          </a:bodyPr>
          <a:lstStyle/>
          <a:p>
            <a:pPr algn="l">
              <a:lnSpc>
                <a:spcPct val="108000"/>
              </a:lnSpc>
              <a:spcBef>
                <a:spcPts val="0"/>
              </a:spcBef>
              <a:spcAft>
                <a:spcPts val="0"/>
              </a:spcAft>
            </a:pPr>
            <a:r>
              <a:rPr sz="3200" b="1">
                <a:solidFill>
                  <a:srgbClr val="A6C9B8"/>
                </a:solidFill>
                <a:latin typeface="IBM Plex Sans"/>
              </a:rPr>
              <a:t>Oncology research teams</a:t>
            </a:r>
          </a:p>
        </p:txBody>
      </p:sp>
      <p:sp>
        <p:nvSpPr>
          <p:cNvPr id="12" name="TextBox 11"/>
          <p:cNvSpPr txBox="1"/>
          <p:nvPr/>
        </p:nvSpPr>
        <p:spPr>
          <a:xfrm>
            <a:off x="557784" y="3657600"/>
            <a:ext cx="5029200" cy="1389888"/>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F1EFE7"/>
                </a:solidFill>
                <a:latin typeface="IBM Plex Sans"/>
              </a:rPr>
              <a:t>User: computational biologist</a:t>
            </a:r>
          </a:p>
          <a:p>
            <a:pPr algn="l">
              <a:lnSpc>
                <a:spcPct val="108000"/>
              </a:lnSpc>
              <a:spcBef>
                <a:spcPts val="0"/>
              </a:spcBef>
              <a:spcAft>
                <a:spcPts val="0"/>
              </a:spcAft>
            </a:pPr>
            <a:r>
              <a:rPr sz="2000" b="0">
                <a:solidFill>
                  <a:srgbClr val="F1EFE7"/>
                </a:solidFill>
                <a:latin typeface="IBM Plex Sans"/>
              </a:rPr>
              <a:t>Buyer: research lead / lab director</a:t>
            </a:r>
          </a:p>
          <a:p>
            <a:pPr algn="l">
              <a:lnSpc>
                <a:spcPct val="108000"/>
              </a:lnSpc>
              <a:spcBef>
                <a:spcPts val="0"/>
              </a:spcBef>
              <a:spcAft>
                <a:spcPts val="0"/>
              </a:spcAft>
            </a:pPr>
            <a:r>
              <a:rPr sz="2000" b="0">
                <a:solidFill>
                  <a:srgbClr val="F1EFE7"/>
                </a:solidFill>
                <a:latin typeface="IBM Plex Sans"/>
              </a:rPr>
              <a:t>Workflow: target or mechanism prioritization</a:t>
            </a:r>
          </a:p>
        </p:txBody>
      </p:sp>
      <p:sp>
        <p:nvSpPr>
          <p:cNvPr id="13" name="TextBox 12"/>
          <p:cNvSpPr txBox="1"/>
          <p:nvPr/>
        </p:nvSpPr>
        <p:spPr>
          <a:xfrm>
            <a:off x="557784" y="5285232"/>
            <a:ext cx="5212080" cy="603504"/>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FB9B2"/>
                </a:solidFill>
                <a:latin typeface="IBM Plex Sans"/>
              </a:rPr>
              <a:t>Commercial hypothesis</a:t>
            </a:r>
          </a:p>
          <a:p>
            <a:pPr algn="l">
              <a:lnSpc>
                <a:spcPct val="108000"/>
              </a:lnSpc>
              <a:spcBef>
                <a:spcPts val="0"/>
              </a:spcBef>
              <a:spcAft>
                <a:spcPts val="0"/>
              </a:spcAft>
            </a:pPr>
            <a:r>
              <a:rPr sz="1600" b="0">
                <a:solidFill>
                  <a:srgbClr val="AFB9B2"/>
                </a:solidFill>
                <a:latin typeface="IBM Plex Sans"/>
              </a:rPr>
              <a:t>Private research workspace + metered compute</a:t>
            </a:r>
          </a:p>
        </p:txBody>
      </p:sp>
      <p:cxnSp>
        <p:nvCxnSpPr>
          <p:cNvPr id="14" name="Connector 13"/>
          <p:cNvCxnSpPr/>
          <p:nvPr/>
        </p:nvCxnSpPr>
        <p:spPr>
          <a:xfrm>
            <a:off x="6181344" y="2423160"/>
            <a:ext cx="5458968"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6190488" y="2624328"/>
            <a:ext cx="530352" cy="36576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01</a:t>
            </a:r>
          </a:p>
        </p:txBody>
      </p:sp>
      <p:sp>
        <p:nvSpPr>
          <p:cNvPr id="16" name="TextBox 15"/>
          <p:cNvSpPr txBox="1"/>
          <p:nvPr/>
        </p:nvSpPr>
        <p:spPr>
          <a:xfrm>
            <a:off x="6858000" y="2532888"/>
            <a:ext cx="4773168" cy="457200"/>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F1EFE7"/>
                </a:solidFill>
                <a:latin typeface="IBM Plex Sans"/>
              </a:rPr>
              <a:t>Reproducible</a:t>
            </a:r>
          </a:p>
        </p:txBody>
      </p:sp>
      <p:sp>
        <p:nvSpPr>
          <p:cNvPr id="17" name="TextBox 16"/>
          <p:cNvSpPr txBox="1"/>
          <p:nvPr/>
        </p:nvSpPr>
        <p:spPr>
          <a:xfrm>
            <a:off x="6858000" y="3081528"/>
            <a:ext cx="4754880" cy="429768"/>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Can another analyst rerun the result?</a:t>
            </a:r>
          </a:p>
        </p:txBody>
      </p:sp>
      <p:cxnSp>
        <p:nvCxnSpPr>
          <p:cNvPr id="18" name="Connector 17"/>
          <p:cNvCxnSpPr/>
          <p:nvPr/>
        </p:nvCxnSpPr>
        <p:spPr>
          <a:xfrm>
            <a:off x="6181344" y="3557016"/>
            <a:ext cx="5458968"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6190488" y="3758184"/>
            <a:ext cx="530352" cy="36576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02</a:t>
            </a:r>
          </a:p>
        </p:txBody>
      </p:sp>
      <p:sp>
        <p:nvSpPr>
          <p:cNvPr id="20" name="TextBox 19"/>
          <p:cNvSpPr txBox="1"/>
          <p:nvPr/>
        </p:nvSpPr>
        <p:spPr>
          <a:xfrm>
            <a:off x="6858000" y="3666744"/>
            <a:ext cx="4773168" cy="457200"/>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F1EFE7"/>
                </a:solidFill>
                <a:latin typeface="IBM Plex Sans"/>
              </a:rPr>
              <a:t>Useful</a:t>
            </a:r>
          </a:p>
        </p:txBody>
      </p:sp>
      <p:sp>
        <p:nvSpPr>
          <p:cNvPr id="21" name="TextBox 20"/>
          <p:cNvSpPr txBox="1"/>
          <p:nvPr/>
        </p:nvSpPr>
        <p:spPr>
          <a:xfrm>
            <a:off x="6858000" y="4215384"/>
            <a:ext cx="4754880" cy="429768"/>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Would the expert act on the candidate?</a:t>
            </a:r>
          </a:p>
        </p:txBody>
      </p:sp>
      <p:cxnSp>
        <p:nvCxnSpPr>
          <p:cNvPr id="22" name="Connector 21"/>
          <p:cNvCxnSpPr/>
          <p:nvPr/>
        </p:nvCxnSpPr>
        <p:spPr>
          <a:xfrm>
            <a:off x="6181344" y="4690872"/>
            <a:ext cx="5458968"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6190488" y="4892040"/>
            <a:ext cx="530352" cy="36576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03</a:t>
            </a:r>
          </a:p>
        </p:txBody>
      </p:sp>
      <p:sp>
        <p:nvSpPr>
          <p:cNvPr id="24" name="TextBox 23"/>
          <p:cNvSpPr txBox="1"/>
          <p:nvPr/>
        </p:nvSpPr>
        <p:spPr>
          <a:xfrm>
            <a:off x="6858000" y="4800600"/>
            <a:ext cx="4773168" cy="457200"/>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F1EFE7"/>
                </a:solidFill>
                <a:latin typeface="IBM Plex Sans"/>
              </a:rPr>
              <a:t>Economical</a:t>
            </a:r>
          </a:p>
        </p:txBody>
      </p:sp>
      <p:sp>
        <p:nvSpPr>
          <p:cNvPr id="25" name="TextBox 24"/>
          <p:cNvSpPr txBox="1"/>
          <p:nvPr/>
        </p:nvSpPr>
        <p:spPr>
          <a:xfrm>
            <a:off x="6858000" y="5349240"/>
            <a:ext cx="4754880" cy="429768"/>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What is the cost per reviewed candidate?</a:t>
            </a:r>
          </a:p>
        </p:txBody>
      </p:sp>
      <p:sp>
        <p:nvSpPr>
          <p:cNvPr id="26" name="TextBox 25"/>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Pilot, buyer and pricing model are hypotheses. No customer adoption, revenue or savings claimed.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09 / ROADMAP</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10</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A focused prototype. A credible path forward.</a:t>
            </a:r>
          </a:p>
        </p:txBody>
      </p:sp>
      <p:cxnSp>
        <p:nvCxnSpPr>
          <p:cNvPr id="9" name="Connector 8"/>
          <p:cNvCxnSpPr/>
          <p:nvPr/>
        </p:nvCxnSpPr>
        <p:spPr>
          <a:xfrm>
            <a:off x="539496" y="2350008"/>
            <a:ext cx="3374136" cy="0"/>
          </a:xfrm>
          <a:prstGeom prst="line">
            <a:avLst/>
          </a:prstGeom>
          <a:ln w="2032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39496" y="2514600"/>
            <a:ext cx="3374136"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6C9B8"/>
                </a:solidFill>
                <a:latin typeface="IBM Plex Mono"/>
              </a:rPr>
              <a:t>NOW / IMPLEMENTED</a:t>
            </a:r>
          </a:p>
        </p:txBody>
      </p:sp>
      <p:sp>
        <p:nvSpPr>
          <p:cNvPr id="11" name="TextBox 10"/>
          <p:cNvSpPr txBox="1"/>
          <p:nvPr/>
        </p:nvSpPr>
        <p:spPr>
          <a:xfrm>
            <a:off x="539496" y="3008376"/>
            <a:ext cx="3374136"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Inspectable</a:t>
            </a:r>
          </a:p>
          <a:p>
            <a:pPr algn="l">
              <a:lnSpc>
                <a:spcPct val="108000"/>
              </a:lnSpc>
              <a:spcBef>
                <a:spcPts val="0"/>
              </a:spcBef>
              <a:spcAft>
                <a:spcPts val="0"/>
              </a:spcAft>
            </a:pPr>
            <a:r>
              <a:rPr sz="2700" b="1">
                <a:solidFill>
                  <a:srgbClr val="F1EFE7"/>
                </a:solidFill>
                <a:latin typeface="IBM Plex Sans"/>
              </a:rPr>
              <a:t>research engine</a:t>
            </a:r>
          </a:p>
        </p:txBody>
      </p:sp>
      <p:sp>
        <p:nvSpPr>
          <p:cNvPr id="12" name="TextBox 11"/>
          <p:cNvSpPr txBox="1"/>
          <p:nvPr/>
        </p:nvSpPr>
        <p:spPr>
          <a:xfrm>
            <a:off x="539496" y="4069079"/>
            <a:ext cx="3374136"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Grounded claim graph</a:t>
            </a:r>
          </a:p>
          <a:p>
            <a:pPr algn="l">
              <a:lnSpc>
                <a:spcPct val="108000"/>
              </a:lnSpc>
              <a:spcBef>
                <a:spcPts val="0"/>
              </a:spcBef>
              <a:spcAft>
                <a:spcPts val="0"/>
              </a:spcAft>
            </a:pPr>
            <a:r>
              <a:rPr sz="1900" b="0">
                <a:solidFill>
                  <a:srgbClr val="AFB9B2"/>
                </a:solidFill>
                <a:latin typeface="IBM Plex Sans"/>
              </a:rPr>
              <a:t>Recursive research control</a:t>
            </a:r>
          </a:p>
          <a:p>
            <a:pPr algn="l">
              <a:lnSpc>
                <a:spcPct val="108000"/>
              </a:lnSpc>
              <a:spcBef>
                <a:spcPts val="0"/>
              </a:spcBef>
              <a:spcAft>
                <a:spcPts val="0"/>
              </a:spcAft>
            </a:pPr>
            <a:r>
              <a:rPr sz="1900" b="0">
                <a:solidFill>
                  <a:srgbClr val="AFB9B2"/>
                </a:solidFill>
                <a:latin typeface="IBM Plex Sans"/>
              </a:rPr>
              <a:t>Code, results and replay</a:t>
            </a:r>
          </a:p>
        </p:txBody>
      </p:sp>
      <p:cxnSp>
        <p:nvCxnSpPr>
          <p:cNvPr id="13" name="Connector 12"/>
          <p:cNvCxnSpPr/>
          <p:nvPr/>
        </p:nvCxnSpPr>
        <p:spPr>
          <a:xfrm>
            <a:off x="4361688" y="2350008"/>
            <a:ext cx="3374135" cy="0"/>
          </a:xfrm>
          <a:prstGeom prst="line">
            <a:avLst/>
          </a:prstGeom>
          <a:ln w="2032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4361688" y="2514600"/>
            <a:ext cx="3374136"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DEB577"/>
                </a:solidFill>
                <a:latin typeface="IBM Plex Mono"/>
              </a:rPr>
              <a:t>NEXT / PROPOSED</a:t>
            </a:r>
          </a:p>
        </p:txBody>
      </p:sp>
      <p:sp>
        <p:nvSpPr>
          <p:cNvPr id="15" name="TextBox 14"/>
          <p:cNvSpPr txBox="1"/>
          <p:nvPr/>
        </p:nvSpPr>
        <p:spPr>
          <a:xfrm>
            <a:off x="4361688" y="3008376"/>
            <a:ext cx="3374136"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Evidence of</a:t>
            </a:r>
          </a:p>
          <a:p>
            <a:pPr algn="l">
              <a:lnSpc>
                <a:spcPct val="108000"/>
              </a:lnSpc>
              <a:spcBef>
                <a:spcPts val="0"/>
              </a:spcBef>
              <a:spcAft>
                <a:spcPts val="0"/>
              </a:spcAft>
            </a:pPr>
            <a:r>
              <a:rPr sz="2700" b="1">
                <a:solidFill>
                  <a:srgbClr val="F1EFE7"/>
                </a:solidFill>
                <a:latin typeface="IBM Plex Sans"/>
              </a:rPr>
              <a:t>useful discovery</a:t>
            </a:r>
          </a:p>
        </p:txBody>
      </p:sp>
      <p:sp>
        <p:nvSpPr>
          <p:cNvPr id="16" name="TextBox 15"/>
          <p:cNvSpPr txBox="1"/>
          <p:nvPr/>
        </p:nvSpPr>
        <p:spPr>
          <a:xfrm>
            <a:off x="4361688" y="4069079"/>
            <a:ext cx="3374136"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Finish the real PDAC demo</a:t>
            </a:r>
          </a:p>
          <a:p>
            <a:pPr algn="l">
              <a:lnSpc>
                <a:spcPct val="108000"/>
              </a:lnSpc>
              <a:spcBef>
                <a:spcPts val="0"/>
              </a:spcBef>
              <a:spcAft>
                <a:spcPts val="0"/>
              </a:spcAft>
            </a:pPr>
            <a:r>
              <a:rPr sz="1900" b="0">
                <a:solidFill>
                  <a:srgbClr val="AFB9B2"/>
                </a:solidFill>
                <a:latin typeface="IBM Plex Sans"/>
              </a:rPr>
              <a:t>Independent reruns</a:t>
            </a:r>
          </a:p>
          <a:p>
            <a:pPr algn="l">
              <a:lnSpc>
                <a:spcPct val="108000"/>
              </a:lnSpc>
              <a:spcBef>
                <a:spcPts val="0"/>
              </a:spcBef>
              <a:spcAft>
                <a:spcPts val="0"/>
              </a:spcAft>
            </a:pPr>
            <a:r>
              <a:rPr sz="1900" b="0">
                <a:solidFill>
                  <a:srgbClr val="AFB9B2"/>
                </a:solidFill>
                <a:latin typeface="IBM Plex Sans"/>
              </a:rPr>
              <a:t>Matched-budget pilot</a:t>
            </a:r>
          </a:p>
        </p:txBody>
      </p:sp>
      <p:cxnSp>
        <p:nvCxnSpPr>
          <p:cNvPr id="17" name="Connector 16"/>
          <p:cNvCxnSpPr/>
          <p:nvPr/>
        </p:nvCxnSpPr>
        <p:spPr>
          <a:xfrm>
            <a:off x="8193024" y="2350008"/>
            <a:ext cx="3456432" cy="0"/>
          </a:xfrm>
          <a:prstGeom prst="line">
            <a:avLst/>
          </a:prstGeom>
          <a:ln w="2032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8193024" y="2514600"/>
            <a:ext cx="3456432"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DEB577"/>
                </a:solidFill>
                <a:latin typeface="IBM Plex Mono"/>
              </a:rPr>
              <a:t>LATER / PLANNING</a:t>
            </a:r>
          </a:p>
        </p:txBody>
      </p:sp>
      <p:sp>
        <p:nvSpPr>
          <p:cNvPr id="19" name="TextBox 18"/>
          <p:cNvSpPr txBox="1"/>
          <p:nvPr/>
        </p:nvSpPr>
        <p:spPr>
          <a:xfrm>
            <a:off x="8193024" y="3008376"/>
            <a:ext cx="3456432"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Deeper biological</a:t>
            </a:r>
          </a:p>
          <a:p>
            <a:pPr algn="l">
              <a:lnSpc>
                <a:spcPct val="108000"/>
              </a:lnSpc>
              <a:spcBef>
                <a:spcPts val="0"/>
              </a:spcBef>
              <a:spcAft>
                <a:spcPts val="0"/>
              </a:spcAft>
            </a:pPr>
            <a:r>
              <a:rPr sz="2700" b="1">
                <a:solidFill>
                  <a:srgbClr val="F1EFE7"/>
                </a:solidFill>
                <a:latin typeface="IBM Plex Sans"/>
              </a:rPr>
              <a:t>tools</a:t>
            </a:r>
          </a:p>
        </p:txBody>
      </p:sp>
      <p:sp>
        <p:nvSpPr>
          <p:cNvPr id="20" name="TextBox 19"/>
          <p:cNvSpPr txBox="1"/>
          <p:nvPr/>
        </p:nvSpPr>
        <p:spPr>
          <a:xfrm>
            <a:off x="8193024" y="4069079"/>
            <a:ext cx="3456432"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Learned biological tests</a:t>
            </a:r>
          </a:p>
          <a:p>
            <a:pPr algn="l">
              <a:lnSpc>
                <a:spcPct val="108000"/>
              </a:lnSpc>
              <a:spcBef>
                <a:spcPts val="0"/>
              </a:spcBef>
              <a:spcAft>
                <a:spcPts val="0"/>
              </a:spcAft>
            </a:pPr>
            <a:r>
              <a:rPr sz="1900" b="0">
                <a:solidFill>
                  <a:srgbClr val="AFB9B2"/>
                </a:solidFill>
                <a:latin typeface="IBM Plex Sans"/>
              </a:rPr>
              <a:t>Cellular ecosystems</a:t>
            </a:r>
          </a:p>
          <a:p>
            <a:pPr algn="l">
              <a:lnSpc>
                <a:spcPct val="108000"/>
              </a:lnSpc>
              <a:spcBef>
                <a:spcPts val="0"/>
              </a:spcBef>
              <a:spcAft>
                <a:spcPts val="0"/>
              </a:spcAft>
            </a:pPr>
            <a:r>
              <a:rPr sz="1900" b="0">
                <a:solidFill>
                  <a:srgbClr val="AFB9B2"/>
                </a:solidFill>
                <a:latin typeface="IBM Plex Sans"/>
              </a:rPr>
              <a:t>3D experiment workbenches</a:t>
            </a:r>
          </a:p>
        </p:txBody>
      </p:sp>
      <p:sp>
        <p:nvSpPr>
          <p:cNvPr id="21" name="TextBox 20"/>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PDAC = pancreatic ductal adenocarcinoma. Learned-tool plans and calibrated branch stopping remain separate future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10 / THE AMBITION</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11</a:t>
            </a:r>
          </a:p>
        </p:txBody>
      </p:sp>
      <p:cxnSp>
        <p:nvCxnSpPr>
          <p:cNvPr id="8" name="Connector 7"/>
          <p:cNvCxnSpPr/>
          <p:nvPr/>
        </p:nvCxnSpPr>
        <p:spPr>
          <a:xfrm flipV="1">
            <a:off x="7454860" y="2940486"/>
            <a:ext cx="206432" cy="17990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 name="Connector 8"/>
          <p:cNvCxnSpPr/>
          <p:nvPr/>
        </p:nvCxnSpPr>
        <p:spPr>
          <a:xfrm flipV="1">
            <a:off x="7454860" y="2829455"/>
            <a:ext cx="73674" cy="29093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flipH="1" flipV="1">
            <a:off x="7186296" y="2954493"/>
            <a:ext cx="268564" cy="16589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6944030" y="2193834"/>
            <a:ext cx="705" cy="4844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flipV="1">
            <a:off x="6944030" y="2102272"/>
            <a:ext cx="29651" cy="9156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6944030" y="2193834"/>
            <a:ext cx="174326" cy="5406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flipH="1">
            <a:off x="6944735" y="2102272"/>
            <a:ext cx="28946" cy="14001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6973681" y="2102272"/>
            <a:ext cx="144675" cy="14562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flipV="1">
            <a:off x="7074044" y="2247894"/>
            <a:ext cx="44312" cy="14834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H="1" flipV="1">
            <a:off x="6944735" y="2242282"/>
            <a:ext cx="129309" cy="15396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flipH="1">
            <a:off x="7981997" y="2782457"/>
            <a:ext cx="38424" cy="32990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a:off x="8020421" y="2782457"/>
            <a:ext cx="375821" cy="10636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flipH="1">
            <a:off x="7661292" y="2782457"/>
            <a:ext cx="359129" cy="1580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flipH="1" flipV="1">
            <a:off x="7633118" y="1944984"/>
            <a:ext cx="31880" cy="14418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flipV="1">
            <a:off x="7664998" y="1949909"/>
            <a:ext cx="111532" cy="13926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H="1">
            <a:off x="7118356" y="2089169"/>
            <a:ext cx="546642" cy="15872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flipV="1">
            <a:off x="7186296" y="2829455"/>
            <a:ext cx="342238" cy="12503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V="1">
            <a:off x="7186296" y="2940486"/>
            <a:ext cx="474996" cy="1400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a:off x="6944735" y="2242282"/>
            <a:ext cx="173621" cy="561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a:off x="8231385" y="1687087"/>
            <a:ext cx="55304" cy="11708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8231385" y="1687087"/>
            <a:ext cx="145281" cy="11449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flipH="1">
            <a:off x="7776530" y="1687087"/>
            <a:ext cx="454855" cy="26282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0" name="Connector 29"/>
          <p:cNvCxnSpPr/>
          <p:nvPr/>
        </p:nvCxnSpPr>
        <p:spPr>
          <a:xfrm flipV="1">
            <a:off x="8286689" y="1801578"/>
            <a:ext cx="89977" cy="259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1" name="Connector 30"/>
          <p:cNvCxnSpPr/>
          <p:nvPr/>
        </p:nvCxnSpPr>
        <p:spPr>
          <a:xfrm flipH="1">
            <a:off x="7776530" y="1804169"/>
            <a:ext cx="510159" cy="14574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flipH="1">
            <a:off x="7776530" y="1801578"/>
            <a:ext cx="600136" cy="14833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flipH="1" flipV="1">
            <a:off x="7528534" y="2829455"/>
            <a:ext cx="132758" cy="11103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7661292" y="2940486"/>
            <a:ext cx="320705" cy="17187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flipH="1" flipV="1">
            <a:off x="7633118" y="1944984"/>
            <a:ext cx="143412" cy="492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flipV="1">
            <a:off x="7981997" y="2888823"/>
            <a:ext cx="414245" cy="22353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8396242" y="2888823"/>
            <a:ext cx="122435" cy="4964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10462487" y="2383581"/>
            <a:ext cx="241239" cy="425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9" name="Connector 38"/>
          <p:cNvCxnSpPr/>
          <p:nvPr/>
        </p:nvCxnSpPr>
        <p:spPr>
          <a:xfrm flipH="1">
            <a:off x="10219606" y="2383581"/>
            <a:ext cx="242881" cy="4533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0" name="Connector 39"/>
          <p:cNvCxnSpPr/>
          <p:nvPr/>
        </p:nvCxnSpPr>
        <p:spPr>
          <a:xfrm flipH="1">
            <a:off x="10334049" y="2383581"/>
            <a:ext cx="128438" cy="26608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1" name="Connector 40"/>
          <p:cNvCxnSpPr/>
          <p:nvPr/>
        </p:nvCxnSpPr>
        <p:spPr>
          <a:xfrm flipV="1">
            <a:off x="9245495" y="2121804"/>
            <a:ext cx="17622" cy="13470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2" name="Connector 41"/>
          <p:cNvCxnSpPr/>
          <p:nvPr/>
        </p:nvCxnSpPr>
        <p:spPr>
          <a:xfrm flipH="1" flipV="1">
            <a:off x="9233841" y="2116225"/>
            <a:ext cx="11654" cy="14028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3" name="Connector 42"/>
          <p:cNvCxnSpPr/>
          <p:nvPr/>
        </p:nvCxnSpPr>
        <p:spPr>
          <a:xfrm flipV="1">
            <a:off x="9245495" y="1934578"/>
            <a:ext cx="471871" cy="32193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4" name="Connector 43"/>
          <p:cNvCxnSpPr/>
          <p:nvPr/>
        </p:nvCxnSpPr>
        <p:spPr>
          <a:xfrm flipH="1" flipV="1">
            <a:off x="9233841" y="2116225"/>
            <a:ext cx="29276" cy="557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5" name="Connector 44"/>
          <p:cNvCxnSpPr/>
          <p:nvPr/>
        </p:nvCxnSpPr>
        <p:spPr>
          <a:xfrm flipV="1">
            <a:off x="9263117" y="1934578"/>
            <a:ext cx="454249" cy="18722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6" name="Connector 45"/>
          <p:cNvCxnSpPr/>
          <p:nvPr/>
        </p:nvCxnSpPr>
        <p:spPr>
          <a:xfrm flipV="1">
            <a:off x="10189857" y="2821092"/>
            <a:ext cx="229153" cy="14928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7" name="Connector 46"/>
          <p:cNvCxnSpPr/>
          <p:nvPr/>
        </p:nvCxnSpPr>
        <p:spPr>
          <a:xfrm flipH="1" flipV="1">
            <a:off x="10101932" y="2674049"/>
            <a:ext cx="87925" cy="29632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8" name="Connector 47"/>
          <p:cNvCxnSpPr/>
          <p:nvPr/>
        </p:nvCxnSpPr>
        <p:spPr>
          <a:xfrm flipV="1">
            <a:off x="10189857" y="2649663"/>
            <a:ext cx="144192" cy="32071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9" name="Connector 48"/>
          <p:cNvCxnSpPr/>
          <p:nvPr/>
        </p:nvCxnSpPr>
        <p:spPr>
          <a:xfrm>
            <a:off x="10334049" y="2649663"/>
            <a:ext cx="84961" cy="1714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0" name="Connector 49"/>
          <p:cNvCxnSpPr/>
          <p:nvPr/>
        </p:nvCxnSpPr>
        <p:spPr>
          <a:xfrm flipH="1">
            <a:off x="10101932" y="2649663"/>
            <a:ext cx="232117" cy="2438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1" name="Connector 50"/>
          <p:cNvCxnSpPr/>
          <p:nvPr/>
        </p:nvCxnSpPr>
        <p:spPr>
          <a:xfrm flipH="1" flipV="1">
            <a:off x="10219606" y="2428918"/>
            <a:ext cx="114443" cy="22074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2" name="Connector 51"/>
          <p:cNvCxnSpPr/>
          <p:nvPr/>
        </p:nvCxnSpPr>
        <p:spPr>
          <a:xfrm flipV="1">
            <a:off x="10354305" y="1397918"/>
            <a:ext cx="78422" cy="817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3" name="Connector 52"/>
          <p:cNvCxnSpPr/>
          <p:nvPr/>
        </p:nvCxnSpPr>
        <p:spPr>
          <a:xfrm>
            <a:off x="10354305" y="1479647"/>
            <a:ext cx="389221" cy="15312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4" name="Connector 53"/>
          <p:cNvCxnSpPr/>
          <p:nvPr/>
        </p:nvCxnSpPr>
        <p:spPr>
          <a:xfrm flipH="1">
            <a:off x="9717366" y="1479647"/>
            <a:ext cx="636939" cy="45493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5" name="Connector 54"/>
          <p:cNvCxnSpPr/>
          <p:nvPr/>
        </p:nvCxnSpPr>
        <p:spPr>
          <a:xfrm>
            <a:off x="10965367" y="2354140"/>
            <a:ext cx="30589" cy="24633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6" name="Connector 55"/>
          <p:cNvCxnSpPr/>
          <p:nvPr/>
        </p:nvCxnSpPr>
        <p:spPr>
          <a:xfrm flipH="1">
            <a:off x="10703726" y="2354140"/>
            <a:ext cx="261641" cy="3369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7" name="Connector 56"/>
          <p:cNvCxnSpPr/>
          <p:nvPr/>
        </p:nvCxnSpPr>
        <p:spPr>
          <a:xfrm flipH="1">
            <a:off x="10826185" y="2354140"/>
            <a:ext cx="139182" cy="22614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8" name="Connector 57"/>
          <p:cNvCxnSpPr/>
          <p:nvPr/>
        </p:nvCxnSpPr>
        <p:spPr>
          <a:xfrm>
            <a:off x="10703726" y="2387835"/>
            <a:ext cx="122459" cy="19244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9" name="Connector 58"/>
          <p:cNvCxnSpPr/>
          <p:nvPr/>
        </p:nvCxnSpPr>
        <p:spPr>
          <a:xfrm>
            <a:off x="9739364" y="2616780"/>
            <a:ext cx="197535" cy="1402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0" name="Connector 59"/>
          <p:cNvCxnSpPr/>
          <p:nvPr/>
        </p:nvCxnSpPr>
        <p:spPr>
          <a:xfrm>
            <a:off x="9739364" y="2616780"/>
            <a:ext cx="362568" cy="5726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1" name="Connector 60"/>
          <p:cNvCxnSpPr/>
          <p:nvPr/>
        </p:nvCxnSpPr>
        <p:spPr>
          <a:xfrm flipV="1">
            <a:off x="9739364" y="2428918"/>
            <a:ext cx="480242" cy="18786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2" name="Connector 61"/>
          <p:cNvCxnSpPr/>
          <p:nvPr/>
        </p:nvCxnSpPr>
        <p:spPr>
          <a:xfrm flipV="1">
            <a:off x="10813924" y="2580284"/>
            <a:ext cx="12261" cy="20101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3" name="Connector 62"/>
          <p:cNvCxnSpPr/>
          <p:nvPr/>
        </p:nvCxnSpPr>
        <p:spPr>
          <a:xfrm flipV="1">
            <a:off x="10813924" y="2600472"/>
            <a:ext cx="182032" cy="18082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4" name="Connector 63"/>
          <p:cNvCxnSpPr/>
          <p:nvPr/>
        </p:nvCxnSpPr>
        <p:spPr>
          <a:xfrm flipH="1">
            <a:off x="10419010" y="2781297"/>
            <a:ext cx="394914" cy="3979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10432727" y="1397918"/>
            <a:ext cx="310799" cy="23485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flipH="1">
            <a:off x="9717366" y="1397918"/>
            <a:ext cx="715361" cy="53666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7" name="Connector 66"/>
          <p:cNvCxnSpPr/>
          <p:nvPr/>
        </p:nvCxnSpPr>
        <p:spPr>
          <a:xfrm>
            <a:off x="9936899" y="2630808"/>
            <a:ext cx="165033" cy="4324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8" name="Connector 67"/>
          <p:cNvCxnSpPr/>
          <p:nvPr/>
        </p:nvCxnSpPr>
        <p:spPr>
          <a:xfrm flipV="1">
            <a:off x="9936899" y="2428918"/>
            <a:ext cx="282707" cy="20189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9" name="Connector 68"/>
          <p:cNvCxnSpPr/>
          <p:nvPr/>
        </p:nvCxnSpPr>
        <p:spPr>
          <a:xfrm flipV="1">
            <a:off x="10101932" y="2428918"/>
            <a:ext cx="117674" cy="24513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0" name="Connector 69"/>
          <p:cNvCxnSpPr/>
          <p:nvPr/>
        </p:nvCxnSpPr>
        <p:spPr>
          <a:xfrm flipV="1">
            <a:off x="9233841" y="1934578"/>
            <a:ext cx="483525" cy="18164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1" name="Connector 70"/>
          <p:cNvCxnSpPr/>
          <p:nvPr/>
        </p:nvCxnSpPr>
        <p:spPr>
          <a:xfrm flipH="1" flipV="1">
            <a:off x="10826185" y="2580284"/>
            <a:ext cx="169771" cy="2018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2" name="Connector 71"/>
          <p:cNvCxnSpPr/>
          <p:nvPr/>
        </p:nvCxnSpPr>
        <p:spPr>
          <a:xfrm flipV="1">
            <a:off x="9597775" y="3774281"/>
            <a:ext cx="102533" cy="12459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3" name="Connector 72"/>
          <p:cNvCxnSpPr/>
          <p:nvPr/>
        </p:nvCxnSpPr>
        <p:spPr>
          <a:xfrm flipV="1">
            <a:off x="9597775" y="3607156"/>
            <a:ext cx="321983" cy="29171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4" name="Connector 73"/>
          <p:cNvCxnSpPr/>
          <p:nvPr/>
        </p:nvCxnSpPr>
        <p:spPr>
          <a:xfrm flipH="1" flipV="1">
            <a:off x="9139858" y="3844197"/>
            <a:ext cx="457917" cy="5467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5" name="Connector 74"/>
          <p:cNvCxnSpPr/>
          <p:nvPr/>
        </p:nvCxnSpPr>
        <p:spPr>
          <a:xfrm flipH="1">
            <a:off x="8895134" y="3844197"/>
            <a:ext cx="244724" cy="16627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9139858" y="3844197"/>
            <a:ext cx="37146" cy="31311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9139858" y="3844197"/>
            <a:ext cx="60010" cy="37110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flipH="1">
            <a:off x="8880969" y="4010467"/>
            <a:ext cx="14165" cy="12135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8895134" y="4010467"/>
            <a:ext cx="61745" cy="28870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0" name="Connector 79"/>
          <p:cNvCxnSpPr/>
          <p:nvPr/>
        </p:nvCxnSpPr>
        <p:spPr>
          <a:xfrm>
            <a:off x="9177004" y="4157312"/>
            <a:ext cx="22864" cy="5798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1" name="Connector 80"/>
          <p:cNvCxnSpPr/>
          <p:nvPr/>
        </p:nvCxnSpPr>
        <p:spPr>
          <a:xfrm flipH="1">
            <a:off x="8956879" y="4157312"/>
            <a:ext cx="220125" cy="14185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flipH="1" flipV="1">
            <a:off x="8880969" y="4131818"/>
            <a:ext cx="296035" cy="2549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flipH="1" flipV="1">
            <a:off x="9950346" y="4482863"/>
            <a:ext cx="51020" cy="1577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flipH="1">
            <a:off x="9994621" y="4498638"/>
            <a:ext cx="6745" cy="41131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5" name="Connector 84"/>
          <p:cNvCxnSpPr/>
          <p:nvPr/>
        </p:nvCxnSpPr>
        <p:spPr>
          <a:xfrm flipH="1">
            <a:off x="9842682" y="4498638"/>
            <a:ext cx="158684" cy="39380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6" name="Connector 85"/>
          <p:cNvCxnSpPr/>
          <p:nvPr/>
        </p:nvCxnSpPr>
        <p:spPr>
          <a:xfrm>
            <a:off x="9842682" y="4892438"/>
            <a:ext cx="151939" cy="1751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7" name="Connector 86"/>
          <p:cNvCxnSpPr/>
          <p:nvPr/>
        </p:nvCxnSpPr>
        <p:spPr>
          <a:xfrm flipV="1">
            <a:off x="9842682" y="4482863"/>
            <a:ext cx="107664" cy="40957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8" name="Connector 87"/>
          <p:cNvCxnSpPr/>
          <p:nvPr/>
        </p:nvCxnSpPr>
        <p:spPr>
          <a:xfrm flipH="1">
            <a:off x="9700308" y="3607156"/>
            <a:ext cx="219450" cy="16712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9" name="Connector 88"/>
          <p:cNvCxnSpPr/>
          <p:nvPr/>
        </p:nvCxnSpPr>
        <p:spPr>
          <a:xfrm>
            <a:off x="9950346" y="4482863"/>
            <a:ext cx="44275" cy="42709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0" name="Connector 89"/>
          <p:cNvCxnSpPr/>
          <p:nvPr/>
        </p:nvCxnSpPr>
        <p:spPr>
          <a:xfrm>
            <a:off x="8800584" y="5078973"/>
            <a:ext cx="460156" cy="6640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1" name="Connector 90"/>
          <p:cNvCxnSpPr/>
          <p:nvPr/>
        </p:nvCxnSpPr>
        <p:spPr>
          <a:xfrm flipV="1">
            <a:off x="8800584" y="4807509"/>
            <a:ext cx="391360" cy="27146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2" name="Connector 91"/>
          <p:cNvCxnSpPr/>
          <p:nvPr/>
        </p:nvCxnSpPr>
        <p:spPr>
          <a:xfrm flipV="1">
            <a:off x="8800584" y="4598039"/>
            <a:ext cx="188081" cy="48093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3" name="Connector 92"/>
          <p:cNvCxnSpPr/>
          <p:nvPr/>
        </p:nvCxnSpPr>
        <p:spPr>
          <a:xfrm>
            <a:off x="9994621" y="4909957"/>
            <a:ext cx="154819" cy="30575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4" name="Connector 93"/>
          <p:cNvCxnSpPr/>
          <p:nvPr/>
        </p:nvCxnSpPr>
        <p:spPr>
          <a:xfrm flipH="1" flipV="1">
            <a:off x="8880969" y="4131818"/>
            <a:ext cx="75910" cy="16735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flipH="1">
            <a:off x="8843840" y="4299169"/>
            <a:ext cx="113039" cy="23044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flipV="1">
            <a:off x="8956879" y="4215298"/>
            <a:ext cx="242989" cy="8387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flipH="1" flipV="1">
            <a:off x="9191944" y="4807509"/>
            <a:ext cx="68796" cy="33786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flipH="1" flipV="1">
            <a:off x="8988665" y="4598039"/>
            <a:ext cx="272075" cy="54733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flipH="1" flipV="1">
            <a:off x="8843840" y="4529618"/>
            <a:ext cx="144825" cy="6842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00" name="Connector 99"/>
          <p:cNvCxnSpPr/>
          <p:nvPr/>
        </p:nvCxnSpPr>
        <p:spPr>
          <a:xfrm>
            <a:off x="8988665" y="4598039"/>
            <a:ext cx="203279" cy="20947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01" name="Connector 100"/>
          <p:cNvCxnSpPr/>
          <p:nvPr/>
        </p:nvCxnSpPr>
        <p:spPr>
          <a:xfrm flipH="1" flipV="1">
            <a:off x="8663884" y="4422730"/>
            <a:ext cx="179956" cy="10688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02" name="Connector 101"/>
          <p:cNvCxnSpPr/>
          <p:nvPr/>
        </p:nvCxnSpPr>
        <p:spPr>
          <a:xfrm flipH="1" flipV="1">
            <a:off x="8880969" y="4131818"/>
            <a:ext cx="318899" cy="8348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sp>
        <p:nvSpPr>
          <p:cNvPr id="103" name="Oval 102"/>
          <p:cNvSpPr/>
          <p:nvPr/>
        </p:nvSpPr>
        <p:spPr>
          <a:xfrm>
            <a:off x="7413712" y="3079239"/>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6921170" y="217097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6950821" y="207941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7051184" y="237338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7979273" y="2741309"/>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7642138" y="206630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7163436" y="293163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6921875" y="221942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8190237" y="1645939"/>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7095496" y="222503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8263829" y="178130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6649937" y="262295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8335518" y="1760430"/>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7638432" y="291762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7753670" y="192704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7505674" y="280659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Oval 118"/>
          <p:cNvSpPr/>
          <p:nvPr/>
        </p:nvSpPr>
        <p:spPr>
          <a:xfrm>
            <a:off x="7591970" y="1903836"/>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Oval 119"/>
          <p:cNvSpPr/>
          <p:nvPr/>
        </p:nvSpPr>
        <p:spPr>
          <a:xfrm>
            <a:off x="7959137" y="308950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Oval 120"/>
          <p:cNvSpPr/>
          <p:nvPr/>
        </p:nvSpPr>
        <p:spPr>
          <a:xfrm>
            <a:off x="8373382" y="286596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Oval 121"/>
          <p:cNvSpPr/>
          <p:nvPr/>
        </p:nvSpPr>
        <p:spPr>
          <a:xfrm>
            <a:off x="8495817" y="291560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Oval 122"/>
          <p:cNvSpPr/>
          <p:nvPr/>
        </p:nvSpPr>
        <p:spPr>
          <a:xfrm>
            <a:off x="10421339" y="2342433"/>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Oval 123"/>
          <p:cNvSpPr/>
          <p:nvPr/>
        </p:nvSpPr>
        <p:spPr>
          <a:xfrm>
            <a:off x="9222635" y="223365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Oval 124"/>
          <p:cNvSpPr/>
          <p:nvPr/>
        </p:nvSpPr>
        <p:spPr>
          <a:xfrm>
            <a:off x="9240257" y="209894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0166997" y="294751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292901" y="2608515"/>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Oval 127"/>
          <p:cNvSpPr/>
          <p:nvPr/>
        </p:nvSpPr>
        <p:spPr>
          <a:xfrm>
            <a:off x="10331445" y="145678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10942507" y="2331280"/>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Oval 129"/>
          <p:cNvSpPr/>
          <p:nvPr/>
        </p:nvSpPr>
        <p:spPr>
          <a:xfrm>
            <a:off x="10680866" y="236497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Oval 130"/>
          <p:cNvSpPr/>
          <p:nvPr/>
        </p:nvSpPr>
        <p:spPr>
          <a:xfrm>
            <a:off x="9698216" y="2575632"/>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10791064" y="275843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Oval 132"/>
          <p:cNvSpPr/>
          <p:nvPr/>
        </p:nvSpPr>
        <p:spPr>
          <a:xfrm>
            <a:off x="10409867" y="137505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Oval 133"/>
          <p:cNvSpPr/>
          <p:nvPr/>
        </p:nvSpPr>
        <p:spPr>
          <a:xfrm>
            <a:off x="9914039" y="260794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10060784" y="2632901"/>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Oval 135"/>
          <p:cNvSpPr/>
          <p:nvPr/>
        </p:nvSpPr>
        <p:spPr>
          <a:xfrm>
            <a:off x="9210981" y="209336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10973096" y="257761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10720666" y="160991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9676218" y="1893430"/>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10196746" y="240605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Oval 140"/>
          <p:cNvSpPr/>
          <p:nvPr/>
        </p:nvSpPr>
        <p:spPr>
          <a:xfrm>
            <a:off x="10803325" y="255742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2" name="Oval 141"/>
          <p:cNvSpPr/>
          <p:nvPr/>
        </p:nvSpPr>
        <p:spPr>
          <a:xfrm>
            <a:off x="10396150" y="279823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Oval 142"/>
          <p:cNvSpPr/>
          <p:nvPr/>
        </p:nvSpPr>
        <p:spPr>
          <a:xfrm>
            <a:off x="9556627" y="3857723"/>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Oval 143"/>
          <p:cNvSpPr/>
          <p:nvPr/>
        </p:nvSpPr>
        <p:spPr>
          <a:xfrm>
            <a:off x="9116998" y="382133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Oval 144"/>
          <p:cNvSpPr/>
          <p:nvPr/>
        </p:nvSpPr>
        <p:spPr>
          <a:xfrm>
            <a:off x="8872274" y="398760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Oval 145"/>
          <p:cNvSpPr/>
          <p:nvPr/>
        </p:nvSpPr>
        <p:spPr>
          <a:xfrm>
            <a:off x="9154144" y="413445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Oval 146"/>
          <p:cNvSpPr/>
          <p:nvPr/>
        </p:nvSpPr>
        <p:spPr>
          <a:xfrm>
            <a:off x="9960218" y="4457490"/>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9819822" y="486957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9896898" y="358429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9927486" y="446000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8759436" y="5037825"/>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9971761" y="488709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Oval 152"/>
          <p:cNvSpPr/>
          <p:nvPr/>
        </p:nvSpPr>
        <p:spPr>
          <a:xfrm>
            <a:off x="8934019" y="427630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Oval 153"/>
          <p:cNvSpPr/>
          <p:nvPr/>
        </p:nvSpPr>
        <p:spPr>
          <a:xfrm>
            <a:off x="9237880" y="512251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5" name="Oval 154"/>
          <p:cNvSpPr/>
          <p:nvPr/>
        </p:nvSpPr>
        <p:spPr>
          <a:xfrm>
            <a:off x="10108292" y="5174567"/>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Oval 155"/>
          <p:cNvSpPr/>
          <p:nvPr/>
        </p:nvSpPr>
        <p:spPr>
          <a:xfrm>
            <a:off x="8965805" y="457517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Oval 156"/>
          <p:cNvSpPr/>
          <p:nvPr/>
        </p:nvSpPr>
        <p:spPr>
          <a:xfrm>
            <a:off x="8820980" y="450675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8" name="Oval 157"/>
          <p:cNvSpPr/>
          <p:nvPr/>
        </p:nvSpPr>
        <p:spPr>
          <a:xfrm>
            <a:off x="9177008" y="419243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9" name="Oval 158"/>
          <p:cNvSpPr/>
          <p:nvPr/>
        </p:nvSpPr>
        <p:spPr>
          <a:xfrm>
            <a:off x="9150796" y="4766361"/>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Oval 159"/>
          <p:cNvSpPr/>
          <p:nvPr/>
        </p:nvSpPr>
        <p:spPr>
          <a:xfrm>
            <a:off x="8858109" y="410895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1" name="Oval 160"/>
          <p:cNvSpPr/>
          <p:nvPr/>
        </p:nvSpPr>
        <p:spPr>
          <a:xfrm>
            <a:off x="9677448" y="375142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Oval 161"/>
          <p:cNvSpPr/>
          <p:nvPr/>
        </p:nvSpPr>
        <p:spPr>
          <a:xfrm>
            <a:off x="8641024" y="4399870"/>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63" name="Connector 162"/>
          <p:cNvCxnSpPr/>
          <p:nvPr/>
        </p:nvCxnSpPr>
        <p:spPr>
          <a:xfrm>
            <a:off x="6973681" y="2102272"/>
            <a:ext cx="144675" cy="145622"/>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64" name="Connector 163"/>
          <p:cNvCxnSpPr/>
          <p:nvPr/>
        </p:nvCxnSpPr>
        <p:spPr>
          <a:xfrm>
            <a:off x="7118356" y="2247894"/>
            <a:ext cx="3071501" cy="722480"/>
          </a:xfrm>
          <a:prstGeom prst="line">
            <a:avLst/>
          </a:prstGeom>
          <a:ln w="25400">
            <a:solidFill>
              <a:srgbClr val="A6C9B8"/>
            </a:solidFill>
            <a:prstDash val="dash"/>
          </a:ln>
          <a:effectLst/>
        </p:spPr>
        <p:style>
          <a:lnRef idx="2">
            <a:schemeClr val="accent1"/>
          </a:lnRef>
          <a:fillRef idx="0">
            <a:schemeClr val="accent1"/>
          </a:fillRef>
          <a:effectRef idx="0">
            <a:schemeClr val="accent1"/>
          </a:effectRef>
          <a:fontRef idx="minor">
            <a:schemeClr val="tx1"/>
          </a:fontRef>
        </p:style>
      </p:cxnSp>
      <p:cxnSp>
        <p:nvCxnSpPr>
          <p:cNvPr id="165" name="Connector 164"/>
          <p:cNvCxnSpPr/>
          <p:nvPr/>
        </p:nvCxnSpPr>
        <p:spPr>
          <a:xfrm flipH="1">
            <a:off x="8895134" y="2970374"/>
            <a:ext cx="1294723" cy="1040093"/>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66" name="Connector 165"/>
          <p:cNvCxnSpPr/>
          <p:nvPr/>
        </p:nvCxnSpPr>
        <p:spPr>
          <a:xfrm>
            <a:off x="8895134" y="4010467"/>
            <a:ext cx="93531" cy="587572"/>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67" name="Oval 166"/>
          <p:cNvSpPr/>
          <p:nvPr/>
        </p:nvSpPr>
        <p:spPr>
          <a:xfrm>
            <a:off x="6886813" y="2015404"/>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8" name="Oval 167"/>
          <p:cNvSpPr/>
          <p:nvPr/>
        </p:nvSpPr>
        <p:spPr>
          <a:xfrm>
            <a:off x="6937105" y="2065696"/>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9" name="Oval 168"/>
          <p:cNvSpPr/>
          <p:nvPr/>
        </p:nvSpPr>
        <p:spPr>
          <a:xfrm>
            <a:off x="7031488" y="2161026"/>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0" name="Oval 169"/>
          <p:cNvSpPr/>
          <p:nvPr/>
        </p:nvSpPr>
        <p:spPr>
          <a:xfrm>
            <a:off x="7081780" y="2211318"/>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1" name="Oval 170"/>
          <p:cNvSpPr/>
          <p:nvPr/>
        </p:nvSpPr>
        <p:spPr>
          <a:xfrm>
            <a:off x="10102989" y="2883506"/>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2" name="Oval 171"/>
          <p:cNvSpPr/>
          <p:nvPr/>
        </p:nvSpPr>
        <p:spPr>
          <a:xfrm>
            <a:off x="10153281" y="2933798"/>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3" name="Oval 172"/>
          <p:cNvSpPr/>
          <p:nvPr/>
        </p:nvSpPr>
        <p:spPr>
          <a:xfrm>
            <a:off x="8808266" y="3923599"/>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4" name="Oval 173"/>
          <p:cNvSpPr/>
          <p:nvPr/>
        </p:nvSpPr>
        <p:spPr>
          <a:xfrm>
            <a:off x="8858558" y="3973891"/>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5" name="Oval 174"/>
          <p:cNvSpPr/>
          <p:nvPr/>
        </p:nvSpPr>
        <p:spPr>
          <a:xfrm>
            <a:off x="8901797" y="4511171"/>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6" name="Oval 175"/>
          <p:cNvSpPr/>
          <p:nvPr/>
        </p:nvSpPr>
        <p:spPr>
          <a:xfrm>
            <a:off x="8952089" y="4561463"/>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7" name="TextBox 176"/>
          <p:cNvSpPr txBox="1"/>
          <p:nvPr/>
        </p:nvSpPr>
        <p:spPr>
          <a:xfrm>
            <a:off x="502920" y="1417320"/>
            <a:ext cx="7315200" cy="2578608"/>
          </a:xfrm>
          <a:prstGeom prst="rect">
            <a:avLst/>
          </a:prstGeom>
          <a:noFill/>
        </p:spPr>
        <p:txBody>
          <a:bodyPr wrap="square" lIns="0" rIns="0" tIns="0" bIns="0" anchor="t">
            <a:noAutofit/>
          </a:bodyPr>
          <a:lstStyle/>
          <a:p>
            <a:pPr algn="l">
              <a:lnSpc>
                <a:spcPct val="108000"/>
              </a:lnSpc>
              <a:spcBef>
                <a:spcPts val="0"/>
              </a:spcBef>
              <a:spcAft>
                <a:spcPts val="0"/>
              </a:spcAft>
            </a:pPr>
            <a:r>
              <a:rPr sz="4600" b="1">
                <a:solidFill>
                  <a:srgbClr val="F1EFE7"/>
                </a:solidFill>
                <a:latin typeface="IBM Plex Sans"/>
              </a:rPr>
              <a:t>More useful science</a:t>
            </a:r>
          </a:p>
          <a:p>
            <a:pPr algn="l">
              <a:lnSpc>
                <a:spcPct val="108000"/>
              </a:lnSpc>
              <a:spcBef>
                <a:spcPts val="0"/>
              </a:spcBef>
              <a:spcAft>
                <a:spcPts val="0"/>
              </a:spcAft>
            </a:pPr>
            <a:r>
              <a:rPr sz="4600" b="1">
                <a:solidFill>
                  <a:srgbClr val="F1EFE7"/>
                </a:solidFill>
                <a:latin typeface="IBM Plex Sans"/>
              </a:rPr>
              <a:t>from every dollar</a:t>
            </a:r>
          </a:p>
          <a:p>
            <a:pPr algn="l">
              <a:lnSpc>
                <a:spcPct val="108000"/>
              </a:lnSpc>
              <a:spcBef>
                <a:spcPts val="0"/>
              </a:spcBef>
              <a:spcAft>
                <a:spcPts val="0"/>
              </a:spcAft>
            </a:pPr>
            <a:r>
              <a:rPr sz="4600" b="1">
                <a:solidFill>
                  <a:srgbClr val="F1EFE7"/>
                </a:solidFill>
                <a:latin typeface="IBM Plex Sans"/>
              </a:rPr>
              <a:t>of compute.</a:t>
            </a:r>
          </a:p>
        </p:txBody>
      </p:sp>
      <p:sp>
        <p:nvSpPr>
          <p:cNvPr id="178" name="TextBox 177"/>
          <p:cNvSpPr txBox="1"/>
          <p:nvPr/>
        </p:nvSpPr>
        <p:spPr>
          <a:xfrm>
            <a:off x="548640" y="4370832"/>
            <a:ext cx="7269480" cy="896112"/>
          </a:xfrm>
          <a:prstGeom prst="rect">
            <a:avLst/>
          </a:prstGeom>
          <a:noFill/>
        </p:spPr>
        <p:txBody>
          <a:bodyPr wrap="square" lIns="0" rIns="0" tIns="0" bIns="0" anchor="t">
            <a:noAutofit/>
          </a:bodyPr>
          <a:lstStyle/>
          <a:p>
            <a:pPr algn="l">
              <a:lnSpc>
                <a:spcPct val="108000"/>
              </a:lnSpc>
              <a:spcBef>
                <a:spcPts val="0"/>
              </a:spcBef>
              <a:spcAft>
                <a:spcPts val="0"/>
              </a:spcAft>
            </a:pPr>
            <a:r>
              <a:rPr sz="2400" b="0">
                <a:solidFill>
                  <a:srgbClr val="A6C9B8"/>
                </a:solidFill>
                <a:latin typeface="IBM Plex Sans"/>
              </a:rPr>
              <a:t>Our ambition: strengthen the infrastructure</a:t>
            </a:r>
          </a:p>
          <a:p>
            <a:pPr algn="l">
              <a:lnSpc>
                <a:spcPct val="108000"/>
              </a:lnSpc>
              <a:spcBef>
                <a:spcPts val="0"/>
              </a:spcBef>
              <a:spcAft>
                <a:spcPts val="0"/>
              </a:spcAft>
            </a:pPr>
            <a:r>
              <a:rPr sz="2400" b="0">
                <a:solidFill>
                  <a:srgbClr val="A6C9B8"/>
                </a:solidFill>
                <a:latin typeface="IBM Plex Sans"/>
              </a:rPr>
              <a:t>behind American scientific discovery.</a:t>
            </a:r>
          </a:p>
        </p:txBody>
      </p:sp>
      <p:sp>
        <p:nvSpPr>
          <p:cNvPr id="179" name="TextBox 178"/>
          <p:cNvSpPr txBox="1"/>
          <p:nvPr/>
        </p:nvSpPr>
        <p:spPr>
          <a:xfrm>
            <a:off x="548640" y="5614416"/>
            <a:ext cx="2377440" cy="274320"/>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DEB577"/>
                </a:solidFill>
                <a:latin typeface="IBM Plex Mono"/>
              </a:rPr>
              <a:t>NEXT MILESTONE</a:t>
            </a:r>
          </a:p>
        </p:txBody>
      </p:sp>
      <p:sp>
        <p:nvSpPr>
          <p:cNvPr id="180" name="TextBox 179"/>
          <p:cNvSpPr txBox="1"/>
          <p:nvPr/>
        </p:nvSpPr>
        <p:spPr>
          <a:xfrm>
            <a:off x="2798064" y="5559552"/>
            <a:ext cx="8778240" cy="484632"/>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F1EFE7"/>
                </a:solidFill>
                <a:latin typeface="IBM Plex Sans"/>
              </a:rPr>
              <a:t>One independently reproduced, expert-reviewed candidate.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RUBRIC MAP</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12</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Every judging criterion has a place in the story.</a:t>
            </a:r>
          </a:p>
        </p:txBody>
      </p:sp>
      <p:sp>
        <p:nvSpPr>
          <p:cNvPr id="9" name="TextBox 8"/>
          <p:cNvSpPr txBox="1"/>
          <p:nvPr/>
        </p:nvSpPr>
        <p:spPr>
          <a:xfrm>
            <a:off x="539496" y="2322576"/>
            <a:ext cx="3511296" cy="32004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6C9B8"/>
                </a:solidFill>
                <a:latin typeface="IBM Plex Mono"/>
              </a:rPr>
              <a:t>MAIN PRIZES</a:t>
            </a:r>
          </a:p>
        </p:txBody>
      </p:sp>
      <p:cxnSp>
        <p:nvCxnSpPr>
          <p:cNvPr id="10" name="Connector 9"/>
          <p:cNvCxnSpPr/>
          <p:nvPr/>
        </p:nvCxnSpPr>
        <p:spPr>
          <a:xfrm>
            <a:off x="539496" y="2871216"/>
            <a:ext cx="345643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539496" y="3008376"/>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25</a:t>
            </a:r>
          </a:p>
        </p:txBody>
      </p:sp>
      <p:sp>
        <p:nvSpPr>
          <p:cNvPr id="12" name="TextBox 11"/>
          <p:cNvSpPr txBox="1"/>
          <p:nvPr/>
        </p:nvSpPr>
        <p:spPr>
          <a:xfrm>
            <a:off x="1271016" y="2980944"/>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Problem &amp; Real-World Impact</a:t>
            </a:r>
          </a:p>
        </p:txBody>
      </p:sp>
      <p:sp>
        <p:nvSpPr>
          <p:cNvPr id="13" name="TextBox 12"/>
          <p:cNvSpPr txBox="1"/>
          <p:nvPr/>
        </p:nvSpPr>
        <p:spPr>
          <a:xfrm>
            <a:off x="1271016" y="3493008"/>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02 · 06 · 11</a:t>
            </a:r>
          </a:p>
        </p:txBody>
      </p:sp>
      <p:cxnSp>
        <p:nvCxnSpPr>
          <p:cNvPr id="14" name="Connector 13"/>
          <p:cNvCxnSpPr/>
          <p:nvPr/>
        </p:nvCxnSpPr>
        <p:spPr>
          <a:xfrm>
            <a:off x="539496" y="3813048"/>
            <a:ext cx="345643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539496" y="3950208"/>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50</a:t>
            </a:r>
          </a:p>
        </p:txBody>
      </p:sp>
      <p:sp>
        <p:nvSpPr>
          <p:cNvPr id="16" name="TextBox 15"/>
          <p:cNvSpPr txBox="1"/>
          <p:nvPr/>
        </p:nvSpPr>
        <p:spPr>
          <a:xfrm>
            <a:off x="1271016" y="3922776"/>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Technical Execution</a:t>
            </a:r>
          </a:p>
        </p:txBody>
      </p:sp>
      <p:sp>
        <p:nvSpPr>
          <p:cNvPr id="17" name="TextBox 16"/>
          <p:cNvSpPr txBox="1"/>
          <p:nvPr/>
        </p:nvSpPr>
        <p:spPr>
          <a:xfrm>
            <a:off x="1271016" y="4434840"/>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04–08</a:t>
            </a:r>
          </a:p>
        </p:txBody>
      </p:sp>
      <p:cxnSp>
        <p:nvCxnSpPr>
          <p:cNvPr id="18" name="Connector 17"/>
          <p:cNvCxnSpPr/>
          <p:nvPr/>
        </p:nvCxnSpPr>
        <p:spPr>
          <a:xfrm>
            <a:off x="539496" y="4754880"/>
            <a:ext cx="345643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39496" y="4892040"/>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25</a:t>
            </a:r>
          </a:p>
        </p:txBody>
      </p:sp>
      <p:sp>
        <p:nvSpPr>
          <p:cNvPr id="20" name="TextBox 19"/>
          <p:cNvSpPr txBox="1"/>
          <p:nvPr/>
        </p:nvSpPr>
        <p:spPr>
          <a:xfrm>
            <a:off x="1271016" y="4864608"/>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Feasibility &amp; Deployment</a:t>
            </a:r>
          </a:p>
        </p:txBody>
      </p:sp>
      <p:sp>
        <p:nvSpPr>
          <p:cNvPr id="21" name="TextBox 20"/>
          <p:cNvSpPr txBox="1"/>
          <p:nvPr/>
        </p:nvSpPr>
        <p:spPr>
          <a:xfrm>
            <a:off x="1271016" y="5376672"/>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09–10 · 15</a:t>
            </a:r>
          </a:p>
        </p:txBody>
      </p:sp>
      <p:sp>
        <p:nvSpPr>
          <p:cNvPr id="22" name="TextBox 21"/>
          <p:cNvSpPr txBox="1"/>
          <p:nvPr/>
        </p:nvSpPr>
        <p:spPr>
          <a:xfrm>
            <a:off x="4352544" y="2322576"/>
            <a:ext cx="3511296" cy="32004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6C9B8"/>
                </a:solidFill>
                <a:latin typeface="IBM Plex Mono"/>
              </a:rPr>
              <a:t>BEST USE OF AI</a:t>
            </a:r>
          </a:p>
        </p:txBody>
      </p:sp>
      <p:cxnSp>
        <p:nvCxnSpPr>
          <p:cNvPr id="23" name="Connector 22"/>
          <p:cNvCxnSpPr/>
          <p:nvPr/>
        </p:nvCxnSpPr>
        <p:spPr>
          <a:xfrm>
            <a:off x="4352544" y="2871216"/>
            <a:ext cx="3456431"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4352544" y="3008376"/>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25</a:t>
            </a:r>
          </a:p>
        </p:txBody>
      </p:sp>
      <p:sp>
        <p:nvSpPr>
          <p:cNvPr id="25" name="TextBox 24"/>
          <p:cNvSpPr txBox="1"/>
          <p:nvPr/>
        </p:nvSpPr>
        <p:spPr>
          <a:xfrm>
            <a:off x="5084064" y="2980944"/>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Novelty &amp; Importance of AI</a:t>
            </a:r>
          </a:p>
        </p:txBody>
      </p:sp>
      <p:sp>
        <p:nvSpPr>
          <p:cNvPr id="26" name="TextBox 25"/>
          <p:cNvSpPr txBox="1"/>
          <p:nvPr/>
        </p:nvSpPr>
        <p:spPr>
          <a:xfrm>
            <a:off x="5084064" y="3493008"/>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04–05 · 16</a:t>
            </a:r>
          </a:p>
        </p:txBody>
      </p:sp>
      <p:cxnSp>
        <p:nvCxnSpPr>
          <p:cNvPr id="27" name="Connector 26"/>
          <p:cNvCxnSpPr/>
          <p:nvPr/>
        </p:nvCxnSpPr>
        <p:spPr>
          <a:xfrm>
            <a:off x="4352544" y="3813048"/>
            <a:ext cx="3456431"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4352544" y="3950208"/>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50</a:t>
            </a:r>
          </a:p>
        </p:txBody>
      </p:sp>
      <p:sp>
        <p:nvSpPr>
          <p:cNvPr id="29" name="TextBox 28"/>
          <p:cNvSpPr txBox="1"/>
          <p:nvPr/>
        </p:nvSpPr>
        <p:spPr>
          <a:xfrm>
            <a:off x="5084064" y="3922776"/>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Technical Sophistication</a:t>
            </a:r>
          </a:p>
        </p:txBody>
      </p:sp>
      <p:sp>
        <p:nvSpPr>
          <p:cNvPr id="30" name="TextBox 29"/>
          <p:cNvSpPr txBox="1"/>
          <p:nvPr/>
        </p:nvSpPr>
        <p:spPr>
          <a:xfrm>
            <a:off x="5084064" y="4434840"/>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05 · 08 · 14</a:t>
            </a:r>
          </a:p>
        </p:txBody>
      </p:sp>
      <p:cxnSp>
        <p:nvCxnSpPr>
          <p:cNvPr id="31" name="Connector 30"/>
          <p:cNvCxnSpPr/>
          <p:nvPr/>
        </p:nvCxnSpPr>
        <p:spPr>
          <a:xfrm>
            <a:off x="4352544" y="4754880"/>
            <a:ext cx="3456431"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2" name="TextBox 31"/>
          <p:cNvSpPr txBox="1"/>
          <p:nvPr/>
        </p:nvSpPr>
        <p:spPr>
          <a:xfrm>
            <a:off x="4352544" y="4892040"/>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25</a:t>
            </a:r>
          </a:p>
        </p:txBody>
      </p:sp>
      <p:sp>
        <p:nvSpPr>
          <p:cNvPr id="33" name="TextBox 32"/>
          <p:cNvSpPr txBox="1"/>
          <p:nvPr/>
        </p:nvSpPr>
        <p:spPr>
          <a:xfrm>
            <a:off x="5084064" y="4864608"/>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Reliability, Evaluation &amp; Trust</a:t>
            </a:r>
          </a:p>
        </p:txBody>
      </p:sp>
      <p:sp>
        <p:nvSpPr>
          <p:cNvPr id="34" name="TextBox 33"/>
          <p:cNvSpPr txBox="1"/>
          <p:nvPr/>
        </p:nvSpPr>
        <p:spPr>
          <a:xfrm>
            <a:off x="5084064" y="5376672"/>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07–08 · 13–14</a:t>
            </a:r>
          </a:p>
        </p:txBody>
      </p:sp>
      <p:sp>
        <p:nvSpPr>
          <p:cNvPr id="35" name="TextBox 34"/>
          <p:cNvSpPr txBox="1"/>
          <p:nvPr/>
        </p:nvSpPr>
        <p:spPr>
          <a:xfrm>
            <a:off x="8165592" y="2322576"/>
            <a:ext cx="3511296" cy="32004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6C9B8"/>
                </a:solidFill>
                <a:latin typeface="IBM Plex Mono"/>
              </a:rPr>
              <a:t>BEST IN DESIGN</a:t>
            </a:r>
          </a:p>
        </p:txBody>
      </p:sp>
      <p:cxnSp>
        <p:nvCxnSpPr>
          <p:cNvPr id="36" name="Connector 35"/>
          <p:cNvCxnSpPr/>
          <p:nvPr/>
        </p:nvCxnSpPr>
        <p:spPr>
          <a:xfrm>
            <a:off x="8165592" y="2871216"/>
            <a:ext cx="345643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8165592" y="3008376"/>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30</a:t>
            </a:r>
          </a:p>
        </p:txBody>
      </p:sp>
      <p:sp>
        <p:nvSpPr>
          <p:cNvPr id="38" name="TextBox 37"/>
          <p:cNvSpPr txBox="1"/>
          <p:nvPr/>
        </p:nvSpPr>
        <p:spPr>
          <a:xfrm>
            <a:off x="8897112" y="2980944"/>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Design Quality &amp; Craft</a:t>
            </a:r>
          </a:p>
        </p:txBody>
      </p:sp>
      <p:sp>
        <p:nvSpPr>
          <p:cNvPr id="39" name="TextBox 38"/>
          <p:cNvSpPr txBox="1"/>
          <p:nvPr/>
        </p:nvSpPr>
        <p:spPr>
          <a:xfrm>
            <a:off x="8897112" y="3493008"/>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03 · 06</a:t>
            </a:r>
          </a:p>
        </p:txBody>
      </p:sp>
      <p:cxnSp>
        <p:nvCxnSpPr>
          <p:cNvPr id="40" name="Connector 39"/>
          <p:cNvCxnSpPr/>
          <p:nvPr/>
        </p:nvCxnSpPr>
        <p:spPr>
          <a:xfrm>
            <a:off x="8165592" y="3813048"/>
            <a:ext cx="345643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8165592" y="3950208"/>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40</a:t>
            </a:r>
          </a:p>
        </p:txBody>
      </p:sp>
      <p:sp>
        <p:nvSpPr>
          <p:cNvPr id="42" name="TextBox 41"/>
          <p:cNvSpPr txBox="1"/>
          <p:nvPr/>
        </p:nvSpPr>
        <p:spPr>
          <a:xfrm>
            <a:off x="8897112" y="3922776"/>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User Experience &amp; Usability</a:t>
            </a:r>
          </a:p>
        </p:txBody>
      </p:sp>
      <p:sp>
        <p:nvSpPr>
          <p:cNvPr id="43" name="TextBox 42"/>
          <p:cNvSpPr txBox="1"/>
          <p:nvPr/>
        </p:nvSpPr>
        <p:spPr>
          <a:xfrm>
            <a:off x="8897112" y="4434840"/>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03 · 06</a:t>
            </a:r>
          </a:p>
        </p:txBody>
      </p:sp>
      <p:cxnSp>
        <p:nvCxnSpPr>
          <p:cNvPr id="44" name="Connector 43"/>
          <p:cNvCxnSpPr/>
          <p:nvPr/>
        </p:nvCxnSpPr>
        <p:spPr>
          <a:xfrm>
            <a:off x="8165592" y="4754880"/>
            <a:ext cx="345643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45" name="TextBox 44"/>
          <p:cNvSpPr txBox="1"/>
          <p:nvPr/>
        </p:nvSpPr>
        <p:spPr>
          <a:xfrm>
            <a:off x="8165592" y="4892040"/>
            <a:ext cx="557784" cy="457200"/>
          </a:xfrm>
          <a:prstGeom prst="rect">
            <a:avLst/>
          </a:prstGeom>
          <a:noFill/>
        </p:spPr>
        <p:txBody>
          <a:bodyPr wrap="square" lIns="0" rIns="0" tIns="0" bIns="0" anchor="t">
            <a:noAutofit/>
          </a:bodyPr>
          <a:lstStyle/>
          <a:p>
            <a:pPr algn="l">
              <a:lnSpc>
                <a:spcPct val="108000"/>
              </a:lnSpc>
              <a:spcBef>
                <a:spcPts val="0"/>
              </a:spcBef>
              <a:spcAft>
                <a:spcPts val="0"/>
              </a:spcAft>
            </a:pPr>
            <a:r>
              <a:rPr sz="2400" b="1">
                <a:solidFill>
                  <a:srgbClr val="DEB577"/>
                </a:solidFill>
                <a:latin typeface="IBM Plex Sans"/>
              </a:rPr>
              <a:t>30</a:t>
            </a:r>
          </a:p>
        </p:txBody>
      </p:sp>
      <p:sp>
        <p:nvSpPr>
          <p:cNvPr id="46" name="TextBox 45"/>
          <p:cNvSpPr txBox="1"/>
          <p:nvPr/>
        </p:nvSpPr>
        <p:spPr>
          <a:xfrm>
            <a:off x="8897112" y="4864608"/>
            <a:ext cx="2679192" cy="475488"/>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F1EFE7"/>
                </a:solidFill>
                <a:latin typeface="IBM Plex Sans"/>
              </a:rPr>
              <a:t>Understanding of the User</a:t>
            </a:r>
          </a:p>
        </p:txBody>
      </p:sp>
      <p:sp>
        <p:nvSpPr>
          <p:cNvPr id="47" name="TextBox 46"/>
          <p:cNvSpPr txBox="1"/>
          <p:nvPr/>
        </p:nvSpPr>
        <p:spPr>
          <a:xfrm>
            <a:off x="8897112" y="5376672"/>
            <a:ext cx="2679192" cy="22860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SLIDES 03 · 09</a:t>
            </a:r>
          </a:p>
        </p:txBody>
      </p:sp>
      <p:sp>
        <p:nvSpPr>
          <p:cNvPr id="48" name="TextBox 47"/>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Weights transcribed from the user-provided judging rubric. This is a coverage map, not a claimed score.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CURRENT STATE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13</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What is built, prepared and still to be proven.</a:t>
            </a:r>
          </a:p>
        </p:txBody>
      </p:sp>
      <p:cxnSp>
        <p:nvCxnSpPr>
          <p:cNvPr id="9" name="Connector 8"/>
          <p:cNvCxnSpPr/>
          <p:nvPr/>
        </p:nvCxnSpPr>
        <p:spPr>
          <a:xfrm>
            <a:off x="548640" y="2286000"/>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57784" y="2432304"/>
            <a:ext cx="1499616" cy="246888"/>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BUILT</a:t>
            </a:r>
          </a:p>
        </p:txBody>
      </p:sp>
      <p:sp>
        <p:nvSpPr>
          <p:cNvPr id="11" name="TextBox 10"/>
          <p:cNvSpPr txBox="1"/>
          <p:nvPr/>
        </p:nvSpPr>
        <p:spPr>
          <a:xfrm>
            <a:off x="2103120" y="2404872"/>
            <a:ext cx="4480560" cy="365760"/>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Claims, quotes and context</a:t>
            </a:r>
          </a:p>
        </p:txBody>
      </p:sp>
      <p:sp>
        <p:nvSpPr>
          <p:cNvPr id="12" name="TextBox 11"/>
          <p:cNvSpPr txBox="1"/>
          <p:nvPr/>
        </p:nvSpPr>
        <p:spPr>
          <a:xfrm>
            <a:off x="6684264" y="2423160"/>
            <a:ext cx="4919472" cy="36576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Grounding failures are deferred; source count is not proof.</a:t>
            </a:r>
          </a:p>
        </p:txBody>
      </p:sp>
      <p:cxnSp>
        <p:nvCxnSpPr>
          <p:cNvPr id="13" name="Connector 12"/>
          <p:cNvCxnSpPr/>
          <p:nvPr/>
        </p:nvCxnSpPr>
        <p:spPr>
          <a:xfrm>
            <a:off x="548640" y="2834640"/>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57784" y="2980944"/>
            <a:ext cx="1499616" cy="246888"/>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BUILT</a:t>
            </a:r>
          </a:p>
        </p:txBody>
      </p:sp>
      <p:sp>
        <p:nvSpPr>
          <p:cNvPr id="15" name="TextBox 14"/>
          <p:cNvSpPr txBox="1"/>
          <p:nvPr/>
        </p:nvSpPr>
        <p:spPr>
          <a:xfrm>
            <a:off x="2103120" y="2953512"/>
            <a:ext cx="4480560" cy="365760"/>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Research actions and branch control</a:t>
            </a:r>
          </a:p>
        </p:txBody>
      </p:sp>
      <p:sp>
        <p:nvSpPr>
          <p:cNvPr id="16" name="TextBox 15"/>
          <p:cNvSpPr txBox="1"/>
          <p:nvPr/>
        </p:nvSpPr>
        <p:spPr>
          <a:xfrm>
            <a:off x="6684264" y="2971800"/>
            <a:ext cx="4919472" cy="36576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Model judgment; no calibrated scientific stopping.</a:t>
            </a:r>
          </a:p>
        </p:txBody>
      </p:sp>
      <p:cxnSp>
        <p:nvCxnSpPr>
          <p:cNvPr id="17" name="Connector 16"/>
          <p:cNvCxnSpPr/>
          <p:nvPr/>
        </p:nvCxnSpPr>
        <p:spPr>
          <a:xfrm>
            <a:off x="548640" y="3383280"/>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557784" y="3529584"/>
            <a:ext cx="1499616" cy="246888"/>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BUILT</a:t>
            </a:r>
          </a:p>
        </p:txBody>
      </p:sp>
      <p:sp>
        <p:nvSpPr>
          <p:cNvPr id="19" name="TextBox 18"/>
          <p:cNvSpPr txBox="1"/>
          <p:nvPr/>
        </p:nvSpPr>
        <p:spPr>
          <a:xfrm>
            <a:off x="2103120" y="3502152"/>
            <a:ext cx="4480560" cy="365760"/>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Statistical screen + backend review</a:t>
            </a:r>
          </a:p>
        </p:txBody>
      </p:sp>
      <p:sp>
        <p:nvSpPr>
          <p:cNvPr id="20" name="TextBox 19"/>
          <p:cNvSpPr txBox="1"/>
          <p:nvPr/>
        </p:nvSpPr>
        <p:spPr>
          <a:xfrm>
            <a:off x="6684264" y="3520440"/>
            <a:ext cx="4919472" cy="36576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Reported statistics; human-review controls hidden in UI.</a:t>
            </a:r>
          </a:p>
        </p:txBody>
      </p:sp>
      <p:cxnSp>
        <p:nvCxnSpPr>
          <p:cNvPr id="21" name="Connector 20"/>
          <p:cNvCxnSpPr/>
          <p:nvPr/>
        </p:nvCxnSpPr>
        <p:spPr>
          <a:xfrm>
            <a:off x="548640" y="3931920"/>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557784" y="4078224"/>
            <a:ext cx="1499616" cy="246888"/>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PREPARED</a:t>
            </a:r>
          </a:p>
        </p:txBody>
      </p:sp>
      <p:sp>
        <p:nvSpPr>
          <p:cNvPr id="23" name="TextBox 22"/>
          <p:cNvSpPr txBox="1"/>
          <p:nvPr/>
        </p:nvSpPr>
        <p:spPr>
          <a:xfrm>
            <a:off x="2103120" y="4050791"/>
            <a:ext cx="4480560" cy="365760"/>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100-paper pancreatic cancer corpus</a:t>
            </a:r>
          </a:p>
        </p:txBody>
      </p:sp>
      <p:sp>
        <p:nvSpPr>
          <p:cNvPr id="24" name="TextBox 23"/>
          <p:cNvSpPr txBox="1"/>
          <p:nvPr/>
        </p:nvSpPr>
        <p:spPr>
          <a:xfrm>
            <a:off x="6684264" y="4069080"/>
            <a:ext cx="4919472" cy="36576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Frozen curation is not a prospective discovery benchmark.</a:t>
            </a:r>
          </a:p>
        </p:txBody>
      </p:sp>
      <p:cxnSp>
        <p:nvCxnSpPr>
          <p:cNvPr id="25" name="Connector 24"/>
          <p:cNvCxnSpPr/>
          <p:nvPr/>
        </p:nvCxnSpPr>
        <p:spPr>
          <a:xfrm>
            <a:off x="548640" y="4480560"/>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557784" y="4626864"/>
            <a:ext cx="1499616" cy="246888"/>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MEASURED</a:t>
            </a:r>
          </a:p>
        </p:txBody>
      </p:sp>
      <p:sp>
        <p:nvSpPr>
          <p:cNvPr id="27" name="TextBox 26"/>
          <p:cNvSpPr txBox="1"/>
          <p:nvPr/>
        </p:nvSpPr>
        <p:spPr>
          <a:xfrm>
            <a:off x="2103120" y="4599432"/>
            <a:ext cx="4480560" cy="365760"/>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Standalone learned diagnostic</a:t>
            </a:r>
          </a:p>
        </p:txBody>
      </p:sp>
      <p:sp>
        <p:nvSpPr>
          <p:cNvPr id="28" name="TextBox 27"/>
          <p:cNvSpPr txBox="1"/>
          <p:nvPr/>
        </p:nvSpPr>
        <p:spPr>
          <a:xfrm>
            <a:off x="6684264" y="4617720"/>
            <a:ext cx="4919472" cy="36576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Synthetic null audit and one observational expression cohort.</a:t>
            </a:r>
          </a:p>
        </p:txBody>
      </p:sp>
      <p:cxnSp>
        <p:nvCxnSpPr>
          <p:cNvPr id="29" name="Connector 28"/>
          <p:cNvCxnSpPr/>
          <p:nvPr/>
        </p:nvCxnSpPr>
        <p:spPr>
          <a:xfrm>
            <a:off x="548640" y="5029200"/>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557784" y="5175504"/>
            <a:ext cx="1499616" cy="246888"/>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DEB577"/>
                </a:solidFill>
                <a:latin typeface="IBM Plex Mono"/>
              </a:rPr>
              <a:t>TO PROVE</a:t>
            </a:r>
          </a:p>
        </p:txBody>
      </p:sp>
      <p:sp>
        <p:nvSpPr>
          <p:cNvPr id="31" name="TextBox 30"/>
          <p:cNvSpPr txBox="1"/>
          <p:nvPr/>
        </p:nvSpPr>
        <p:spPr>
          <a:xfrm>
            <a:off x="2103120" y="5148072"/>
            <a:ext cx="4480560" cy="365760"/>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Useful discovery per dollar</a:t>
            </a:r>
          </a:p>
        </p:txBody>
      </p:sp>
      <p:sp>
        <p:nvSpPr>
          <p:cNvPr id="32" name="TextBox 31"/>
          <p:cNvSpPr txBox="1"/>
          <p:nvPr/>
        </p:nvSpPr>
        <p:spPr>
          <a:xfrm>
            <a:off x="6684264" y="5166360"/>
            <a:ext cx="4919472" cy="36576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No independent discovery, savings or customer result yet.</a:t>
            </a:r>
          </a:p>
        </p:txBody>
      </p:sp>
      <p:sp>
        <p:nvSpPr>
          <p:cNvPr id="33" name="TextBox 32"/>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Source snapshot: main 1e83cfb, 6 September 2026. Recheck this ledger when new work lands.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EVALUATION DETAILS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14</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Statistical evidence has a declared scope.</a:t>
            </a:r>
          </a:p>
        </p:txBody>
      </p:sp>
      <p:sp>
        <p:nvSpPr>
          <p:cNvPr id="9" name="TextBox 8"/>
          <p:cNvSpPr txBox="1"/>
          <p:nvPr/>
        </p:nvSpPr>
        <p:spPr>
          <a:xfrm>
            <a:off x="548640" y="2231136"/>
            <a:ext cx="6949440" cy="320040"/>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A6C9B8"/>
                </a:solidFill>
                <a:latin typeface="IBM Plex Mono"/>
              </a:rPr>
              <a:t>SYNTHETIC NULL · 10,000 RUNS / METHOD</a:t>
            </a:r>
          </a:p>
        </p:txBody>
      </p:sp>
      <p:sp>
        <p:nvSpPr>
          <p:cNvPr id="10" name="TextBox 9"/>
          <p:cNvSpPr txBox="1"/>
          <p:nvPr/>
        </p:nvSpPr>
        <p:spPr>
          <a:xfrm>
            <a:off x="566928" y="2752344"/>
            <a:ext cx="3611880"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Method</a:t>
            </a:r>
          </a:p>
        </p:txBody>
      </p:sp>
      <p:sp>
        <p:nvSpPr>
          <p:cNvPr id="11" name="TextBox 10"/>
          <p:cNvSpPr txBox="1"/>
          <p:nvPr/>
        </p:nvSpPr>
        <p:spPr>
          <a:xfrm>
            <a:off x="3721608" y="2752344"/>
            <a:ext cx="1673352"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Ever crossed</a:t>
            </a:r>
          </a:p>
        </p:txBody>
      </p:sp>
      <p:sp>
        <p:nvSpPr>
          <p:cNvPr id="12" name="TextBox 11"/>
          <p:cNvSpPr txBox="1"/>
          <p:nvPr/>
        </p:nvSpPr>
        <p:spPr>
          <a:xfrm>
            <a:off x="5486400" y="2752344"/>
            <a:ext cx="1691640" cy="347472"/>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Final reject</a:t>
            </a:r>
          </a:p>
        </p:txBody>
      </p:sp>
      <p:sp>
        <p:nvSpPr>
          <p:cNvPr id="13" name="TextBox 12"/>
          <p:cNvSpPr txBox="1"/>
          <p:nvPr/>
        </p:nvSpPr>
        <p:spPr>
          <a:xfrm>
            <a:off x="566928" y="3191256"/>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Sans"/>
              </a:rPr>
              <a:t>Identity</a:t>
            </a:r>
          </a:p>
        </p:txBody>
      </p:sp>
      <p:sp>
        <p:nvSpPr>
          <p:cNvPr id="14" name="TextBox 13"/>
          <p:cNvSpPr txBox="1"/>
          <p:nvPr/>
        </p:nvSpPr>
        <p:spPr>
          <a:xfrm>
            <a:off x="3749039" y="3191256"/>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1.66%</a:t>
            </a:r>
          </a:p>
        </p:txBody>
      </p:sp>
      <p:sp>
        <p:nvSpPr>
          <p:cNvPr id="15" name="TextBox 14"/>
          <p:cNvSpPr txBox="1"/>
          <p:nvPr/>
        </p:nvSpPr>
        <p:spPr>
          <a:xfrm>
            <a:off x="5486400" y="3191256"/>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0.13%</a:t>
            </a:r>
          </a:p>
        </p:txBody>
      </p:sp>
      <p:sp>
        <p:nvSpPr>
          <p:cNvPr id="16" name="TextBox 15"/>
          <p:cNvSpPr txBox="1"/>
          <p:nvPr/>
        </p:nvSpPr>
        <p:spPr>
          <a:xfrm>
            <a:off x="566928" y="3483864"/>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Sans"/>
              </a:rPr>
              <a:t>PCA</a:t>
            </a:r>
          </a:p>
        </p:txBody>
      </p:sp>
      <p:sp>
        <p:nvSpPr>
          <p:cNvPr id="17" name="TextBox 16"/>
          <p:cNvSpPr txBox="1"/>
          <p:nvPr/>
        </p:nvSpPr>
        <p:spPr>
          <a:xfrm>
            <a:off x="3749039" y="3483864"/>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1.71%</a:t>
            </a:r>
          </a:p>
        </p:txBody>
      </p:sp>
      <p:sp>
        <p:nvSpPr>
          <p:cNvPr id="18" name="TextBox 17"/>
          <p:cNvSpPr txBox="1"/>
          <p:nvPr/>
        </p:nvSpPr>
        <p:spPr>
          <a:xfrm>
            <a:off x="5486400" y="3483864"/>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0.14%</a:t>
            </a:r>
          </a:p>
        </p:txBody>
      </p:sp>
      <p:sp>
        <p:nvSpPr>
          <p:cNvPr id="19" name="TextBox 18"/>
          <p:cNvSpPr txBox="1"/>
          <p:nvPr/>
        </p:nvSpPr>
        <p:spPr>
          <a:xfrm>
            <a:off x="566928" y="3776472"/>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Sans"/>
              </a:rPr>
              <a:t>Learned encoder</a:t>
            </a:r>
          </a:p>
        </p:txBody>
      </p:sp>
      <p:sp>
        <p:nvSpPr>
          <p:cNvPr id="20" name="TextBox 19"/>
          <p:cNvSpPr txBox="1"/>
          <p:nvPr/>
        </p:nvSpPr>
        <p:spPr>
          <a:xfrm>
            <a:off x="3749039" y="3776472"/>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1.12%</a:t>
            </a:r>
          </a:p>
        </p:txBody>
      </p:sp>
      <p:sp>
        <p:nvSpPr>
          <p:cNvPr id="21" name="TextBox 20"/>
          <p:cNvSpPr txBox="1"/>
          <p:nvPr/>
        </p:nvSpPr>
        <p:spPr>
          <a:xfrm>
            <a:off x="5486400" y="3776472"/>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0.20%</a:t>
            </a:r>
          </a:p>
        </p:txBody>
      </p:sp>
      <p:sp>
        <p:nvSpPr>
          <p:cNvPr id="22" name="TextBox 21"/>
          <p:cNvSpPr txBox="1"/>
          <p:nvPr/>
        </p:nvSpPr>
        <p:spPr>
          <a:xfrm>
            <a:off x="566928" y="4069080"/>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Sans"/>
              </a:rPr>
              <a:t>Single feature</a:t>
            </a:r>
          </a:p>
        </p:txBody>
      </p:sp>
      <p:sp>
        <p:nvSpPr>
          <p:cNvPr id="23" name="TextBox 22"/>
          <p:cNvSpPr txBox="1"/>
          <p:nvPr/>
        </p:nvSpPr>
        <p:spPr>
          <a:xfrm>
            <a:off x="3749039" y="4069080"/>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1.41%</a:t>
            </a:r>
          </a:p>
        </p:txBody>
      </p:sp>
      <p:sp>
        <p:nvSpPr>
          <p:cNvPr id="24" name="TextBox 23"/>
          <p:cNvSpPr txBox="1"/>
          <p:nvPr/>
        </p:nvSpPr>
        <p:spPr>
          <a:xfrm>
            <a:off x="5486400" y="4069080"/>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0.36%</a:t>
            </a:r>
          </a:p>
        </p:txBody>
      </p:sp>
      <p:sp>
        <p:nvSpPr>
          <p:cNvPr id="25" name="TextBox 24"/>
          <p:cNvSpPr txBox="1"/>
          <p:nvPr/>
        </p:nvSpPr>
        <p:spPr>
          <a:xfrm>
            <a:off x="566928" y="4361688"/>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Sans"/>
              </a:rPr>
              <a:t>Fixed projection</a:t>
            </a:r>
          </a:p>
        </p:txBody>
      </p:sp>
      <p:sp>
        <p:nvSpPr>
          <p:cNvPr id="26" name="TextBox 25"/>
          <p:cNvSpPr txBox="1"/>
          <p:nvPr/>
        </p:nvSpPr>
        <p:spPr>
          <a:xfrm>
            <a:off x="3749039" y="4361688"/>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1.65%</a:t>
            </a:r>
          </a:p>
        </p:txBody>
      </p:sp>
      <p:sp>
        <p:nvSpPr>
          <p:cNvPr id="27" name="TextBox 26"/>
          <p:cNvSpPr txBox="1"/>
          <p:nvPr/>
        </p:nvSpPr>
        <p:spPr>
          <a:xfrm>
            <a:off x="5486400" y="4361688"/>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0.19%</a:t>
            </a:r>
          </a:p>
        </p:txBody>
      </p:sp>
      <p:sp>
        <p:nvSpPr>
          <p:cNvPr id="28" name="TextBox 27"/>
          <p:cNvSpPr txBox="1"/>
          <p:nvPr/>
        </p:nvSpPr>
        <p:spPr>
          <a:xfrm>
            <a:off x="566928" y="4654296"/>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Sans"/>
              </a:rPr>
              <a:t>Permutation p*</a:t>
            </a:r>
          </a:p>
        </p:txBody>
      </p:sp>
      <p:sp>
        <p:nvSpPr>
          <p:cNvPr id="29" name="TextBox 28"/>
          <p:cNvSpPr txBox="1"/>
          <p:nvPr/>
        </p:nvSpPr>
        <p:spPr>
          <a:xfrm>
            <a:off x="3749039" y="4654296"/>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5.13%</a:t>
            </a:r>
          </a:p>
        </p:txBody>
      </p:sp>
      <p:sp>
        <p:nvSpPr>
          <p:cNvPr id="30" name="TextBox 29"/>
          <p:cNvSpPr txBox="1"/>
          <p:nvPr/>
        </p:nvSpPr>
        <p:spPr>
          <a:xfrm>
            <a:off x="5486400" y="4654296"/>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5.13%</a:t>
            </a:r>
          </a:p>
        </p:txBody>
      </p:sp>
      <p:sp>
        <p:nvSpPr>
          <p:cNvPr id="31" name="TextBox 30"/>
          <p:cNvSpPr txBox="1"/>
          <p:nvPr/>
        </p:nvSpPr>
        <p:spPr>
          <a:xfrm>
            <a:off x="566928" y="4946904"/>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Sans"/>
              </a:rPr>
              <a:t>Calibrated permutation e*</a:t>
            </a:r>
          </a:p>
        </p:txBody>
      </p:sp>
      <p:sp>
        <p:nvSpPr>
          <p:cNvPr id="32" name="TextBox 31"/>
          <p:cNvSpPr txBox="1"/>
          <p:nvPr/>
        </p:nvSpPr>
        <p:spPr>
          <a:xfrm>
            <a:off x="3749039" y="4946904"/>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0.24%</a:t>
            </a:r>
          </a:p>
        </p:txBody>
      </p:sp>
      <p:sp>
        <p:nvSpPr>
          <p:cNvPr id="33" name="TextBox 32"/>
          <p:cNvSpPr txBox="1"/>
          <p:nvPr/>
        </p:nvSpPr>
        <p:spPr>
          <a:xfrm>
            <a:off x="5486400" y="4946904"/>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0.24%</a:t>
            </a:r>
          </a:p>
        </p:txBody>
      </p:sp>
      <p:sp>
        <p:nvSpPr>
          <p:cNvPr id="34" name="TextBox 33"/>
          <p:cNvSpPr txBox="1"/>
          <p:nvPr/>
        </p:nvSpPr>
        <p:spPr>
          <a:xfrm>
            <a:off x="566928" y="5239512"/>
            <a:ext cx="340156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Sans"/>
              </a:rPr>
              <a:t>Invalid memorization control</a:t>
            </a:r>
          </a:p>
        </p:txBody>
      </p:sp>
      <p:sp>
        <p:nvSpPr>
          <p:cNvPr id="35" name="TextBox 34"/>
          <p:cNvSpPr txBox="1"/>
          <p:nvPr/>
        </p:nvSpPr>
        <p:spPr>
          <a:xfrm>
            <a:off x="3749039" y="5239512"/>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100.00%</a:t>
            </a:r>
          </a:p>
        </p:txBody>
      </p:sp>
      <p:sp>
        <p:nvSpPr>
          <p:cNvPr id="36" name="TextBox 35"/>
          <p:cNvSpPr txBox="1"/>
          <p:nvPr/>
        </p:nvSpPr>
        <p:spPr>
          <a:xfrm>
            <a:off x="5486400" y="5239512"/>
            <a:ext cx="1618488" cy="265176"/>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F1EFE7"/>
                </a:solidFill>
                <a:latin typeface="IBM Plex Mono"/>
              </a:rPr>
              <a:t>100.00%</a:t>
            </a:r>
          </a:p>
        </p:txBody>
      </p:sp>
      <p:cxnSp>
        <p:nvCxnSpPr>
          <p:cNvPr id="37" name="Connector 36"/>
          <p:cNvCxnSpPr/>
          <p:nvPr/>
        </p:nvCxnSpPr>
        <p:spPr>
          <a:xfrm>
            <a:off x="7589520" y="2240280"/>
            <a:ext cx="0" cy="333756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7946136" y="2267712"/>
            <a:ext cx="3657600" cy="365760"/>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DEB577"/>
                </a:solidFill>
                <a:latin typeface="IBM Plex Mono"/>
              </a:rPr>
              <a:t>REAL-COHORT DIAGNOSTIC</a:t>
            </a:r>
          </a:p>
        </p:txBody>
      </p:sp>
      <p:sp>
        <p:nvSpPr>
          <p:cNvPr id="39" name="TextBox 38"/>
          <p:cNvSpPr txBox="1"/>
          <p:nvPr/>
        </p:nvSpPr>
        <p:spPr>
          <a:xfrm>
            <a:off x="7927848" y="2889504"/>
            <a:ext cx="3703320" cy="457200"/>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A6C9B8"/>
                </a:solidFill>
                <a:latin typeface="IBM Plex Sans"/>
              </a:rPr>
              <a:t>19,000 → 512 → 128</a:t>
            </a:r>
          </a:p>
        </p:txBody>
      </p:sp>
      <p:sp>
        <p:nvSpPr>
          <p:cNvPr id="40" name="TextBox 39"/>
          <p:cNvSpPr txBox="1"/>
          <p:nvPr/>
        </p:nvSpPr>
        <p:spPr>
          <a:xfrm>
            <a:off x="7936992" y="3511296"/>
            <a:ext cx="3694176" cy="768096"/>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F1EFE7"/>
                </a:solidFill>
                <a:latin typeface="IBM Plex Sans"/>
              </a:rPr>
              <a:t>Masked expression encoder</a:t>
            </a:r>
          </a:p>
          <a:p>
            <a:pPr algn="l">
              <a:lnSpc>
                <a:spcPct val="108000"/>
              </a:lnSpc>
              <a:spcBef>
                <a:spcPts val="0"/>
              </a:spcBef>
              <a:spcAft>
                <a:spcPts val="0"/>
              </a:spcAft>
            </a:pPr>
            <a:r>
              <a:rPr sz="2000" b="0">
                <a:solidFill>
                  <a:srgbClr val="F1EFE7"/>
                </a:solidFill>
                <a:latin typeface="IBM Plex Sans"/>
              </a:rPr>
              <a:t>trained on separate donors</a:t>
            </a:r>
          </a:p>
        </p:txBody>
      </p:sp>
      <p:sp>
        <p:nvSpPr>
          <p:cNvPr id="41" name="TextBox 40"/>
          <p:cNvSpPr txBox="1"/>
          <p:nvPr/>
        </p:nvSpPr>
        <p:spPr>
          <a:xfrm>
            <a:off x="7936992" y="4572000"/>
            <a:ext cx="3675887" cy="859536"/>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30 held-out pairs · observational cohort</a:t>
            </a:r>
          </a:p>
          <a:p>
            <a:pPr algn="l">
              <a:lnSpc>
                <a:spcPct val="108000"/>
              </a:lnSpc>
              <a:spcBef>
                <a:spcPts val="0"/>
              </a:spcBef>
              <a:spcAft>
                <a:spcPts val="0"/>
              </a:spcAft>
            </a:pPr>
            <a:r>
              <a:rPr sz="1500" b="0">
                <a:solidFill>
                  <a:srgbClr val="AFB9B2"/>
                </a:solidFill>
                <a:latin typeface="IBM Plex Sans"/>
              </a:rPr>
              <a:t>Learned final e-value 3,652.81</a:t>
            </a:r>
          </a:p>
          <a:p>
            <a:pPr algn="l">
              <a:lnSpc>
                <a:spcPct val="108000"/>
              </a:lnSpc>
              <a:spcBef>
                <a:spcPts val="0"/>
              </a:spcBef>
              <a:spcAft>
                <a:spcPts val="0"/>
              </a:spcAft>
            </a:pPr>
            <a:r>
              <a:rPr sz="1500" b="0">
                <a:solidFill>
                  <a:srgbClr val="AFB9B2"/>
                </a:solidFill>
                <a:latin typeface="IBM Plex Sans"/>
              </a:rPr>
              <a:t>PCA 85.76 · single gene 5,964.41</a:t>
            </a:r>
          </a:p>
        </p:txBody>
      </p:sp>
      <p:sp>
        <p:nvSpPr>
          <p:cNvPr id="42" name="TextBox 41"/>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 Fixed-horizon comparators. No universal winner; lower null crossing does not establish greater power. Real cohort is COVID, not PDAC.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DEPLOYMENT &amp; ECONOMICS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15</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The pilot has explicit deployment gates.</a:t>
            </a:r>
          </a:p>
        </p:txBody>
      </p:sp>
      <p:cxnSp>
        <p:nvCxnSpPr>
          <p:cNvPr id="9" name="Connector 8"/>
          <p:cNvCxnSpPr/>
          <p:nvPr/>
        </p:nvCxnSpPr>
        <p:spPr>
          <a:xfrm>
            <a:off x="557784" y="2258568"/>
            <a:ext cx="11073384"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57784" y="2459736"/>
            <a:ext cx="2258568" cy="329184"/>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A6C9B8"/>
                </a:solidFill>
                <a:latin typeface="IBM Plex Mono"/>
              </a:rPr>
              <a:t>COST</a:t>
            </a:r>
          </a:p>
        </p:txBody>
      </p:sp>
      <p:sp>
        <p:nvSpPr>
          <p:cNvPr id="11" name="TextBox 10"/>
          <p:cNvSpPr txBox="1"/>
          <p:nvPr/>
        </p:nvSpPr>
        <p:spPr>
          <a:xfrm>
            <a:off x="2807208" y="2395728"/>
            <a:ext cx="8769096" cy="594360"/>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F1EFE7"/>
                </a:solidFill>
                <a:latin typeface="IBM Plex Sans"/>
              </a:rPr>
              <a:t>Meter model calls, compute, storage and scientist review.</a:t>
            </a:r>
          </a:p>
          <a:p>
            <a:pPr algn="l">
              <a:lnSpc>
                <a:spcPct val="108000"/>
              </a:lnSpc>
              <a:spcBef>
                <a:spcPts val="0"/>
              </a:spcBef>
              <a:spcAft>
                <a:spcPts val="0"/>
              </a:spcAft>
            </a:pPr>
            <a:r>
              <a:rPr sz="1800" b="0">
                <a:solidFill>
                  <a:srgbClr val="F1EFE7"/>
                </a:solidFill>
                <a:latin typeface="IBM Plex Sans"/>
              </a:rPr>
              <a:t>Cost per reviewed candidate = total pilot cost / reviewed candidates.</a:t>
            </a:r>
          </a:p>
        </p:txBody>
      </p:sp>
      <p:cxnSp>
        <p:nvCxnSpPr>
          <p:cNvPr id="12" name="Connector 11"/>
          <p:cNvCxnSpPr/>
          <p:nvPr/>
        </p:nvCxnSpPr>
        <p:spPr>
          <a:xfrm>
            <a:off x="557784" y="3063240"/>
            <a:ext cx="11073384"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57784" y="3264408"/>
            <a:ext cx="2258568" cy="329184"/>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A6C9B8"/>
                </a:solidFill>
                <a:latin typeface="IBM Plex Mono"/>
              </a:rPr>
              <a:t>SECURITY</a:t>
            </a:r>
          </a:p>
        </p:txBody>
      </p:sp>
      <p:sp>
        <p:nvSpPr>
          <p:cNvPr id="14" name="TextBox 13"/>
          <p:cNvSpPr txBox="1"/>
          <p:nvPr/>
        </p:nvSpPr>
        <p:spPr>
          <a:xfrm>
            <a:off x="2807208" y="3200400"/>
            <a:ext cx="8769096" cy="594360"/>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F1EFE7"/>
                </a:solidFill>
                <a:latin typeface="IBM Plex Sans"/>
              </a:rPr>
              <a:t>Authenticate research access; isolate experiment workers; scope credentials.</a:t>
            </a:r>
          </a:p>
          <a:p>
            <a:pPr algn="l">
              <a:lnSpc>
                <a:spcPct val="108000"/>
              </a:lnSpc>
              <a:spcBef>
                <a:spcPts val="0"/>
              </a:spcBef>
              <a:spcAft>
                <a:spcPts val="0"/>
              </a:spcAft>
            </a:pPr>
            <a:r>
              <a:rPr sz="1800" b="0">
                <a:solidFill>
                  <a:srgbClr val="F1EFE7"/>
                </a:solidFill>
                <a:latin typeface="IBM Plex Sans"/>
              </a:rPr>
              <a:t>Current localhost API and execution migration are not production-ready.</a:t>
            </a:r>
          </a:p>
        </p:txBody>
      </p:sp>
      <p:cxnSp>
        <p:nvCxnSpPr>
          <p:cNvPr id="15" name="Connector 14"/>
          <p:cNvCxnSpPr/>
          <p:nvPr/>
        </p:nvCxnSpPr>
        <p:spPr>
          <a:xfrm>
            <a:off x="557784" y="3867912"/>
            <a:ext cx="11073384"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57784" y="4069080"/>
            <a:ext cx="2258568" cy="329184"/>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A6C9B8"/>
                </a:solidFill>
                <a:latin typeface="IBM Plex Mono"/>
              </a:rPr>
              <a:t>INTEGRATION</a:t>
            </a:r>
          </a:p>
        </p:txBody>
      </p:sp>
      <p:sp>
        <p:nvSpPr>
          <p:cNvPr id="17" name="TextBox 16"/>
          <p:cNvSpPr txBox="1"/>
          <p:nvPr/>
        </p:nvSpPr>
        <p:spPr>
          <a:xfrm>
            <a:off x="2807208" y="4005072"/>
            <a:ext cx="8769096" cy="594360"/>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F1EFE7"/>
                </a:solidFill>
                <a:latin typeface="IBM Plex Sans"/>
              </a:rPr>
              <a:t>Keep corpus, source links, code and artifacts portable.</a:t>
            </a:r>
          </a:p>
          <a:p>
            <a:pPr algn="l">
              <a:lnSpc>
                <a:spcPct val="108000"/>
              </a:lnSpc>
              <a:spcBef>
                <a:spcPts val="0"/>
              </a:spcBef>
              <a:spcAft>
                <a:spcPts val="0"/>
              </a:spcAft>
            </a:pPr>
            <a:r>
              <a:rPr sz="1800" b="0">
                <a:solidFill>
                  <a:srgbClr val="F1EFE7"/>
                </a:solidFill>
                <a:latin typeface="IBM Plex Sans"/>
              </a:rPr>
              <a:t>Separate persistent workers and data from application releases.</a:t>
            </a:r>
          </a:p>
        </p:txBody>
      </p:sp>
      <p:cxnSp>
        <p:nvCxnSpPr>
          <p:cNvPr id="18" name="Connector 17"/>
          <p:cNvCxnSpPr/>
          <p:nvPr/>
        </p:nvCxnSpPr>
        <p:spPr>
          <a:xfrm>
            <a:off x="557784" y="4672584"/>
            <a:ext cx="11073384"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57784" y="4873752"/>
            <a:ext cx="2258568" cy="329184"/>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A6C9B8"/>
                </a:solidFill>
                <a:latin typeface="IBM Plex Mono"/>
              </a:rPr>
              <a:t>ADOPTION &amp; USE</a:t>
            </a:r>
          </a:p>
        </p:txBody>
      </p:sp>
      <p:sp>
        <p:nvSpPr>
          <p:cNvPr id="20" name="TextBox 19"/>
          <p:cNvSpPr txBox="1"/>
          <p:nvPr/>
        </p:nvSpPr>
        <p:spPr>
          <a:xfrm>
            <a:off x="2807208" y="4809744"/>
            <a:ext cx="8769096" cy="594360"/>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F1EFE7"/>
                </a:solidFill>
                <a:latin typeface="IBM Plex Sans"/>
              </a:rPr>
              <a:t>Begin with nonclinical research decisions and public/licensed data.</a:t>
            </a:r>
          </a:p>
          <a:p>
            <a:pPr algn="l">
              <a:lnSpc>
                <a:spcPct val="108000"/>
              </a:lnSpc>
              <a:spcBef>
                <a:spcPts val="0"/>
              </a:spcBef>
              <a:spcAft>
                <a:spcPts val="0"/>
              </a:spcAft>
            </a:pPr>
            <a:r>
              <a:rPr sz="1800" b="0">
                <a:solidFill>
                  <a:srgbClr val="F1EFE7"/>
                </a:solidFill>
                <a:latin typeface="IBM Plex Sans"/>
              </a:rPr>
              <a:t>Private datasets and clinical use require separate data, legal and regulatory review.</a:t>
            </a:r>
          </a:p>
        </p:txBody>
      </p:sp>
      <p:sp>
        <p:nvSpPr>
          <p:cNvPr id="21" name="TextBox 20"/>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Proposed gates. Price, gross margin and production compliance have not been measured or established.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ORIGINALITY &amp; PRIOR ART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16</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The bar is a useful, inspectable research system.</a:t>
            </a:r>
          </a:p>
        </p:txBody>
      </p:sp>
      <p:cxnSp>
        <p:nvCxnSpPr>
          <p:cNvPr id="9" name="Connector 8"/>
          <p:cNvCxnSpPr/>
          <p:nvPr/>
        </p:nvCxnSpPr>
        <p:spPr>
          <a:xfrm>
            <a:off x="548640" y="2313432"/>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8640" y="2478024"/>
            <a:ext cx="2990088" cy="795528"/>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F1EFE7"/>
                </a:solidFill>
                <a:latin typeface="IBM Plex Sans"/>
              </a:rPr>
              <a:t>Google DeepMind</a:t>
            </a:r>
          </a:p>
          <a:p>
            <a:pPr algn="l">
              <a:lnSpc>
                <a:spcPct val="108000"/>
              </a:lnSpc>
              <a:spcBef>
                <a:spcPts val="0"/>
              </a:spcBef>
              <a:spcAft>
                <a:spcPts val="0"/>
              </a:spcAft>
            </a:pPr>
            <a:r>
              <a:rPr sz="2200" b="1">
                <a:solidFill>
                  <a:srgbClr val="F1EFE7"/>
                </a:solidFill>
                <a:latin typeface="IBM Plex Sans"/>
              </a:rPr>
              <a:t>Co-scientist</a:t>
            </a:r>
          </a:p>
        </p:txBody>
      </p:sp>
      <p:sp>
        <p:nvSpPr>
          <p:cNvPr id="11" name="TextBox 10"/>
          <p:cNvSpPr txBox="1"/>
          <p:nvPr/>
        </p:nvSpPr>
        <p:spPr>
          <a:xfrm>
            <a:off x="3758184" y="2496312"/>
            <a:ext cx="3950208" cy="786384"/>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Multi-agent hypothesis generation,</a:t>
            </a:r>
          </a:p>
          <a:p>
            <a:pPr algn="l">
              <a:lnSpc>
                <a:spcPct val="108000"/>
              </a:lnSpc>
              <a:spcBef>
                <a:spcPts val="0"/>
              </a:spcBef>
              <a:spcAft>
                <a:spcPts val="0"/>
              </a:spcAft>
            </a:pPr>
            <a:r>
              <a:rPr sz="1900" b="0">
                <a:solidFill>
                  <a:srgbClr val="F1EFE7"/>
                </a:solidFill>
                <a:latin typeface="IBM Plex Sans"/>
              </a:rPr>
              <a:t>tools and scientist-led validation.</a:t>
            </a:r>
          </a:p>
        </p:txBody>
      </p:sp>
      <p:sp>
        <p:nvSpPr>
          <p:cNvPr id="12" name="TextBox 11"/>
          <p:cNvSpPr txBox="1"/>
          <p:nvPr/>
        </p:nvSpPr>
        <p:spPr>
          <a:xfrm>
            <a:off x="8138160" y="2505456"/>
            <a:ext cx="3511296" cy="82296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Strong evidence that multi-agent</a:t>
            </a:r>
          </a:p>
          <a:p>
            <a:pPr algn="l">
              <a:lnSpc>
                <a:spcPct val="108000"/>
              </a:lnSpc>
              <a:spcBef>
                <a:spcPts val="0"/>
              </a:spcBef>
              <a:spcAft>
                <a:spcPts val="0"/>
              </a:spcAft>
            </a:pPr>
            <a:r>
              <a:rPr sz="1700" b="0">
                <a:solidFill>
                  <a:srgbClr val="AFB9B2"/>
                </a:solidFill>
                <a:latin typeface="IBM Plex Sans"/>
              </a:rPr>
              <a:t>research is already a serious field.</a:t>
            </a:r>
          </a:p>
        </p:txBody>
      </p:sp>
      <p:cxnSp>
        <p:nvCxnSpPr>
          <p:cNvPr id="13" name="Connector 12"/>
          <p:cNvCxnSpPr/>
          <p:nvPr/>
        </p:nvCxnSpPr>
        <p:spPr>
          <a:xfrm>
            <a:off x="548640" y="3346703"/>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48640" y="3511296"/>
            <a:ext cx="2990088" cy="795528"/>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F1EFE7"/>
                </a:solidFill>
                <a:latin typeface="IBM Plex Sans"/>
              </a:rPr>
              <a:t>Elicit</a:t>
            </a:r>
          </a:p>
          <a:p>
            <a:pPr algn="l">
              <a:lnSpc>
                <a:spcPct val="108000"/>
              </a:lnSpc>
              <a:spcBef>
                <a:spcPts val="0"/>
              </a:spcBef>
              <a:spcAft>
                <a:spcPts val="0"/>
              </a:spcAft>
            </a:pPr>
            <a:r>
              <a:rPr sz="2200" b="1">
                <a:solidFill>
                  <a:srgbClr val="F1EFE7"/>
                </a:solidFill>
                <a:latin typeface="IBM Plex Sans"/>
              </a:rPr>
              <a:t>Research Agent</a:t>
            </a:r>
          </a:p>
        </p:txBody>
      </p:sp>
      <p:sp>
        <p:nvSpPr>
          <p:cNvPr id="15" name="TextBox 14"/>
          <p:cNvSpPr txBox="1"/>
          <p:nvPr/>
        </p:nvSpPr>
        <p:spPr>
          <a:xfrm>
            <a:off x="3758184" y="3529584"/>
            <a:ext cx="3950208" cy="786384"/>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Research workflows, bioinformatics</a:t>
            </a:r>
          </a:p>
          <a:p>
            <a:pPr algn="l">
              <a:lnSpc>
                <a:spcPct val="108000"/>
              </a:lnSpc>
              <a:spcBef>
                <a:spcPts val="0"/>
              </a:spcBef>
              <a:spcAft>
                <a:spcPts val="0"/>
              </a:spcAft>
            </a:pPr>
            <a:r>
              <a:rPr sz="1900" b="0">
                <a:solidFill>
                  <a:srgbClr val="F1EFE7"/>
                </a:solidFill>
                <a:latin typeface="IBM Plex Sans"/>
              </a:rPr>
              <a:t>analysis and source-linked outputs.</a:t>
            </a:r>
          </a:p>
        </p:txBody>
      </p:sp>
      <p:sp>
        <p:nvSpPr>
          <p:cNvPr id="16" name="TextBox 15"/>
          <p:cNvSpPr txBox="1"/>
          <p:nvPr/>
        </p:nvSpPr>
        <p:spPr>
          <a:xfrm>
            <a:off x="8138160" y="3538727"/>
            <a:ext cx="3511296" cy="82296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Paper summarization alone</a:t>
            </a:r>
          </a:p>
          <a:p>
            <a:pPr algn="l">
              <a:lnSpc>
                <a:spcPct val="108000"/>
              </a:lnSpc>
              <a:spcBef>
                <a:spcPts val="0"/>
              </a:spcBef>
              <a:spcAft>
                <a:spcPts val="0"/>
              </a:spcAft>
            </a:pPr>
            <a:r>
              <a:rPr sz="1700" b="0">
                <a:solidFill>
                  <a:srgbClr val="AFB9B2"/>
                </a:solidFill>
                <a:latin typeface="IBM Plex Sans"/>
              </a:rPr>
              <a:t>is not a credible distinction.</a:t>
            </a:r>
          </a:p>
        </p:txBody>
      </p:sp>
      <p:cxnSp>
        <p:nvCxnSpPr>
          <p:cNvPr id="17" name="Connector 16"/>
          <p:cNvCxnSpPr/>
          <p:nvPr/>
        </p:nvCxnSpPr>
        <p:spPr>
          <a:xfrm>
            <a:off x="548640" y="4379975"/>
            <a:ext cx="11091672" cy="0"/>
          </a:xfrm>
          <a:prstGeom prst="line">
            <a:avLst/>
          </a:prstGeom>
          <a:ln w="1270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548640" y="4544567"/>
            <a:ext cx="2990088" cy="795528"/>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Our focus</a:t>
            </a:r>
          </a:p>
        </p:txBody>
      </p:sp>
      <p:sp>
        <p:nvSpPr>
          <p:cNvPr id="19" name="TextBox 18"/>
          <p:cNvSpPr txBox="1"/>
          <p:nvPr/>
        </p:nvSpPr>
        <p:spPr>
          <a:xfrm>
            <a:off x="3758184" y="4562855"/>
            <a:ext cx="3950208" cy="786384"/>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Grounded claim relationships →</a:t>
            </a:r>
          </a:p>
          <a:p>
            <a:pPr algn="l">
              <a:lnSpc>
                <a:spcPct val="108000"/>
              </a:lnSpc>
              <a:spcBef>
                <a:spcPts val="0"/>
              </a:spcBef>
              <a:spcAft>
                <a:spcPts val="0"/>
              </a:spcAft>
            </a:pPr>
            <a:r>
              <a:rPr sz="1900" b="0">
                <a:solidFill>
                  <a:srgbClr val="F1EFE7"/>
                </a:solidFill>
                <a:latin typeface="IBM Plex Sans"/>
              </a:rPr>
              <a:t>recursive executable investigations.</a:t>
            </a:r>
          </a:p>
        </p:txBody>
      </p:sp>
      <p:sp>
        <p:nvSpPr>
          <p:cNvPr id="20" name="TextBox 19"/>
          <p:cNvSpPr txBox="1"/>
          <p:nvPr/>
        </p:nvSpPr>
        <p:spPr>
          <a:xfrm>
            <a:off x="8138160" y="4571999"/>
            <a:ext cx="3511296" cy="82296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Show exact provenance, decisions,</a:t>
            </a:r>
          </a:p>
          <a:p>
            <a:pPr algn="l">
              <a:lnSpc>
                <a:spcPct val="108000"/>
              </a:lnSpc>
              <a:spcBef>
                <a:spcPts val="0"/>
              </a:spcBef>
              <a:spcAft>
                <a:spcPts val="0"/>
              </a:spcAft>
            </a:pPr>
            <a:r>
              <a:rPr sz="1700" b="0">
                <a:solidFill>
                  <a:srgbClr val="AFB9B2"/>
                </a:solidFill>
                <a:latin typeface="IBM Plex Sans"/>
              </a:rPr>
              <a:t>results and failure feedback.</a:t>
            </a:r>
          </a:p>
        </p:txBody>
      </p:sp>
      <p:sp>
        <p:nvSpPr>
          <p:cNvPr id="21" name="TextBox 20"/>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Official product descriptions, accessed 6 September 2026. Differentiation is a design focus; comparative superiority is unproven.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NEXT EVALUATION</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17</a:t>
            </a:r>
          </a:p>
        </p:txBody>
      </p:sp>
      <p:sp>
        <p:nvSpPr>
          <p:cNvPr id="8" name="TextBox 7"/>
          <p:cNvSpPr txBox="1"/>
          <p:nvPr/>
        </p:nvSpPr>
        <p:spPr>
          <a:xfrm>
            <a:off x="502920" y="932688"/>
            <a:ext cx="10972800" cy="1207008"/>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F1EFE7"/>
                </a:solidFill>
                <a:latin typeface="IBM Plex Sans"/>
              </a:rPr>
              <a:t>The next result should be hard to fool.</a:t>
            </a:r>
          </a:p>
        </p:txBody>
      </p:sp>
      <p:cxnSp>
        <p:nvCxnSpPr>
          <p:cNvPr id="9" name="Connector 8"/>
          <p:cNvCxnSpPr/>
          <p:nvPr/>
        </p:nvCxnSpPr>
        <p:spPr>
          <a:xfrm>
            <a:off x="539496" y="2295144"/>
            <a:ext cx="3392424" cy="0"/>
          </a:xfrm>
          <a:prstGeom prst="line">
            <a:avLst/>
          </a:prstGeom>
          <a:ln w="2032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39496" y="2459736"/>
            <a:ext cx="3392424"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6C9B8"/>
                </a:solidFill>
                <a:latin typeface="IBM Plex Mono"/>
              </a:rPr>
              <a:t>01 / FIX THE TASK</a:t>
            </a:r>
          </a:p>
        </p:txBody>
      </p:sp>
      <p:sp>
        <p:nvSpPr>
          <p:cNvPr id="11" name="TextBox 10"/>
          <p:cNvSpPr txBox="1"/>
          <p:nvPr/>
        </p:nvSpPr>
        <p:spPr>
          <a:xfrm>
            <a:off x="539496" y="2953511"/>
            <a:ext cx="3392424"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Freeze the</a:t>
            </a:r>
          </a:p>
          <a:p>
            <a:pPr algn="l">
              <a:lnSpc>
                <a:spcPct val="108000"/>
              </a:lnSpc>
              <a:spcBef>
                <a:spcPts val="0"/>
              </a:spcBef>
              <a:spcAft>
                <a:spcPts val="0"/>
              </a:spcAft>
            </a:pPr>
            <a:r>
              <a:rPr sz="2700" b="1">
                <a:solidFill>
                  <a:srgbClr val="F1EFE7"/>
                </a:solidFill>
                <a:latin typeface="IBM Plex Sans"/>
              </a:rPr>
              <a:t>starting point</a:t>
            </a:r>
          </a:p>
        </p:txBody>
      </p:sp>
      <p:sp>
        <p:nvSpPr>
          <p:cNvPr id="12" name="TextBox 11"/>
          <p:cNvSpPr txBox="1"/>
          <p:nvPr/>
        </p:nvSpPr>
        <p:spPr>
          <a:xfrm>
            <a:off x="539496" y="4014215"/>
            <a:ext cx="3392424"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Version the corpus and data.</a:t>
            </a:r>
          </a:p>
          <a:p>
            <a:pPr algn="l">
              <a:lnSpc>
                <a:spcPct val="108000"/>
              </a:lnSpc>
              <a:spcBef>
                <a:spcPts val="0"/>
              </a:spcBef>
              <a:spcAft>
                <a:spcPts val="0"/>
              </a:spcAft>
            </a:pPr>
            <a:r>
              <a:rPr sz="1900" b="0">
                <a:solidFill>
                  <a:srgbClr val="AFB9B2"/>
                </a:solidFill>
                <a:latin typeface="IBM Plex Sans"/>
              </a:rPr>
              <a:t>Choose tasks before runs.</a:t>
            </a:r>
          </a:p>
          <a:p>
            <a:pPr algn="l">
              <a:lnSpc>
                <a:spcPct val="108000"/>
              </a:lnSpc>
              <a:spcBef>
                <a:spcPts val="0"/>
              </a:spcBef>
              <a:spcAft>
                <a:spcPts val="0"/>
              </a:spcAft>
            </a:pPr>
            <a:r>
              <a:rPr sz="1900" b="0">
                <a:solidFill>
                  <a:srgbClr val="AFB9B2"/>
                </a:solidFill>
                <a:latin typeface="IBM Plex Sans"/>
              </a:rPr>
              <a:t>Keep outcomes out of inputs.</a:t>
            </a:r>
          </a:p>
        </p:txBody>
      </p:sp>
      <p:cxnSp>
        <p:nvCxnSpPr>
          <p:cNvPr id="13" name="Connector 12"/>
          <p:cNvCxnSpPr/>
          <p:nvPr/>
        </p:nvCxnSpPr>
        <p:spPr>
          <a:xfrm>
            <a:off x="4361688" y="2295144"/>
            <a:ext cx="3392424" cy="0"/>
          </a:xfrm>
          <a:prstGeom prst="line">
            <a:avLst/>
          </a:prstGeom>
          <a:ln w="2032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4361688" y="2459736"/>
            <a:ext cx="3392424"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6C9B8"/>
                </a:solidFill>
                <a:latin typeface="IBM Plex Mono"/>
              </a:rPr>
              <a:t>02 / MATCH THE BUDGET</a:t>
            </a:r>
          </a:p>
        </p:txBody>
      </p:sp>
      <p:sp>
        <p:nvSpPr>
          <p:cNvPr id="15" name="TextBox 14"/>
          <p:cNvSpPr txBox="1"/>
          <p:nvPr/>
        </p:nvSpPr>
        <p:spPr>
          <a:xfrm>
            <a:off x="4361688" y="2953511"/>
            <a:ext cx="3392424"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Compare real</a:t>
            </a:r>
          </a:p>
          <a:p>
            <a:pPr algn="l">
              <a:lnSpc>
                <a:spcPct val="108000"/>
              </a:lnSpc>
              <a:spcBef>
                <a:spcPts val="0"/>
              </a:spcBef>
              <a:spcAft>
                <a:spcPts val="0"/>
              </a:spcAft>
            </a:pPr>
            <a:r>
              <a:rPr sz="2700" b="1">
                <a:solidFill>
                  <a:srgbClr val="F1EFE7"/>
                </a:solidFill>
                <a:latin typeface="IBM Plex Sans"/>
              </a:rPr>
              <a:t>alternatives</a:t>
            </a:r>
          </a:p>
        </p:txBody>
      </p:sp>
      <p:sp>
        <p:nvSpPr>
          <p:cNvPr id="16" name="TextBox 15"/>
          <p:cNvSpPr txBox="1"/>
          <p:nvPr/>
        </p:nvSpPr>
        <p:spPr>
          <a:xfrm>
            <a:off x="4361688" y="4014215"/>
            <a:ext cx="3392424"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Single-agent baseline.</a:t>
            </a:r>
          </a:p>
          <a:p>
            <a:pPr algn="l">
              <a:lnSpc>
                <a:spcPct val="108000"/>
              </a:lnSpc>
              <a:spcBef>
                <a:spcPts val="0"/>
              </a:spcBef>
              <a:spcAft>
                <a:spcPts val="0"/>
              </a:spcAft>
            </a:pPr>
            <a:r>
              <a:rPr sz="1900" b="0">
                <a:solidFill>
                  <a:srgbClr val="AFB9B2"/>
                </a:solidFill>
                <a:latin typeface="IBM Plex Sans"/>
              </a:rPr>
              <a:t>Flat parallel research.</a:t>
            </a:r>
          </a:p>
          <a:p>
            <a:pPr algn="l">
              <a:lnSpc>
                <a:spcPct val="108000"/>
              </a:lnSpc>
              <a:spcBef>
                <a:spcPts val="0"/>
              </a:spcBef>
              <a:spcAft>
                <a:spcPts val="0"/>
              </a:spcAft>
            </a:pPr>
            <a:r>
              <a:rPr sz="1900" b="0">
                <a:solidFill>
                  <a:srgbClr val="AFB9B2"/>
                </a:solidFill>
                <a:latin typeface="IBM Plex Sans"/>
              </a:rPr>
              <a:t>Our recursive controller.</a:t>
            </a:r>
          </a:p>
        </p:txBody>
      </p:sp>
      <p:cxnSp>
        <p:nvCxnSpPr>
          <p:cNvPr id="17" name="Connector 16"/>
          <p:cNvCxnSpPr/>
          <p:nvPr/>
        </p:nvCxnSpPr>
        <p:spPr>
          <a:xfrm>
            <a:off x="8193024" y="2295144"/>
            <a:ext cx="3456432" cy="0"/>
          </a:xfrm>
          <a:prstGeom prst="line">
            <a:avLst/>
          </a:prstGeom>
          <a:ln w="2032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8193024" y="2459736"/>
            <a:ext cx="3456432" cy="3657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DEB577"/>
                </a:solidFill>
                <a:latin typeface="IBM Plex Mono"/>
              </a:rPr>
              <a:t>03 / AUDIT THE OUTPUT</a:t>
            </a:r>
          </a:p>
        </p:txBody>
      </p:sp>
      <p:sp>
        <p:nvSpPr>
          <p:cNvPr id="19" name="TextBox 18"/>
          <p:cNvSpPr txBox="1"/>
          <p:nvPr/>
        </p:nvSpPr>
        <p:spPr>
          <a:xfrm>
            <a:off x="8193024" y="2953511"/>
            <a:ext cx="3456432"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Count useful,</a:t>
            </a:r>
          </a:p>
          <a:p>
            <a:pPr algn="l">
              <a:lnSpc>
                <a:spcPct val="108000"/>
              </a:lnSpc>
              <a:spcBef>
                <a:spcPts val="0"/>
              </a:spcBef>
              <a:spcAft>
                <a:spcPts val="0"/>
              </a:spcAft>
            </a:pPr>
            <a:r>
              <a:rPr sz="2700" b="1">
                <a:solidFill>
                  <a:srgbClr val="F1EFE7"/>
                </a:solidFill>
                <a:latin typeface="IBM Plex Sans"/>
              </a:rPr>
              <a:t>reproduced work</a:t>
            </a:r>
          </a:p>
        </p:txBody>
      </p:sp>
      <p:sp>
        <p:nvSpPr>
          <p:cNvPr id="20" name="TextBox 19"/>
          <p:cNvSpPr txBox="1"/>
          <p:nvPr/>
        </p:nvSpPr>
        <p:spPr>
          <a:xfrm>
            <a:off x="8193024" y="4014215"/>
            <a:ext cx="3456432"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Expert usefulness ratings.</a:t>
            </a:r>
          </a:p>
          <a:p>
            <a:pPr algn="l">
              <a:lnSpc>
                <a:spcPct val="108000"/>
              </a:lnSpc>
              <a:spcBef>
                <a:spcPts val="0"/>
              </a:spcBef>
              <a:spcAft>
                <a:spcPts val="0"/>
              </a:spcAft>
            </a:pPr>
            <a:r>
              <a:rPr sz="1900" b="0">
                <a:solidFill>
                  <a:srgbClr val="AFB9B2"/>
                </a:solidFill>
                <a:latin typeface="IBM Plex Sans"/>
              </a:rPr>
              <a:t>Independent rerun success.</a:t>
            </a:r>
          </a:p>
          <a:p>
            <a:pPr algn="l">
              <a:lnSpc>
                <a:spcPct val="108000"/>
              </a:lnSpc>
              <a:spcBef>
                <a:spcPts val="0"/>
              </a:spcBef>
              <a:spcAft>
                <a:spcPts val="0"/>
              </a:spcAft>
            </a:pPr>
            <a:r>
              <a:rPr sz="1900" b="0">
                <a:solidFill>
                  <a:srgbClr val="AFB9B2"/>
                </a:solidFill>
                <a:latin typeface="IBM Plex Sans"/>
              </a:rPr>
              <a:t>Time and total cost.</a:t>
            </a:r>
          </a:p>
        </p:txBody>
      </p:sp>
      <p:sp>
        <p:nvSpPr>
          <p:cNvPr id="21" name="TextBox 20"/>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AFB9B2"/>
                </a:solidFill>
                <a:latin typeface="IBM Plex Sans"/>
              </a:rPr>
              <a:t>Proposed protocol; not run. Include failures and rejected branches. Model memory remains a concern in retrospective tasks.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BM Plex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DN Research — DNHacks 2026</dc:title>
  <dc:subject>Editable working pitch: scientific discovery, AI engineering and trustworthy evidence</dc:subject>
  <dc:creator>DNHacks team</dc:creator>
  <cp:keywords>DNHacks, DN Research, working draft, scientific discovery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