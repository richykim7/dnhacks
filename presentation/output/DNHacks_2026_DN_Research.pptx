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999" cy="6858000" type="screen4x3"/>
  <p:notesSz cx="6858000" cy="9144000"/>
  <p:custShowLst>
    <p:custShow name="Judge pitch · about five minutes" id="0">
      <p:sldLst>
        <p:sld r:id="rId7"/>
        <p:sld r:id="rId9"/>
        <p:sld r:id="rId10"/>
        <p:sld r:id="rId11"/>
        <p:sld r:id="rId12"/>
        <p:sld r:id="rId13"/>
        <p:sld r:id="rId14"/>
        <p:sld r:id="rId15"/>
        <p:sld r:id="rId16"/>
        <p:sld r:id="rId21"/>
        <p:sld r:id="rId22"/>
        <p:sld r:id="rId23"/>
      </p:sldLst>
    </p:custShow>
    <p:custShow name="Discovery reveal · enable only after verification" id="1">
      <p:sldLst>
        <p:sld r:id="rId7"/>
        <p:sld r:id="rId9"/>
        <p:sld r:id="rId10"/>
        <p:sld r:id="rId11"/>
        <p:sld r:id="rId12"/>
        <p:sld r:id="rId13"/>
        <p:sld r:id="rId14"/>
        <p:sld r:id="rId15"/>
        <p:sld r:id="rId16"/>
        <p:sld r:id="rId17"/>
        <p:sld r:id="rId18"/>
        <p:sld r:id="rId19"/>
        <p:sld r:id="rId20"/>
        <p:sld r:id="rId21"/>
        <p:sld r:id="rId22"/>
        <p:sld r:id="rId23"/>
      </p:sldLst>
    </p:custShow>
    <p:custShow name="Three-minute cut" id="2">
      <p:sldLst>
        <p:sld r:id="rId7"/>
        <p:sld r:id="rId9"/>
        <p:sld r:id="rId11"/>
        <p:sld r:id="rId13"/>
        <p:sld r:id="rId14"/>
        <p:sld r:id="rId16"/>
        <p:sld r:id="rId23"/>
      </p:sldLst>
    </p:custShow>
  </p:custShow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25 seconds</a:t>
            </a:r>
          </a:p>
          <a:p>
            <a:r>
              <a:t>Biology is an underappreciated source of future strategic power. Our thesis is that scientific lead time matters: understanding an emerging capability earlier gives scientists and institutions more time to prepare. DN Research is our working name for an engine that connects published evidence, proposes experiments and keeps the results inspectable.</a:t>
            </a:r>
          </a:p>
          <a:p/>
          <a:p>
            <a:r>
              <a:t>EVIDENCE / STATUS</a:t>
            </a:r>
          </a:p>
          <a:p>
            <a:r>
              <a:t>Strategic thesis and intended application. Current prototype is computational biological research; it does not demonstrate bioweapon prediction or operational threat prevention. Cover art is AI-generated conceptual imagery, not measured biology.</a:t>
            </a:r>
          </a:p>
          <a:p/>
          <a:p>
            <a:r>
              <a:t>BEFORE PRESENTING / NEXT EDIT</a:t>
            </a:r>
          </a:p>
          <a:p>
            <a:r>
              <a:t>Working name and entered category need final team confirmation. Use the Judge pitch custom show. This slide and the close are conceptual art; all scientific figures are sourced separately.</a:t>
            </a:r>
          </a:p>
          <a:p/>
          <a:p>
            <a:r>
              <a:t>JUDGING CRITERIA</a:t>
            </a:r>
          </a:p>
          <a:p>
            <a:r>
              <a:t>Problem &amp; Real-World Impact (25); Feasibility &amp; Deployment (25)</a:t>
            </a:r>
          </a:p>
          <a:p/>
          <a:p>
            <a:r>
              <a:t>SOURCES</a:t>
            </a:r>
          </a:p>
          <a:p>
            <a:r>
              <a:t>DTX Ventures · Vision: https://www.dtxventures.com/vision (accessed 2026-09-06)</a:t>
            </a:r>
          </a:p>
          <a:p>
            <a:r>
              <a:t>NSCEB final report, April 2025, §3.3: https://www.biotech.senate.gov/final-report/chapters/chapter-3/section-3/ (accessed 2026-09-06)</a:t>
            </a:r>
          </a:p>
          <a:p>
            <a:r>
              <a:t>Repository: ARCHITECTURE.md at fee316580ba27951c2ad6fea4bdd4a6b335421ed</a:t>
            </a:r>
          </a:p>
          <a:p>
            <a:r>
              <a:t>Repository: presentation/assets/v2/README.md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20 seconds</a:t>
            </a:r>
          </a:p>
          <a:p>
            <a:r>
              <a:t>The National Security Commission on Emerging Biotechnology put it directly: the United States tends to play catch-up after critical technologies have already become mainstream. That is a costly posture for biology. We need scientists and research systems that help us investigate what could become possible before it becomes obvious.</a:t>
            </a:r>
          </a:p>
          <a:p/>
          <a:p>
            <a:r>
              <a:t>EVIDENCE / STATUS</a:t>
            </a:r>
          </a:p>
          <a:p>
            <a:r>
              <a:t>Exact supplied quotation verified against the official NSCEB final report §1.3. The paragraph following the quote in this script is our strategic interpretation.</a:t>
            </a:r>
          </a:p>
          <a:p/>
          <a:p>
            <a:r>
              <a:t>BEFORE PRESENTING / NEXT EDIT</a:t>
            </a:r>
          </a:p>
          <a:p>
            <a:r>
              <a:t>Recheck against the final demo build; preserve evidence labels.</a:t>
            </a:r>
          </a:p>
          <a:p/>
          <a:p>
            <a:r>
              <a:t>JUDGING CRITERIA</a:t>
            </a:r>
          </a:p>
          <a:p>
            <a:r>
              <a:t>Problem &amp; Real-World Impact (25)</a:t>
            </a:r>
          </a:p>
          <a:p/>
          <a:p>
            <a:r>
              <a:t>SOURCES</a:t>
            </a:r>
          </a:p>
          <a:p>
            <a:r>
              <a:t>NSCEB final report, April 2025, §1.3: https://www.biotech.senate.gov/final-report/chapters/chapter-1/section-3/ (accessed 2026-09-06)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30 seconds</a:t>
            </a:r>
          </a:p>
          <a:p>
            <a:r>
              <a:t>Biology can create asymmetric power: one actor may acquire a consequential capability before others understand it or can prepare. Waiting until a novel bioweapon or other biological risk is demonstrated leaves less time to respond. Reactive measures remain essential, but they are insufficient as our only posture. Our ambition is to reduce that window of unilateral advantage through earlier scientific investigation.</a:t>
            </a:r>
          </a:p>
          <a:p/>
          <a:p>
            <a:r>
              <a:t>EVIDENCE / STATUS</a:t>
            </a:r>
          </a:p>
          <a:p>
            <a:r>
              <a:t>Team thesis, informed by NSCEB strategic-surprise and foresight discussion. DARPA P3 describes the delay in developing countermeasures after threat identification. The graphic is conceptual; no lead-time savings or threat forecasting accuracy has been measured.</a:t>
            </a:r>
          </a:p>
          <a:p/>
          <a:p>
            <a:r>
              <a:t>BEFORE PRESENTING / NEXT EDIT</a:t>
            </a:r>
          </a:p>
          <a:p>
            <a:r>
              <a:t>Recheck against the final demo build; preserve evidence labels.</a:t>
            </a:r>
          </a:p>
          <a:p/>
          <a:p>
            <a:r>
              <a:t>JUDGING CRITERIA</a:t>
            </a:r>
          </a:p>
          <a:p>
            <a:r>
              <a:t>Problem &amp; Real-World Impact (25); DTX audience relevance</a:t>
            </a:r>
          </a:p>
          <a:p/>
          <a:p>
            <a:r>
              <a:t>SOURCES</a:t>
            </a:r>
          </a:p>
          <a:p>
            <a:r>
              <a:t>NSCEB final report, April 2025, §3.3: https://www.biotech.senate.gov/final-report/chapters/chapter-3/section-3/ (accessed 2026-09-06)</a:t>
            </a:r>
          </a:p>
          <a:p>
            <a:r>
              <a:t>DARPA · Pandemic Prevention Platform: https://www.darpa.mil/research/programs/pandemic-prevention-platform (accessed 2026-09-06)</a:t>
            </a:r>
          </a:p>
          <a:p>
            <a:r>
              <a:t>DTX Ventures · Vision: https://www.dtxventures.com/vision (accessed 2026-09-06)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25 seconds</a:t>
            </a:r>
          </a:p>
          <a:p>
            <a:r>
              <a:t>There are useful connections waiting between existing findings. The hard part is deciding which connections deserve compute, what experiment can test them, and whether its output can be trusted. Our literature graph links claims from papers. Agents explore those links, run analyses with specialized tools and bring the evidence back for review. Pancreatic-cancer research is our initial proving ground.</a:t>
            </a:r>
          </a:p>
          <a:p/>
          <a:p>
            <a:r>
              <a:t>EVIDENCE / STATUS</a:t>
            </a:r>
          </a:p>
          <a:p>
            <a:r>
              <a:t>The graph motif is conceptual. The PDAC curation contains 100 papers; a curated corpus is not a completed extraction or discovery. An absent graph edge does not establish novelty.</a:t>
            </a:r>
          </a:p>
          <a:p/>
          <a:p>
            <a:r>
              <a:t>BEFORE PRESENTING / NEXT EDIT</a:t>
            </a:r>
          </a:p>
          <a:p>
            <a:r>
              <a:t>Recheck against the final demo build; preserve evidence labels.</a:t>
            </a:r>
          </a:p>
          <a:p/>
          <a:p>
            <a:r>
              <a:t>JUDGING CRITERIA</a:t>
            </a:r>
          </a:p>
          <a:p>
            <a:r>
              <a:t>Problem &amp; Real-World Impact (25); Novelty and Importance of AI (25)</a:t>
            </a:r>
          </a:p>
          <a:p/>
          <a:p>
            <a:r>
              <a:t>SOURCES</a:t>
            </a:r>
          </a:p>
          <a:p>
            <a:r>
              <a:t>Repository: ARCHITECTURE.md at fee316580ba27951c2ad6fea4bdd4a6b335421ed</a:t>
            </a:r>
          </a:p>
          <a:p>
            <a:r>
              <a:t>Repository: demo/pdac/README.md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25 seconds</a:t>
            </a:r>
          </a:p>
          <a:p>
            <a:r>
              <a:t>Our initial user is a computational biologist with limited experimental capacity. They need direction and an audit trail. That is why the workspace exposes the research tree, the evidence behind a branch and the history of the investigation. This capture is the actual interface populated with browser-test data; the persona is a design hypothesis we still need to validate with users.</a:t>
            </a:r>
          </a:p>
          <a:p/>
          <a:p>
            <a:r>
              <a:t>EVIDENCE / STATUS</a:t>
            </a:r>
          </a:p>
          <a:p>
            <a:r>
              <a:t>Actual React UI; synthetic fixture. Keyboard focus, reduced motion and light/dark themes implemented. Human review is a backend capability; frontend approval controls remain hidden at the audited snapshot.</a:t>
            </a:r>
          </a:p>
          <a:p/>
          <a:p>
            <a:r>
              <a:t>BEFORE PRESENTING / NEXT EDIT</a:t>
            </a:r>
          </a:p>
          <a:p>
            <a:r>
              <a:t>Recheck against the final demo build; preserve evidence labels.</a:t>
            </a:r>
          </a:p>
          <a:p/>
          <a:p>
            <a:r>
              <a:t>JUDGING CRITERIA</a:t>
            </a:r>
          </a:p>
          <a:p>
            <a:r>
              <a:t>Understanding of the User (30); User Experience &amp; Usability (40); Design Quality &amp; Craft (30)</a:t>
            </a:r>
          </a:p>
          <a:p/>
          <a:p>
            <a:r>
              <a:t>SOURCES</a:t>
            </a:r>
          </a:p>
          <a:p>
            <a:r>
              <a:t>Repository: frontend/DESIGN.md at fee316580ba27951c2ad6fea4bdd4a6b335421ed</a:t>
            </a:r>
          </a:p>
          <a:p>
            <a:r>
              <a:t>Repository: docs/frontend.md at fee316580ba27951c2ad6fea4bdd4a6b335421ed</a:t>
            </a:r>
          </a:p>
          <a:p>
            <a:r>
              <a:t>Repository: presentation/assets/README.md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35 seconds</a:t>
            </a:r>
          </a:p>
          <a:p>
            <a:r>
              <a:t>This is the full loop. Papers become source-linked claims. Research agents form questions and spawn alternative branches. They write analyses and call domain tools, then the system preserves outputs and screens reported results. A scientist can review the surviving evidence. The engineering goes beyond a chat interface: it includes recursive orchestration, budgets, durable execution, tool-specific data work and statistical components. Screen survival is not biological truth.</a:t>
            </a:r>
          </a:p>
          <a:p/>
          <a:p>
            <a:r>
              <a:t>EVIDENCE / STATUS</a:t>
            </a:r>
          </a:p>
          <a:p>
            <a:r>
              <a:t>Implemented architecture. Ordinary falsifier checks reported fields and flags; it does not independently rerun arbitrary code. Private evidence adapters and branch monitoring have different contracts and maturity. No qualifying end-to-end later-paper recovery is asserted.</a:t>
            </a:r>
          </a:p>
          <a:p/>
          <a:p>
            <a:r>
              <a:t>BEFORE PRESENTING / NEXT EDIT</a:t>
            </a:r>
          </a:p>
          <a:p>
            <a:r>
              <a:t>Recheck against the final demo build; preserve evidence labels.</a:t>
            </a:r>
          </a:p>
          <a:p/>
          <a:p>
            <a:r>
              <a:t>JUDGING CRITERIA</a:t>
            </a:r>
          </a:p>
          <a:p>
            <a:r>
              <a:t>Technical Execution (50); Novelty and Importance of AI (25); Technical Sophistication (50)</a:t>
            </a:r>
          </a:p>
          <a:p/>
          <a:p>
            <a:r>
              <a:t>SOURCES</a:t>
            </a:r>
          </a:p>
          <a:p>
            <a:r>
              <a:t>Repository: ARCHITECTURE.md at fee316580ba27951c2ad6fea4bdd4a6b335421ed</a:t>
            </a:r>
          </a:p>
          <a:p>
            <a:r>
              <a:t>Repository: docs/runtime.md at fee316580ba27951c2ad6fea4bdd4a6b335421ed</a:t>
            </a:r>
          </a:p>
          <a:p>
            <a:r>
              <a:t>Repository: docs/native-evidence.md at fee316580ba27951c2ad6fea4bdd4a6b335421ed</a:t>
            </a:r>
          </a:p>
          <a:p>
            <a:r>
              <a:t>Repository: docs/branch-monitoring.md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35 seconds</a:t>
            </a:r>
          </a:p>
          <a:p>
            <a:r>
              <a:t>Start with something tangible. This is our actual molecular workbench. The agent inspected a saved image, requested a cutaway to reduce occlusion, and identified a pair of atoms for a coordinate check. The measured distance was about 2.714 angstroms, a measure of proximity rather than a bonding or efficacy claim. A separate three-seed docking benchmark failed its recovery criterion. The image helps direct inspection; the numerical check constrains the interpretation.</a:t>
            </a:r>
          </a:p>
          <a:p/>
          <a:p>
            <a:r>
              <a:t>EVIDENCE / STATUS</a:t>
            </a:r>
          </a:p>
          <a:p>
            <a:r>
              <a:t>Actual surface-final.png capture from the scoped inhibitor workflow. The native PowerPoint crop focuses on the scene and omits surrounding controls; source image is unchanged. The recorded canonical O22 N2 / GLN670 OE1 distance is 2.7136221099760567 Å. Three-seed Vina 3VQU/O22 recovery: no pose met the frozen 2 Å RMSD criterion; best-any RMSD was about 2.675 Å. Distance and RMSD are different measurements. No affinity, hydrogen-bond assignment or therapeutic effect is claimed.</a:t>
            </a:r>
          </a:p>
          <a:p/>
          <a:p>
            <a:r>
              <a:t>BEFORE PRESENTING / NEXT EDIT</a:t>
            </a:r>
          </a:p>
          <a:p>
            <a:r>
              <a:t>Preserve the actual capture and separate the coordinate review from the benchmark. Full source receipts are in the inhibitor review. The binder visual loop and broader 3D tool status are in the appendix.</a:t>
            </a:r>
          </a:p>
          <a:p/>
          <a:p>
            <a:r>
              <a:t>JUDGING CRITERIA</a:t>
            </a:r>
          </a:p>
          <a:p>
            <a:r>
              <a:t>Technical Execution (50); Technical Sophistication (50); Design Quality &amp; Craft (30)</a:t>
            </a:r>
          </a:p>
          <a:p/>
          <a:p>
            <a:r>
              <a:t>SOURCES</a:t>
            </a:r>
          </a:p>
          <a:p>
            <a:r>
              <a:t>Repository: docs/inhibitor-review/README.md at fee316580ba27951c2ad6fea4bdd4a6b335421ed</a:t>
            </a:r>
          </a:p>
          <a:p>
            <a:r>
              <a:t>Repository: docs/inhibitor-review/review.json at fee316580ba27951c2ad6fea4bdd4a6b335421ed</a:t>
            </a:r>
          </a:p>
          <a:p>
            <a:r>
              <a:t>Repository: docs/inhibitor-review/benchmark.json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35 seconds</a:t>
            </a:r>
          </a:p>
          <a:p>
            <a:r>
              <a:t>We trained representations on real protein, drug-response and single-cell data with explicit splits and comparators. The important result is that the simplest method often won. PCA, a simple linear compression baseline, beat our protein denoiser. The expanded ecosystem study now has 72 donor records and real validation curves; exact PCA still leads external reconstruction. The drug-response model did not beat the mean baseline on the pancreatic subset. These findings tell us what to retain and what not to claim; the appendix contains the measured training histories and held-out comparisons.</a:t>
            </a:r>
          </a:p>
          <a:p/>
          <a:p>
            <a:r>
              <a:t>EVIDENCE / STATUS</a:t>
            </a:r>
          </a:p>
          <a:p>
            <a:r>
              <a:t>The protein study uses CPTAC data: 219 TRAIN cases, 110 LUAD validation cases and 105 PDAC development cases. The pharmacotype study contains 356 patient-origin groups, split 245 / 40 / 71. The expanded ecosystem study uses 45 training, 11 validation and 16 external donor records across five original studies. Its epithelial definition and cell-weighted metrics differ from the initial Peng/Lin pilot. These are exposed development or test characterizations, not clinical confirmation. No new training was performed for this deck.</a:t>
            </a:r>
          </a:p>
          <a:p/>
          <a:p>
            <a:r>
              <a:t>BEFORE PRESENTING / NEXT EDIT</a:t>
            </a:r>
          </a:p>
          <a:p>
            <a:r>
              <a:t>Recheck against the final demo build; preserve evidence labels.</a:t>
            </a:r>
          </a:p>
          <a:p/>
          <a:p>
            <a:r>
              <a:t>JUDGING CRITERIA</a:t>
            </a:r>
          </a:p>
          <a:p>
            <a:r>
              <a:t>Technical Execution (50); AI Technical Sophistication (50); Reliability, Evaluation &amp; Trustworthiness (25)</a:t>
            </a:r>
          </a:p>
          <a:p/>
          <a:p>
            <a:r>
              <a:t>SOURCES</a:t>
            </a:r>
          </a:p>
          <a:p>
            <a:r>
              <a:t>Repository: docs/protein-training.md at fee316580ba27951c2ad6fea4bdd4a6b335421ed</a:t>
            </a:r>
          </a:p>
          <a:p>
            <a:r>
              <a:t>Repository: docs/pharmacotype-training.md at fee316580ba27951c2ad6fea4bdd4a6b335421ed</a:t>
            </a:r>
          </a:p>
          <a:p>
            <a:r>
              <a:t>Repository: docs/ecosystem-expansion.md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30 seconds</a:t>
            </a:r>
          </a:p>
          <a:p>
            <a:r>
              <a:t>Our internal e-value tools separate plausible output from statistical evidence. An e-value is an evidence score designed to stay small on average when the stated no-effect assumption is true. In one standalone synthetic audit, the learned method crossed its threshold at least once in 112 of 10,000 null runs—simulated data with no group difference—or 1.12 percent. That is not the false-positive rate of the whole product. The engineering also binds evidence to frozen inputs, prevents duplicate donor consumption within the shared private ledger and preserves replay. Low false-alarm rates alone do not establish useful power or biological validity.</a:t>
            </a:r>
          </a:p>
          <a:p/>
          <a:p>
            <a:r>
              <a:t>EVIDENCE / STATUS</a:t>
            </a:r>
          </a:p>
          <a:p>
            <a:r>
              <a:t>In expanded-null.json, the learned encoder crossed the threshold at least once in 112 runs. Only 20 runs, or 0.20%, were above the threshold at the end; this is a different metric. The synthetic encoder differs from the real-expression model. The native ledger requires an actual identity boundary: separate processes under the same Unix owner do not provide isolation. Current release gates for adequately powered real-data confirmation remain unmet.</a:t>
            </a:r>
          </a:p>
          <a:p/>
          <a:p>
            <a:r>
              <a:t>BEFORE PRESENTING / NEXT EDIT</a:t>
            </a:r>
          </a:p>
          <a:p>
            <a:r>
              <a:t>Recheck against the final demo build; preserve evidence labels.</a:t>
            </a:r>
          </a:p>
          <a:p/>
          <a:p>
            <a:r>
              <a:t>JUDGING CRITERIA</a:t>
            </a:r>
          </a:p>
          <a:p>
            <a:r>
              <a:t>Reliability, Evaluation &amp; Trustworthiness (25); Technical Execution (50)</a:t>
            </a:r>
          </a:p>
          <a:p/>
          <a:p>
            <a:r>
              <a:t>SOURCES</a:t>
            </a:r>
          </a:p>
          <a:p>
            <a:r>
              <a:t>Repository: research/learned-evalue-validation/expanded-null.json at fee316580ba27951c2ad6fea4bdd4a6b335421ed</a:t>
            </a:r>
          </a:p>
          <a:p>
            <a:r>
              <a:t>Repository: docs/native-evidence.md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45 seconds</a:t>
            </a:r>
          </a:p>
          <a:p>
            <a:r>
              <a:t>[After verification] Here is the source claim. The agent identified this specific gap and chose this test because the available data could distinguish the alternatives. This is the code it ran, the result it produced and the check it had to survive. Finally, this is the scientist’s recorded decision. [Before verification] This is the evidence we require before presenting an end-to-end discovery claim.</a:t>
            </a:r>
          </a:p>
          <a:p/>
          <a:p>
            <a:r>
              <a:t>EVIDENCE / STATUS</a:t>
            </a:r>
          </a:p>
          <a:p>
            <a:r>
              <a:t>This is a prepared storyboard, not a measured investigation. It contains no invented candidate, result, scientist decision or hidden chain of thought. Use concise logged explanations and exact artifacts.</a:t>
            </a:r>
          </a:p>
          <a:p/>
          <a:p>
            <a:r>
              <a:t>BEFORE PRESENTING / NEXT EDIT</a:t>
            </a:r>
          </a:p>
          <a:p>
            <a:r>
              <a:t>Populate every slot from ONE run. Record its ID, source and date, data hash, code, output, falsifier feedback and human review. Keep failures visible. Enable the sequence only after an independent audit, and save a local recording.</a:t>
            </a:r>
          </a:p>
          <a:p/>
          <a:p>
            <a:r>
              <a:t>JUDGING CRITERIA</a:t>
            </a:r>
          </a:p>
          <a:p>
            <a:r>
              <a:t>Technical Execution (50); Reliability (25); UX (40)</a:t>
            </a:r>
          </a:p>
          <a:p/>
          <a:p>
            <a:r>
              <a:t>SOURCES</a:t>
            </a:r>
          </a:p>
          <a:p>
            <a:r>
              <a:t>Repository: plans/PLAN-demo-slides.md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20 seconds</a:t>
            </a:r>
          </a:p>
          <a:p>
            <a:r>
              <a:t>[After attaching the actual list] These are the candidates that survived the stated checks. Survival means a candidate merits review under that check’s contract; it does not establish truth or novelty. Let us focus on this one and what its result means. [Pause before advancing to the paper reveal.]</a:t>
            </a:r>
          </a:p>
          <a:p/>
          <a:p>
            <a:r>
              <a:t>EVIDENCE / STATUS</a:t>
            </a:r>
          </a:p>
          <a:p>
            <a:r>
              <a:t>There is no sourced survivor list yet. The three cards illustrate the layout only. Do not recite a candidate count or claim outcomes until the cards are replaced.</a:t>
            </a:r>
          </a:p>
          <a:p/>
          <a:p>
            <a:r>
              <a:t>BEFORE PRESENTING / NEXT EDIT</a:t>
            </a:r>
          </a:p>
          <a:p>
            <a:r>
              <a:t>Use the actual survivor count, rejected-branch denominator, named checks and exact run IDs. Select one candidate with a verified match to a later paper, and delete unused cards.</a:t>
            </a:r>
          </a:p>
          <a:p/>
          <a:p>
            <a:r>
              <a:t>JUDGING CRITERIA</a:t>
            </a:r>
          </a:p>
          <a:p>
            <a:r>
              <a:t>Technical Execution (50); Reliability (25)</a:t>
            </a:r>
          </a:p>
          <a:p/>
          <a:p>
            <a:r>
              <a:t>SOURCES</a:t>
            </a:r>
          </a:p>
          <a:p>
            <a:r>
              <a:t>Repository: plans/PLAN-demo-slides.md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20 seconds</a:t>
            </a:r>
          </a:p>
          <a:p>
            <a:r>
              <a:t>[After verification only] This candidate corresponds to the finding reported in this later paper. [Click; the paper fades in. Pause.] The compelling part is the route from the recorded evidence to that result. The next slide shows exactly what information the run could access, so you can judge what this recovery does—and does not—demonstrate.</a:t>
            </a:r>
          </a:p>
          <a:p/>
          <a:p>
            <a:r>
              <a:t>EVIDENCE / STATUS</a:t>
            </a:r>
          </a:p>
          <a:p>
            <a:r>
              <a:t>No paper has been selected, verified or presented as recovered. The paper group has a native 800 ms fade. PowerPoint playback is not available locally; the PDF shows the final state. This is not a novel-discovery claim.</a:t>
            </a:r>
          </a:p>
          <a:p/>
          <a:p>
            <a:r>
              <a:t>BEFORE PRESENTING / NEXT EDIT</a:t>
            </a:r>
          </a:p>
          <a:p>
            <a:r>
              <a:t>Insert the actual paper image while preserving the group entrance effect. Add accessible text, DOI, date and the rationale for the match. Keep the frozen-corpus slide IMMEDIATELY after the reveal. If no run qualifies, leave all four reveal slides hidden.</a:t>
            </a:r>
          </a:p>
          <a:p/>
          <a:p>
            <a:r>
              <a:t>JUDGING CRITERIA</a:t>
            </a:r>
          </a:p>
          <a:p>
            <a:r>
              <a:t>Technical Execution (50); Originality; Reliability (25)</a:t>
            </a:r>
          </a:p>
          <a:p/>
          <a:p>
            <a:r>
              <a:t>SOURCES</a:t>
            </a:r>
          </a:p>
          <a:p>
            <a:r>
              <a:t>Repository: plans/PLAN-demo-slides.md at fee316580ba27951c2ad6fea4bdd4a6b335421ed</a:t>
            </a:r>
          </a:p>
          <a:p>
            <a:r>
              <a:t>Repository: demo/pdac/README.md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25 seconds</a:t>
            </a:r>
          </a:p>
          <a:p>
            <a:r>
              <a:t>The corpus was curated from 100 full-text papers published between 2007 and 2025, with an inclusive January 25, 2026 boundary. For this reveal, we must show the exact accessible manifest and demonstrate that the later paper was excluded from the run’s tools and data. Even then, pretrained model memory remains a limitation. Recovering a later published result from restricted evidence would be meaningful; it would not, by itself, prove an uncontaminated new discovery.</a:t>
            </a:r>
          </a:p>
          <a:p/>
          <a:p>
            <a:r>
              <a:t>EVIDENCE / STATUS</a:t>
            </a:r>
          </a:p>
          <a:p>
            <a:r>
              <a:t>The curation facts are committed. The actual run access boundary and the identity of the later paper remain unverified. The curation cutoff is not automatically a paper-publication-date cutoff for every task; check the manifest’s inclusive boundary.</a:t>
            </a:r>
          </a:p>
          <a:p/>
          <a:p>
            <a:r>
              <a:t>BEFORE PRESENTING / NEXT EDIT</a:t>
            </a:r>
          </a:p>
          <a:p>
            <a:r>
              <a:t>Keep this slide directly after the paper reveal. Add the actual run ID, frozen manifest hash, access logs, target paper hash and date, cutoff protocol, model version and memory control. Keep the uncertainty visible.</a:t>
            </a:r>
          </a:p>
          <a:p/>
          <a:p>
            <a:r>
              <a:t>JUDGING CRITERIA</a:t>
            </a:r>
          </a:p>
          <a:p>
            <a:r>
              <a:t>Reliability, Evaluation &amp; Trustworthiness (25); Technical Execution (50)</a:t>
            </a:r>
          </a:p>
          <a:p/>
          <a:p>
            <a:r>
              <a:t>SOURCES</a:t>
            </a:r>
          </a:p>
          <a:p>
            <a:r>
              <a:t>Repository: demo/pdac/README.md at fee316580ba27951c2ad6fea4bdd4a6b335421ed</a:t>
            </a:r>
          </a:p>
          <a:p>
            <a:r>
              <a:t>Repository: demo/pdac/papers.json at fee316580ba27951c2ad6fea4bdd4a6b335421ed</a:t>
            </a:r>
          </a:p>
          <a:p>
            <a:r>
              <a:t>Repository: plans/PLAN-demo-slides.md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30 seconds</a:t>
            </a:r>
          </a:p>
          <a:p>
            <a:r>
              <a:t>The initial company opportunity is a research workflow people can evaluate in a small pilot. Start with one team, approved datasets and a bounded compute budget. Our pricing hypothesis is a workspace subscription plus metered compute, but willingness to pay is untested. The pilot has to measure whether researchers get useful, reproducible experiments and whether the total cost—including failed branches and review time—makes sense.</a:t>
            </a:r>
          </a:p>
          <a:p/>
          <a:p>
            <a:r>
              <a:t>EVIDENCE / STATUS</a:t>
            </a:r>
          </a:p>
          <a:p>
            <a:r>
              <a:t>This is a deployment and business proposal, not evidence of traction. Price the full investigation: LLM calls, GPU and CPU work, storage, egress and human review. Unit economics for a complete investigation have not been measured.</a:t>
            </a:r>
          </a:p>
          <a:p/>
          <a:p>
            <a:r>
              <a:t>BEFORE PRESENTING / NEXT EDIT</a:t>
            </a:r>
          </a:p>
          <a:p>
            <a:r>
              <a:t>Recheck against the final demo build; preserve evidence labels.</a:t>
            </a:r>
          </a:p>
          <a:p/>
          <a:p>
            <a:r>
              <a:t>JUDGING CRITERIA</a:t>
            </a:r>
          </a:p>
          <a:p>
            <a:r>
              <a:t>Feasibility &amp; Deployment Potential (25)</a:t>
            </a:r>
          </a:p>
          <a:p/>
          <a:p>
            <a:r>
              <a:t>SOURCES</a:t>
            </a:r>
          </a:p>
          <a:p>
            <a:r>
              <a:t>Repository: docs/deployment.md at fee316580ba27951c2ad6fea4bdd4a6b335421ed</a:t>
            </a:r>
          </a:p>
          <a:p>
            <a:r>
              <a:t>Repository: docs/runtime.md at fee316580ba27951c2ad6fea4bdd4a6b335421ed</a:t>
            </a:r>
          </a:p>
          <a:p>
            <a:r>
              <a:t>Repository: plans/backlog.md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25 seconds</a:t>
            </a:r>
          </a:p>
          <a:p>
            <a:r>
              <a:t>There are three concrete deployment gates. First, independently reproduce a bounded investigation against strong alternatives. Second, harden a private pilot with real identity boundaries, restricted data access and execution, reliable logs and spend limits. Third, validate the workflow with researchers. Research use is the starting scope; clinical decisions or operational threat forecasting would need additional evidence, governance and regulatory review.</a:t>
            </a:r>
          </a:p>
          <a:p/>
          <a:p>
            <a:r>
              <a:t>EVIDENCE / STATUS</a:t>
            </a:r>
          </a:p>
          <a:p>
            <a:r>
              <a:t>These are proposed milestones. A separate process under the same Unix owner does not isolate private data. Data licenses, PHI and data agreements, SSO, tenancy, sandboxing and integration need review before broader deployment. No clinical regulatory clearance is implied.</a:t>
            </a:r>
          </a:p>
          <a:p/>
          <a:p>
            <a:r>
              <a:t>BEFORE PRESENTING / NEXT EDIT</a:t>
            </a:r>
          </a:p>
          <a:p>
            <a:r>
              <a:t>Recheck against the final demo build; preserve evidence labels.</a:t>
            </a:r>
          </a:p>
          <a:p/>
          <a:p>
            <a:r>
              <a:t>JUDGING CRITERIA</a:t>
            </a:r>
          </a:p>
          <a:p>
            <a:r>
              <a:t>Feasibility &amp; Deployment Potential (25); Reliability (25); Understanding of User (30)</a:t>
            </a:r>
          </a:p>
          <a:p/>
          <a:p>
            <a:r>
              <a:t>SOURCES</a:t>
            </a:r>
          </a:p>
          <a:p>
            <a:r>
              <a:t>Repository: docs/deployment.md at fee316580ba27951c2ad6fea4bdd4a6b335421ed</a:t>
            </a:r>
          </a:p>
          <a:p>
            <a:r>
              <a:t>Repository: docs/native-evidence.md at fee316580ba27951c2ad6fea4bdd4a6b335421ed</a:t>
            </a:r>
          </a:p>
          <a:p>
            <a:r>
              <a:t>Repository: plans/backlog.md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25 seconds</a:t>
            </a:r>
          </a:p>
          <a:p>
            <a:r>
              <a:t>Biology will help shape industrial strength, health and security. We want scientists to have more lead time to understand what comes next. We have built the beginnings of an inspectable research engine and tested substantive parts of its toolkit. The next step is a bounded research partnership that can independently judge its usefulness. Our ambition is to reduce the window of unilateral biological advantage.</a:t>
            </a:r>
          </a:p>
          <a:p/>
          <a:p>
            <a:r>
              <a:t>EVIDENCE / STATUS</a:t>
            </a:r>
          </a:p>
          <a:p>
            <a:r>
              <a:t>This is a strategic ambition and a request for a pilot. It does not imply guaranteed prediction, deployment outcomes or an existing customer partnership. The closing art is conceptual. Alignment with DTX is our inference from its critical-technology thesis.</a:t>
            </a:r>
          </a:p>
          <a:p/>
          <a:p>
            <a:r>
              <a:t>BEFORE PRESENTING / NEXT EDIT</a:t>
            </a:r>
          </a:p>
          <a:p>
            <a:r>
              <a:t>Recheck against the final demo build; preserve evidence labels.</a:t>
            </a:r>
          </a:p>
          <a:p/>
          <a:p>
            <a:r>
              <a:t>JUDGING CRITERIA</a:t>
            </a:r>
          </a:p>
          <a:p>
            <a:r>
              <a:t>Problem &amp; Real-World Impact (25); Feasibility (25)</a:t>
            </a:r>
          </a:p>
          <a:p/>
          <a:p>
            <a:r>
              <a:t>SOURCES</a:t>
            </a:r>
          </a:p>
          <a:p>
            <a:r>
              <a:t>DTX Ventures · Vision: https://www.dtxventures.com/vision (accessed 2026-09-06)</a:t>
            </a:r>
          </a:p>
          <a:p>
            <a:r>
              <a:t>NSCEB final report, April 2025, §3.3: https://www.biotech.senate.gov/final-report/chapters/chapter-3/section-3/ (accessed 2026-09-06)</a:t>
            </a:r>
          </a:p>
          <a:p>
            <a:r>
              <a:t>Repository: presentation/assets/v2/README.md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25 seconds</a:t>
            </a:r>
          </a:p>
          <a:p>
            <a:r>
              <a:t>The presentation gives the largest share of technical discussion to execution and AI sophistication, matching the fifty-point weights. We connect the problem to strategic lead time, show actual artifacts and negative results, and state deployment and user-validation gaps directly. The slide references here let us answer each rubric question with evidence instead of adjectives.</a:t>
            </a:r>
          </a:p>
          <a:p/>
          <a:p>
            <a:r>
              <a:t>EVIDENCE / STATUS</a:t>
            </a:r>
          </a:p>
          <a:p>
            <a:r>
              <a:t>The rubric was supplied by the user. The weights and slide references reflect that rubric. No scores have been self-awarded.</a:t>
            </a:r>
          </a:p>
          <a:p/>
          <a:p>
            <a:r>
              <a:t>BEFORE PRESENTING / NEXT EDIT</a:t>
            </a:r>
          </a:p>
          <a:p>
            <a:r>
              <a:t>Recheck against the final demo build; preserve evidence labels.</a:t>
            </a:r>
          </a:p>
          <a:p/>
          <a:p>
            <a:r>
              <a:t>JUDGING CRITERIA</a:t>
            </a:r>
          </a:p>
          <a:p>
            <a:r>
              <a:t>All supplied criteria</a:t>
            </a:r>
          </a:p>
          <a:p/>
          <a:p>
            <a:r>
              <a:t>SOURCES</a:t>
            </a:r>
          </a:p>
          <a:p>
            <a:r>
              <a:t>Repository: plans/PLAN-demo-slides.md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25 seconds</a:t>
            </a:r>
          </a:p>
          <a:p>
            <a:r>
              <a:t>A binder is a protein designed to attach to a target. This is a concrete design decision driven by the user’s task. A complete structure is good for orientation, but it can hide the interface. A contact-only cutaway and opposing view expose the region the scientist needs to inspect. The visual review caught a camera-preset bug that a screenshot test initially missed. Labels, reproducible camera state and coordinate checks make the image useful rather than decorative.</a:t>
            </a:r>
          </a:p>
          <a:p/>
          <a:p>
            <a:r>
              <a:t>EVIDENCE / STATUS</a:t>
            </a:r>
          </a:p>
          <a:p>
            <a:r>
              <a:t>The scene uses an illustrative 1CRN fixture. The recorded raycast captured 19 / 20 contact residues in the primary view, 18 / 20 in the reverse view and 20 / 20 across both views. These counts do not measure binding affinity. The UI inspection notes record actual iterations and fit at a 390 px mobile width.</a:t>
            </a:r>
          </a:p>
          <a:p/>
          <a:p>
            <a:r>
              <a:t>BEFORE PRESENTING / NEXT EDIT</a:t>
            </a:r>
          </a:p>
          <a:p>
            <a:r>
              <a:t>Recheck against the final demo build; preserve evidence labels.</a:t>
            </a:r>
          </a:p>
          <a:p/>
          <a:p>
            <a:r>
              <a:t>JUDGING CRITERIA</a:t>
            </a:r>
          </a:p>
          <a:p>
            <a:r>
              <a:t>Design Quality &amp; Craft (30); UX (40); Understanding of User (30)</a:t>
            </a:r>
          </a:p>
          <a:p/>
          <a:p>
            <a:r>
              <a:t>SOURCES</a:t>
            </a:r>
          </a:p>
          <a:p>
            <a:r>
              <a:t>Repository: docs/binder-review/README.md at fee316580ba27951c2ad6fea4bdd4a6b335421ed</a:t>
            </a:r>
          </a:p>
          <a:p>
            <a:r>
              <a:t>Repository: docs/binder-review/scene-replay-interface-close.json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30 seconds</a:t>
            </a:r>
          </a:p>
          <a:p>
            <a:r>
              <a:t>The trained components have different jobs. The expression model learns a representation, while the sequential bettor scores fresh paired observations. Protein, drug-response and ecosystem modules learn representations or prediction functions under their own split contracts. The branch monitor is different: it is intended to estimate a research branch’s future usefulness, but has not been fitted and calibrated on real trajectories. We do not count renderers or pretrained dependencies as models we trained.</a:t>
            </a:r>
          </a:p>
          <a:p/>
          <a:p>
            <a:r>
              <a:t>EVIDENCE / STATUS</a:t>
            </a:r>
          </a:p>
          <a:p>
            <a:r>
              <a:t>The following slides give each model’s data and splits. Training a model does not establish useful power or real biological confirmation. Biological evidence and branch-monitor statistics answer different questions and must remain distinct.</a:t>
            </a:r>
          </a:p>
          <a:p/>
          <a:p>
            <a:r>
              <a:t>BEFORE PRESENTING / NEXT EDIT</a:t>
            </a:r>
          </a:p>
          <a:p>
            <a:r>
              <a:t>Recheck against the final demo build; preserve evidence labels.</a:t>
            </a:r>
          </a:p>
          <a:p/>
          <a:p>
            <a:r>
              <a:t>JUDGING CRITERIA</a:t>
            </a:r>
          </a:p>
          <a:p>
            <a:r>
              <a:t>AI Technical Sophistication (50); Reliability (25)</a:t>
            </a:r>
          </a:p>
          <a:p/>
          <a:p>
            <a:r>
              <a:t>SOURCES</a:t>
            </a:r>
          </a:p>
          <a:p>
            <a:r>
              <a:t>Repository: research/learned-evalue-validation/real-expression/README.md at fee316580ba27951c2ad6fea4bdd4a6b335421ed</a:t>
            </a:r>
          </a:p>
          <a:p>
            <a:r>
              <a:t>Repository: docs/protein-training.md at fee316580ba27951c2ad6fea4bdd4a6b335421ed</a:t>
            </a:r>
          </a:p>
          <a:p>
            <a:r>
              <a:t>Repository: docs/pharmacotype-training.md at fee316580ba27951c2ad6fea4bdd4a6b335421ed</a:t>
            </a:r>
          </a:p>
          <a:p>
            <a:r>
              <a:t>Repository: docs/ecosystem-training.md at fee316580ba27951c2ad6fea4bdd4a6b335421ed</a:t>
            </a:r>
          </a:p>
          <a:p>
            <a:r>
              <a:t>Repository: docs/branch-monitoring.md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35 seconds</a:t>
            </a:r>
          </a:p>
          <a:p>
            <a:r>
              <a:t>This expression diagnostic uses 374 day-zero donors: 149 for training, 74 for development and 151 for evaluation. We trained a masked autoencoder on genes selected from the training data for 100 epochs. The plotted loss is training loss; we did not retain a held-out loss at every epoch. The evidence plot measures something different: evidence from 30 selected evaluation pairs, of which 22 are scored after burn-in. The IFIT3 single-gene baseline finishes with more evidence than the learned representation.</a:t>
            </a:r>
          </a:p>
          <a:p/>
          <a:p>
            <a:r>
              <a:t>EVIDENCE / STATUS</a:t>
            </a:r>
          </a:p>
          <a:p>
            <a:r>
              <a:t>The source is TPM data from GSE212041. TRAIN contains 119 positive and 30 negative donors; DEV contains 59 positive and 15 negative donors; EVAL contains 121 positive and 30 negative donors. The 30 selected pairs are not clinical matches, and 91 positive evaluation donors are unused. The encoder is 19k → 512 → 128, fitted with Adam at .001 and seed 20260905. The bettor has 64 / 64 ReLU layers and maximizes log payoff using past data. It uses 4 pairs per batch, 2 burn-in batches, at most 100 epochs per update, patience 10, learning rate .0005 and weight decay .01. Final evidence is 3652.81 for the learned encoder, 85.76 for PCA and 5964.41 for IFIT3. This is not an independent estimate of clinical power.</a:t>
            </a:r>
          </a:p>
          <a:p/>
          <a:p>
            <a:r>
              <a:t>BEFORE PRESENTING / NEXT EDIT</a:t>
            </a:r>
          </a:p>
          <a:p>
            <a:r>
              <a:t>Recheck against the final demo build; preserve evidence labels.</a:t>
            </a:r>
          </a:p>
          <a:p/>
          <a:p>
            <a:r>
              <a:t>JUDGING CRITERIA</a:t>
            </a:r>
          </a:p>
          <a:p>
            <a:r>
              <a:t>AI Technical Sophistication (50); Reliability (25)</a:t>
            </a:r>
          </a:p>
          <a:p/>
          <a:p>
            <a:r>
              <a:t>SOURCES</a:t>
            </a:r>
          </a:p>
          <a:p>
            <a:r>
              <a:t>Repository: research/learned-evalue-validation/real-expression/README.md at fee316580ba27951c2ad6fea4bdd4a6b335421ed</a:t>
            </a:r>
          </a:p>
          <a:p>
            <a:r>
              <a:t>Repository: research/learned-evalue-validation/real-expression/training.json at fee316580ba27951c2ad6fea4bdd4a6b335421ed</a:t>
            </a:r>
          </a:p>
          <a:p>
            <a:r>
              <a:t>Repository: research/learned-evalue-validation/real-expression/evaluation.json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30 seconds</a:t>
            </a:r>
          </a:p>
          <a:p>
            <a:r>
              <a:t>The protein model trains on 219 breast and colon tumors and is selected using 110 lung tumors. Values and missingness masks feed a denoiser with a 32-dimensional bottleneck. On frozen hidden entries, PCA’s mean squared error is 1.8243, compared with 2.1067 for the denoiser and 2.9318 for mean fill. The selected denoiser checkpoint is at the 50-epoch budget boundary, so we do not claim convergence. These results support retaining strong, simple comparators.</a:t>
            </a:r>
          </a:p>
          <a:p/>
          <a:p>
            <a:r>
              <a:t>EVIDENCE / STATUS</a:t>
            </a:r>
          </a:p>
          <a:p>
            <a:r>
              <a:t>The study selects 2,000 features using TRAIN coverage. Values and masks form 4000 inputs. Training uses AdamW at .001, batch size 32 and seed 0. The PDAC development set contains 105 cases, of which 104 are graded. Grade AUROC is .7816 for rank-PCA and .6262 for the denoiser; this is exposed development. Complete local artifacts for curated v2 are absent from this checkout; chart values come from committed documentation. Slide 28 presents the subsequent external benchmark with its own aggregate audit.</a:t>
            </a:r>
          </a:p>
          <a:p/>
          <a:p>
            <a:r>
              <a:t>BEFORE PRESENTING / NEXT EDIT</a:t>
            </a:r>
          </a:p>
          <a:p>
            <a:r>
              <a:t>Recheck against the final demo build; preserve evidence labels.</a:t>
            </a:r>
          </a:p>
          <a:p/>
          <a:p>
            <a:r>
              <a:t>JUDGING CRITERIA</a:t>
            </a:r>
          </a:p>
          <a:p>
            <a:r>
              <a:t>AI Technical Sophistication (50); Reliability (25)</a:t>
            </a:r>
          </a:p>
          <a:p/>
          <a:p>
            <a:r>
              <a:t>SOURCES</a:t>
            </a:r>
          </a:p>
          <a:p>
            <a:r>
              <a:t>Repository: docs/protein-training.md at fee316580ba27951c2ad6fea4bdd4a6b335421ed</a:t>
            </a:r>
          </a:p>
          <a:p>
            <a:r>
              <a:t>Repository: src/dnhacksbio/protein_encoder.py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35 seconds</a:t>
            </a:r>
          </a:p>
          <a:p>
            <a:r>
              <a:t>The PRISM task predicts adjusted log2 fold-change versus solvent control from molecular features, using 245 training, 40 validation and 71 test patient-origin groups. PCA is selected by mean validation error across three seeds; it does not beat the mean baseline in the pancreatic test subset. A separate 38-donor patient-derived organoid dataset measures aggregate response area. Its five-donor validation split favors the training mean over every learned method. This does not establish a successful predictor of full response curves or biological confirmation.</a:t>
            </a:r>
          </a:p>
          <a:p/>
          <a:p>
            <a:r>
              <a:t>EVIDENCE / STATUS</a:t>
            </a:r>
          </a:p>
          <a:p>
            <a:r>
              <a:t>PRISM covers 4 drugs at 8 doses and a 120 h exposure. Feature selection uses 1000 training genes. The compared representations are identity, PCA with 32 dimensions and one-layer tanh autoencoders with 15% masking, at most 150 epochs and patience 15. The ridge penalty is 10. A bounded bilinear critic uses an MSE objective on matched versus crossed views; molecular and response encoders train separately. The PDO split is 21 TRAIN / 5 VAL / 12 TEST. Its AUC target is one normalized area-under-response-curve value per drug, not a full dose-response curve. The CUDA fits were run, but epoch histories were not retained. Subsequent training-only RBF tuning achieved validation RMSE 0.1703 versus the mean baseline 0.1562; its improvement on an already exposed test set is not independent confirmation. Adaptive synthetic critic diagnostics show 35.52% power for the simple alternative and 0% for the nonlinear alternative. Release eligibility remains false.</a:t>
            </a:r>
          </a:p>
          <a:p/>
          <a:p>
            <a:r>
              <a:t>BEFORE PRESENTING / NEXT EDIT</a:t>
            </a:r>
          </a:p>
          <a:p>
            <a:r>
              <a:t>Recheck against the final demo build; preserve evidence labels.</a:t>
            </a:r>
          </a:p>
          <a:p/>
          <a:p>
            <a:r>
              <a:t>JUDGING CRITERIA</a:t>
            </a:r>
          </a:p>
          <a:p>
            <a:r>
              <a:t>AI Technical Sophistication (50); Reliability (25)</a:t>
            </a:r>
          </a:p>
          <a:p/>
          <a:p>
            <a:r>
              <a:t>SOURCES</a:t>
            </a:r>
          </a:p>
          <a:p>
            <a:r>
              <a:t>Repository: docs/pharmacotype-cuda-training.json at fee316580ba27951c2ad6fea4bdd4a6b335421ed</a:t>
            </a:r>
          </a:p>
          <a:p>
            <a:r>
              <a:t>Repository: docs/pharmacotype-pdo-auc.json at fee316580ba27951c2ad6fea4bdd4a6b335421ed</a:t>
            </a:r>
          </a:p>
          <a:p>
            <a:r>
              <a:t>Repository: docs/pharmacotype-training.md at fee316580ba27951c2ad6fea4bdd4a6b335421ed</a:t>
            </a:r>
          </a:p>
          <a:p>
            <a:r>
              <a:t>Repository: docs/pharmacotype-adaptive-validation.json at fee316580ba27951c2ad6fea4bdd4a6b335421ed</a:t>
            </a:r>
          </a:p>
          <a:p>
            <a:r>
              <a:t>Repository: docs/pharmacotype-tuning.json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35 seconds</a:t>
            </a:r>
          </a:p>
          <a:p>
            <a:r>
              <a:t>Single-cell datasets contain many cells, but cells from one person are not independent donors. We trained separate representations for malignant-enriched and fibroblast compartments, using equal samples of 32 cells per eligible training donor. The count model uses a negative-binomial reconstruction objective. A separate set model tries to preserve donor summaries and stability across subsamples. Cell PCA wins the current reconstruction comparisons on the Peng holdout and Lin external development data. Missing compartments reduce the actual donor coverage.</a:t>
            </a:r>
          </a:p>
          <a:p/>
          <a:p>
            <a:r>
              <a:t>EVIDENCE / STATUS</a:t>
            </a:r>
          </a:p>
          <a:p>
            <a:r>
              <a:t>Peng donors T1–T16 form TRAIN; T17–T24 form DEV. Lin contributes 10 primary donors for external development. Actual training uses 512 malignant-enriched cells from 16 donors and 416 fibroblast cells from 13 donors. Peng has 8 eligible malignant-enriched and 5 eligible fibroblast held-out donors; Lin has 7 and 9 respectively. Both compartments are available in 5 Peng and 6 Lin donors. The negative-binomial model is 2000 → 32 tanh → 2001, trained for 20 CPU epochs with a library offset and learned dispersion. The set model is 32 → 8 tanh, followed by mean pooling and a 64-dimensional summary decoder. It trains for 20 epochs with Adam at .01, using reconstruction plus .1 times the stability loss. No held-out neural advantage or private biological confirmation was established.</a:t>
            </a:r>
          </a:p>
          <a:p/>
          <a:p>
            <a:r>
              <a:t>BEFORE PRESENTING / NEXT EDIT</a:t>
            </a:r>
          </a:p>
          <a:p>
            <a:r>
              <a:t>Recheck against the final demo build; preserve evidence labels.</a:t>
            </a:r>
          </a:p>
          <a:p/>
          <a:p>
            <a:r>
              <a:t>JUDGING CRITERIA</a:t>
            </a:r>
          </a:p>
          <a:p>
            <a:r>
              <a:t>AI Technical Sophistication (50); Reliability (25)</a:t>
            </a:r>
          </a:p>
          <a:p/>
          <a:p>
            <a:r>
              <a:t>SOURCES</a:t>
            </a:r>
          </a:p>
          <a:p>
            <a:r>
              <a:t>Repository: docs/ecosystem-training.md at fee316580ba27951c2ad6fea4bdd4a6b335421ed</a:t>
            </a:r>
          </a:p>
          <a:p>
            <a:r>
              <a:t>Repository: docs/ecosystem-training/metrics.json at fee316580ba27951c2ad6fea4bdd4a6b335421ed</a:t>
            </a:r>
          </a:p>
          <a:p>
            <a:r>
              <a:t>Repository: docs/ecosystem-training/set-metrics.json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35 seconds</a:t>
            </a:r>
          </a:p>
          <a:p>
            <a:r>
              <a:t>The internal evidence tools test specified measured relationships. The branch monitor asks a different question: whether continuing a research branch is likely to produce a qualifying result under a fixed policy and budget. Its design uses one logistic model per prefix and root-group-disjoint training, calibration and test splits. That implementation has not yet been trained or calibrated on real trajectories. We must not present its synthetic tests as a deployed statistical stopping guarantee.</a:t>
            </a:r>
          </a:p>
          <a:p/>
          <a:p>
            <a:r>
              <a:t>EVIDENCE / STATUS</a:t>
            </a:r>
          </a:p>
          <a:p>
            <a:r>
              <a:t>The proposed branch labeler uses an LLM assessor rubric after a legacy CANDIDATE result; its label is a proxy, not expert truth or independent reproduction. The monitor uses class-prior-corrected odds and history ratios, with weights for roots and episodes. At alpha .045 and delta .005, the first finite order-statistic threshold requires 116 independent successful calibration episodes; 115 are insufficient. Repeated checkpoints are not independent episodes. The operational limits of 3600 summed seconds and 288 actions are not a statistical deadline.</a:t>
            </a:r>
          </a:p>
          <a:p/>
          <a:p>
            <a:r>
              <a:t>BEFORE PRESENTING / NEXT EDIT</a:t>
            </a:r>
          </a:p>
          <a:p>
            <a:r>
              <a:t>Recheck against the final demo build; preserve evidence labels.</a:t>
            </a:r>
          </a:p>
          <a:p/>
          <a:p>
            <a:r>
              <a:t>JUDGING CRITERIA</a:t>
            </a:r>
          </a:p>
          <a:p>
            <a:r>
              <a:t>AI Technical Sophistication (50); Reliability (25)</a:t>
            </a:r>
          </a:p>
          <a:p/>
          <a:p>
            <a:r>
              <a:t>SOURCES</a:t>
            </a:r>
          </a:p>
          <a:p>
            <a:r>
              <a:t>Repository: docs/branch-monitoring.md at fee316580ba27951c2ad6fea4bdd4a6b335421ed</a:t>
            </a:r>
          </a:p>
          <a:p>
            <a:r>
              <a:t>Repository: docs/dependency-scoring.md at fee316580ba27951c2ad6fea4bdd4a6b335421ed</a:t>
            </a:r>
          </a:p>
          <a:p>
            <a:r>
              <a:t>Repository: docs/drug-response-scoring.md at fee316580ba27951c2ad6fea4bdd4a6b335421ed</a:t>
            </a:r>
          </a:p>
          <a:p>
            <a:r>
              <a:t>Repository: docs/expression-scoring.md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30 seconds</a:t>
            </a:r>
          </a:p>
          <a:p>
            <a:r>
              <a:t>Existing research agents are substantive systems, so being an AI researcher is not enough of a differentiator. Our proposed wedge is executable, inspectable investigation with specialized tools and explicit evidence contracts. The right test is an equal-budget comparison against a strong single agent and flat parallel research. We should measure independently rerunnable useful work, not the number of generated hypotheses. A defensible product advantage remains to be earned.</a:t>
            </a:r>
          </a:p>
          <a:p/>
          <a:p>
            <a:r>
              <a:t>EVIDENCE / STATUS</a:t>
            </a:r>
          </a:p>
          <a:p>
            <a:r>
              <a:t>The primary prior-art pages were verified; no head-to-head comparison has been run. The project reuses open-source scientific tools and renderers. The novelty claim concerns engineering integration and the proposed workflow, not new foundational statistics or the first AI scientist.</a:t>
            </a:r>
          </a:p>
          <a:p/>
          <a:p>
            <a:r>
              <a:t>BEFORE PRESENTING / NEXT EDIT</a:t>
            </a:r>
          </a:p>
          <a:p>
            <a:r>
              <a:t>Recheck against the final demo build; preserve evidence labels.</a:t>
            </a:r>
          </a:p>
          <a:p/>
          <a:p>
            <a:r>
              <a:t>JUDGING CRITERIA</a:t>
            </a:r>
          </a:p>
          <a:p>
            <a:r>
              <a:t>Technical Execution originality (50); AI Novelty (25); Feasibility (25)</a:t>
            </a:r>
          </a:p>
          <a:p/>
          <a:p>
            <a:r>
              <a:t>SOURCES</a:t>
            </a:r>
          </a:p>
          <a:p>
            <a:r>
              <a:t>Elicit · Introducing Elicit Research Agent: https://elicit.com/blog/introducing-elicit-research-agent (accessed 2026-09-06)</a:t>
            </a:r>
          </a:p>
          <a:p>
            <a:r>
              <a:t>Google DeepMind · Co-scientist: https://deepmind.google/blog/co-scientist-a-multi-agent-ai-partner-to-accelerate-research/ (accessed 2026-09-06)</a:t>
            </a:r>
          </a:p>
          <a:p>
            <a:r>
              <a:t>Repository: plans/backlog.md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30 seconds</a:t>
            </a:r>
          </a:p>
          <a:p>
            <a:r>
              <a:t>For deployment, we need the total cost of a complete investigation, not just a cheap encoder fit. We need actual security boundaries, approved data access, restricted execution and an audit path that fits the customer’s workflow. Research use is the initial scope; privacy, licensing and any later clinical application require their own review. The current evidence supports a technically substantive prototype, while discovery recovery, customer value and production readiness still need proof.</a:t>
            </a:r>
          </a:p>
          <a:p/>
          <a:p>
            <a:r>
              <a:t>EVIDENCE / STATUS</a:t>
            </a:r>
          </a:p>
          <a:p>
            <a:r>
              <a:t>This evidence ledger describes the audited snapshot. Update it when newly merged work supplies source artifacts. Main-build tests check code behavior; they do not establish clinical or statistical validity. No TAM, customer logos, savings or regulatory clearance have been invented.</a:t>
            </a:r>
          </a:p>
          <a:p/>
          <a:p>
            <a:r>
              <a:t>BEFORE PRESENTING / NEXT EDIT</a:t>
            </a:r>
          </a:p>
          <a:p>
            <a:r>
              <a:t>Recheck against the final demo build; preserve evidence labels.</a:t>
            </a:r>
          </a:p>
          <a:p/>
          <a:p>
            <a:r>
              <a:t>JUDGING CRITERIA</a:t>
            </a:r>
          </a:p>
          <a:p>
            <a:r>
              <a:t>Feasibility &amp; Deployment Potential (25); Reliability (25)</a:t>
            </a:r>
          </a:p>
          <a:p/>
          <a:p>
            <a:r>
              <a:t>SOURCES</a:t>
            </a:r>
          </a:p>
          <a:p>
            <a:r>
              <a:t>Repository: docs/deployment.md at fee316580ba27951c2ad6fea4bdd4a6b335421ed</a:t>
            </a:r>
          </a:p>
          <a:p>
            <a:r>
              <a:t>Repository: docs/native-evidence.md at fee316580ba27951c2ad6fea4bdd4a6b335421ed</a:t>
            </a:r>
          </a:p>
          <a:p>
            <a:r>
              <a:t>Repository: presentation/validation.md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30 seconds</a:t>
            </a:r>
          </a:p>
          <a:p>
            <a:r>
              <a:t>The binder workbench demonstrates a recorded visual loop, but its current showcased geometry is illustrative. Molecular tools now run scoped preparation and docking as well as image review and coordinate checks. Their three-seed recovery benchmark did not pass; no inhibition or efficacy is established. The spindle worker runs pinned native mechanics and exports real three-dimensional frames; biological calibration is still ahead. Tumor–stroma simulation and further image integrations are active work and should be upgraded in this deck only with their actual artifacts.</a:t>
            </a:r>
          </a:p>
          <a:p/>
          <a:p>
            <a:r>
              <a:t>EVIDENCE / STATUS</a:t>
            </a:r>
          </a:p>
          <a:p>
            <a:r>
              <a:t>Snapshot-specific status. Binder: no BindCraft inference demonstrated. Inhibitor: scoped docking and image-review workflow is merged; the frozen recovery result is negative. Spindle pilot uses stock aster_dynamic, shortened to 100 time steps, seed 41, 11 exported frames. Tissue development is separate from the measured statistical cellular-ecosystem module.</a:t>
            </a:r>
          </a:p>
          <a:p/>
          <a:p>
            <a:r>
              <a:t>BEFORE PRESENTING / NEXT EDIT</a:t>
            </a:r>
          </a:p>
          <a:p>
            <a:r>
              <a:t>When new work lands, replace this status with scoped run IDs, native receipts, actual images and numerical controls. Do not reuse an illustrative image as evidence of a measured biological result.</a:t>
            </a:r>
          </a:p>
          <a:p/>
          <a:p>
            <a:r>
              <a:t>JUDGING CRITERIA</a:t>
            </a:r>
          </a:p>
          <a:p>
            <a:r>
              <a:t>Technical Execution (50); AI Technical Sophistication (50); Design Quality (30)</a:t>
            </a:r>
          </a:p>
          <a:p/>
          <a:p>
            <a:r>
              <a:t>SOURCES</a:t>
            </a:r>
          </a:p>
          <a:p>
            <a:r>
              <a:t>Repository: docs/binder-review/README.md at fee316580ba27951c2ad6fea4bdd4a6b335421ed</a:t>
            </a:r>
          </a:p>
          <a:p>
            <a:r>
              <a:t>Repository: docs/inhibitor-workbench.md at fee316580ba27951c2ad6fea4bdd4a6b335421ed</a:t>
            </a:r>
          </a:p>
          <a:p>
            <a:r>
              <a:t>Repository: docs/spindle-build-pilot.json at fee316580ba27951c2ad6fea4bdd4a6b335421ed</a:t>
            </a:r>
          </a:p>
          <a:p>
            <a:r>
              <a:t>Repository: plans/3d-experiment-tools/03-tumor-stroma.md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35 seconds</a:t>
            </a:r>
          </a:p>
          <a:p>
            <a:r>
              <a:t>The larger Fudan benchmark includes 224 graded tumors. All five views were specified before scores were inspected. The primary rank-PCA model achieved an AUROC of 0.552, showing weak transfer. A prespecified secondary kernel achieved 0.694, but its source-fixed classification threshold gave only about 0.553 balanced accuracy. That is a follow-up ranking signal, not a validated grade classifier or independent sequential confirmation. The important result is that external data changed what we could responsibly claim.</a:t>
            </a:r>
          </a:p>
          <a:p/>
          <a:p>
            <a:r>
              <a:t>EVIDENCE / STATUS</a:t>
            </a:r>
          </a:p>
          <a:p>
            <a:r>
              <a:t>Source: protein-external-results.json. Primary rank-PCA AUROC 0.55249, 95% stratified bootstrap interval 0.47141–0.63377. Secondary RBF rank kernel 0.69376, interval 0.625–0.764; use the JSON for exact values. 224 graded tumors: 159 G3 and 65 G2, allowing 65 possible grade pairs. Reference-normalized CPTAC and label-free Fudan are different assays; cohort-wide processing prevents untouched-confirmation claims. PCA used 219 non-PDAC training cases; supervised balanced ridge heads used 104 CPTAC grades, penalty 1. RBF gamma was 1/feature-count. No external-label model tuning was performed.</a:t>
            </a:r>
          </a:p>
          <a:p/>
          <a:p>
            <a:r>
              <a:t>BEFORE PRESENTING / NEXT EDIT</a:t>
            </a:r>
          </a:p>
          <a:p>
            <a:r>
              <a:t>Keep all five prespecified views and sensitivity analyses available. Do not promote the secondary result to the primary result, select a threshold using external labels or describe this as a qualifying discovery-paper recovery.</a:t>
            </a:r>
          </a:p>
          <a:p/>
          <a:p>
            <a:r>
              <a:t>JUDGING CRITERIA</a:t>
            </a:r>
          </a:p>
          <a:p>
            <a:r>
              <a:t>Technical Execution (50); AI Technical Sophistication (50); Reliability (25)</a:t>
            </a:r>
          </a:p>
          <a:p/>
          <a:p>
            <a:r>
              <a:t>SOURCES</a:t>
            </a:r>
          </a:p>
          <a:p>
            <a:r>
              <a:t>Repository: docs/protein-external.md at fee316580ba27951c2ad6fea4bdd4a6b335421ed</a:t>
            </a:r>
          </a:p>
          <a:p>
            <a:r>
              <a:t>Repository: docs/protein-external-results.json at fee316580ba27951c2ad6fea4bdd4a6b335421ed</a:t>
            </a:r>
          </a:p>
          <a:p>
            <a:r>
              <a:t>Repository: docs/protein-external-training.json at fee316580ba27951c2ad6fea4bdd4a6b335421ed</a:t>
            </a:r>
          </a:p>
          <a:p>
            <a:r>
              <a:t>Repository: docs/protein-external-audit.json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35 seconds</a:t>
            </a:r>
          </a:p>
          <a:p>
            <a:r>
              <a:t>The expanded study now covers 72 donor records across five original studies: 45 for training, 11 for validation and 16 in external studies. These are the actual training and validation histories for the epithelial models, with all three seeds shown. The full record also contains fibroblast histories. Denoising training improves substantially, but exact PCA remains the stronger external reconstruction baseline. This is measured development work, not biological confirmation.</a:t>
            </a:r>
          </a:p>
          <a:p/>
          <a:p>
            <a:r>
              <a:t>EVIDENCE / STATUS</a:t>
            </a:r>
          </a:p>
          <a:p>
            <a:r>
              <a:t>Source fee3165: 338,900 prepared cells; a per-donor loading cap leaves 313,518. Separate epithelial/fibroblast denoising and negative-binomial encoders use 2,625 genes, width 256, latent size 64, 15% masking, up to 200 epochs and validation patience 35, seeds 2701–2703. The three-seed L40S run took 299 seconds with 10.8 GB peak allocation, excluding preceding pilot and later exact-PCA refresh. External MSE: exact PCA .28736/.23721, denoiser seed mean .29187/.24350, NB .36698/.29949 for epithelial/fibroblast. Epithelial denoising narrowly wins validation .20177 vs PCA .20197, so do not say PCA wins every validation comparison. Two NB fits select epoch 200; no blanket convergence claim. New epithelial definitions and cell-weighted metrics differ from the initial pilot. Seed variation is not donor uncertainty.</a:t>
            </a:r>
          </a:p>
          <a:p/>
          <a:p>
            <a:r>
              <a:t>BEFORE PRESENTING / NEXT EDIT</a:t>
            </a:r>
          </a:p>
          <a:p>
            <a:r>
              <a:t>Native PowerPoint crop shows the top two panels of the unchanged original figure. Complete four-panel PNG/PDF is docs/ecosystem-expansion/training-curves.*. Also review held-out-comparison.*, lineage-curves.* and association-controls.*. Lineage accuracy drops from 97.0% validation to 77.9% external Lin; donor-matching neural AUROC .647–.683 trails bilinear .692 on only 20 held-out donors.</a:t>
            </a:r>
          </a:p>
          <a:p/>
          <a:p>
            <a:r>
              <a:t>JUDGING CRITERIA</a:t>
            </a:r>
          </a:p>
          <a:p>
            <a:r>
              <a:t>AI Technical Sophistication (50); Reliability (25); Technical Execution (50)</a:t>
            </a:r>
          </a:p>
          <a:p/>
          <a:p>
            <a:r>
              <a:t>SOURCES</a:t>
            </a:r>
          </a:p>
          <a:p>
            <a:r>
              <a:t>Repository: docs/ecosystem-expansion.md at fee316580ba27951c2ad6fea4bdd4a6b335421ed</a:t>
            </a:r>
          </a:p>
          <a:p>
            <a:r>
              <a:t>Repository: docs/ecosystem-expansion/metrics.json at fee316580ba27951c2ad6fea4bdd4a6b335421ed</a:t>
            </a:r>
          </a:p>
          <a:p>
            <a:r>
              <a:t>Repository: docs/ecosystem-expansion/training-curves.pdf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DNHACKS 2026 / WORKING NAME</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01</a:t>
            </a:r>
          </a:p>
        </p:txBody>
      </p:sp>
      <p:pic>
        <p:nvPicPr>
          <p:cNvPr id="8" name="Picture 7" descr="cover.jpg"/>
          <p:cNvPicPr>
            <a:picLocks noChangeAspect="1"/>
          </p:cNvPicPr>
          <p:nvPr/>
        </p:nvPicPr>
        <p:blipFill>
          <a:blip r:embed="rId2"/>
          <a:stretch>
            <a:fillRect/>
          </a:stretch>
        </p:blipFill>
        <p:spPr>
          <a:xfrm>
            <a:off x="0" y="26581"/>
            <a:ext cx="12191999" cy="6804837"/>
          </a:xfrm>
          <a:prstGeom prst="rect">
            <a:avLst/>
          </a:prstGeom>
        </p:spPr>
      </p:pic>
      <p:sp>
        <p:nvSpPr>
          <p:cNvPr id="9" name="TextBox 8"/>
          <p:cNvSpPr txBox="1"/>
          <p:nvPr/>
        </p:nvSpPr>
        <p:spPr>
          <a:xfrm>
            <a:off x="566928" y="338328"/>
            <a:ext cx="3657600" cy="365760"/>
          </a:xfrm>
          <a:prstGeom prst="rect">
            <a:avLst/>
          </a:prstGeom>
          <a:noFill/>
        </p:spPr>
        <p:txBody>
          <a:bodyPr wrap="square" lIns="0" rIns="0" tIns="0" bIns="0" anchor="t">
            <a:noAutofit/>
          </a:bodyPr>
          <a:lstStyle/>
          <a:p>
            <a:pPr algn="l">
              <a:lnSpc>
                <a:spcPct val="108000"/>
              </a:lnSpc>
              <a:spcBef>
                <a:spcPts val="0"/>
              </a:spcBef>
              <a:spcAft>
                <a:spcPts val="0"/>
              </a:spcAft>
            </a:pPr>
            <a:r>
              <a:rPr sz="1400" b="1">
                <a:solidFill>
                  <a:srgbClr val="F1EFE7"/>
                </a:solidFill>
                <a:latin typeface="IBM Plex Mono"/>
              </a:rPr>
              <a:t>DN / RESEARCH</a:t>
            </a:r>
          </a:p>
        </p:txBody>
      </p:sp>
      <p:sp>
        <p:nvSpPr>
          <p:cNvPr id="10" name="TextBox 9"/>
          <p:cNvSpPr txBox="1"/>
          <p:nvPr/>
        </p:nvSpPr>
        <p:spPr>
          <a:xfrm>
            <a:off x="8778240" y="356616"/>
            <a:ext cx="2788920" cy="274320"/>
          </a:xfrm>
          <a:prstGeom prst="rect">
            <a:avLst/>
          </a:prstGeom>
          <a:noFill/>
        </p:spPr>
        <p:txBody>
          <a:bodyPr wrap="square" lIns="0" rIns="0" tIns="0" bIns="0" anchor="t">
            <a:noAutofit/>
          </a:bodyPr>
          <a:lstStyle/>
          <a:p>
            <a:pPr algn="r">
              <a:lnSpc>
                <a:spcPct val="108000"/>
              </a:lnSpc>
              <a:spcBef>
                <a:spcPts val="0"/>
              </a:spcBef>
              <a:spcAft>
                <a:spcPts val="0"/>
              </a:spcAft>
            </a:pPr>
            <a:r>
              <a:rPr sz="1100" b="0">
                <a:solidFill>
                  <a:srgbClr val="AFB9B2"/>
                </a:solidFill>
                <a:latin typeface="IBM Plex Mono"/>
              </a:rPr>
              <a:t>DNHACKS 2026</a:t>
            </a:r>
          </a:p>
        </p:txBody>
      </p:sp>
      <p:sp>
        <p:nvSpPr>
          <p:cNvPr id="11" name="TextBox 10"/>
          <p:cNvSpPr txBox="1"/>
          <p:nvPr/>
        </p:nvSpPr>
        <p:spPr>
          <a:xfrm>
            <a:off x="548640" y="1325880"/>
            <a:ext cx="6675120" cy="1828800"/>
          </a:xfrm>
          <a:prstGeom prst="rect">
            <a:avLst/>
          </a:prstGeom>
          <a:noFill/>
        </p:spPr>
        <p:txBody>
          <a:bodyPr wrap="square" lIns="0" rIns="0" tIns="0" bIns="0" anchor="t">
            <a:noAutofit/>
          </a:bodyPr>
          <a:lstStyle/>
          <a:p>
            <a:pPr algn="l">
              <a:lnSpc>
                <a:spcPct val="108000"/>
              </a:lnSpc>
              <a:spcBef>
                <a:spcPts val="0"/>
              </a:spcBef>
              <a:spcAft>
                <a:spcPts val="0"/>
              </a:spcAft>
            </a:pPr>
            <a:r>
              <a:rPr sz="6600" b="1">
                <a:solidFill>
                  <a:srgbClr val="F1EFE7"/>
                </a:solidFill>
                <a:latin typeface="IBM Plex Sans"/>
              </a:rPr>
              <a:t>Anticipate</a:t>
            </a:r>
          </a:p>
          <a:p>
            <a:pPr algn="l">
              <a:lnSpc>
                <a:spcPct val="108000"/>
              </a:lnSpc>
              <a:spcBef>
                <a:spcPts val="0"/>
              </a:spcBef>
              <a:spcAft>
                <a:spcPts val="0"/>
              </a:spcAft>
            </a:pPr>
            <a:r>
              <a:rPr sz="6600" b="1">
                <a:solidFill>
                  <a:srgbClr val="F1EFE7"/>
                </a:solidFill>
                <a:latin typeface="IBM Plex Sans"/>
              </a:rPr>
              <a:t>biology.</a:t>
            </a:r>
          </a:p>
        </p:txBody>
      </p:sp>
      <p:sp>
        <p:nvSpPr>
          <p:cNvPr id="12" name="TextBox 11"/>
          <p:cNvSpPr txBox="1"/>
          <p:nvPr/>
        </p:nvSpPr>
        <p:spPr>
          <a:xfrm>
            <a:off x="594360" y="3575304"/>
            <a:ext cx="6172200" cy="1280160"/>
          </a:xfrm>
          <a:prstGeom prst="rect">
            <a:avLst/>
          </a:prstGeom>
          <a:noFill/>
        </p:spPr>
        <p:txBody>
          <a:bodyPr wrap="square" lIns="0" rIns="0" tIns="0" bIns="0" anchor="t">
            <a:noAutofit/>
          </a:bodyPr>
          <a:lstStyle/>
          <a:p>
            <a:pPr algn="l">
              <a:lnSpc>
                <a:spcPct val="108000"/>
              </a:lnSpc>
              <a:spcBef>
                <a:spcPts val="0"/>
              </a:spcBef>
              <a:spcAft>
                <a:spcPts val="0"/>
              </a:spcAft>
            </a:pPr>
            <a:r>
              <a:rPr sz="3400" b="0">
                <a:solidFill>
                  <a:srgbClr val="A6C9B8"/>
                </a:solidFill>
                <a:latin typeface="IBM Plex Sans"/>
              </a:rPr>
              <a:t>Before it changes the</a:t>
            </a:r>
          </a:p>
          <a:p>
            <a:pPr algn="l">
              <a:lnSpc>
                <a:spcPct val="108000"/>
              </a:lnSpc>
              <a:spcBef>
                <a:spcPts val="0"/>
              </a:spcBef>
              <a:spcAft>
                <a:spcPts val="0"/>
              </a:spcAft>
            </a:pPr>
            <a:r>
              <a:rPr sz="3400" b="0">
                <a:solidFill>
                  <a:srgbClr val="A6C9B8"/>
                </a:solidFill>
                <a:latin typeface="IBM Plex Sans"/>
              </a:rPr>
              <a:t>balance of power.</a:t>
            </a:r>
          </a:p>
        </p:txBody>
      </p:sp>
      <p:sp>
        <p:nvSpPr>
          <p:cNvPr id="13" name="TextBox 12"/>
          <p:cNvSpPr txBox="1"/>
          <p:nvPr/>
        </p:nvSpPr>
        <p:spPr>
          <a:xfrm>
            <a:off x="621792" y="5230368"/>
            <a:ext cx="5852160" cy="713232"/>
          </a:xfrm>
          <a:prstGeom prst="rect">
            <a:avLst/>
          </a:prstGeom>
          <a:noFill/>
        </p:spPr>
        <p:txBody>
          <a:bodyPr wrap="square" lIns="0" rIns="0" tIns="0" bIns="0" anchor="t">
            <a:noAutofit/>
          </a:bodyPr>
          <a:lstStyle/>
          <a:p>
            <a:pPr algn="l">
              <a:lnSpc>
                <a:spcPct val="108000"/>
              </a:lnSpc>
              <a:spcBef>
                <a:spcPts val="0"/>
              </a:spcBef>
              <a:spcAft>
                <a:spcPts val="0"/>
              </a:spcAft>
            </a:pPr>
            <a:r>
              <a:rPr sz="2000" b="0">
                <a:solidFill>
                  <a:srgbClr val="F1EFE7"/>
                </a:solidFill>
                <a:latin typeface="IBM Plex Sans"/>
              </a:rPr>
              <a:t>An evidence-driven research engine</a:t>
            </a:r>
          </a:p>
          <a:p>
            <a:pPr algn="l">
              <a:lnSpc>
                <a:spcPct val="108000"/>
              </a:lnSpc>
              <a:spcBef>
                <a:spcPts val="0"/>
              </a:spcBef>
              <a:spcAft>
                <a:spcPts val="0"/>
              </a:spcAft>
            </a:pPr>
            <a:r>
              <a:rPr sz="2000" b="0">
                <a:solidFill>
                  <a:srgbClr val="F1EFE7"/>
                </a:solidFill>
                <a:latin typeface="IBM Plex Sans"/>
              </a:rPr>
              <a:t>for scientists working on what comes next.</a:t>
            </a:r>
          </a:p>
        </p:txBody>
      </p:sp>
      <p:sp>
        <p:nvSpPr>
          <p:cNvPr id="14" name="TextBox 13"/>
          <p:cNvSpPr txBox="1"/>
          <p:nvPr/>
        </p:nvSpPr>
        <p:spPr>
          <a:xfrm>
            <a:off x="548640" y="6336792"/>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50" b="0">
                <a:solidFill>
                  <a:srgbClr val="AFB9B2"/>
                </a:solidFill>
                <a:latin typeface="IBM Plex Mono"/>
              </a:rPr>
              <a:t>PROTOTYPE  /  OPEN CATEGORY PROPOSED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1EFE7"/>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17201F"/>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365E4D"/>
                </a:solidFill>
                <a:latin typeface="IBM Plex Mono"/>
              </a:rPr>
              <a:t>WHY ANTICIPATION MATTERS</a:t>
            </a:r>
          </a:p>
        </p:txBody>
      </p:sp>
      <p:cxnSp>
        <p:nvCxnSpPr>
          <p:cNvPr id="4" name="Connector 3"/>
          <p:cNvCxnSpPr/>
          <p:nvPr/>
        </p:nvCxnSpPr>
        <p:spPr>
          <a:xfrm>
            <a:off x="502920" y="658368"/>
            <a:ext cx="11183112" cy="0"/>
          </a:xfrm>
          <a:prstGeom prst="line">
            <a:avLst/>
          </a:prstGeom>
          <a:ln w="8890">
            <a:solidFill>
              <a:srgbClr val="CDCFC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CDCFC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365E4D"/>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17201F"/>
                </a:solidFill>
                <a:latin typeface="IBM Plex Mono"/>
              </a:rPr>
              <a:t>02</a:t>
            </a:r>
          </a:p>
        </p:txBody>
      </p:sp>
      <p:sp>
        <p:nvSpPr>
          <p:cNvPr id="8" name="TextBox 7"/>
          <p:cNvSpPr txBox="1"/>
          <p:nvPr/>
        </p:nvSpPr>
        <p:spPr>
          <a:xfrm>
            <a:off x="557784" y="950976"/>
            <a:ext cx="10972800" cy="914400"/>
          </a:xfrm>
          <a:prstGeom prst="rect">
            <a:avLst/>
          </a:prstGeom>
          <a:noFill/>
        </p:spPr>
        <p:txBody>
          <a:bodyPr wrap="square" lIns="0" rIns="0" tIns="0" bIns="0" anchor="t">
            <a:noAutofit/>
          </a:bodyPr>
          <a:lstStyle/>
          <a:p>
            <a:pPr algn="l">
              <a:lnSpc>
                <a:spcPct val="108000"/>
              </a:lnSpc>
              <a:spcBef>
                <a:spcPts val="0"/>
              </a:spcBef>
              <a:spcAft>
                <a:spcPts val="0"/>
              </a:spcAft>
            </a:pPr>
            <a:r>
              <a:rPr sz="2900" b="1">
                <a:solidFill>
                  <a:srgbClr val="365E4D"/>
                </a:solidFill>
                <a:latin typeface="IBM Plex Sans"/>
              </a:rPr>
              <a:t>A warning about the way we innovate.</a:t>
            </a:r>
          </a:p>
        </p:txBody>
      </p:sp>
      <p:sp>
        <p:nvSpPr>
          <p:cNvPr id="9" name="TextBox 8"/>
          <p:cNvSpPr txBox="1"/>
          <p:nvPr/>
        </p:nvSpPr>
        <p:spPr>
          <a:xfrm>
            <a:off x="548640" y="2148840"/>
            <a:ext cx="11064240" cy="2157984"/>
          </a:xfrm>
          <a:prstGeom prst="rect">
            <a:avLst/>
          </a:prstGeom>
          <a:noFill/>
        </p:spPr>
        <p:txBody>
          <a:bodyPr wrap="square" lIns="0" rIns="0" tIns="0" bIns="0" anchor="t">
            <a:noAutofit/>
          </a:bodyPr>
          <a:lstStyle/>
          <a:p>
            <a:pPr algn="l">
              <a:lnSpc>
                <a:spcPct val="108000"/>
              </a:lnSpc>
              <a:spcBef>
                <a:spcPts val="0"/>
              </a:spcBef>
              <a:spcAft>
                <a:spcPts val="0"/>
              </a:spcAft>
            </a:pPr>
            <a:r>
              <a:rPr sz="3700" b="1">
                <a:solidFill>
                  <a:srgbClr val="17201F"/>
                </a:solidFill>
                <a:latin typeface="IBM Plex Sans"/>
              </a:rPr>
              <a:t>“The United States tends to play</a:t>
            </a:r>
          </a:p>
          <a:p>
            <a:pPr algn="l">
              <a:lnSpc>
                <a:spcPct val="108000"/>
              </a:lnSpc>
              <a:spcBef>
                <a:spcPts val="0"/>
              </a:spcBef>
              <a:spcAft>
                <a:spcPts val="0"/>
              </a:spcAft>
            </a:pPr>
            <a:r>
              <a:rPr sz="3700" b="1">
                <a:solidFill>
                  <a:srgbClr val="17201F"/>
                </a:solidFill>
                <a:latin typeface="IBM Plex Sans"/>
              </a:rPr>
              <a:t>catch-up after critical technologies</a:t>
            </a:r>
          </a:p>
          <a:p>
            <a:pPr algn="l">
              <a:lnSpc>
                <a:spcPct val="108000"/>
              </a:lnSpc>
              <a:spcBef>
                <a:spcPts val="0"/>
              </a:spcBef>
              <a:spcAft>
                <a:spcPts val="0"/>
              </a:spcAft>
            </a:pPr>
            <a:r>
              <a:rPr sz="3700" b="1">
                <a:solidFill>
                  <a:srgbClr val="17201F"/>
                </a:solidFill>
                <a:latin typeface="IBM Plex Sans"/>
              </a:rPr>
              <a:t>have already become mainstream.”</a:t>
            </a:r>
          </a:p>
        </p:txBody>
      </p:sp>
      <p:cxnSp>
        <p:nvCxnSpPr>
          <p:cNvPr id="10" name="Connector 9"/>
          <p:cNvCxnSpPr/>
          <p:nvPr/>
        </p:nvCxnSpPr>
        <p:spPr>
          <a:xfrm>
            <a:off x="594360" y="4809744"/>
            <a:ext cx="1389888" cy="0"/>
          </a:xfrm>
          <a:prstGeom prst="line">
            <a:avLst/>
          </a:prstGeom>
          <a:ln w="25400">
            <a:solidFill>
              <a:srgbClr val="365E4D"/>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585216" y="5166360"/>
            <a:ext cx="10789920" cy="493776"/>
          </a:xfrm>
          <a:prstGeom prst="rect">
            <a:avLst/>
          </a:prstGeom>
          <a:noFill/>
        </p:spPr>
        <p:txBody>
          <a:bodyPr wrap="square" lIns="0" rIns="0" tIns="0" bIns="0" anchor="t">
            <a:noAutofit/>
          </a:bodyPr>
          <a:lstStyle/>
          <a:p>
            <a:pPr algn="l">
              <a:lnSpc>
                <a:spcPct val="108000"/>
              </a:lnSpc>
              <a:spcBef>
                <a:spcPts val="0"/>
              </a:spcBef>
              <a:spcAft>
                <a:spcPts val="0"/>
              </a:spcAft>
            </a:pPr>
            <a:r>
              <a:rPr sz="2300" b="0">
                <a:solidFill>
                  <a:srgbClr val="17201F"/>
                </a:solidFill>
                <a:latin typeface="IBM Plex Sans"/>
              </a:rPr>
              <a:t>National Security Commission on Emerging Biotechnology</a:t>
            </a:r>
          </a:p>
        </p:txBody>
      </p:sp>
      <p:sp>
        <p:nvSpPr>
          <p:cNvPr id="12" name="TextBox 11"/>
          <p:cNvSpPr txBox="1"/>
          <p:nvPr/>
        </p:nvSpPr>
        <p:spPr>
          <a:xfrm>
            <a:off x="603504" y="5742432"/>
            <a:ext cx="10789920" cy="274320"/>
          </a:xfrm>
          <a:prstGeom prst="rect">
            <a:avLst/>
          </a:prstGeom>
          <a:noFill/>
        </p:spPr>
        <p:txBody>
          <a:bodyPr wrap="square" lIns="0" rIns="0" tIns="0" bIns="0" anchor="t">
            <a:noAutofit/>
          </a:bodyPr>
          <a:lstStyle/>
          <a:p>
            <a:pPr algn="l">
              <a:lnSpc>
                <a:spcPct val="108000"/>
              </a:lnSpc>
              <a:spcBef>
                <a:spcPts val="0"/>
              </a:spcBef>
              <a:spcAft>
                <a:spcPts val="0"/>
              </a:spcAft>
            </a:pPr>
            <a:r>
              <a:rPr sz="1200" b="0">
                <a:solidFill>
                  <a:srgbClr val="365E4D"/>
                </a:solidFill>
                <a:latin typeface="IBM Plex Mono"/>
              </a:rPr>
              <a:t>2025 FINAL REPORT  /  SECTION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STRATEGIC THESIS</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03</a:t>
            </a:r>
          </a:p>
        </p:txBody>
      </p:sp>
      <p:sp>
        <p:nvSpPr>
          <p:cNvPr id="8" name="TextBox 7"/>
          <p:cNvSpPr txBox="1"/>
          <p:nvPr/>
        </p:nvSpPr>
        <p:spPr>
          <a:xfrm>
            <a:off x="548640" y="987552"/>
            <a:ext cx="11018520" cy="1197864"/>
          </a:xfrm>
          <a:prstGeom prst="rect">
            <a:avLst/>
          </a:prstGeom>
          <a:noFill/>
        </p:spPr>
        <p:txBody>
          <a:bodyPr wrap="square" lIns="0" rIns="0" tIns="0" bIns="0" anchor="t">
            <a:noAutofit/>
          </a:bodyPr>
          <a:lstStyle/>
          <a:p>
            <a:pPr algn="l">
              <a:lnSpc>
                <a:spcPct val="108000"/>
              </a:lnSpc>
              <a:spcBef>
                <a:spcPts val="0"/>
              </a:spcBef>
              <a:spcAft>
                <a:spcPts val="0"/>
              </a:spcAft>
            </a:pPr>
            <a:r>
              <a:rPr sz="3900" b="1">
                <a:solidFill>
                  <a:srgbClr val="F1EFE7"/>
                </a:solidFill>
                <a:latin typeface="IBM Plex Sans"/>
              </a:rPr>
              <a:t>A biological lead can become</a:t>
            </a:r>
          </a:p>
          <a:p>
            <a:pPr algn="l">
              <a:lnSpc>
                <a:spcPct val="108000"/>
              </a:lnSpc>
              <a:spcBef>
                <a:spcPts val="0"/>
              </a:spcBef>
              <a:spcAft>
                <a:spcPts val="0"/>
              </a:spcAft>
            </a:pPr>
            <a:r>
              <a:rPr sz="3900" b="1">
                <a:solidFill>
                  <a:srgbClr val="F1EFE7"/>
                </a:solidFill>
                <a:latin typeface="IBM Plex Sans"/>
              </a:rPr>
              <a:t>a unilateral advantage.</a:t>
            </a:r>
          </a:p>
        </p:txBody>
      </p:sp>
      <p:sp>
        <p:nvSpPr>
          <p:cNvPr id="9" name="TextBox 8"/>
          <p:cNvSpPr txBox="1"/>
          <p:nvPr/>
        </p:nvSpPr>
        <p:spPr>
          <a:xfrm>
            <a:off x="594360" y="2340864"/>
            <a:ext cx="10972800" cy="411480"/>
          </a:xfrm>
          <a:prstGeom prst="rect">
            <a:avLst/>
          </a:prstGeom>
          <a:noFill/>
        </p:spPr>
        <p:txBody>
          <a:bodyPr wrap="square" lIns="0" rIns="0" tIns="0" bIns="0" anchor="t">
            <a:noAutofit/>
          </a:bodyPr>
          <a:lstStyle/>
          <a:p>
            <a:pPr algn="l">
              <a:lnSpc>
                <a:spcPct val="108000"/>
              </a:lnSpc>
              <a:spcBef>
                <a:spcPts val="0"/>
              </a:spcBef>
              <a:spcAft>
                <a:spcPts val="0"/>
              </a:spcAft>
            </a:pPr>
            <a:r>
              <a:rPr sz="2200" b="0">
                <a:solidFill>
                  <a:srgbClr val="AFB9B2"/>
                </a:solidFill>
                <a:latin typeface="IBM Plex Sans"/>
              </a:rPr>
              <a:t>Novel biological threats leave less room for catch-up.</a:t>
            </a:r>
          </a:p>
        </p:txBody>
      </p:sp>
      <p:sp>
        <p:nvSpPr>
          <p:cNvPr id="10" name="TextBox 9"/>
          <p:cNvSpPr txBox="1"/>
          <p:nvPr/>
        </p:nvSpPr>
        <p:spPr>
          <a:xfrm>
            <a:off x="594360" y="2852928"/>
            <a:ext cx="3840480" cy="548640"/>
          </a:xfrm>
          <a:prstGeom prst="rect">
            <a:avLst/>
          </a:prstGeom>
          <a:noFill/>
        </p:spPr>
        <p:txBody>
          <a:bodyPr wrap="square" lIns="0" rIns="0" tIns="0" bIns="0" anchor="t">
            <a:noAutofit/>
          </a:bodyPr>
          <a:lstStyle/>
          <a:p>
            <a:pPr algn="l">
              <a:lnSpc>
                <a:spcPct val="108000"/>
              </a:lnSpc>
              <a:spcBef>
                <a:spcPts val="0"/>
              </a:spcBef>
              <a:spcAft>
                <a:spcPts val="0"/>
              </a:spcAft>
            </a:pPr>
            <a:r>
              <a:rPr sz="2500" b="1">
                <a:solidFill>
                  <a:srgbClr val="F1EFE7"/>
                </a:solidFill>
                <a:latin typeface="IBM Plex Sans"/>
              </a:rPr>
              <a:t>Capability develops</a:t>
            </a:r>
          </a:p>
        </p:txBody>
      </p:sp>
      <p:sp>
        <p:nvSpPr>
          <p:cNvPr id="11" name="TextBox 10"/>
          <p:cNvSpPr txBox="1"/>
          <p:nvPr/>
        </p:nvSpPr>
        <p:spPr>
          <a:xfrm>
            <a:off x="6556248" y="2852928"/>
            <a:ext cx="5047488" cy="548640"/>
          </a:xfrm>
          <a:prstGeom prst="rect">
            <a:avLst/>
          </a:prstGeom>
          <a:noFill/>
        </p:spPr>
        <p:txBody>
          <a:bodyPr wrap="square" lIns="0" rIns="0" tIns="0" bIns="0" anchor="t">
            <a:noAutofit/>
          </a:bodyPr>
          <a:lstStyle/>
          <a:p>
            <a:pPr algn="l">
              <a:lnSpc>
                <a:spcPct val="108000"/>
              </a:lnSpc>
              <a:spcBef>
                <a:spcPts val="0"/>
              </a:spcBef>
              <a:spcAft>
                <a:spcPts val="0"/>
              </a:spcAft>
            </a:pPr>
            <a:r>
              <a:rPr sz="2500" b="1">
                <a:solidFill>
                  <a:srgbClr val="F1EFE7"/>
                </a:solidFill>
                <a:latin typeface="IBM Plex Sans"/>
              </a:rPr>
              <a:t>Capability becomes visible</a:t>
            </a:r>
          </a:p>
        </p:txBody>
      </p:sp>
      <p:cxnSp>
        <p:nvCxnSpPr>
          <p:cNvPr id="12" name="Connector 11"/>
          <p:cNvCxnSpPr/>
          <p:nvPr/>
        </p:nvCxnSpPr>
        <p:spPr>
          <a:xfrm>
            <a:off x="731520" y="3858768"/>
            <a:ext cx="10744200" cy="0"/>
          </a:xfrm>
          <a:prstGeom prst="line">
            <a:avLst/>
          </a:prstGeom>
          <a:ln w="3810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13" name="Connector 12"/>
          <p:cNvCxnSpPr/>
          <p:nvPr/>
        </p:nvCxnSpPr>
        <p:spPr>
          <a:xfrm>
            <a:off x="731520" y="3858768"/>
            <a:ext cx="6089904" cy="0"/>
          </a:xfrm>
          <a:prstGeom prst="line">
            <a:avLst/>
          </a:prstGeom>
          <a:ln w="88900">
            <a:solidFill>
              <a:srgbClr val="A6C9B8"/>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6821424" y="3858768"/>
            <a:ext cx="4654296" cy="0"/>
          </a:xfrm>
          <a:prstGeom prst="line">
            <a:avLst/>
          </a:prstGeom>
          <a:ln w="88900">
            <a:solidFill>
              <a:srgbClr val="DEB577"/>
            </a:solidFill>
          </a:ln>
          <a:effectLst/>
        </p:spPr>
        <p:style>
          <a:lnRef idx="2">
            <a:schemeClr val="accent1"/>
          </a:lnRef>
          <a:fillRef idx="0">
            <a:schemeClr val="accent1"/>
          </a:fillRef>
          <a:effectRef idx="0">
            <a:schemeClr val="accent1"/>
          </a:effectRef>
          <a:fontRef idx="minor">
            <a:schemeClr val="tx1"/>
          </a:fontRef>
        </p:style>
      </p:cxnSp>
      <p:sp>
        <p:nvSpPr>
          <p:cNvPr id="15" name="Oval 14"/>
          <p:cNvSpPr/>
          <p:nvPr/>
        </p:nvSpPr>
        <p:spPr>
          <a:xfrm>
            <a:off x="635508" y="3762755"/>
            <a:ext cx="192024" cy="192024"/>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6725412" y="3762755"/>
            <a:ext cx="192024" cy="192024"/>
          </a:xfrm>
          <a:prstGeom prst="ellipse">
            <a:avLst/>
          </a:prstGeom>
          <a:solidFill>
            <a:srgbClr val="F1EF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11379708" y="3762755"/>
            <a:ext cx="192024" cy="192024"/>
          </a:xfrm>
          <a:prstGeom prst="ellipse">
            <a:avLst/>
          </a:prstGeom>
          <a:solidFill>
            <a:srgbClr val="DEB5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685800" y="4242816"/>
            <a:ext cx="4572000" cy="365760"/>
          </a:xfrm>
          <a:prstGeom prst="rect">
            <a:avLst/>
          </a:prstGeom>
          <a:noFill/>
        </p:spPr>
        <p:txBody>
          <a:bodyPr wrap="square" lIns="0" rIns="0" tIns="0" bIns="0" anchor="t">
            <a:noAutofit/>
          </a:bodyPr>
          <a:lstStyle/>
          <a:p>
            <a:pPr algn="l">
              <a:lnSpc>
                <a:spcPct val="108000"/>
              </a:lnSpc>
              <a:spcBef>
                <a:spcPts val="0"/>
              </a:spcBef>
              <a:spcAft>
                <a:spcPts val="0"/>
              </a:spcAft>
            </a:pPr>
            <a:r>
              <a:rPr sz="1500" b="1">
                <a:solidFill>
                  <a:srgbClr val="A6C9B8"/>
                </a:solidFill>
                <a:latin typeface="IBM Plex Mono"/>
              </a:rPr>
              <a:t>ANTICIPATE</a:t>
            </a:r>
          </a:p>
        </p:txBody>
      </p:sp>
      <p:sp>
        <p:nvSpPr>
          <p:cNvPr id="19" name="TextBox 18"/>
          <p:cNvSpPr txBox="1"/>
          <p:nvPr/>
        </p:nvSpPr>
        <p:spPr>
          <a:xfrm>
            <a:off x="7315200" y="4242816"/>
            <a:ext cx="3657600" cy="365760"/>
          </a:xfrm>
          <a:prstGeom prst="rect">
            <a:avLst/>
          </a:prstGeom>
          <a:noFill/>
        </p:spPr>
        <p:txBody>
          <a:bodyPr wrap="square" lIns="0" rIns="0" tIns="0" bIns="0" anchor="t">
            <a:noAutofit/>
          </a:bodyPr>
          <a:lstStyle/>
          <a:p>
            <a:pPr algn="l">
              <a:lnSpc>
                <a:spcPct val="108000"/>
              </a:lnSpc>
              <a:spcBef>
                <a:spcPts val="0"/>
              </a:spcBef>
              <a:spcAft>
                <a:spcPts val="0"/>
              </a:spcAft>
            </a:pPr>
            <a:r>
              <a:rPr sz="1500" b="1">
                <a:solidFill>
                  <a:srgbClr val="DEB577"/>
                </a:solidFill>
                <a:latin typeface="IBM Plex Mono"/>
              </a:rPr>
              <a:t>REACT</a:t>
            </a:r>
          </a:p>
        </p:txBody>
      </p:sp>
      <p:sp>
        <p:nvSpPr>
          <p:cNvPr id="20" name="TextBox 19"/>
          <p:cNvSpPr txBox="1"/>
          <p:nvPr/>
        </p:nvSpPr>
        <p:spPr>
          <a:xfrm>
            <a:off x="694944" y="4791456"/>
            <a:ext cx="5669280" cy="841248"/>
          </a:xfrm>
          <a:prstGeom prst="rect">
            <a:avLst/>
          </a:prstGeom>
          <a:noFill/>
        </p:spPr>
        <p:txBody>
          <a:bodyPr wrap="square" lIns="0" rIns="0" tIns="0" bIns="0" anchor="t">
            <a:noAutofit/>
          </a:bodyPr>
          <a:lstStyle/>
          <a:p>
            <a:pPr algn="l">
              <a:lnSpc>
                <a:spcPct val="108000"/>
              </a:lnSpc>
              <a:spcBef>
                <a:spcPts val="0"/>
              </a:spcBef>
              <a:spcAft>
                <a:spcPts val="0"/>
              </a:spcAft>
            </a:pPr>
            <a:r>
              <a:rPr sz="2300" b="0">
                <a:solidFill>
                  <a:srgbClr val="F1EFE7"/>
                </a:solidFill>
                <a:latin typeface="IBM Plex Sans"/>
              </a:rPr>
              <a:t>Connect evidence. Test implications.</a:t>
            </a:r>
          </a:p>
          <a:p>
            <a:pPr algn="l">
              <a:lnSpc>
                <a:spcPct val="108000"/>
              </a:lnSpc>
              <a:spcBef>
                <a:spcPts val="0"/>
              </a:spcBef>
              <a:spcAft>
                <a:spcPts val="0"/>
              </a:spcAft>
            </a:pPr>
            <a:r>
              <a:rPr sz="2300" b="0">
                <a:solidFill>
                  <a:srgbClr val="F1EFE7"/>
                </a:solidFill>
                <a:latin typeface="IBM Plex Sans"/>
              </a:rPr>
              <a:t>Prepare defensive options earlier.</a:t>
            </a:r>
          </a:p>
        </p:txBody>
      </p:sp>
      <p:sp>
        <p:nvSpPr>
          <p:cNvPr id="21" name="TextBox 20"/>
          <p:cNvSpPr txBox="1"/>
          <p:nvPr/>
        </p:nvSpPr>
        <p:spPr>
          <a:xfrm>
            <a:off x="7315200" y="4791456"/>
            <a:ext cx="4114800" cy="841248"/>
          </a:xfrm>
          <a:prstGeom prst="rect">
            <a:avLst/>
          </a:prstGeom>
          <a:noFill/>
        </p:spPr>
        <p:txBody>
          <a:bodyPr wrap="square" lIns="0" rIns="0" tIns="0" bIns="0" anchor="t">
            <a:noAutofit/>
          </a:bodyPr>
          <a:lstStyle/>
          <a:p>
            <a:pPr algn="l">
              <a:lnSpc>
                <a:spcPct val="108000"/>
              </a:lnSpc>
              <a:spcBef>
                <a:spcPts val="0"/>
              </a:spcBef>
              <a:spcAft>
                <a:spcPts val="0"/>
              </a:spcAft>
            </a:pPr>
            <a:r>
              <a:rPr sz="2300" b="0">
                <a:solidFill>
                  <a:srgbClr val="F1EFE7"/>
                </a:solidFill>
                <a:latin typeface="IBM Plex Sans"/>
              </a:rPr>
              <a:t>Response starts with</a:t>
            </a:r>
          </a:p>
          <a:p>
            <a:pPr algn="l">
              <a:lnSpc>
                <a:spcPct val="108000"/>
              </a:lnSpc>
              <a:spcBef>
                <a:spcPts val="0"/>
              </a:spcBef>
              <a:spcAft>
                <a:spcPts val="0"/>
              </a:spcAft>
            </a:pPr>
            <a:r>
              <a:rPr sz="2300" b="0">
                <a:solidFill>
                  <a:srgbClr val="F1EFE7"/>
                </a:solidFill>
                <a:latin typeface="IBM Plex Sans"/>
              </a:rPr>
              <a:t>less lead time.</a:t>
            </a:r>
          </a:p>
        </p:txBody>
      </p:sp>
      <p:sp>
        <p:nvSpPr>
          <p:cNvPr id="22" name="TextBox 21"/>
          <p:cNvSpPr txBox="1"/>
          <p:nvPr/>
        </p:nvSpPr>
        <p:spPr>
          <a:xfrm>
            <a:off x="548640" y="5952744"/>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50" b="0">
                <a:solidFill>
                  <a:srgbClr val="AFB9B2"/>
                </a:solidFill>
                <a:latin typeface="IBM Plex Mono"/>
              </a:rPr>
              <a:t>TEAM THESIS · Conceptual timeline, not measured intervals. Reactive measures remain necessary.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THE PRODUCT</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04</a:t>
            </a:r>
          </a:p>
        </p:txBody>
      </p:sp>
      <p:sp>
        <p:nvSpPr>
          <p:cNvPr id="8" name="TextBox 7"/>
          <p:cNvSpPr txBox="1"/>
          <p:nvPr/>
        </p:nvSpPr>
        <p:spPr>
          <a:xfrm>
            <a:off x="548640" y="987552"/>
            <a:ext cx="11018520" cy="1197864"/>
          </a:xfrm>
          <a:prstGeom prst="rect">
            <a:avLst/>
          </a:prstGeom>
          <a:noFill/>
        </p:spPr>
        <p:txBody>
          <a:bodyPr wrap="square" lIns="0" rIns="0" tIns="0" bIns="0" anchor="t">
            <a:noAutofit/>
          </a:bodyPr>
          <a:lstStyle/>
          <a:p>
            <a:pPr algn="l">
              <a:lnSpc>
                <a:spcPct val="108000"/>
              </a:lnSpc>
              <a:spcBef>
                <a:spcPts val="0"/>
              </a:spcBef>
              <a:spcAft>
                <a:spcPts val="0"/>
              </a:spcAft>
            </a:pPr>
            <a:r>
              <a:rPr sz="3900" b="1">
                <a:solidFill>
                  <a:srgbClr val="F1EFE7"/>
                </a:solidFill>
                <a:latin typeface="IBM Plex Sans"/>
              </a:rPr>
              <a:t>Point compute at the questions</a:t>
            </a:r>
          </a:p>
          <a:p>
            <a:pPr algn="l">
              <a:lnSpc>
                <a:spcPct val="108000"/>
              </a:lnSpc>
              <a:spcBef>
                <a:spcPts val="0"/>
              </a:spcBef>
              <a:spcAft>
                <a:spcPts val="0"/>
              </a:spcAft>
            </a:pPr>
            <a:r>
              <a:rPr sz="3900" b="1">
                <a:solidFill>
                  <a:srgbClr val="F1EFE7"/>
                </a:solidFill>
                <a:latin typeface="IBM Plex Sans"/>
              </a:rPr>
              <a:t>that matter.</a:t>
            </a:r>
          </a:p>
        </p:txBody>
      </p:sp>
      <p:cxnSp>
        <p:nvCxnSpPr>
          <p:cNvPr id="9" name="Connector 8"/>
          <p:cNvCxnSpPr/>
          <p:nvPr/>
        </p:nvCxnSpPr>
        <p:spPr>
          <a:xfrm flipH="1" flipV="1">
            <a:off x="7113502" y="2978510"/>
            <a:ext cx="191852" cy="214467"/>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0" name="Connector 9"/>
          <p:cNvCxnSpPr/>
          <p:nvPr/>
        </p:nvCxnSpPr>
        <p:spPr>
          <a:xfrm flipH="1">
            <a:off x="7208890" y="3192977"/>
            <a:ext cx="96464" cy="336133"/>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1" name="Connector 10"/>
          <p:cNvCxnSpPr/>
          <p:nvPr/>
        </p:nvCxnSpPr>
        <p:spPr>
          <a:xfrm flipV="1">
            <a:off x="7305354" y="3157292"/>
            <a:ext cx="383993" cy="35685"/>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2" name="Connector 11"/>
          <p:cNvCxnSpPr/>
          <p:nvPr/>
        </p:nvCxnSpPr>
        <p:spPr>
          <a:xfrm flipH="1" flipV="1">
            <a:off x="7296660" y="3681960"/>
            <a:ext cx="174212" cy="80472"/>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3" name="Connector 12"/>
          <p:cNvCxnSpPr/>
          <p:nvPr/>
        </p:nvCxnSpPr>
        <p:spPr>
          <a:xfrm>
            <a:off x="7470872" y="3762432"/>
            <a:ext cx="222927" cy="131396"/>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7470872" y="3762432"/>
            <a:ext cx="225660" cy="172408"/>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7481784" y="2816901"/>
            <a:ext cx="364227" cy="2380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6" name="Connector 15"/>
          <p:cNvCxnSpPr/>
          <p:nvPr/>
        </p:nvCxnSpPr>
        <p:spPr>
          <a:xfrm>
            <a:off x="7481784" y="2816901"/>
            <a:ext cx="378492" cy="11183"/>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7" name="Connector 16"/>
          <p:cNvCxnSpPr/>
          <p:nvPr/>
        </p:nvCxnSpPr>
        <p:spPr>
          <a:xfrm>
            <a:off x="7481784" y="2816901"/>
            <a:ext cx="207563" cy="34039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8" name="Connector 17"/>
          <p:cNvCxnSpPr/>
          <p:nvPr/>
        </p:nvCxnSpPr>
        <p:spPr>
          <a:xfrm flipH="1" flipV="1">
            <a:off x="7689347" y="3157292"/>
            <a:ext cx="198356" cy="55117"/>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19" name="Connector 18"/>
          <p:cNvCxnSpPr/>
          <p:nvPr/>
        </p:nvCxnSpPr>
        <p:spPr>
          <a:xfrm>
            <a:off x="7887703" y="3212409"/>
            <a:ext cx="246159" cy="7636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0" name="Connector 19"/>
          <p:cNvCxnSpPr/>
          <p:nvPr/>
        </p:nvCxnSpPr>
        <p:spPr>
          <a:xfrm flipV="1">
            <a:off x="7887703" y="2989997"/>
            <a:ext cx="161956" cy="222412"/>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7208890" y="3529110"/>
            <a:ext cx="87770" cy="152850"/>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2" name="Connector 21"/>
          <p:cNvCxnSpPr/>
          <p:nvPr/>
        </p:nvCxnSpPr>
        <p:spPr>
          <a:xfrm flipH="1">
            <a:off x="7009672" y="3529110"/>
            <a:ext cx="199218" cy="234792"/>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3" name="Connector 22"/>
          <p:cNvCxnSpPr/>
          <p:nvPr/>
        </p:nvCxnSpPr>
        <p:spPr>
          <a:xfrm>
            <a:off x="7693799" y="3893828"/>
            <a:ext cx="2733" cy="41012"/>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4" name="Connector 23"/>
          <p:cNvCxnSpPr/>
          <p:nvPr/>
        </p:nvCxnSpPr>
        <p:spPr>
          <a:xfrm flipV="1">
            <a:off x="7693799" y="3568528"/>
            <a:ext cx="223528" cy="325300"/>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5" name="Connector 24"/>
          <p:cNvCxnSpPr/>
          <p:nvPr/>
        </p:nvCxnSpPr>
        <p:spPr>
          <a:xfrm flipH="1">
            <a:off x="7917327" y="3459485"/>
            <a:ext cx="135728" cy="109043"/>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6" name="Connector 25"/>
          <p:cNvCxnSpPr/>
          <p:nvPr/>
        </p:nvCxnSpPr>
        <p:spPr>
          <a:xfrm flipV="1">
            <a:off x="8053055" y="3288778"/>
            <a:ext cx="80807" cy="170707"/>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7" name="Connector 26"/>
          <p:cNvCxnSpPr/>
          <p:nvPr/>
        </p:nvCxnSpPr>
        <p:spPr>
          <a:xfrm flipV="1">
            <a:off x="7696532" y="3568528"/>
            <a:ext cx="220795" cy="366312"/>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8" name="Connector 27"/>
          <p:cNvCxnSpPr/>
          <p:nvPr/>
        </p:nvCxnSpPr>
        <p:spPr>
          <a:xfrm flipV="1">
            <a:off x="7689347" y="2910937"/>
            <a:ext cx="245341" cy="246355"/>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29" name="Connector 28"/>
          <p:cNvCxnSpPr/>
          <p:nvPr/>
        </p:nvCxnSpPr>
        <p:spPr>
          <a:xfrm flipV="1">
            <a:off x="7689347" y="2840702"/>
            <a:ext cx="156664" cy="316590"/>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0" name="Connector 29"/>
          <p:cNvCxnSpPr/>
          <p:nvPr/>
        </p:nvCxnSpPr>
        <p:spPr>
          <a:xfrm flipV="1">
            <a:off x="7846011" y="2828084"/>
            <a:ext cx="14265" cy="12618"/>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1" name="Connector 30"/>
          <p:cNvCxnSpPr/>
          <p:nvPr/>
        </p:nvCxnSpPr>
        <p:spPr>
          <a:xfrm>
            <a:off x="7846011" y="2840702"/>
            <a:ext cx="88677" cy="70235"/>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2" name="Connector 31"/>
          <p:cNvCxnSpPr/>
          <p:nvPr/>
        </p:nvCxnSpPr>
        <p:spPr>
          <a:xfrm>
            <a:off x="7846011" y="2840702"/>
            <a:ext cx="159780" cy="10951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3" name="Connector 32"/>
          <p:cNvCxnSpPr/>
          <p:nvPr/>
        </p:nvCxnSpPr>
        <p:spPr>
          <a:xfrm flipH="1">
            <a:off x="7009672" y="3681960"/>
            <a:ext cx="286988" cy="81942"/>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4" name="Connector 33"/>
          <p:cNvCxnSpPr/>
          <p:nvPr/>
        </p:nvCxnSpPr>
        <p:spPr>
          <a:xfrm flipH="1" flipV="1">
            <a:off x="8049659" y="2989997"/>
            <a:ext cx="84203" cy="29878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5" name="Connector 34"/>
          <p:cNvCxnSpPr/>
          <p:nvPr/>
        </p:nvCxnSpPr>
        <p:spPr>
          <a:xfrm>
            <a:off x="8005791" y="2950221"/>
            <a:ext cx="43868" cy="39776"/>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6" name="Connector 35"/>
          <p:cNvCxnSpPr/>
          <p:nvPr/>
        </p:nvCxnSpPr>
        <p:spPr>
          <a:xfrm flipH="1" flipV="1">
            <a:off x="7934688" y="2910937"/>
            <a:ext cx="71103" cy="3928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7" name="Connector 36"/>
          <p:cNvCxnSpPr/>
          <p:nvPr/>
        </p:nvCxnSpPr>
        <p:spPr>
          <a:xfrm flipH="1" flipV="1">
            <a:off x="7860276" y="2828084"/>
            <a:ext cx="145515" cy="122137"/>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8" name="Connector 37"/>
          <p:cNvCxnSpPr/>
          <p:nvPr/>
        </p:nvCxnSpPr>
        <p:spPr>
          <a:xfrm>
            <a:off x="7860276" y="2828084"/>
            <a:ext cx="74412" cy="82853"/>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39" name="Connector 38"/>
          <p:cNvCxnSpPr/>
          <p:nvPr/>
        </p:nvCxnSpPr>
        <p:spPr>
          <a:xfrm>
            <a:off x="6536406" y="3236055"/>
            <a:ext cx="473266" cy="527847"/>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0" name="Connector 39"/>
          <p:cNvCxnSpPr/>
          <p:nvPr/>
        </p:nvCxnSpPr>
        <p:spPr>
          <a:xfrm flipH="1" flipV="1">
            <a:off x="9686305" y="2737447"/>
            <a:ext cx="247252" cy="103633"/>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1" name="Connector 40"/>
          <p:cNvCxnSpPr/>
          <p:nvPr/>
        </p:nvCxnSpPr>
        <p:spPr>
          <a:xfrm flipH="1" flipV="1">
            <a:off x="9637107" y="2782714"/>
            <a:ext cx="296450" cy="58366"/>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2" name="Connector 41"/>
          <p:cNvCxnSpPr/>
          <p:nvPr/>
        </p:nvCxnSpPr>
        <p:spPr>
          <a:xfrm flipH="1" flipV="1">
            <a:off x="9573509" y="2666686"/>
            <a:ext cx="360048" cy="17439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3" name="Connector 42"/>
          <p:cNvCxnSpPr/>
          <p:nvPr/>
        </p:nvCxnSpPr>
        <p:spPr>
          <a:xfrm flipH="1" flipV="1">
            <a:off x="10097922" y="3381548"/>
            <a:ext cx="27473" cy="123106"/>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4" name="Connector 43"/>
          <p:cNvCxnSpPr/>
          <p:nvPr/>
        </p:nvCxnSpPr>
        <p:spPr>
          <a:xfrm flipH="1" flipV="1">
            <a:off x="9996076" y="3486136"/>
            <a:ext cx="129319" cy="18518"/>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5" name="Connector 44"/>
          <p:cNvCxnSpPr/>
          <p:nvPr/>
        </p:nvCxnSpPr>
        <p:spPr>
          <a:xfrm flipV="1">
            <a:off x="10125395" y="3488275"/>
            <a:ext cx="248405" cy="1637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6" name="Connector 45"/>
          <p:cNvCxnSpPr/>
          <p:nvPr/>
        </p:nvCxnSpPr>
        <p:spPr>
          <a:xfrm flipH="1">
            <a:off x="10499059" y="3288424"/>
            <a:ext cx="12810" cy="54610"/>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7" name="Connector 46"/>
          <p:cNvCxnSpPr/>
          <p:nvPr/>
        </p:nvCxnSpPr>
        <p:spPr>
          <a:xfrm flipH="1">
            <a:off x="10373800" y="3288424"/>
            <a:ext cx="138069" cy="19985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8" name="Connector 47"/>
          <p:cNvCxnSpPr/>
          <p:nvPr/>
        </p:nvCxnSpPr>
        <p:spPr>
          <a:xfrm flipH="1">
            <a:off x="10462290" y="3288424"/>
            <a:ext cx="49579" cy="35946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49" name="Connector 48"/>
          <p:cNvCxnSpPr/>
          <p:nvPr/>
        </p:nvCxnSpPr>
        <p:spPr>
          <a:xfrm flipH="1">
            <a:off x="10373800" y="3343034"/>
            <a:ext cx="125259" cy="14524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0" name="Connector 49"/>
          <p:cNvCxnSpPr/>
          <p:nvPr/>
        </p:nvCxnSpPr>
        <p:spPr>
          <a:xfrm flipH="1">
            <a:off x="10462290" y="3343034"/>
            <a:ext cx="36769" cy="30485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1" name="Connector 50"/>
          <p:cNvCxnSpPr/>
          <p:nvPr/>
        </p:nvCxnSpPr>
        <p:spPr>
          <a:xfrm flipV="1">
            <a:off x="9637107" y="2737447"/>
            <a:ext cx="49198" cy="45267"/>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2" name="Connector 51"/>
          <p:cNvCxnSpPr/>
          <p:nvPr/>
        </p:nvCxnSpPr>
        <p:spPr>
          <a:xfrm flipH="1" flipV="1">
            <a:off x="9573509" y="2666686"/>
            <a:ext cx="63598" cy="116028"/>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3" name="Connector 52"/>
          <p:cNvCxnSpPr/>
          <p:nvPr/>
        </p:nvCxnSpPr>
        <p:spPr>
          <a:xfrm>
            <a:off x="9693863" y="3372052"/>
            <a:ext cx="130835" cy="93617"/>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4" name="Connector 53"/>
          <p:cNvCxnSpPr/>
          <p:nvPr/>
        </p:nvCxnSpPr>
        <p:spPr>
          <a:xfrm>
            <a:off x="9693863" y="3372052"/>
            <a:ext cx="302213" cy="11408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5" name="Connector 54"/>
          <p:cNvCxnSpPr/>
          <p:nvPr/>
        </p:nvCxnSpPr>
        <p:spPr>
          <a:xfrm>
            <a:off x="9693863" y="3372052"/>
            <a:ext cx="404059" cy="9496"/>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6" name="Connector 55"/>
          <p:cNvCxnSpPr/>
          <p:nvPr/>
        </p:nvCxnSpPr>
        <p:spPr>
          <a:xfrm flipV="1">
            <a:off x="9938102" y="3486136"/>
            <a:ext cx="57974" cy="331698"/>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7" name="Connector 56"/>
          <p:cNvCxnSpPr/>
          <p:nvPr/>
        </p:nvCxnSpPr>
        <p:spPr>
          <a:xfrm flipV="1">
            <a:off x="9938102" y="3803537"/>
            <a:ext cx="356583" cy="14297"/>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8" name="Connector 57"/>
          <p:cNvCxnSpPr/>
          <p:nvPr/>
        </p:nvCxnSpPr>
        <p:spPr>
          <a:xfrm>
            <a:off x="9573509" y="2666686"/>
            <a:ext cx="112796" cy="7076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59" name="Connector 58"/>
          <p:cNvCxnSpPr/>
          <p:nvPr/>
        </p:nvCxnSpPr>
        <p:spPr>
          <a:xfrm flipH="1">
            <a:off x="9256326" y="2666686"/>
            <a:ext cx="317183" cy="236927"/>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0" name="Connector 59"/>
          <p:cNvCxnSpPr/>
          <p:nvPr/>
        </p:nvCxnSpPr>
        <p:spPr>
          <a:xfrm flipH="1" flipV="1">
            <a:off x="10373800" y="3488275"/>
            <a:ext cx="88490" cy="159610"/>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1" name="Connector 60"/>
          <p:cNvCxnSpPr/>
          <p:nvPr/>
        </p:nvCxnSpPr>
        <p:spPr>
          <a:xfrm flipH="1">
            <a:off x="10294685" y="3647885"/>
            <a:ext cx="167605" cy="155652"/>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2" name="Connector 61"/>
          <p:cNvCxnSpPr/>
          <p:nvPr/>
        </p:nvCxnSpPr>
        <p:spPr>
          <a:xfrm flipH="1" flipV="1">
            <a:off x="10637056" y="2864435"/>
            <a:ext cx="220415" cy="20834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3" name="Connector 62"/>
          <p:cNvCxnSpPr/>
          <p:nvPr/>
        </p:nvCxnSpPr>
        <p:spPr>
          <a:xfrm flipV="1">
            <a:off x="9256326" y="2737447"/>
            <a:ext cx="429979" cy="166166"/>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4" name="Connector 63"/>
          <p:cNvCxnSpPr/>
          <p:nvPr/>
        </p:nvCxnSpPr>
        <p:spPr>
          <a:xfrm flipH="1">
            <a:off x="10465408" y="2581062"/>
            <a:ext cx="80699" cy="24126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5" name="Connector 64"/>
          <p:cNvCxnSpPr/>
          <p:nvPr/>
        </p:nvCxnSpPr>
        <p:spPr>
          <a:xfrm>
            <a:off x="10546107" y="2581062"/>
            <a:ext cx="90949" cy="283373"/>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6" name="Connector 65"/>
          <p:cNvCxnSpPr/>
          <p:nvPr/>
        </p:nvCxnSpPr>
        <p:spPr>
          <a:xfrm flipH="1">
            <a:off x="9996076" y="3381548"/>
            <a:ext cx="101846" cy="104588"/>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7" name="Connector 66"/>
          <p:cNvCxnSpPr/>
          <p:nvPr/>
        </p:nvCxnSpPr>
        <p:spPr>
          <a:xfrm flipH="1">
            <a:off x="9824698" y="3381548"/>
            <a:ext cx="273224" cy="8412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8" name="Connector 67"/>
          <p:cNvCxnSpPr/>
          <p:nvPr/>
        </p:nvCxnSpPr>
        <p:spPr>
          <a:xfrm>
            <a:off x="9824698" y="3465669"/>
            <a:ext cx="171378" cy="20467"/>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69" name="Connector 68"/>
          <p:cNvCxnSpPr/>
          <p:nvPr/>
        </p:nvCxnSpPr>
        <p:spPr>
          <a:xfrm>
            <a:off x="10465408" y="2822326"/>
            <a:ext cx="171648" cy="4210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0" name="Connector 69"/>
          <p:cNvCxnSpPr/>
          <p:nvPr/>
        </p:nvCxnSpPr>
        <p:spPr>
          <a:xfrm>
            <a:off x="8889109" y="4772769"/>
            <a:ext cx="17764" cy="143696"/>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1" name="Connector 70"/>
          <p:cNvCxnSpPr/>
          <p:nvPr/>
        </p:nvCxnSpPr>
        <p:spPr>
          <a:xfrm flipV="1">
            <a:off x="8889109" y="4707625"/>
            <a:ext cx="142758" cy="65144"/>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2" name="Connector 71"/>
          <p:cNvCxnSpPr/>
          <p:nvPr/>
        </p:nvCxnSpPr>
        <p:spPr>
          <a:xfrm>
            <a:off x="8889109" y="4772769"/>
            <a:ext cx="90313" cy="360273"/>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3" name="Connector 72"/>
          <p:cNvCxnSpPr/>
          <p:nvPr/>
        </p:nvCxnSpPr>
        <p:spPr>
          <a:xfrm>
            <a:off x="8545467" y="4566557"/>
            <a:ext cx="361406" cy="349908"/>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4" name="Connector 73"/>
          <p:cNvCxnSpPr/>
          <p:nvPr/>
        </p:nvCxnSpPr>
        <p:spPr>
          <a:xfrm>
            <a:off x="8545467" y="4566557"/>
            <a:ext cx="486400" cy="141068"/>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5" name="Connector 74"/>
          <p:cNvCxnSpPr/>
          <p:nvPr/>
        </p:nvCxnSpPr>
        <p:spPr>
          <a:xfrm flipH="1" flipV="1">
            <a:off x="8906873" y="4916465"/>
            <a:ext cx="72549" cy="216577"/>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6" name="Connector 75"/>
          <p:cNvCxnSpPr/>
          <p:nvPr/>
        </p:nvCxnSpPr>
        <p:spPr>
          <a:xfrm>
            <a:off x="8979422" y="5133042"/>
            <a:ext cx="177248" cy="326190"/>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7" name="Connector 76"/>
          <p:cNvCxnSpPr/>
          <p:nvPr/>
        </p:nvCxnSpPr>
        <p:spPr>
          <a:xfrm flipV="1">
            <a:off x="10122290" y="4905199"/>
            <a:ext cx="13436" cy="4723"/>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8" name="Connector 77"/>
          <p:cNvCxnSpPr/>
          <p:nvPr/>
        </p:nvCxnSpPr>
        <p:spPr>
          <a:xfrm>
            <a:off x="10122290" y="4909922"/>
            <a:ext cx="144114" cy="51575"/>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79" name="Connector 78"/>
          <p:cNvCxnSpPr/>
          <p:nvPr/>
        </p:nvCxnSpPr>
        <p:spPr>
          <a:xfrm flipH="1">
            <a:off x="9983961" y="4909922"/>
            <a:ext cx="138329" cy="17997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0" name="Connector 79"/>
          <p:cNvCxnSpPr/>
          <p:nvPr/>
        </p:nvCxnSpPr>
        <p:spPr>
          <a:xfrm>
            <a:off x="9738260" y="5069676"/>
            <a:ext cx="174255" cy="150345"/>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1" name="Connector 80"/>
          <p:cNvCxnSpPr/>
          <p:nvPr/>
        </p:nvCxnSpPr>
        <p:spPr>
          <a:xfrm>
            <a:off x="9738260" y="5069676"/>
            <a:ext cx="245701" cy="20225"/>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2" name="Connector 81"/>
          <p:cNvCxnSpPr/>
          <p:nvPr/>
        </p:nvCxnSpPr>
        <p:spPr>
          <a:xfrm>
            <a:off x="9738260" y="5069676"/>
            <a:ext cx="282410" cy="205348"/>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3" name="Connector 82"/>
          <p:cNvCxnSpPr/>
          <p:nvPr/>
        </p:nvCxnSpPr>
        <p:spPr>
          <a:xfrm flipH="1" flipV="1">
            <a:off x="9912515" y="5220021"/>
            <a:ext cx="108155" cy="55003"/>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4" name="Connector 83"/>
          <p:cNvCxnSpPr/>
          <p:nvPr/>
        </p:nvCxnSpPr>
        <p:spPr>
          <a:xfrm flipH="1" flipV="1">
            <a:off x="9983961" y="5089901"/>
            <a:ext cx="36709" cy="185123"/>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5" name="Connector 84"/>
          <p:cNvCxnSpPr/>
          <p:nvPr/>
        </p:nvCxnSpPr>
        <p:spPr>
          <a:xfrm>
            <a:off x="9572983" y="4471184"/>
            <a:ext cx="219355" cy="175247"/>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6" name="Connector 85"/>
          <p:cNvCxnSpPr/>
          <p:nvPr/>
        </p:nvCxnSpPr>
        <p:spPr>
          <a:xfrm flipH="1" flipV="1">
            <a:off x="9091605" y="4446496"/>
            <a:ext cx="481378" cy="24688"/>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7" name="Connector 86"/>
          <p:cNvCxnSpPr/>
          <p:nvPr/>
        </p:nvCxnSpPr>
        <p:spPr>
          <a:xfrm flipH="1">
            <a:off x="9031867" y="4471184"/>
            <a:ext cx="541116" cy="236441"/>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8" name="Connector 87"/>
          <p:cNvCxnSpPr/>
          <p:nvPr/>
        </p:nvCxnSpPr>
        <p:spPr>
          <a:xfrm flipH="1">
            <a:off x="9912515" y="5089901"/>
            <a:ext cx="71446" cy="130120"/>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89" name="Connector 88"/>
          <p:cNvCxnSpPr/>
          <p:nvPr/>
        </p:nvCxnSpPr>
        <p:spPr>
          <a:xfrm>
            <a:off x="10135726" y="4905199"/>
            <a:ext cx="130678" cy="56298"/>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90" name="Connector 89"/>
          <p:cNvCxnSpPr/>
          <p:nvPr/>
        </p:nvCxnSpPr>
        <p:spPr>
          <a:xfrm flipH="1">
            <a:off x="10266404" y="4795748"/>
            <a:ext cx="83371" cy="16574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91" name="Connector 90"/>
          <p:cNvCxnSpPr/>
          <p:nvPr/>
        </p:nvCxnSpPr>
        <p:spPr>
          <a:xfrm flipH="1">
            <a:off x="9031867" y="4446496"/>
            <a:ext cx="59738" cy="261129"/>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92" name="Connector 91"/>
          <p:cNvCxnSpPr/>
          <p:nvPr/>
        </p:nvCxnSpPr>
        <p:spPr>
          <a:xfrm flipH="1" flipV="1">
            <a:off x="9156670" y="5459232"/>
            <a:ext cx="157534" cy="23892"/>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93" name="Connector 92"/>
          <p:cNvCxnSpPr/>
          <p:nvPr/>
        </p:nvCxnSpPr>
        <p:spPr>
          <a:xfrm flipV="1">
            <a:off x="8413183" y="4916465"/>
            <a:ext cx="493690" cy="207692"/>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cxnSp>
        <p:nvCxnSpPr>
          <p:cNvPr id="94" name="Connector 93"/>
          <p:cNvCxnSpPr/>
          <p:nvPr/>
        </p:nvCxnSpPr>
        <p:spPr>
          <a:xfrm flipV="1">
            <a:off x="8906873" y="4707625"/>
            <a:ext cx="124994" cy="208840"/>
          </a:xfrm>
          <a:prstGeom prst="line">
            <a:avLst/>
          </a:prstGeom>
          <a:ln w="8255">
            <a:solidFill>
              <a:srgbClr val="394D44"/>
            </a:solidFill>
          </a:ln>
          <a:effectLst/>
        </p:spPr>
        <p:style>
          <a:lnRef idx="2">
            <a:schemeClr val="accent1"/>
          </a:lnRef>
          <a:fillRef idx="0">
            <a:schemeClr val="accent1"/>
          </a:fillRef>
          <a:effectRef idx="0">
            <a:schemeClr val="accent1"/>
          </a:effectRef>
          <a:fontRef idx="minor">
            <a:schemeClr val="tx1"/>
          </a:fontRef>
        </p:style>
      </p:cxnSp>
      <p:sp>
        <p:nvSpPr>
          <p:cNvPr id="95" name="Oval 94"/>
          <p:cNvSpPr/>
          <p:nvPr/>
        </p:nvSpPr>
        <p:spPr>
          <a:xfrm>
            <a:off x="7264206" y="3151829"/>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6" name="Oval 95"/>
          <p:cNvSpPr/>
          <p:nvPr/>
        </p:nvSpPr>
        <p:spPr>
          <a:xfrm>
            <a:off x="7448012" y="3739572"/>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7" name="Oval 96"/>
          <p:cNvSpPr/>
          <p:nvPr/>
        </p:nvSpPr>
        <p:spPr>
          <a:xfrm>
            <a:off x="7458924" y="2794041"/>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8" name="Oval 97"/>
          <p:cNvSpPr/>
          <p:nvPr/>
        </p:nvSpPr>
        <p:spPr>
          <a:xfrm>
            <a:off x="7864843" y="3189549"/>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9" name="Oval 98"/>
          <p:cNvSpPr/>
          <p:nvPr/>
        </p:nvSpPr>
        <p:spPr>
          <a:xfrm>
            <a:off x="7167742" y="3487962"/>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0" name="Oval 99"/>
          <p:cNvSpPr/>
          <p:nvPr/>
        </p:nvSpPr>
        <p:spPr>
          <a:xfrm>
            <a:off x="7670939" y="3870968"/>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1" name="Oval 100"/>
          <p:cNvSpPr/>
          <p:nvPr/>
        </p:nvSpPr>
        <p:spPr>
          <a:xfrm>
            <a:off x="8030195" y="3436625"/>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2" name="Oval 101"/>
          <p:cNvSpPr/>
          <p:nvPr/>
        </p:nvSpPr>
        <p:spPr>
          <a:xfrm>
            <a:off x="7090642" y="2955650"/>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3" name="Oval 102"/>
          <p:cNvSpPr/>
          <p:nvPr/>
        </p:nvSpPr>
        <p:spPr>
          <a:xfrm>
            <a:off x="7655384" y="3893692"/>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4" name="Oval 103"/>
          <p:cNvSpPr/>
          <p:nvPr/>
        </p:nvSpPr>
        <p:spPr>
          <a:xfrm>
            <a:off x="7666487" y="3134432"/>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5" name="Oval 104"/>
          <p:cNvSpPr/>
          <p:nvPr/>
        </p:nvSpPr>
        <p:spPr>
          <a:xfrm>
            <a:off x="7823151" y="2817842"/>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6" name="Oval 105"/>
          <p:cNvSpPr/>
          <p:nvPr/>
        </p:nvSpPr>
        <p:spPr>
          <a:xfrm>
            <a:off x="7273800" y="3659100"/>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7" name="Oval 106"/>
          <p:cNvSpPr/>
          <p:nvPr/>
        </p:nvSpPr>
        <p:spPr>
          <a:xfrm>
            <a:off x="8092714" y="3247630"/>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8" name="Oval 107"/>
          <p:cNvSpPr/>
          <p:nvPr/>
        </p:nvSpPr>
        <p:spPr>
          <a:xfrm>
            <a:off x="7894467" y="3545668"/>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9" name="Oval 108"/>
          <p:cNvSpPr/>
          <p:nvPr/>
        </p:nvSpPr>
        <p:spPr>
          <a:xfrm>
            <a:off x="7982931" y="2927361"/>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0" name="Oval 109"/>
          <p:cNvSpPr/>
          <p:nvPr/>
        </p:nvSpPr>
        <p:spPr>
          <a:xfrm>
            <a:off x="7837416" y="2805224"/>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1" name="Oval 110"/>
          <p:cNvSpPr/>
          <p:nvPr/>
        </p:nvSpPr>
        <p:spPr>
          <a:xfrm>
            <a:off x="6495258" y="3194907"/>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2" name="Oval 111"/>
          <p:cNvSpPr/>
          <p:nvPr/>
        </p:nvSpPr>
        <p:spPr>
          <a:xfrm>
            <a:off x="6986812" y="3741042"/>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3" name="Oval 112"/>
          <p:cNvSpPr/>
          <p:nvPr/>
        </p:nvSpPr>
        <p:spPr>
          <a:xfrm>
            <a:off x="7911828" y="2888077"/>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4" name="Oval 113"/>
          <p:cNvSpPr/>
          <p:nvPr/>
        </p:nvSpPr>
        <p:spPr>
          <a:xfrm>
            <a:off x="8026799" y="2967137"/>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5" name="Oval 114"/>
          <p:cNvSpPr/>
          <p:nvPr/>
        </p:nvSpPr>
        <p:spPr>
          <a:xfrm>
            <a:off x="9892409" y="2799932"/>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6" name="Oval 115"/>
          <p:cNvSpPr/>
          <p:nvPr/>
        </p:nvSpPr>
        <p:spPr>
          <a:xfrm>
            <a:off x="10102535" y="3481794"/>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7" name="Oval 116"/>
          <p:cNvSpPr/>
          <p:nvPr/>
        </p:nvSpPr>
        <p:spPr>
          <a:xfrm>
            <a:off x="10489009" y="3265564"/>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8" name="Oval 117"/>
          <p:cNvSpPr/>
          <p:nvPr/>
        </p:nvSpPr>
        <p:spPr>
          <a:xfrm>
            <a:off x="10476199" y="3320174"/>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9" name="Oval 118"/>
          <p:cNvSpPr/>
          <p:nvPr/>
        </p:nvSpPr>
        <p:spPr>
          <a:xfrm>
            <a:off x="9595959" y="2741566"/>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0" name="Oval 119"/>
          <p:cNvSpPr/>
          <p:nvPr/>
        </p:nvSpPr>
        <p:spPr>
          <a:xfrm>
            <a:off x="9671003" y="3349192"/>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1" name="Oval 120"/>
          <p:cNvSpPr/>
          <p:nvPr/>
        </p:nvSpPr>
        <p:spPr>
          <a:xfrm>
            <a:off x="9915242" y="3794974"/>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2" name="Oval 121"/>
          <p:cNvSpPr/>
          <p:nvPr/>
        </p:nvSpPr>
        <p:spPr>
          <a:xfrm>
            <a:off x="9550649" y="2643826"/>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3" name="Oval 122"/>
          <p:cNvSpPr/>
          <p:nvPr/>
        </p:nvSpPr>
        <p:spPr>
          <a:xfrm>
            <a:off x="10421142" y="3606737"/>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4" name="Oval 123"/>
          <p:cNvSpPr/>
          <p:nvPr/>
        </p:nvSpPr>
        <p:spPr>
          <a:xfrm>
            <a:off x="10350940" y="3465415"/>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5" name="Oval 124"/>
          <p:cNvSpPr/>
          <p:nvPr/>
        </p:nvSpPr>
        <p:spPr>
          <a:xfrm>
            <a:off x="10834611" y="3049919"/>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6" name="Oval 125"/>
          <p:cNvSpPr/>
          <p:nvPr/>
        </p:nvSpPr>
        <p:spPr>
          <a:xfrm>
            <a:off x="9233466" y="2880753"/>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Oval 126"/>
          <p:cNvSpPr/>
          <p:nvPr/>
        </p:nvSpPr>
        <p:spPr>
          <a:xfrm>
            <a:off x="10504959" y="2539914"/>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8" name="Oval 127"/>
          <p:cNvSpPr/>
          <p:nvPr/>
        </p:nvSpPr>
        <p:spPr>
          <a:xfrm>
            <a:off x="10075062" y="3358688"/>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9" name="Oval 128"/>
          <p:cNvSpPr/>
          <p:nvPr/>
        </p:nvSpPr>
        <p:spPr>
          <a:xfrm>
            <a:off x="9801838" y="3442809"/>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Oval 129"/>
          <p:cNvSpPr/>
          <p:nvPr/>
        </p:nvSpPr>
        <p:spPr>
          <a:xfrm>
            <a:off x="10271825" y="3780677"/>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1" name="Oval 130"/>
          <p:cNvSpPr/>
          <p:nvPr/>
        </p:nvSpPr>
        <p:spPr>
          <a:xfrm>
            <a:off x="10424260" y="2781178"/>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2" name="Oval 131"/>
          <p:cNvSpPr/>
          <p:nvPr/>
        </p:nvSpPr>
        <p:spPr>
          <a:xfrm>
            <a:off x="9663445" y="2714587"/>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3" name="Oval 132"/>
          <p:cNvSpPr/>
          <p:nvPr/>
        </p:nvSpPr>
        <p:spPr>
          <a:xfrm>
            <a:off x="10614196" y="2841575"/>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4" name="Oval 133"/>
          <p:cNvSpPr/>
          <p:nvPr/>
        </p:nvSpPr>
        <p:spPr>
          <a:xfrm>
            <a:off x="9973216" y="3463276"/>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5" name="Oval 134"/>
          <p:cNvSpPr/>
          <p:nvPr/>
        </p:nvSpPr>
        <p:spPr>
          <a:xfrm>
            <a:off x="8847961" y="4731621"/>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6" name="Oval 135"/>
          <p:cNvSpPr/>
          <p:nvPr/>
        </p:nvSpPr>
        <p:spPr>
          <a:xfrm>
            <a:off x="8522607" y="4543697"/>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7" name="Oval 136"/>
          <p:cNvSpPr/>
          <p:nvPr/>
        </p:nvSpPr>
        <p:spPr>
          <a:xfrm>
            <a:off x="8956562" y="5110182"/>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8" name="Oval 137"/>
          <p:cNvSpPr/>
          <p:nvPr/>
        </p:nvSpPr>
        <p:spPr>
          <a:xfrm>
            <a:off x="10099430" y="4887062"/>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9" name="Oval 138"/>
          <p:cNvSpPr/>
          <p:nvPr/>
        </p:nvSpPr>
        <p:spPr>
          <a:xfrm>
            <a:off x="9697112" y="5028528"/>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0" name="Oval 139"/>
          <p:cNvSpPr/>
          <p:nvPr/>
        </p:nvSpPr>
        <p:spPr>
          <a:xfrm>
            <a:off x="9997810" y="5252164"/>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1" name="Oval 140"/>
          <p:cNvSpPr/>
          <p:nvPr/>
        </p:nvSpPr>
        <p:spPr>
          <a:xfrm>
            <a:off x="9550123" y="4448324"/>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2" name="Oval 141"/>
          <p:cNvSpPr/>
          <p:nvPr/>
        </p:nvSpPr>
        <p:spPr>
          <a:xfrm>
            <a:off x="9961101" y="5067041"/>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3" name="Oval 142"/>
          <p:cNvSpPr/>
          <p:nvPr/>
        </p:nvSpPr>
        <p:spPr>
          <a:xfrm>
            <a:off x="10094578" y="4864051"/>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4" name="Oval 143"/>
          <p:cNvSpPr/>
          <p:nvPr/>
        </p:nvSpPr>
        <p:spPr>
          <a:xfrm>
            <a:off x="10326915" y="4772888"/>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5" name="Oval 144"/>
          <p:cNvSpPr/>
          <p:nvPr/>
        </p:nvSpPr>
        <p:spPr>
          <a:xfrm>
            <a:off x="10243544" y="4938637"/>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6" name="Oval 145"/>
          <p:cNvSpPr/>
          <p:nvPr/>
        </p:nvSpPr>
        <p:spPr>
          <a:xfrm>
            <a:off x="9068745" y="4423636"/>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7" name="Oval 146"/>
          <p:cNvSpPr/>
          <p:nvPr/>
        </p:nvSpPr>
        <p:spPr>
          <a:xfrm>
            <a:off x="9273056" y="5441976"/>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8" name="Oval 147"/>
          <p:cNvSpPr/>
          <p:nvPr/>
        </p:nvSpPr>
        <p:spPr>
          <a:xfrm>
            <a:off x="9889655" y="5197161"/>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9" name="Oval 148"/>
          <p:cNvSpPr/>
          <p:nvPr/>
        </p:nvSpPr>
        <p:spPr>
          <a:xfrm>
            <a:off x="8390323" y="5101297"/>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0" name="Oval 149"/>
          <p:cNvSpPr/>
          <p:nvPr/>
        </p:nvSpPr>
        <p:spPr>
          <a:xfrm>
            <a:off x="9769478" y="4623571"/>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1" name="Oval 150"/>
          <p:cNvSpPr/>
          <p:nvPr/>
        </p:nvSpPr>
        <p:spPr>
          <a:xfrm>
            <a:off x="8865725" y="4875317"/>
            <a:ext cx="82296" cy="82296"/>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2" name="Oval 151"/>
          <p:cNvSpPr/>
          <p:nvPr/>
        </p:nvSpPr>
        <p:spPr>
          <a:xfrm>
            <a:off x="10206677" y="4540192"/>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3" name="Oval 152"/>
          <p:cNvSpPr/>
          <p:nvPr/>
        </p:nvSpPr>
        <p:spPr>
          <a:xfrm>
            <a:off x="9133810" y="5436372"/>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4" name="Oval 153"/>
          <p:cNvSpPr/>
          <p:nvPr/>
        </p:nvSpPr>
        <p:spPr>
          <a:xfrm>
            <a:off x="9009007" y="4684765"/>
            <a:ext cx="45720" cy="45720"/>
          </a:xfrm>
          <a:prstGeom prst="ellipse">
            <a:avLst/>
          </a:prstGeom>
          <a:solidFill>
            <a:srgbClr val="6D988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5" name="Connector 154"/>
          <p:cNvCxnSpPr/>
          <p:nvPr/>
        </p:nvCxnSpPr>
        <p:spPr>
          <a:xfrm>
            <a:off x="7481784" y="2816901"/>
            <a:ext cx="207563" cy="340391"/>
          </a:xfrm>
          <a:prstGeom prst="line">
            <a:avLst/>
          </a:prstGeom>
          <a:ln w="25400">
            <a:solidFill>
              <a:srgbClr val="A6C9B8"/>
            </a:solidFill>
          </a:ln>
          <a:effectLst/>
        </p:spPr>
        <p:style>
          <a:lnRef idx="2">
            <a:schemeClr val="accent1"/>
          </a:lnRef>
          <a:fillRef idx="0">
            <a:schemeClr val="accent1"/>
          </a:fillRef>
          <a:effectRef idx="0">
            <a:schemeClr val="accent1"/>
          </a:effectRef>
          <a:fontRef idx="minor">
            <a:schemeClr val="tx1"/>
          </a:fontRef>
        </p:style>
      </p:cxnSp>
      <p:cxnSp>
        <p:nvCxnSpPr>
          <p:cNvPr id="156" name="Connector 155"/>
          <p:cNvCxnSpPr/>
          <p:nvPr/>
        </p:nvCxnSpPr>
        <p:spPr>
          <a:xfrm>
            <a:off x="7689347" y="3157292"/>
            <a:ext cx="2809712" cy="185742"/>
          </a:xfrm>
          <a:prstGeom prst="line">
            <a:avLst/>
          </a:prstGeom>
          <a:ln w="25400">
            <a:solidFill>
              <a:srgbClr val="A6C9B8"/>
            </a:solidFill>
            <a:prstDash val="dash"/>
          </a:ln>
          <a:effectLst/>
        </p:spPr>
        <p:style>
          <a:lnRef idx="2">
            <a:schemeClr val="accent1"/>
          </a:lnRef>
          <a:fillRef idx="0">
            <a:schemeClr val="accent1"/>
          </a:fillRef>
          <a:effectRef idx="0">
            <a:schemeClr val="accent1"/>
          </a:effectRef>
          <a:fontRef idx="minor">
            <a:schemeClr val="tx1"/>
          </a:fontRef>
        </p:style>
      </p:cxnSp>
      <p:cxnSp>
        <p:nvCxnSpPr>
          <p:cNvPr id="157" name="Connector 156"/>
          <p:cNvCxnSpPr/>
          <p:nvPr/>
        </p:nvCxnSpPr>
        <p:spPr>
          <a:xfrm flipH="1">
            <a:off x="8979422" y="3343034"/>
            <a:ext cx="1519637" cy="1790008"/>
          </a:xfrm>
          <a:prstGeom prst="line">
            <a:avLst/>
          </a:prstGeom>
          <a:ln w="25400">
            <a:solidFill>
              <a:srgbClr val="A6C9B8"/>
            </a:solidFill>
          </a:ln>
          <a:effectLst/>
        </p:spPr>
        <p:style>
          <a:lnRef idx="2">
            <a:schemeClr val="accent1"/>
          </a:lnRef>
          <a:fillRef idx="0">
            <a:schemeClr val="accent1"/>
          </a:fillRef>
          <a:effectRef idx="0">
            <a:schemeClr val="accent1"/>
          </a:effectRef>
          <a:fontRef idx="minor">
            <a:schemeClr val="tx1"/>
          </a:fontRef>
        </p:style>
      </p:cxnSp>
      <p:cxnSp>
        <p:nvCxnSpPr>
          <p:cNvPr id="158" name="Connector 157"/>
          <p:cNvCxnSpPr/>
          <p:nvPr/>
        </p:nvCxnSpPr>
        <p:spPr>
          <a:xfrm>
            <a:off x="8979422" y="5133042"/>
            <a:ext cx="933093" cy="86979"/>
          </a:xfrm>
          <a:prstGeom prst="line">
            <a:avLst/>
          </a:prstGeom>
          <a:ln w="2540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159" name="Oval 158"/>
          <p:cNvSpPr/>
          <p:nvPr/>
        </p:nvSpPr>
        <p:spPr>
          <a:xfrm>
            <a:off x="7394916" y="2730033"/>
            <a:ext cx="173736" cy="173736"/>
          </a:xfrm>
          <a:prstGeom prst="ellipse">
            <a:avLst/>
          </a:prstGeom>
          <a:solidFill>
            <a:srgbClr val="17201F"/>
          </a:solidFill>
          <a:ln>
            <a:solidFill>
              <a:srgbClr val="A6C9B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0" name="Oval 159"/>
          <p:cNvSpPr/>
          <p:nvPr/>
        </p:nvSpPr>
        <p:spPr>
          <a:xfrm>
            <a:off x="7445208" y="2780325"/>
            <a:ext cx="73152" cy="73152"/>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1" name="Oval 160"/>
          <p:cNvSpPr/>
          <p:nvPr/>
        </p:nvSpPr>
        <p:spPr>
          <a:xfrm>
            <a:off x="7602479" y="3070424"/>
            <a:ext cx="173736" cy="173736"/>
          </a:xfrm>
          <a:prstGeom prst="ellipse">
            <a:avLst/>
          </a:prstGeom>
          <a:solidFill>
            <a:srgbClr val="17201F"/>
          </a:solidFill>
          <a:ln>
            <a:solidFill>
              <a:srgbClr val="A6C9B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2" name="Oval 161"/>
          <p:cNvSpPr/>
          <p:nvPr/>
        </p:nvSpPr>
        <p:spPr>
          <a:xfrm>
            <a:off x="7652771" y="3120716"/>
            <a:ext cx="73152" cy="73152"/>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3" name="Oval 162"/>
          <p:cNvSpPr/>
          <p:nvPr/>
        </p:nvSpPr>
        <p:spPr>
          <a:xfrm>
            <a:off x="10412191" y="3256166"/>
            <a:ext cx="173736" cy="173736"/>
          </a:xfrm>
          <a:prstGeom prst="ellipse">
            <a:avLst/>
          </a:prstGeom>
          <a:solidFill>
            <a:srgbClr val="17201F"/>
          </a:solidFill>
          <a:ln>
            <a:solidFill>
              <a:srgbClr val="A6C9B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4" name="Oval 163"/>
          <p:cNvSpPr/>
          <p:nvPr/>
        </p:nvSpPr>
        <p:spPr>
          <a:xfrm>
            <a:off x="10462483" y="3306458"/>
            <a:ext cx="73152" cy="73152"/>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5" name="Oval 164"/>
          <p:cNvSpPr/>
          <p:nvPr/>
        </p:nvSpPr>
        <p:spPr>
          <a:xfrm>
            <a:off x="8892554" y="5046174"/>
            <a:ext cx="173736" cy="173736"/>
          </a:xfrm>
          <a:prstGeom prst="ellipse">
            <a:avLst/>
          </a:prstGeom>
          <a:solidFill>
            <a:srgbClr val="17201F"/>
          </a:solidFill>
          <a:ln>
            <a:solidFill>
              <a:srgbClr val="A6C9B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6" name="Oval 165"/>
          <p:cNvSpPr/>
          <p:nvPr/>
        </p:nvSpPr>
        <p:spPr>
          <a:xfrm>
            <a:off x="8942846" y="5096466"/>
            <a:ext cx="73152" cy="73152"/>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7" name="Oval 166"/>
          <p:cNvSpPr/>
          <p:nvPr/>
        </p:nvSpPr>
        <p:spPr>
          <a:xfrm>
            <a:off x="9825647" y="5133153"/>
            <a:ext cx="173736" cy="173736"/>
          </a:xfrm>
          <a:prstGeom prst="ellipse">
            <a:avLst/>
          </a:prstGeom>
          <a:solidFill>
            <a:srgbClr val="17201F"/>
          </a:solidFill>
          <a:ln>
            <a:solidFill>
              <a:srgbClr val="A6C9B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8" name="Oval 167"/>
          <p:cNvSpPr/>
          <p:nvPr/>
        </p:nvSpPr>
        <p:spPr>
          <a:xfrm>
            <a:off x="9875939" y="5183445"/>
            <a:ext cx="73152" cy="73152"/>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9" name="TextBox 168"/>
          <p:cNvSpPr txBox="1"/>
          <p:nvPr/>
        </p:nvSpPr>
        <p:spPr>
          <a:xfrm>
            <a:off x="594360" y="2807208"/>
            <a:ext cx="5669280" cy="566928"/>
          </a:xfrm>
          <a:prstGeom prst="rect">
            <a:avLst/>
          </a:prstGeom>
          <a:noFill/>
        </p:spPr>
        <p:txBody>
          <a:bodyPr wrap="square" lIns="0" rIns="0" tIns="0" bIns="0" anchor="t">
            <a:noAutofit/>
          </a:bodyPr>
          <a:lstStyle/>
          <a:p>
            <a:pPr algn="l">
              <a:lnSpc>
                <a:spcPct val="108000"/>
              </a:lnSpc>
              <a:spcBef>
                <a:spcPts val="0"/>
              </a:spcBef>
              <a:spcAft>
                <a:spcPts val="0"/>
              </a:spcAft>
            </a:pPr>
            <a:r>
              <a:rPr sz="2800" b="1">
                <a:solidFill>
                  <a:srgbClr val="A6C9B8"/>
                </a:solidFill>
                <a:latin typeface="IBM Plex Sans"/>
              </a:rPr>
              <a:t>Published evidence</a:t>
            </a:r>
          </a:p>
        </p:txBody>
      </p:sp>
      <p:sp>
        <p:nvSpPr>
          <p:cNvPr id="170" name="TextBox 169"/>
          <p:cNvSpPr txBox="1"/>
          <p:nvPr/>
        </p:nvSpPr>
        <p:spPr>
          <a:xfrm>
            <a:off x="594360" y="3602736"/>
            <a:ext cx="5897880" cy="566928"/>
          </a:xfrm>
          <a:prstGeom prst="rect">
            <a:avLst/>
          </a:prstGeom>
          <a:noFill/>
        </p:spPr>
        <p:txBody>
          <a:bodyPr wrap="square" lIns="0" rIns="0" tIns="0" bIns="0" anchor="t">
            <a:noAutofit/>
          </a:bodyPr>
          <a:lstStyle/>
          <a:p>
            <a:pPr algn="l">
              <a:lnSpc>
                <a:spcPct val="108000"/>
              </a:lnSpc>
              <a:spcBef>
                <a:spcPts val="0"/>
              </a:spcBef>
              <a:spcAft>
                <a:spcPts val="0"/>
              </a:spcAft>
            </a:pPr>
            <a:r>
              <a:rPr sz="2800" b="1">
                <a:solidFill>
                  <a:srgbClr val="F1EFE7"/>
                </a:solidFill>
                <a:latin typeface="IBM Plex Sans"/>
              </a:rPr>
              <a:t>→ testable connections</a:t>
            </a:r>
          </a:p>
        </p:txBody>
      </p:sp>
      <p:sp>
        <p:nvSpPr>
          <p:cNvPr id="171" name="TextBox 170"/>
          <p:cNvSpPr txBox="1"/>
          <p:nvPr/>
        </p:nvSpPr>
        <p:spPr>
          <a:xfrm>
            <a:off x="594360" y="4398264"/>
            <a:ext cx="6428232" cy="658368"/>
          </a:xfrm>
          <a:prstGeom prst="rect">
            <a:avLst/>
          </a:prstGeom>
          <a:noFill/>
        </p:spPr>
        <p:txBody>
          <a:bodyPr wrap="square" lIns="0" rIns="0" tIns="0" bIns="0" anchor="t">
            <a:noAutofit/>
          </a:bodyPr>
          <a:lstStyle/>
          <a:p>
            <a:pPr algn="l">
              <a:lnSpc>
                <a:spcPct val="108000"/>
              </a:lnSpc>
              <a:spcBef>
                <a:spcPts val="0"/>
              </a:spcBef>
              <a:spcAft>
                <a:spcPts val="0"/>
              </a:spcAft>
            </a:pPr>
            <a:r>
              <a:rPr sz="2800" b="1">
                <a:solidFill>
                  <a:srgbClr val="F1EFE7"/>
                </a:solidFill>
                <a:latin typeface="IBM Plex Sans"/>
              </a:rPr>
              <a:t>→ experiments worth reviewing</a:t>
            </a:r>
          </a:p>
        </p:txBody>
      </p:sp>
      <p:sp>
        <p:nvSpPr>
          <p:cNvPr id="172" name="TextBox 171"/>
          <p:cNvSpPr txBox="1"/>
          <p:nvPr/>
        </p:nvSpPr>
        <p:spPr>
          <a:xfrm>
            <a:off x="548640" y="5952744"/>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50" b="0">
                <a:solidFill>
                  <a:srgbClr val="AFB9B2"/>
                </a:solidFill>
                <a:latin typeface="IBM Plex Mono"/>
              </a:rPr>
              <a:t>INITIAL PROVING GROUND · Computational biology, including pancreatic-cancer research.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UNDERSTANDING THE USER</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05</a:t>
            </a:r>
          </a:p>
        </p:txBody>
      </p:sp>
      <p:sp>
        <p:nvSpPr>
          <p:cNvPr id="8" name="TextBox 7"/>
          <p:cNvSpPr txBox="1"/>
          <p:nvPr/>
        </p:nvSpPr>
        <p:spPr>
          <a:xfrm>
            <a:off x="548640" y="987552"/>
            <a:ext cx="11018520" cy="1197864"/>
          </a:xfrm>
          <a:prstGeom prst="rect">
            <a:avLst/>
          </a:prstGeom>
          <a:noFill/>
        </p:spPr>
        <p:txBody>
          <a:bodyPr wrap="square" lIns="0" rIns="0" tIns="0" bIns="0" anchor="t">
            <a:noAutofit/>
          </a:bodyPr>
          <a:lstStyle/>
          <a:p>
            <a:pPr algn="l">
              <a:lnSpc>
                <a:spcPct val="108000"/>
              </a:lnSpc>
              <a:spcBef>
                <a:spcPts val="0"/>
              </a:spcBef>
              <a:spcAft>
                <a:spcPts val="0"/>
              </a:spcAft>
            </a:pPr>
            <a:r>
              <a:rPr sz="3900" b="1">
                <a:solidFill>
                  <a:srgbClr val="F1EFE7"/>
                </a:solidFill>
                <a:latin typeface="IBM Plex Sans"/>
              </a:rPr>
              <a:t>Make the next experiment</a:t>
            </a:r>
          </a:p>
          <a:p>
            <a:pPr algn="l">
              <a:lnSpc>
                <a:spcPct val="108000"/>
              </a:lnSpc>
              <a:spcBef>
                <a:spcPts val="0"/>
              </a:spcBef>
              <a:spcAft>
                <a:spcPts val="0"/>
              </a:spcAft>
            </a:pPr>
            <a:r>
              <a:rPr sz="3900" b="1">
                <a:solidFill>
                  <a:srgbClr val="F1EFE7"/>
                </a:solidFill>
                <a:latin typeface="IBM Plex Sans"/>
              </a:rPr>
              <a:t>a deliberate decision.</a:t>
            </a:r>
          </a:p>
        </p:txBody>
      </p:sp>
      <p:pic>
        <p:nvPicPr>
          <p:cNvPr id="9" name="Picture 8" descr="workspace-fixture.png"/>
          <p:cNvPicPr>
            <a:picLocks noChangeAspect="1"/>
          </p:cNvPicPr>
          <p:nvPr/>
        </p:nvPicPr>
        <p:blipFill>
          <a:blip r:embed="rId2"/>
          <a:stretch>
            <a:fillRect/>
          </a:stretch>
        </p:blipFill>
        <p:spPr>
          <a:xfrm>
            <a:off x="5199278" y="2414016"/>
            <a:ext cx="5457139" cy="3410712"/>
          </a:xfrm>
          <a:prstGeom prst="rect">
            <a:avLst/>
          </a:prstGeom>
        </p:spPr>
      </p:pic>
      <p:sp>
        <p:nvSpPr>
          <p:cNvPr id="10" name="TextBox 9"/>
          <p:cNvSpPr txBox="1"/>
          <p:nvPr/>
        </p:nvSpPr>
        <p:spPr>
          <a:xfrm>
            <a:off x="603504" y="2560320"/>
            <a:ext cx="3447288" cy="868680"/>
          </a:xfrm>
          <a:prstGeom prst="rect">
            <a:avLst/>
          </a:prstGeom>
          <a:noFill/>
        </p:spPr>
        <p:txBody>
          <a:bodyPr wrap="square" lIns="0" rIns="0" tIns="0" bIns="0" anchor="t">
            <a:noAutofit/>
          </a:bodyPr>
          <a:lstStyle/>
          <a:p>
            <a:pPr algn="l">
              <a:lnSpc>
                <a:spcPct val="108000"/>
              </a:lnSpc>
              <a:spcBef>
                <a:spcPts val="0"/>
              </a:spcBef>
              <a:spcAft>
                <a:spcPts val="0"/>
              </a:spcAft>
            </a:pPr>
            <a:r>
              <a:rPr sz="2500" b="1">
                <a:solidFill>
                  <a:srgbClr val="A6C9B8"/>
                </a:solidFill>
                <a:latin typeface="IBM Plex Sans"/>
              </a:rPr>
              <a:t>Computational</a:t>
            </a:r>
          </a:p>
          <a:p>
            <a:pPr algn="l">
              <a:lnSpc>
                <a:spcPct val="108000"/>
              </a:lnSpc>
              <a:spcBef>
                <a:spcPts val="0"/>
              </a:spcBef>
              <a:spcAft>
                <a:spcPts val="0"/>
              </a:spcAft>
            </a:pPr>
            <a:r>
              <a:rPr sz="2500" b="1">
                <a:solidFill>
                  <a:srgbClr val="A6C9B8"/>
                </a:solidFill>
                <a:latin typeface="IBM Plex Sans"/>
              </a:rPr>
              <a:t>biologist</a:t>
            </a:r>
          </a:p>
        </p:txBody>
      </p:sp>
      <p:sp>
        <p:nvSpPr>
          <p:cNvPr id="11" name="TextBox 10"/>
          <p:cNvSpPr txBox="1"/>
          <p:nvPr/>
        </p:nvSpPr>
        <p:spPr>
          <a:xfrm>
            <a:off x="612648" y="3502152"/>
            <a:ext cx="3447288" cy="429768"/>
          </a:xfrm>
          <a:prstGeom prst="rect">
            <a:avLst/>
          </a:prstGeom>
          <a:noFill/>
        </p:spPr>
        <p:txBody>
          <a:bodyPr wrap="square" lIns="0" rIns="0" tIns="0" bIns="0" anchor="t">
            <a:noAutofit/>
          </a:bodyPr>
          <a:lstStyle/>
          <a:p>
            <a:pPr algn="l">
              <a:lnSpc>
                <a:spcPct val="108000"/>
              </a:lnSpc>
              <a:spcBef>
                <a:spcPts val="0"/>
              </a:spcBef>
              <a:spcAft>
                <a:spcPts val="0"/>
              </a:spcAft>
            </a:pPr>
            <a:r>
              <a:rPr sz="2000" b="0">
                <a:solidFill>
                  <a:srgbClr val="AFB9B2"/>
                </a:solidFill>
                <a:latin typeface="IBM Plex Sans"/>
              </a:rPr>
              <a:t>Small research team</a:t>
            </a:r>
          </a:p>
        </p:txBody>
      </p:sp>
      <p:sp>
        <p:nvSpPr>
          <p:cNvPr id="12" name="TextBox 11"/>
          <p:cNvSpPr txBox="1"/>
          <p:nvPr/>
        </p:nvSpPr>
        <p:spPr>
          <a:xfrm>
            <a:off x="612648" y="4215384"/>
            <a:ext cx="3447288" cy="1060704"/>
          </a:xfrm>
          <a:prstGeom prst="rect">
            <a:avLst/>
          </a:prstGeom>
          <a:noFill/>
        </p:spPr>
        <p:txBody>
          <a:bodyPr wrap="square" lIns="0" rIns="0" tIns="0" bIns="0" anchor="t">
            <a:noAutofit/>
          </a:bodyPr>
          <a:lstStyle/>
          <a:p>
            <a:pPr algn="l">
              <a:lnSpc>
                <a:spcPct val="108000"/>
              </a:lnSpc>
              <a:spcBef>
                <a:spcPts val="0"/>
              </a:spcBef>
              <a:spcAft>
                <a:spcPts val="0"/>
              </a:spcAft>
            </a:pPr>
            <a:r>
              <a:rPr sz="2100" b="0">
                <a:solidFill>
                  <a:srgbClr val="F1EFE7"/>
                </a:solidFill>
                <a:latin typeface="IBM Plex Sans"/>
              </a:rPr>
              <a:t>Choose a question.</a:t>
            </a:r>
          </a:p>
          <a:p>
            <a:pPr algn="l">
              <a:lnSpc>
                <a:spcPct val="108000"/>
              </a:lnSpc>
              <a:spcBef>
                <a:spcPts val="0"/>
              </a:spcBef>
              <a:spcAft>
                <a:spcPts val="0"/>
              </a:spcAft>
            </a:pPr>
            <a:r>
              <a:rPr sz="2100" b="0">
                <a:solidFill>
                  <a:srgbClr val="F1EFE7"/>
                </a:solidFill>
                <a:latin typeface="IBM Plex Sans"/>
              </a:rPr>
              <a:t>Inspect its evidence.</a:t>
            </a:r>
          </a:p>
          <a:p>
            <a:pPr algn="l">
              <a:lnSpc>
                <a:spcPct val="108000"/>
              </a:lnSpc>
              <a:spcBef>
                <a:spcPts val="0"/>
              </a:spcBef>
              <a:spcAft>
                <a:spcPts val="0"/>
              </a:spcAft>
            </a:pPr>
            <a:r>
              <a:rPr sz="2100" b="0">
                <a:solidFill>
                  <a:srgbClr val="F1EFE7"/>
                </a:solidFill>
                <a:latin typeface="IBM Plex Sans"/>
              </a:rPr>
              <a:t>Explain the decision.</a:t>
            </a:r>
          </a:p>
        </p:txBody>
      </p:sp>
      <p:sp>
        <p:nvSpPr>
          <p:cNvPr id="13" name="TextBox 12"/>
          <p:cNvSpPr txBox="1"/>
          <p:nvPr/>
        </p:nvSpPr>
        <p:spPr>
          <a:xfrm>
            <a:off x="548640" y="5952744"/>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50" b="0">
                <a:solidFill>
                  <a:srgbClr val="AFB9B2"/>
                </a:solidFill>
                <a:latin typeface="IBM Plex Mono"/>
              </a:rPr>
              <a:t>USER HYPOTHESIS · Actual interface with synthetic test data; interviews and usability study remain ahead.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AI ENGINEERING / THE COMPLETE LOOP</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06</a:t>
            </a:r>
          </a:p>
        </p:txBody>
      </p:sp>
      <p:sp>
        <p:nvSpPr>
          <p:cNvPr id="8" name="TextBox 7"/>
          <p:cNvSpPr txBox="1"/>
          <p:nvPr/>
        </p:nvSpPr>
        <p:spPr>
          <a:xfrm>
            <a:off x="548640" y="987552"/>
            <a:ext cx="11018520" cy="1197864"/>
          </a:xfrm>
          <a:prstGeom prst="rect">
            <a:avLst/>
          </a:prstGeom>
          <a:noFill/>
        </p:spPr>
        <p:txBody>
          <a:bodyPr wrap="square" lIns="0" rIns="0" tIns="0" bIns="0" anchor="t">
            <a:noAutofit/>
          </a:bodyPr>
          <a:lstStyle/>
          <a:p>
            <a:pPr algn="l">
              <a:lnSpc>
                <a:spcPct val="108000"/>
              </a:lnSpc>
              <a:spcBef>
                <a:spcPts val="0"/>
              </a:spcBef>
              <a:spcAft>
                <a:spcPts val="0"/>
              </a:spcAft>
            </a:pPr>
            <a:r>
              <a:rPr sz="3900" b="1">
                <a:solidFill>
                  <a:srgbClr val="F1EFE7"/>
                </a:solidFill>
                <a:latin typeface="IBM Plex Sans"/>
              </a:rPr>
              <a:t>The graph directs exploration.</a:t>
            </a:r>
          </a:p>
          <a:p>
            <a:pPr algn="l">
              <a:lnSpc>
                <a:spcPct val="108000"/>
              </a:lnSpc>
              <a:spcBef>
                <a:spcPts val="0"/>
              </a:spcBef>
              <a:spcAft>
                <a:spcPts val="0"/>
              </a:spcAft>
            </a:pPr>
            <a:r>
              <a:rPr sz="3900" b="1">
                <a:solidFill>
                  <a:srgbClr val="F1EFE7"/>
                </a:solidFill>
                <a:latin typeface="IBM Plex Sans"/>
              </a:rPr>
              <a:t>Experiments constrain it.</a:t>
            </a:r>
          </a:p>
        </p:txBody>
      </p:sp>
      <p:sp>
        <p:nvSpPr>
          <p:cNvPr id="9" name="Oval 8"/>
          <p:cNvSpPr/>
          <p:nvPr/>
        </p:nvSpPr>
        <p:spPr>
          <a:xfrm>
            <a:off x="623620" y="3083356"/>
            <a:ext cx="142646" cy="142646"/>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0" name="Connector 9"/>
          <p:cNvCxnSpPr/>
          <p:nvPr/>
        </p:nvCxnSpPr>
        <p:spPr>
          <a:xfrm>
            <a:off x="832104" y="3154680"/>
            <a:ext cx="1929384" cy="0"/>
          </a:xfrm>
          <a:prstGeom prst="line">
            <a:avLst/>
          </a:prstGeom>
          <a:ln w="25400">
            <a:solidFill>
              <a:srgbClr val="3A4944"/>
            </a:solidFill>
            <a:tailEnd type="triangle"/>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03504" y="2651760"/>
            <a:ext cx="1965960" cy="27432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6C9B8"/>
                </a:solidFill>
                <a:latin typeface="IBM Plex Mono"/>
              </a:rPr>
              <a:t>01</a:t>
            </a:r>
          </a:p>
        </p:txBody>
      </p:sp>
      <p:sp>
        <p:nvSpPr>
          <p:cNvPr id="12" name="TextBox 11"/>
          <p:cNvSpPr txBox="1"/>
          <p:nvPr/>
        </p:nvSpPr>
        <p:spPr>
          <a:xfrm>
            <a:off x="603504" y="3511296"/>
            <a:ext cx="2011680" cy="530352"/>
          </a:xfrm>
          <a:prstGeom prst="rect">
            <a:avLst/>
          </a:prstGeom>
          <a:noFill/>
        </p:spPr>
        <p:txBody>
          <a:bodyPr wrap="square" lIns="0" rIns="0" tIns="0" bIns="0" anchor="t">
            <a:noAutofit/>
          </a:bodyPr>
          <a:lstStyle/>
          <a:p>
            <a:pPr algn="l">
              <a:lnSpc>
                <a:spcPct val="108000"/>
              </a:lnSpc>
              <a:spcBef>
                <a:spcPts val="0"/>
              </a:spcBef>
              <a:spcAft>
                <a:spcPts val="0"/>
              </a:spcAft>
            </a:pPr>
            <a:r>
              <a:rPr sz="2700" b="1">
                <a:solidFill>
                  <a:srgbClr val="F1EFE7"/>
                </a:solidFill>
                <a:latin typeface="IBM Plex Sans"/>
              </a:rPr>
              <a:t>Read</a:t>
            </a:r>
          </a:p>
        </p:txBody>
      </p:sp>
      <p:sp>
        <p:nvSpPr>
          <p:cNvPr id="13" name="TextBox 12"/>
          <p:cNvSpPr txBox="1"/>
          <p:nvPr/>
        </p:nvSpPr>
        <p:spPr>
          <a:xfrm>
            <a:off x="603504" y="4270248"/>
            <a:ext cx="2002536" cy="1069848"/>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AFB9B2"/>
                </a:solidFill>
                <a:latin typeface="IBM Plex Sans"/>
              </a:rPr>
              <a:t>Source passages</a:t>
            </a:r>
          </a:p>
          <a:p>
            <a:pPr algn="l">
              <a:lnSpc>
                <a:spcPct val="108000"/>
              </a:lnSpc>
              <a:spcBef>
                <a:spcPts val="0"/>
              </a:spcBef>
              <a:spcAft>
                <a:spcPts val="0"/>
              </a:spcAft>
            </a:pPr>
            <a:r>
              <a:rPr sz="1900" b="0">
                <a:solidFill>
                  <a:srgbClr val="AFB9B2"/>
                </a:solidFill>
                <a:latin typeface="IBM Plex Sans"/>
              </a:rPr>
              <a:t>become linked claims.</a:t>
            </a:r>
          </a:p>
        </p:txBody>
      </p:sp>
      <p:sp>
        <p:nvSpPr>
          <p:cNvPr id="14" name="Oval 13"/>
          <p:cNvSpPr/>
          <p:nvPr/>
        </p:nvSpPr>
        <p:spPr>
          <a:xfrm>
            <a:off x="2873044" y="3083356"/>
            <a:ext cx="142646" cy="142646"/>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3081528" y="3154680"/>
            <a:ext cx="1929384" cy="0"/>
          </a:xfrm>
          <a:prstGeom prst="line">
            <a:avLst/>
          </a:prstGeom>
          <a:ln w="25400">
            <a:solidFill>
              <a:srgbClr val="3A4944"/>
            </a:solidFill>
            <a:tailEnd type="triangle"/>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2852928" y="2651760"/>
            <a:ext cx="1965960" cy="27432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6C9B8"/>
                </a:solidFill>
                <a:latin typeface="IBM Plex Mono"/>
              </a:rPr>
              <a:t>02</a:t>
            </a:r>
          </a:p>
        </p:txBody>
      </p:sp>
      <p:sp>
        <p:nvSpPr>
          <p:cNvPr id="17" name="TextBox 16"/>
          <p:cNvSpPr txBox="1"/>
          <p:nvPr/>
        </p:nvSpPr>
        <p:spPr>
          <a:xfrm>
            <a:off x="2852928" y="3511296"/>
            <a:ext cx="2011680" cy="530352"/>
          </a:xfrm>
          <a:prstGeom prst="rect">
            <a:avLst/>
          </a:prstGeom>
          <a:noFill/>
        </p:spPr>
        <p:txBody>
          <a:bodyPr wrap="square" lIns="0" rIns="0" tIns="0" bIns="0" anchor="t">
            <a:noAutofit/>
          </a:bodyPr>
          <a:lstStyle/>
          <a:p>
            <a:pPr algn="l">
              <a:lnSpc>
                <a:spcPct val="108000"/>
              </a:lnSpc>
              <a:spcBef>
                <a:spcPts val="0"/>
              </a:spcBef>
              <a:spcAft>
                <a:spcPts val="0"/>
              </a:spcAft>
            </a:pPr>
            <a:r>
              <a:rPr sz="2700" b="1">
                <a:solidFill>
                  <a:srgbClr val="F1EFE7"/>
                </a:solidFill>
                <a:latin typeface="IBM Plex Sans"/>
              </a:rPr>
              <a:t>Connect</a:t>
            </a:r>
          </a:p>
        </p:txBody>
      </p:sp>
      <p:sp>
        <p:nvSpPr>
          <p:cNvPr id="18" name="TextBox 17"/>
          <p:cNvSpPr txBox="1"/>
          <p:nvPr/>
        </p:nvSpPr>
        <p:spPr>
          <a:xfrm>
            <a:off x="2852928" y="4270248"/>
            <a:ext cx="2002536" cy="1069848"/>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AFB9B2"/>
                </a:solidFill>
                <a:latin typeface="IBM Plex Sans"/>
              </a:rPr>
              <a:t>Researchers branch</a:t>
            </a:r>
          </a:p>
          <a:p>
            <a:pPr algn="l">
              <a:lnSpc>
                <a:spcPct val="108000"/>
              </a:lnSpc>
              <a:spcBef>
                <a:spcPts val="0"/>
              </a:spcBef>
              <a:spcAft>
                <a:spcPts val="0"/>
              </a:spcAft>
            </a:pPr>
            <a:r>
              <a:rPr sz="1900" b="0">
                <a:solidFill>
                  <a:srgbClr val="AFB9B2"/>
                </a:solidFill>
                <a:latin typeface="IBM Plex Sans"/>
              </a:rPr>
              <a:t>on testable questions.</a:t>
            </a:r>
          </a:p>
        </p:txBody>
      </p:sp>
      <p:sp>
        <p:nvSpPr>
          <p:cNvPr id="19" name="Oval 18"/>
          <p:cNvSpPr/>
          <p:nvPr/>
        </p:nvSpPr>
        <p:spPr>
          <a:xfrm>
            <a:off x="5122468" y="3083356"/>
            <a:ext cx="142646" cy="142646"/>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0" name="Connector 19"/>
          <p:cNvCxnSpPr/>
          <p:nvPr/>
        </p:nvCxnSpPr>
        <p:spPr>
          <a:xfrm>
            <a:off x="5330952" y="3154680"/>
            <a:ext cx="1929384" cy="0"/>
          </a:xfrm>
          <a:prstGeom prst="line">
            <a:avLst/>
          </a:prstGeom>
          <a:ln w="25400">
            <a:solidFill>
              <a:srgbClr val="3A4944"/>
            </a:solidFill>
            <a:tailEnd type="triangle"/>
          </a:ln>
          <a:effectLst/>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5102352" y="2651760"/>
            <a:ext cx="1965960" cy="27432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6C9B8"/>
                </a:solidFill>
                <a:latin typeface="IBM Plex Mono"/>
              </a:rPr>
              <a:t>03</a:t>
            </a:r>
          </a:p>
        </p:txBody>
      </p:sp>
      <p:sp>
        <p:nvSpPr>
          <p:cNvPr id="22" name="TextBox 21"/>
          <p:cNvSpPr txBox="1"/>
          <p:nvPr/>
        </p:nvSpPr>
        <p:spPr>
          <a:xfrm>
            <a:off x="5102352" y="3511296"/>
            <a:ext cx="2011680" cy="530352"/>
          </a:xfrm>
          <a:prstGeom prst="rect">
            <a:avLst/>
          </a:prstGeom>
          <a:noFill/>
        </p:spPr>
        <p:txBody>
          <a:bodyPr wrap="square" lIns="0" rIns="0" tIns="0" bIns="0" anchor="t">
            <a:noAutofit/>
          </a:bodyPr>
          <a:lstStyle/>
          <a:p>
            <a:pPr algn="l">
              <a:lnSpc>
                <a:spcPct val="108000"/>
              </a:lnSpc>
              <a:spcBef>
                <a:spcPts val="0"/>
              </a:spcBef>
              <a:spcAft>
                <a:spcPts val="0"/>
              </a:spcAft>
            </a:pPr>
            <a:r>
              <a:rPr sz="2700" b="1">
                <a:solidFill>
                  <a:srgbClr val="F1EFE7"/>
                </a:solidFill>
                <a:latin typeface="IBM Plex Sans"/>
              </a:rPr>
              <a:t>Execute</a:t>
            </a:r>
          </a:p>
        </p:txBody>
      </p:sp>
      <p:sp>
        <p:nvSpPr>
          <p:cNvPr id="23" name="TextBox 22"/>
          <p:cNvSpPr txBox="1"/>
          <p:nvPr/>
        </p:nvSpPr>
        <p:spPr>
          <a:xfrm>
            <a:off x="5102352" y="4270248"/>
            <a:ext cx="2002536" cy="1069848"/>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AFB9B2"/>
                </a:solidFill>
                <a:latin typeface="IBM Plex Sans"/>
              </a:rPr>
              <a:t>Code and domain tools</a:t>
            </a:r>
          </a:p>
          <a:p>
            <a:pPr algn="l">
              <a:lnSpc>
                <a:spcPct val="108000"/>
              </a:lnSpc>
              <a:spcBef>
                <a:spcPts val="0"/>
              </a:spcBef>
              <a:spcAft>
                <a:spcPts val="0"/>
              </a:spcAft>
            </a:pPr>
            <a:r>
              <a:rPr sz="1900" b="0">
                <a:solidFill>
                  <a:srgbClr val="AFB9B2"/>
                </a:solidFill>
                <a:latin typeface="IBM Plex Sans"/>
              </a:rPr>
              <a:t>produce artifacts.</a:t>
            </a:r>
          </a:p>
        </p:txBody>
      </p:sp>
      <p:sp>
        <p:nvSpPr>
          <p:cNvPr id="24" name="Oval 23"/>
          <p:cNvSpPr/>
          <p:nvPr/>
        </p:nvSpPr>
        <p:spPr>
          <a:xfrm>
            <a:off x="7371892" y="3083356"/>
            <a:ext cx="142646" cy="142646"/>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5" name="Connector 24"/>
          <p:cNvCxnSpPr/>
          <p:nvPr/>
        </p:nvCxnSpPr>
        <p:spPr>
          <a:xfrm>
            <a:off x="7580375" y="3154680"/>
            <a:ext cx="1929384" cy="0"/>
          </a:xfrm>
          <a:prstGeom prst="line">
            <a:avLst/>
          </a:prstGeom>
          <a:ln w="25400">
            <a:solidFill>
              <a:srgbClr val="3A4944"/>
            </a:solidFill>
            <a:tailEnd type="triangle"/>
          </a:ln>
          <a:effectLst/>
        </p:spPr>
        <p:style>
          <a:lnRef idx="2">
            <a:schemeClr val="accent1"/>
          </a:lnRef>
          <a:fillRef idx="0">
            <a:schemeClr val="accent1"/>
          </a:fillRef>
          <a:effectRef idx="0">
            <a:schemeClr val="accent1"/>
          </a:effectRef>
          <a:fontRef idx="minor">
            <a:schemeClr val="tx1"/>
          </a:fontRef>
        </p:style>
      </p:cxnSp>
      <p:sp>
        <p:nvSpPr>
          <p:cNvPr id="26" name="TextBox 25"/>
          <p:cNvSpPr txBox="1"/>
          <p:nvPr/>
        </p:nvSpPr>
        <p:spPr>
          <a:xfrm>
            <a:off x="7351775" y="2651760"/>
            <a:ext cx="1965960" cy="27432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6C9B8"/>
                </a:solidFill>
                <a:latin typeface="IBM Plex Mono"/>
              </a:rPr>
              <a:t>04</a:t>
            </a:r>
          </a:p>
        </p:txBody>
      </p:sp>
      <p:sp>
        <p:nvSpPr>
          <p:cNvPr id="27" name="TextBox 26"/>
          <p:cNvSpPr txBox="1"/>
          <p:nvPr/>
        </p:nvSpPr>
        <p:spPr>
          <a:xfrm>
            <a:off x="7351775" y="3511296"/>
            <a:ext cx="2011680" cy="530352"/>
          </a:xfrm>
          <a:prstGeom prst="rect">
            <a:avLst/>
          </a:prstGeom>
          <a:noFill/>
        </p:spPr>
        <p:txBody>
          <a:bodyPr wrap="square" lIns="0" rIns="0" tIns="0" bIns="0" anchor="t">
            <a:noAutofit/>
          </a:bodyPr>
          <a:lstStyle/>
          <a:p>
            <a:pPr algn="l">
              <a:lnSpc>
                <a:spcPct val="108000"/>
              </a:lnSpc>
              <a:spcBef>
                <a:spcPts val="0"/>
              </a:spcBef>
              <a:spcAft>
                <a:spcPts val="0"/>
              </a:spcAft>
            </a:pPr>
            <a:r>
              <a:rPr sz="2700" b="1">
                <a:solidFill>
                  <a:srgbClr val="F1EFE7"/>
                </a:solidFill>
                <a:latin typeface="IBM Plex Sans"/>
              </a:rPr>
              <a:t>Challenge</a:t>
            </a:r>
          </a:p>
        </p:txBody>
      </p:sp>
      <p:sp>
        <p:nvSpPr>
          <p:cNvPr id="28" name="TextBox 27"/>
          <p:cNvSpPr txBox="1"/>
          <p:nvPr/>
        </p:nvSpPr>
        <p:spPr>
          <a:xfrm>
            <a:off x="7351775" y="4270248"/>
            <a:ext cx="2002536" cy="1069848"/>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AFB9B2"/>
                </a:solidFill>
                <a:latin typeface="IBM Plex Sans"/>
              </a:rPr>
              <a:t>Screens, comparators</a:t>
            </a:r>
          </a:p>
          <a:p>
            <a:pPr algn="l">
              <a:lnSpc>
                <a:spcPct val="108000"/>
              </a:lnSpc>
              <a:spcBef>
                <a:spcPts val="0"/>
              </a:spcBef>
              <a:spcAft>
                <a:spcPts val="0"/>
              </a:spcAft>
            </a:pPr>
            <a:r>
              <a:rPr sz="1900" b="0">
                <a:solidFill>
                  <a:srgbClr val="AFB9B2"/>
                </a:solidFill>
                <a:latin typeface="IBM Plex Sans"/>
              </a:rPr>
              <a:t>and evidence checks.</a:t>
            </a:r>
          </a:p>
        </p:txBody>
      </p:sp>
      <p:sp>
        <p:nvSpPr>
          <p:cNvPr id="29" name="Oval 28"/>
          <p:cNvSpPr/>
          <p:nvPr/>
        </p:nvSpPr>
        <p:spPr>
          <a:xfrm>
            <a:off x="9621316" y="3083356"/>
            <a:ext cx="142646" cy="142646"/>
          </a:xfrm>
          <a:prstGeom prst="ellipse">
            <a:avLst/>
          </a:prstGeom>
          <a:solidFill>
            <a:srgbClr val="DEB5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9601200" y="2651760"/>
            <a:ext cx="1965960" cy="27432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6C9B8"/>
                </a:solidFill>
                <a:latin typeface="IBM Plex Mono"/>
              </a:rPr>
              <a:t>05</a:t>
            </a:r>
          </a:p>
        </p:txBody>
      </p:sp>
      <p:sp>
        <p:nvSpPr>
          <p:cNvPr id="31" name="TextBox 30"/>
          <p:cNvSpPr txBox="1"/>
          <p:nvPr/>
        </p:nvSpPr>
        <p:spPr>
          <a:xfrm>
            <a:off x="9601200" y="3511296"/>
            <a:ext cx="2011680" cy="530352"/>
          </a:xfrm>
          <a:prstGeom prst="rect">
            <a:avLst/>
          </a:prstGeom>
          <a:noFill/>
        </p:spPr>
        <p:txBody>
          <a:bodyPr wrap="square" lIns="0" rIns="0" tIns="0" bIns="0" anchor="t">
            <a:noAutofit/>
          </a:bodyPr>
          <a:lstStyle/>
          <a:p>
            <a:pPr algn="l">
              <a:lnSpc>
                <a:spcPct val="108000"/>
              </a:lnSpc>
              <a:spcBef>
                <a:spcPts val="0"/>
              </a:spcBef>
              <a:spcAft>
                <a:spcPts val="0"/>
              </a:spcAft>
            </a:pPr>
            <a:r>
              <a:rPr sz="2700" b="1">
                <a:solidFill>
                  <a:srgbClr val="F1EFE7"/>
                </a:solidFill>
                <a:latin typeface="IBM Plex Sans"/>
              </a:rPr>
              <a:t>Review</a:t>
            </a:r>
          </a:p>
        </p:txBody>
      </p:sp>
      <p:sp>
        <p:nvSpPr>
          <p:cNvPr id="32" name="TextBox 31"/>
          <p:cNvSpPr txBox="1"/>
          <p:nvPr/>
        </p:nvSpPr>
        <p:spPr>
          <a:xfrm>
            <a:off x="9601200" y="4270248"/>
            <a:ext cx="2002536" cy="1069848"/>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AFB9B2"/>
                </a:solidFill>
                <a:latin typeface="IBM Plex Sans"/>
              </a:rPr>
              <a:t>A scientist decides</a:t>
            </a:r>
          </a:p>
          <a:p>
            <a:pPr algn="l">
              <a:lnSpc>
                <a:spcPct val="108000"/>
              </a:lnSpc>
              <a:spcBef>
                <a:spcPts val="0"/>
              </a:spcBef>
              <a:spcAft>
                <a:spcPts val="0"/>
              </a:spcAft>
            </a:pPr>
            <a:r>
              <a:rPr sz="1900" b="0">
                <a:solidFill>
                  <a:srgbClr val="AFB9B2"/>
                </a:solidFill>
                <a:latin typeface="IBM Plex Sans"/>
              </a:rPr>
              <a:t>what deserves follow-up.</a:t>
            </a:r>
          </a:p>
        </p:txBody>
      </p:sp>
      <p:sp>
        <p:nvSpPr>
          <p:cNvPr id="33" name="TextBox 32"/>
          <p:cNvSpPr txBox="1"/>
          <p:nvPr/>
        </p:nvSpPr>
        <p:spPr>
          <a:xfrm>
            <a:off x="548640" y="5952744"/>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50" b="0">
                <a:solidFill>
                  <a:srgbClr val="AFB9B2"/>
                </a:solidFill>
                <a:latin typeface="IBM Plex Mono"/>
              </a:rPr>
              <a:t>AI IS FUNDAMENTAL · Question formation, branching, executable analyses and artifact interpretation.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COMPUTATIONAL TOOLKIT / LEAD WITH 3D</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07</a:t>
            </a:r>
          </a:p>
        </p:txBody>
      </p:sp>
      <p:sp>
        <p:nvSpPr>
          <p:cNvPr id="8" name="TextBox 7"/>
          <p:cNvSpPr txBox="1"/>
          <p:nvPr/>
        </p:nvSpPr>
        <p:spPr>
          <a:xfrm>
            <a:off x="548640" y="960120"/>
            <a:ext cx="11064240" cy="914400"/>
          </a:xfrm>
          <a:prstGeom prst="rect">
            <a:avLst/>
          </a:prstGeom>
          <a:noFill/>
        </p:spPr>
        <p:txBody>
          <a:bodyPr wrap="square" lIns="0" rIns="0" tIns="0" bIns="0" anchor="t">
            <a:noAutofit/>
          </a:bodyPr>
          <a:lstStyle/>
          <a:p>
            <a:pPr algn="l">
              <a:lnSpc>
                <a:spcPct val="108000"/>
              </a:lnSpc>
              <a:spcBef>
                <a:spcPts val="0"/>
              </a:spcBef>
              <a:spcAft>
                <a:spcPts val="0"/>
              </a:spcAft>
            </a:pPr>
            <a:r>
              <a:rPr sz="3800" b="1">
                <a:solidFill>
                  <a:srgbClr val="F1EFE7"/>
                </a:solidFill>
                <a:latin typeface="IBM Plex Sans"/>
              </a:rPr>
              <a:t>Inspect the image. Check the coordinates.</a:t>
            </a:r>
          </a:p>
        </p:txBody>
      </p:sp>
      <p:pic>
        <p:nvPicPr>
          <p:cNvPr id="9" name="Picture 8" descr="surface-final.png"/>
          <p:cNvPicPr>
            <a:picLocks noChangeAspect="1"/>
          </p:cNvPicPr>
          <p:nvPr/>
        </p:nvPicPr>
        <p:blipFill>
          <a:blip r:embed="rId2"/>
          <a:srcRect l="3500" r="21500" t="36500" b="7000"/>
          <a:stretch>
            <a:fillRect/>
          </a:stretch>
        </p:blipFill>
        <p:spPr>
          <a:xfrm>
            <a:off x="557784" y="2167128"/>
            <a:ext cx="7507224" cy="3584448"/>
          </a:xfrm>
          <a:prstGeom prst="rect">
            <a:avLst/>
          </a:prstGeom>
        </p:spPr>
      </p:pic>
      <p:sp>
        <p:nvSpPr>
          <p:cNvPr id="10" name="TextBox 9"/>
          <p:cNvSpPr txBox="1"/>
          <p:nvPr/>
        </p:nvSpPr>
        <p:spPr>
          <a:xfrm>
            <a:off x="8357616" y="2221992"/>
            <a:ext cx="3264408" cy="914400"/>
          </a:xfrm>
          <a:prstGeom prst="rect">
            <a:avLst/>
          </a:prstGeom>
          <a:noFill/>
        </p:spPr>
        <p:txBody>
          <a:bodyPr wrap="square" lIns="0" rIns="0" tIns="0" bIns="0" anchor="t">
            <a:noAutofit/>
          </a:bodyPr>
          <a:lstStyle/>
          <a:p>
            <a:pPr algn="l">
              <a:lnSpc>
                <a:spcPct val="108000"/>
              </a:lnSpc>
              <a:spcBef>
                <a:spcPts val="0"/>
              </a:spcBef>
              <a:spcAft>
                <a:spcPts val="0"/>
              </a:spcAft>
            </a:pPr>
            <a:r>
              <a:rPr sz="2700" b="1">
                <a:solidFill>
                  <a:srgbClr val="A6C9B8"/>
                </a:solidFill>
                <a:latin typeface="IBM Plex Sans"/>
              </a:rPr>
              <a:t>A real molecular scene</a:t>
            </a:r>
          </a:p>
        </p:txBody>
      </p:sp>
      <p:sp>
        <p:nvSpPr>
          <p:cNvPr id="11" name="TextBox 10"/>
          <p:cNvSpPr txBox="1"/>
          <p:nvPr/>
        </p:nvSpPr>
        <p:spPr>
          <a:xfrm>
            <a:off x="8375904" y="3438144"/>
            <a:ext cx="3218688" cy="566928"/>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Image critique</a:t>
            </a:r>
          </a:p>
        </p:txBody>
      </p:sp>
      <p:sp>
        <p:nvSpPr>
          <p:cNvPr id="12" name="TextBox 11"/>
          <p:cNvSpPr txBox="1"/>
          <p:nvPr/>
        </p:nvSpPr>
        <p:spPr>
          <a:xfrm>
            <a:off x="8375904" y="3977639"/>
            <a:ext cx="3218688" cy="566928"/>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Request a cutaway</a:t>
            </a:r>
          </a:p>
        </p:txBody>
      </p:sp>
      <p:sp>
        <p:nvSpPr>
          <p:cNvPr id="13" name="TextBox 12"/>
          <p:cNvSpPr txBox="1"/>
          <p:nvPr/>
        </p:nvSpPr>
        <p:spPr>
          <a:xfrm>
            <a:off x="8375904" y="4517136"/>
            <a:ext cx="3218688" cy="566928"/>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2.714 Å coordinate check</a:t>
            </a:r>
          </a:p>
        </p:txBody>
      </p:sp>
      <p:sp>
        <p:nvSpPr>
          <p:cNvPr id="14" name="TextBox 13"/>
          <p:cNvSpPr txBox="1"/>
          <p:nvPr/>
        </p:nvSpPr>
        <p:spPr>
          <a:xfrm>
            <a:off x="548640" y="5952744"/>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50" b="0">
                <a:solidFill>
                  <a:srgbClr val="AFB9B2"/>
                </a:solidFill>
                <a:latin typeface="IBM Plex Mono"/>
              </a:rPr>
              <a:t>ACTUAL 3D WORKBENCH · Image-to-coordinate review; the separate docking recovery benchmark did not pass.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1EFE7"/>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17201F"/>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365E4D"/>
                </a:solidFill>
                <a:latin typeface="IBM Plex Mono"/>
              </a:rPr>
              <a:t>MODEL EXECUTION / MEASURED EVIDENCE</a:t>
            </a:r>
          </a:p>
        </p:txBody>
      </p:sp>
      <p:cxnSp>
        <p:nvCxnSpPr>
          <p:cNvPr id="4" name="Connector 3"/>
          <p:cNvCxnSpPr/>
          <p:nvPr/>
        </p:nvCxnSpPr>
        <p:spPr>
          <a:xfrm>
            <a:off x="502920" y="658368"/>
            <a:ext cx="11183112" cy="0"/>
          </a:xfrm>
          <a:prstGeom prst="line">
            <a:avLst/>
          </a:prstGeom>
          <a:ln w="8890">
            <a:solidFill>
              <a:srgbClr val="CDCFC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CDCFC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365E4D"/>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17201F"/>
                </a:solidFill>
                <a:latin typeface="IBM Plex Mono"/>
              </a:rPr>
              <a:t>08</a:t>
            </a:r>
          </a:p>
        </p:txBody>
      </p:sp>
      <p:sp>
        <p:nvSpPr>
          <p:cNvPr id="8" name="TextBox 7"/>
          <p:cNvSpPr txBox="1"/>
          <p:nvPr/>
        </p:nvSpPr>
        <p:spPr>
          <a:xfrm>
            <a:off x="548640" y="987552"/>
            <a:ext cx="11018520" cy="1197864"/>
          </a:xfrm>
          <a:prstGeom prst="rect">
            <a:avLst/>
          </a:prstGeom>
          <a:noFill/>
        </p:spPr>
        <p:txBody>
          <a:bodyPr wrap="square" lIns="0" rIns="0" tIns="0" bIns="0" anchor="t">
            <a:noAutofit/>
          </a:bodyPr>
          <a:lstStyle/>
          <a:p>
            <a:pPr algn="l">
              <a:lnSpc>
                <a:spcPct val="108000"/>
              </a:lnSpc>
              <a:spcBef>
                <a:spcPts val="0"/>
              </a:spcBef>
              <a:spcAft>
                <a:spcPts val="0"/>
              </a:spcAft>
            </a:pPr>
            <a:r>
              <a:rPr sz="3900" b="1">
                <a:solidFill>
                  <a:srgbClr val="17201F"/>
                </a:solidFill>
                <a:latin typeface="IBM Plex Sans"/>
              </a:rPr>
              <a:t>Training is real.</a:t>
            </a:r>
          </a:p>
          <a:p>
            <a:pPr algn="l">
              <a:lnSpc>
                <a:spcPct val="108000"/>
              </a:lnSpc>
              <a:spcBef>
                <a:spcPts val="0"/>
              </a:spcBef>
              <a:spcAft>
                <a:spcPts val="0"/>
              </a:spcAft>
            </a:pPr>
            <a:r>
              <a:rPr sz="3900" b="1">
                <a:solidFill>
                  <a:srgbClr val="17201F"/>
                </a:solidFill>
                <a:latin typeface="IBM Plex Sans"/>
              </a:rPr>
              <a:t>Advantage still has to be earned.</a:t>
            </a:r>
          </a:p>
        </p:txBody>
      </p:sp>
      <p:cxnSp>
        <p:nvCxnSpPr>
          <p:cNvPr id="9" name="Connector 8"/>
          <p:cNvCxnSpPr/>
          <p:nvPr/>
        </p:nvCxnSpPr>
        <p:spPr>
          <a:xfrm>
            <a:off x="585216" y="2587752"/>
            <a:ext cx="3410712" cy="0"/>
          </a:xfrm>
          <a:prstGeom prst="line">
            <a:avLst/>
          </a:prstGeom>
          <a:ln w="21590">
            <a:solidFill>
              <a:srgbClr val="365E4D"/>
            </a:solidFill>
          </a:ln>
          <a:effectLst/>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585216" y="2807208"/>
            <a:ext cx="3474720" cy="320040"/>
          </a:xfrm>
          <a:prstGeom prst="rect">
            <a:avLst/>
          </a:prstGeom>
          <a:noFill/>
        </p:spPr>
        <p:txBody>
          <a:bodyPr wrap="square" lIns="0" rIns="0" tIns="0" bIns="0" anchor="t">
            <a:noAutofit/>
          </a:bodyPr>
          <a:lstStyle/>
          <a:p>
            <a:pPr algn="l">
              <a:lnSpc>
                <a:spcPct val="108000"/>
              </a:lnSpc>
              <a:spcBef>
                <a:spcPts val="0"/>
              </a:spcBef>
              <a:spcAft>
                <a:spcPts val="0"/>
              </a:spcAft>
            </a:pPr>
            <a:r>
              <a:rPr sz="1300" b="1">
                <a:solidFill>
                  <a:srgbClr val="365E4D"/>
                </a:solidFill>
                <a:latin typeface="IBM Plex Mono"/>
              </a:rPr>
              <a:t>PROTEIN</a:t>
            </a:r>
          </a:p>
        </p:txBody>
      </p:sp>
      <p:sp>
        <p:nvSpPr>
          <p:cNvPr id="11" name="TextBox 10"/>
          <p:cNvSpPr txBox="1"/>
          <p:nvPr/>
        </p:nvSpPr>
        <p:spPr>
          <a:xfrm>
            <a:off x="585216" y="3328416"/>
            <a:ext cx="3520440" cy="658368"/>
          </a:xfrm>
          <a:prstGeom prst="rect">
            <a:avLst/>
          </a:prstGeom>
          <a:noFill/>
        </p:spPr>
        <p:txBody>
          <a:bodyPr wrap="square" lIns="0" rIns="0" tIns="0" bIns="0" anchor="t">
            <a:noAutofit/>
          </a:bodyPr>
          <a:lstStyle/>
          <a:p>
            <a:pPr algn="l">
              <a:lnSpc>
                <a:spcPct val="108000"/>
              </a:lnSpc>
              <a:spcBef>
                <a:spcPts val="0"/>
              </a:spcBef>
              <a:spcAft>
                <a:spcPts val="0"/>
              </a:spcAft>
            </a:pPr>
            <a:r>
              <a:rPr sz="3000" b="1">
                <a:solidFill>
                  <a:srgbClr val="17201F"/>
                </a:solidFill>
                <a:latin typeface="IBM Plex Sans"/>
              </a:rPr>
              <a:t>219 / 110 / 105</a:t>
            </a:r>
          </a:p>
        </p:txBody>
      </p:sp>
      <p:sp>
        <p:nvSpPr>
          <p:cNvPr id="12" name="TextBox 11"/>
          <p:cNvSpPr txBox="1"/>
          <p:nvPr/>
        </p:nvSpPr>
        <p:spPr>
          <a:xfrm>
            <a:off x="585216" y="4096512"/>
            <a:ext cx="3474720" cy="594360"/>
          </a:xfrm>
          <a:prstGeom prst="rect">
            <a:avLst/>
          </a:prstGeom>
          <a:noFill/>
        </p:spPr>
        <p:txBody>
          <a:bodyPr wrap="square" lIns="0" rIns="0" tIns="0" bIns="0" anchor="t">
            <a:noAutofit/>
          </a:bodyPr>
          <a:lstStyle/>
          <a:p>
            <a:pPr algn="l">
              <a:lnSpc>
                <a:spcPct val="108000"/>
              </a:lnSpc>
              <a:spcBef>
                <a:spcPts val="0"/>
              </a:spcBef>
              <a:spcAft>
                <a:spcPts val="0"/>
              </a:spcAft>
            </a:pPr>
            <a:r>
              <a:rPr sz="1600" b="0">
                <a:solidFill>
                  <a:srgbClr val="365E4D"/>
                </a:solidFill>
                <a:latin typeface="IBM Plex Sans"/>
              </a:rPr>
              <a:t>train / validation / development</a:t>
            </a:r>
          </a:p>
        </p:txBody>
      </p:sp>
      <p:sp>
        <p:nvSpPr>
          <p:cNvPr id="13" name="TextBox 12"/>
          <p:cNvSpPr txBox="1"/>
          <p:nvPr/>
        </p:nvSpPr>
        <p:spPr>
          <a:xfrm>
            <a:off x="585216" y="4901184"/>
            <a:ext cx="3502152" cy="896112"/>
          </a:xfrm>
          <a:prstGeom prst="rect">
            <a:avLst/>
          </a:prstGeom>
          <a:noFill/>
        </p:spPr>
        <p:txBody>
          <a:bodyPr wrap="square" lIns="0" rIns="0" tIns="0" bIns="0" anchor="t">
            <a:noAutofit/>
          </a:bodyPr>
          <a:lstStyle/>
          <a:p>
            <a:pPr algn="l">
              <a:lnSpc>
                <a:spcPct val="108000"/>
              </a:lnSpc>
              <a:spcBef>
                <a:spcPts val="0"/>
              </a:spcBef>
              <a:spcAft>
                <a:spcPts val="0"/>
              </a:spcAft>
            </a:pPr>
            <a:r>
              <a:rPr sz="2200" b="0">
                <a:solidFill>
                  <a:srgbClr val="17201F"/>
                </a:solidFill>
                <a:latin typeface="IBM Plex Sans"/>
              </a:rPr>
              <a:t>PCA beats the denoiser</a:t>
            </a:r>
          </a:p>
          <a:p>
            <a:pPr algn="l">
              <a:lnSpc>
                <a:spcPct val="108000"/>
              </a:lnSpc>
              <a:spcBef>
                <a:spcPts val="0"/>
              </a:spcBef>
              <a:spcAft>
                <a:spcPts val="0"/>
              </a:spcAft>
            </a:pPr>
            <a:r>
              <a:rPr sz="2200" b="0">
                <a:solidFill>
                  <a:srgbClr val="17201F"/>
                </a:solidFill>
                <a:latin typeface="IBM Plex Sans"/>
              </a:rPr>
              <a:t>on hidden-value reconstruction.</a:t>
            </a:r>
          </a:p>
        </p:txBody>
      </p:sp>
      <p:cxnSp>
        <p:nvCxnSpPr>
          <p:cNvPr id="14" name="Connector 13"/>
          <p:cNvCxnSpPr/>
          <p:nvPr/>
        </p:nvCxnSpPr>
        <p:spPr>
          <a:xfrm>
            <a:off x="4398264" y="2587752"/>
            <a:ext cx="3410711" cy="0"/>
          </a:xfrm>
          <a:prstGeom prst="line">
            <a:avLst/>
          </a:prstGeom>
          <a:ln w="21590">
            <a:solidFill>
              <a:srgbClr val="365E4D"/>
            </a:solidFill>
          </a:ln>
          <a:effectLst/>
        </p:spPr>
        <p:style>
          <a:lnRef idx="2">
            <a:schemeClr val="accent1"/>
          </a:lnRef>
          <a:fillRef idx="0">
            <a:schemeClr val="accent1"/>
          </a:fillRef>
          <a:effectRef idx="0">
            <a:schemeClr val="accent1"/>
          </a:effectRef>
          <a:fontRef idx="minor">
            <a:schemeClr val="tx1"/>
          </a:fontRef>
        </p:style>
      </p:cxnSp>
      <p:sp>
        <p:nvSpPr>
          <p:cNvPr id="15" name="TextBox 14"/>
          <p:cNvSpPr txBox="1"/>
          <p:nvPr/>
        </p:nvSpPr>
        <p:spPr>
          <a:xfrm>
            <a:off x="4398264" y="2807208"/>
            <a:ext cx="3474720" cy="320040"/>
          </a:xfrm>
          <a:prstGeom prst="rect">
            <a:avLst/>
          </a:prstGeom>
          <a:noFill/>
        </p:spPr>
        <p:txBody>
          <a:bodyPr wrap="square" lIns="0" rIns="0" tIns="0" bIns="0" anchor="t">
            <a:noAutofit/>
          </a:bodyPr>
          <a:lstStyle/>
          <a:p>
            <a:pPr algn="l">
              <a:lnSpc>
                <a:spcPct val="108000"/>
              </a:lnSpc>
              <a:spcBef>
                <a:spcPts val="0"/>
              </a:spcBef>
              <a:spcAft>
                <a:spcPts val="0"/>
              </a:spcAft>
            </a:pPr>
            <a:r>
              <a:rPr sz="1300" b="1">
                <a:solidFill>
                  <a:srgbClr val="365E4D"/>
                </a:solidFill>
                <a:latin typeface="IBM Plex Mono"/>
              </a:rPr>
              <a:t>DRUG RESPONSE</a:t>
            </a:r>
          </a:p>
        </p:txBody>
      </p:sp>
      <p:sp>
        <p:nvSpPr>
          <p:cNvPr id="16" name="TextBox 15"/>
          <p:cNvSpPr txBox="1"/>
          <p:nvPr/>
        </p:nvSpPr>
        <p:spPr>
          <a:xfrm>
            <a:off x="4398264" y="3328416"/>
            <a:ext cx="3520440" cy="658368"/>
          </a:xfrm>
          <a:prstGeom prst="rect">
            <a:avLst/>
          </a:prstGeom>
          <a:noFill/>
        </p:spPr>
        <p:txBody>
          <a:bodyPr wrap="square" lIns="0" rIns="0" tIns="0" bIns="0" anchor="t">
            <a:noAutofit/>
          </a:bodyPr>
          <a:lstStyle/>
          <a:p>
            <a:pPr algn="l">
              <a:lnSpc>
                <a:spcPct val="108000"/>
              </a:lnSpc>
              <a:spcBef>
                <a:spcPts val="0"/>
              </a:spcBef>
              <a:spcAft>
                <a:spcPts val="0"/>
              </a:spcAft>
            </a:pPr>
            <a:r>
              <a:rPr sz="3000" b="1">
                <a:solidFill>
                  <a:srgbClr val="17201F"/>
                </a:solidFill>
                <a:latin typeface="IBM Plex Sans"/>
              </a:rPr>
              <a:t>245 / 40 / 71</a:t>
            </a:r>
          </a:p>
        </p:txBody>
      </p:sp>
      <p:sp>
        <p:nvSpPr>
          <p:cNvPr id="17" name="TextBox 16"/>
          <p:cNvSpPr txBox="1"/>
          <p:nvPr/>
        </p:nvSpPr>
        <p:spPr>
          <a:xfrm>
            <a:off x="4398264" y="4096512"/>
            <a:ext cx="3474720" cy="594360"/>
          </a:xfrm>
          <a:prstGeom prst="rect">
            <a:avLst/>
          </a:prstGeom>
          <a:noFill/>
        </p:spPr>
        <p:txBody>
          <a:bodyPr wrap="square" lIns="0" rIns="0" tIns="0" bIns="0" anchor="t">
            <a:noAutofit/>
          </a:bodyPr>
          <a:lstStyle/>
          <a:p>
            <a:pPr algn="l">
              <a:lnSpc>
                <a:spcPct val="108000"/>
              </a:lnSpc>
              <a:spcBef>
                <a:spcPts val="0"/>
              </a:spcBef>
              <a:spcAft>
                <a:spcPts val="0"/>
              </a:spcAft>
            </a:pPr>
            <a:r>
              <a:rPr sz="1600" b="0">
                <a:solidFill>
                  <a:srgbClr val="365E4D"/>
                </a:solidFill>
                <a:latin typeface="IBM Plex Sans"/>
              </a:rPr>
              <a:t>train / validation / test groups</a:t>
            </a:r>
          </a:p>
        </p:txBody>
      </p:sp>
      <p:sp>
        <p:nvSpPr>
          <p:cNvPr id="18" name="TextBox 17"/>
          <p:cNvSpPr txBox="1"/>
          <p:nvPr/>
        </p:nvSpPr>
        <p:spPr>
          <a:xfrm>
            <a:off x="4398264" y="4901184"/>
            <a:ext cx="3502152" cy="896112"/>
          </a:xfrm>
          <a:prstGeom prst="rect">
            <a:avLst/>
          </a:prstGeom>
          <a:noFill/>
        </p:spPr>
        <p:txBody>
          <a:bodyPr wrap="square" lIns="0" rIns="0" tIns="0" bIns="0" anchor="t">
            <a:noAutofit/>
          </a:bodyPr>
          <a:lstStyle/>
          <a:p>
            <a:pPr algn="l">
              <a:lnSpc>
                <a:spcPct val="108000"/>
              </a:lnSpc>
              <a:spcBef>
                <a:spcPts val="0"/>
              </a:spcBef>
              <a:spcAft>
                <a:spcPts val="0"/>
              </a:spcAft>
            </a:pPr>
            <a:r>
              <a:rPr sz="2200" b="0">
                <a:solidFill>
                  <a:srgbClr val="17201F"/>
                </a:solidFill>
                <a:latin typeface="IBM Plex Sans"/>
              </a:rPr>
              <a:t>PCA selected on validation.</a:t>
            </a:r>
          </a:p>
          <a:p>
            <a:pPr algn="l">
              <a:lnSpc>
                <a:spcPct val="108000"/>
              </a:lnSpc>
              <a:spcBef>
                <a:spcPts val="0"/>
              </a:spcBef>
              <a:spcAft>
                <a:spcPts val="0"/>
              </a:spcAft>
            </a:pPr>
            <a:r>
              <a:rPr sz="2200" b="0">
                <a:solidFill>
                  <a:srgbClr val="17201F"/>
                </a:solidFill>
                <a:latin typeface="IBM Plex Sans"/>
              </a:rPr>
              <a:t>No pancreatic-subset advantage.</a:t>
            </a:r>
          </a:p>
        </p:txBody>
      </p:sp>
      <p:cxnSp>
        <p:nvCxnSpPr>
          <p:cNvPr id="19" name="Connector 18"/>
          <p:cNvCxnSpPr/>
          <p:nvPr/>
        </p:nvCxnSpPr>
        <p:spPr>
          <a:xfrm>
            <a:off x="8211312" y="2587752"/>
            <a:ext cx="3410712" cy="0"/>
          </a:xfrm>
          <a:prstGeom prst="line">
            <a:avLst/>
          </a:prstGeom>
          <a:ln w="21590">
            <a:solidFill>
              <a:srgbClr val="365E4D"/>
            </a:solidFill>
          </a:ln>
          <a:effectLst/>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8211312" y="2807208"/>
            <a:ext cx="3474720" cy="320040"/>
          </a:xfrm>
          <a:prstGeom prst="rect">
            <a:avLst/>
          </a:prstGeom>
          <a:noFill/>
        </p:spPr>
        <p:txBody>
          <a:bodyPr wrap="square" lIns="0" rIns="0" tIns="0" bIns="0" anchor="t">
            <a:noAutofit/>
          </a:bodyPr>
          <a:lstStyle/>
          <a:p>
            <a:pPr algn="l">
              <a:lnSpc>
                <a:spcPct val="108000"/>
              </a:lnSpc>
              <a:spcBef>
                <a:spcPts val="0"/>
              </a:spcBef>
              <a:spcAft>
                <a:spcPts val="0"/>
              </a:spcAft>
            </a:pPr>
            <a:r>
              <a:rPr sz="1300" b="1">
                <a:solidFill>
                  <a:srgbClr val="365E4D"/>
                </a:solidFill>
                <a:latin typeface="IBM Plex Mono"/>
              </a:rPr>
              <a:t>CELL ECOSYSTEMS</a:t>
            </a:r>
          </a:p>
        </p:txBody>
      </p:sp>
      <p:sp>
        <p:nvSpPr>
          <p:cNvPr id="21" name="TextBox 20"/>
          <p:cNvSpPr txBox="1"/>
          <p:nvPr/>
        </p:nvSpPr>
        <p:spPr>
          <a:xfrm>
            <a:off x="8211312" y="3328416"/>
            <a:ext cx="3520440" cy="658368"/>
          </a:xfrm>
          <a:prstGeom prst="rect">
            <a:avLst/>
          </a:prstGeom>
          <a:noFill/>
        </p:spPr>
        <p:txBody>
          <a:bodyPr wrap="square" lIns="0" rIns="0" tIns="0" bIns="0" anchor="t">
            <a:noAutofit/>
          </a:bodyPr>
          <a:lstStyle/>
          <a:p>
            <a:pPr algn="l">
              <a:lnSpc>
                <a:spcPct val="108000"/>
              </a:lnSpc>
              <a:spcBef>
                <a:spcPts val="0"/>
              </a:spcBef>
              <a:spcAft>
                <a:spcPts val="0"/>
              </a:spcAft>
            </a:pPr>
            <a:r>
              <a:rPr sz="3000" b="1">
                <a:solidFill>
                  <a:srgbClr val="17201F"/>
                </a:solidFill>
                <a:latin typeface="IBM Plex Sans"/>
              </a:rPr>
              <a:t>45 / 11 / 16</a:t>
            </a:r>
          </a:p>
        </p:txBody>
      </p:sp>
      <p:sp>
        <p:nvSpPr>
          <p:cNvPr id="22" name="TextBox 21"/>
          <p:cNvSpPr txBox="1"/>
          <p:nvPr/>
        </p:nvSpPr>
        <p:spPr>
          <a:xfrm>
            <a:off x="8211312" y="4096512"/>
            <a:ext cx="3474720" cy="594360"/>
          </a:xfrm>
          <a:prstGeom prst="rect">
            <a:avLst/>
          </a:prstGeom>
          <a:noFill/>
        </p:spPr>
        <p:txBody>
          <a:bodyPr wrap="square" lIns="0" rIns="0" tIns="0" bIns="0" anchor="t">
            <a:noAutofit/>
          </a:bodyPr>
          <a:lstStyle/>
          <a:p>
            <a:pPr algn="l">
              <a:lnSpc>
                <a:spcPct val="108000"/>
              </a:lnSpc>
              <a:spcBef>
                <a:spcPts val="0"/>
              </a:spcBef>
              <a:spcAft>
                <a:spcPts val="0"/>
              </a:spcAft>
            </a:pPr>
            <a:r>
              <a:rPr sz="1600" b="0">
                <a:solidFill>
                  <a:srgbClr val="365E4D"/>
                </a:solidFill>
                <a:latin typeface="IBM Plex Sans"/>
              </a:rPr>
              <a:t>train / validation / external donors</a:t>
            </a:r>
          </a:p>
        </p:txBody>
      </p:sp>
      <p:sp>
        <p:nvSpPr>
          <p:cNvPr id="23" name="TextBox 22"/>
          <p:cNvSpPr txBox="1"/>
          <p:nvPr/>
        </p:nvSpPr>
        <p:spPr>
          <a:xfrm>
            <a:off x="8211312" y="4901184"/>
            <a:ext cx="3502152" cy="896112"/>
          </a:xfrm>
          <a:prstGeom prst="rect">
            <a:avLst/>
          </a:prstGeom>
          <a:noFill/>
        </p:spPr>
        <p:txBody>
          <a:bodyPr wrap="square" lIns="0" rIns="0" tIns="0" bIns="0" anchor="t">
            <a:noAutofit/>
          </a:bodyPr>
          <a:lstStyle/>
          <a:p>
            <a:pPr algn="l">
              <a:lnSpc>
                <a:spcPct val="108000"/>
              </a:lnSpc>
              <a:spcBef>
                <a:spcPts val="0"/>
              </a:spcBef>
              <a:spcAft>
                <a:spcPts val="0"/>
              </a:spcAft>
            </a:pPr>
            <a:r>
              <a:rPr sz="2200" b="0">
                <a:solidFill>
                  <a:srgbClr val="17201F"/>
                </a:solidFill>
                <a:latin typeface="IBM Plex Sans"/>
              </a:rPr>
              <a:t>Exact PCA remains best</a:t>
            </a:r>
          </a:p>
          <a:p>
            <a:pPr algn="l">
              <a:lnSpc>
                <a:spcPct val="108000"/>
              </a:lnSpc>
              <a:spcBef>
                <a:spcPts val="0"/>
              </a:spcBef>
              <a:spcAft>
                <a:spcPts val="0"/>
              </a:spcAft>
            </a:pPr>
            <a:r>
              <a:rPr sz="2200" b="0">
                <a:solidFill>
                  <a:srgbClr val="17201F"/>
                </a:solidFill>
                <a:latin typeface="IBM Plex Sans"/>
              </a:rPr>
              <a:t>for external reconstruction.</a:t>
            </a:r>
          </a:p>
        </p:txBody>
      </p:sp>
      <p:sp>
        <p:nvSpPr>
          <p:cNvPr id="24" name="TextBox 23"/>
          <p:cNvSpPr txBox="1"/>
          <p:nvPr/>
        </p:nvSpPr>
        <p:spPr>
          <a:xfrm>
            <a:off x="548640" y="5952744"/>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50" b="0">
                <a:solidFill>
                  <a:srgbClr val="365E4D"/>
                </a:solidFill>
                <a:latin typeface="IBM Plex Mono"/>
              </a:rPr>
              <a:t>MEASURED DEVELOPMENT · Different tasks and units. These counts are not pooled or a discovery score.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RELIABILITY / EVIDENCE CONTRACTS</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09</a:t>
            </a:r>
          </a:p>
        </p:txBody>
      </p:sp>
      <p:sp>
        <p:nvSpPr>
          <p:cNvPr id="8" name="TextBox 7"/>
          <p:cNvSpPr txBox="1"/>
          <p:nvPr/>
        </p:nvSpPr>
        <p:spPr>
          <a:xfrm>
            <a:off x="548640" y="987552"/>
            <a:ext cx="11018520" cy="1197864"/>
          </a:xfrm>
          <a:prstGeom prst="rect">
            <a:avLst/>
          </a:prstGeom>
          <a:noFill/>
        </p:spPr>
        <p:txBody>
          <a:bodyPr wrap="square" lIns="0" rIns="0" tIns="0" bIns="0" anchor="t">
            <a:noAutofit/>
          </a:bodyPr>
          <a:lstStyle/>
          <a:p>
            <a:pPr algn="l">
              <a:lnSpc>
                <a:spcPct val="108000"/>
              </a:lnSpc>
              <a:spcBef>
                <a:spcPts val="0"/>
              </a:spcBef>
              <a:spcAft>
                <a:spcPts val="0"/>
              </a:spcAft>
            </a:pPr>
            <a:r>
              <a:rPr sz="3900" b="1">
                <a:solidFill>
                  <a:srgbClr val="F1EFE7"/>
                </a:solidFill>
                <a:latin typeface="IBM Plex Sans"/>
              </a:rPr>
              <a:t>Evidence needs a budget</a:t>
            </a:r>
          </a:p>
          <a:p>
            <a:pPr algn="l">
              <a:lnSpc>
                <a:spcPct val="108000"/>
              </a:lnSpc>
              <a:spcBef>
                <a:spcPts val="0"/>
              </a:spcBef>
              <a:spcAft>
                <a:spcPts val="0"/>
              </a:spcAft>
            </a:pPr>
            <a:r>
              <a:rPr sz="3900" b="1">
                <a:solidFill>
                  <a:srgbClr val="F1EFE7"/>
                </a:solidFill>
                <a:latin typeface="IBM Plex Sans"/>
              </a:rPr>
              <a:t>for being wrong.</a:t>
            </a:r>
          </a:p>
        </p:txBody>
      </p:sp>
      <p:sp>
        <p:nvSpPr>
          <p:cNvPr id="9" name="TextBox 8"/>
          <p:cNvSpPr txBox="1"/>
          <p:nvPr/>
        </p:nvSpPr>
        <p:spPr>
          <a:xfrm>
            <a:off x="603504" y="2295144"/>
            <a:ext cx="10789920" cy="301752"/>
          </a:xfrm>
          <a:prstGeom prst="rect">
            <a:avLst/>
          </a:prstGeom>
          <a:noFill/>
        </p:spPr>
        <p:txBody>
          <a:bodyPr wrap="square" lIns="0" rIns="0" tIns="0" bIns="0" anchor="t">
            <a:noAutofit/>
          </a:bodyPr>
          <a:lstStyle/>
          <a:p>
            <a:pPr algn="l">
              <a:lnSpc>
                <a:spcPct val="108000"/>
              </a:lnSpc>
              <a:spcBef>
                <a:spcPts val="0"/>
              </a:spcBef>
              <a:spcAft>
                <a:spcPts val="0"/>
              </a:spcAft>
            </a:pPr>
            <a:r>
              <a:rPr sz="1300" b="1">
                <a:solidFill>
                  <a:srgbClr val="A6C9B8"/>
                </a:solidFill>
                <a:latin typeface="IBM Plex Mono"/>
              </a:rPr>
              <a:t>INTERNAL E-VALUE TOOLS</a:t>
            </a:r>
          </a:p>
        </p:txBody>
      </p:sp>
      <p:sp>
        <p:nvSpPr>
          <p:cNvPr id="10" name="TextBox 9"/>
          <p:cNvSpPr txBox="1"/>
          <p:nvPr/>
        </p:nvSpPr>
        <p:spPr>
          <a:xfrm>
            <a:off x="594360" y="2715768"/>
            <a:ext cx="5029200" cy="1024128"/>
          </a:xfrm>
          <a:prstGeom prst="rect">
            <a:avLst/>
          </a:prstGeom>
          <a:noFill/>
        </p:spPr>
        <p:txBody>
          <a:bodyPr wrap="square" lIns="0" rIns="0" tIns="0" bIns="0" anchor="t">
            <a:noAutofit/>
          </a:bodyPr>
          <a:lstStyle/>
          <a:p>
            <a:pPr algn="l">
              <a:lnSpc>
                <a:spcPct val="108000"/>
              </a:lnSpc>
              <a:spcBef>
                <a:spcPts val="0"/>
              </a:spcBef>
              <a:spcAft>
                <a:spcPts val="0"/>
              </a:spcAft>
            </a:pPr>
            <a:r>
              <a:rPr sz="6600" b="1">
                <a:solidFill>
                  <a:srgbClr val="A6C9B8"/>
                </a:solidFill>
                <a:latin typeface="IBM Plex Sans"/>
              </a:rPr>
              <a:t>1.12%</a:t>
            </a:r>
          </a:p>
        </p:txBody>
      </p:sp>
      <p:sp>
        <p:nvSpPr>
          <p:cNvPr id="11" name="TextBox 10"/>
          <p:cNvSpPr txBox="1"/>
          <p:nvPr/>
        </p:nvSpPr>
        <p:spPr>
          <a:xfrm>
            <a:off x="594360" y="3831336"/>
            <a:ext cx="5029200" cy="603504"/>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F1EFE7"/>
                </a:solidFill>
                <a:latin typeface="IBM Plex Sans"/>
              </a:rPr>
              <a:t>ever crossed the threshold</a:t>
            </a:r>
          </a:p>
        </p:txBody>
      </p:sp>
      <p:sp>
        <p:nvSpPr>
          <p:cNvPr id="12" name="TextBox 11"/>
          <p:cNvSpPr txBox="1"/>
          <p:nvPr/>
        </p:nvSpPr>
        <p:spPr>
          <a:xfrm>
            <a:off x="594360" y="4590288"/>
            <a:ext cx="5029200" cy="1042415"/>
          </a:xfrm>
          <a:prstGeom prst="rect">
            <a:avLst/>
          </a:prstGeom>
          <a:noFill/>
        </p:spPr>
        <p:txBody>
          <a:bodyPr wrap="square" lIns="0" rIns="0" tIns="0" bIns="0" anchor="t">
            <a:noAutofit/>
          </a:bodyPr>
          <a:lstStyle/>
          <a:p>
            <a:pPr algn="l">
              <a:lnSpc>
                <a:spcPct val="108000"/>
              </a:lnSpc>
              <a:spcBef>
                <a:spcPts val="0"/>
              </a:spcBef>
              <a:spcAft>
                <a:spcPts val="0"/>
              </a:spcAft>
            </a:pPr>
            <a:r>
              <a:rPr sz="1700" b="0">
                <a:solidFill>
                  <a:srgbClr val="AFB9B2"/>
                </a:solidFill>
                <a:latin typeface="IBM Plex Sans"/>
              </a:rPr>
              <a:t>112 / 10,000 synthetic null runs</a:t>
            </a:r>
          </a:p>
          <a:p>
            <a:pPr algn="l">
              <a:lnSpc>
                <a:spcPct val="108000"/>
              </a:lnSpc>
              <a:spcBef>
                <a:spcPts val="0"/>
              </a:spcBef>
              <a:spcAft>
                <a:spcPts val="0"/>
              </a:spcAft>
            </a:pPr>
            <a:r>
              <a:rPr sz="1700" b="0">
                <a:solidFill>
                  <a:srgbClr val="AFB9B2"/>
                </a:solidFill>
                <a:latin typeface="IBM Plex Sans"/>
              </a:rPr>
              <a:t>95% Wilson interval: 0.93–1.35%</a:t>
            </a:r>
          </a:p>
        </p:txBody>
      </p:sp>
      <p:cxnSp>
        <p:nvCxnSpPr>
          <p:cNvPr id="13" name="Connector 12"/>
          <p:cNvCxnSpPr/>
          <p:nvPr/>
        </p:nvCxnSpPr>
        <p:spPr>
          <a:xfrm>
            <a:off x="6007608" y="2642616"/>
            <a:ext cx="5614416"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6007608" y="2779776"/>
            <a:ext cx="1740468" cy="649224"/>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A6C9B8"/>
                </a:solidFill>
                <a:latin typeface="IBM Plex Sans"/>
              </a:rPr>
              <a:t>Prevent leakage</a:t>
            </a:r>
          </a:p>
        </p:txBody>
      </p:sp>
      <p:sp>
        <p:nvSpPr>
          <p:cNvPr id="15" name="TextBox 14"/>
          <p:cNvSpPr txBox="1"/>
          <p:nvPr/>
        </p:nvSpPr>
        <p:spPr>
          <a:xfrm>
            <a:off x="7916509" y="2788920"/>
            <a:ext cx="3705514" cy="713232"/>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Train on past data; score fresh observations.</a:t>
            </a:r>
          </a:p>
        </p:txBody>
      </p:sp>
      <p:cxnSp>
        <p:nvCxnSpPr>
          <p:cNvPr id="16" name="Connector 15"/>
          <p:cNvCxnSpPr/>
          <p:nvPr/>
        </p:nvCxnSpPr>
        <p:spPr>
          <a:xfrm>
            <a:off x="6007608" y="3639312"/>
            <a:ext cx="5614416"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7" name="TextBox 16"/>
          <p:cNvSpPr txBox="1"/>
          <p:nvPr/>
        </p:nvSpPr>
        <p:spPr>
          <a:xfrm>
            <a:off x="6007608" y="3776472"/>
            <a:ext cx="1740468" cy="649224"/>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A6C9B8"/>
                </a:solidFill>
                <a:latin typeface="IBM Plex Sans"/>
              </a:rPr>
              <a:t>Keep receipts</a:t>
            </a:r>
          </a:p>
        </p:txBody>
      </p:sp>
      <p:sp>
        <p:nvSpPr>
          <p:cNvPr id="18" name="TextBox 17"/>
          <p:cNvSpPr txBox="1"/>
          <p:nvPr/>
        </p:nvSpPr>
        <p:spPr>
          <a:xfrm>
            <a:off x="7916509" y="3785616"/>
            <a:ext cx="3705514" cy="713232"/>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Freeze inputs, consume donors once, preserve replay.</a:t>
            </a:r>
          </a:p>
        </p:txBody>
      </p:sp>
      <p:cxnSp>
        <p:nvCxnSpPr>
          <p:cNvPr id="19" name="Connector 18"/>
          <p:cNvCxnSpPr/>
          <p:nvPr/>
        </p:nvCxnSpPr>
        <p:spPr>
          <a:xfrm>
            <a:off x="6007608" y="4636008"/>
            <a:ext cx="5614416"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6007608" y="4773168"/>
            <a:ext cx="1740468" cy="649224"/>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A6C9B8"/>
                </a:solidFill>
                <a:latin typeface="IBM Plex Sans"/>
              </a:rPr>
              <a:t>Respect limits</a:t>
            </a:r>
          </a:p>
        </p:txBody>
      </p:sp>
      <p:sp>
        <p:nvSpPr>
          <p:cNvPr id="21" name="TextBox 20"/>
          <p:cNvSpPr txBox="1"/>
          <p:nvPr/>
        </p:nvSpPr>
        <p:spPr>
          <a:xfrm>
            <a:off x="7916509" y="4782312"/>
            <a:ext cx="3705514" cy="713232"/>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Synthetic calibration is not discovery accuracy.</a:t>
            </a:r>
          </a:p>
        </p:txBody>
      </p:sp>
      <p:sp>
        <p:nvSpPr>
          <p:cNvPr id="22" name="TextBox 21"/>
          <p:cNvSpPr txBox="1"/>
          <p:nvPr/>
        </p:nvSpPr>
        <p:spPr>
          <a:xfrm>
            <a:off x="548640" y="5952744"/>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50" b="0">
                <a:solidFill>
                  <a:srgbClr val="AFB9B2"/>
                </a:solidFill>
                <a:latin typeface="IBM Plex Mono"/>
              </a:rPr>
              <a:t>SEPARATE DIAGNOSTIC · Learned encoder; 96 synthetic pairs/run. No investigation-wide guarantee.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OPTIONAL DISCOVERY SEQUENCE / POPULATE FROM ONE VERIFIED RUN</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10</a:t>
            </a:r>
          </a:p>
        </p:txBody>
      </p:sp>
      <p:sp>
        <p:nvSpPr>
          <p:cNvPr id="8" name="TextBox 7"/>
          <p:cNvSpPr txBox="1"/>
          <p:nvPr/>
        </p:nvSpPr>
        <p:spPr>
          <a:xfrm>
            <a:off x="548640" y="987552"/>
            <a:ext cx="11018520" cy="1197864"/>
          </a:xfrm>
          <a:prstGeom prst="rect">
            <a:avLst/>
          </a:prstGeom>
          <a:noFill/>
        </p:spPr>
        <p:txBody>
          <a:bodyPr wrap="square" lIns="0" rIns="0" tIns="0" bIns="0" anchor="t">
            <a:noAutofit/>
          </a:bodyPr>
          <a:lstStyle/>
          <a:p>
            <a:pPr algn="l">
              <a:lnSpc>
                <a:spcPct val="108000"/>
              </a:lnSpc>
              <a:spcBef>
                <a:spcPts val="0"/>
              </a:spcBef>
              <a:spcAft>
                <a:spcPts val="0"/>
              </a:spcAft>
            </a:pPr>
            <a:r>
              <a:rPr sz="3900" b="1">
                <a:solidFill>
                  <a:srgbClr val="F1EFE7"/>
                </a:solidFill>
                <a:latin typeface="IBM Plex Sans"/>
              </a:rPr>
              <a:t>Follow one question all the way</a:t>
            </a:r>
          </a:p>
          <a:p>
            <a:pPr algn="l">
              <a:lnSpc>
                <a:spcPct val="108000"/>
              </a:lnSpc>
              <a:spcBef>
                <a:spcPts val="0"/>
              </a:spcBef>
              <a:spcAft>
                <a:spcPts val="0"/>
              </a:spcAft>
            </a:pPr>
            <a:r>
              <a:rPr sz="3900" b="1">
                <a:solidFill>
                  <a:srgbClr val="F1EFE7"/>
                </a:solidFill>
                <a:latin typeface="IBM Plex Sans"/>
              </a:rPr>
              <a:t>to a reviewable result.</a:t>
            </a:r>
          </a:p>
        </p:txBody>
      </p:sp>
      <p:cxnSp>
        <p:nvCxnSpPr>
          <p:cNvPr id="9" name="Connector 8"/>
          <p:cNvCxnSpPr/>
          <p:nvPr/>
        </p:nvCxnSpPr>
        <p:spPr>
          <a:xfrm>
            <a:off x="594360" y="2633472"/>
            <a:ext cx="3355848" cy="0"/>
          </a:xfrm>
          <a:prstGeom prst="line">
            <a:avLst/>
          </a:prstGeom>
          <a:ln w="1778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594360" y="2798064"/>
            <a:ext cx="3474720" cy="32004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6C9B8"/>
                </a:solidFill>
                <a:latin typeface="IBM Plex Mono"/>
              </a:rPr>
              <a:t>01 / SOURCE</a:t>
            </a:r>
          </a:p>
        </p:txBody>
      </p:sp>
      <p:sp>
        <p:nvSpPr>
          <p:cNvPr id="11" name="TextBox 10"/>
          <p:cNvSpPr txBox="1"/>
          <p:nvPr/>
        </p:nvSpPr>
        <p:spPr>
          <a:xfrm>
            <a:off x="594360" y="3282696"/>
            <a:ext cx="3337560" cy="786384"/>
          </a:xfrm>
          <a:prstGeom prst="rect">
            <a:avLst/>
          </a:prstGeom>
          <a:noFill/>
        </p:spPr>
        <p:txBody>
          <a:bodyPr wrap="square" lIns="0" rIns="0" tIns="0" bIns="0" anchor="t">
            <a:noAutofit/>
          </a:bodyPr>
          <a:lstStyle/>
          <a:p>
            <a:pPr algn="l">
              <a:lnSpc>
                <a:spcPct val="108000"/>
              </a:lnSpc>
              <a:spcBef>
                <a:spcPts val="0"/>
              </a:spcBef>
              <a:spcAft>
                <a:spcPts val="0"/>
              </a:spcAft>
            </a:pPr>
            <a:r>
              <a:rPr sz="2300" b="1">
                <a:solidFill>
                  <a:srgbClr val="F1EFE7"/>
                </a:solidFill>
                <a:latin typeface="IBM Plex Sans"/>
              </a:rPr>
              <a:t>Verbatim claim + passage</a:t>
            </a:r>
          </a:p>
        </p:txBody>
      </p:sp>
      <p:cxnSp>
        <p:nvCxnSpPr>
          <p:cNvPr id="12" name="Connector 11"/>
          <p:cNvCxnSpPr/>
          <p:nvPr/>
        </p:nvCxnSpPr>
        <p:spPr>
          <a:xfrm>
            <a:off x="4416552" y="2633472"/>
            <a:ext cx="3355848" cy="0"/>
          </a:xfrm>
          <a:prstGeom prst="line">
            <a:avLst/>
          </a:prstGeom>
          <a:ln w="1778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4416552" y="2798064"/>
            <a:ext cx="3474720" cy="32004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6C9B8"/>
                </a:solidFill>
                <a:latin typeface="IBM Plex Mono"/>
              </a:rPr>
              <a:t>02 / BRIDGE</a:t>
            </a:r>
          </a:p>
        </p:txBody>
      </p:sp>
      <p:sp>
        <p:nvSpPr>
          <p:cNvPr id="14" name="TextBox 13"/>
          <p:cNvSpPr txBox="1"/>
          <p:nvPr/>
        </p:nvSpPr>
        <p:spPr>
          <a:xfrm>
            <a:off x="4416552" y="3282696"/>
            <a:ext cx="3337560" cy="786384"/>
          </a:xfrm>
          <a:prstGeom prst="rect">
            <a:avLst/>
          </a:prstGeom>
          <a:noFill/>
        </p:spPr>
        <p:txBody>
          <a:bodyPr wrap="square" lIns="0" rIns="0" tIns="0" bIns="0" anchor="t">
            <a:noAutofit/>
          </a:bodyPr>
          <a:lstStyle/>
          <a:p>
            <a:pPr algn="l">
              <a:lnSpc>
                <a:spcPct val="108000"/>
              </a:lnSpc>
              <a:spcBef>
                <a:spcPts val="0"/>
              </a:spcBef>
              <a:spcAft>
                <a:spcPts val="0"/>
              </a:spcAft>
            </a:pPr>
            <a:r>
              <a:rPr sz="2300" b="1">
                <a:solidFill>
                  <a:srgbClr val="F1EFE7"/>
                </a:solidFill>
                <a:latin typeface="IBM Plex Sans"/>
              </a:rPr>
              <a:t>Agent’s concise decision</a:t>
            </a:r>
          </a:p>
        </p:txBody>
      </p:sp>
      <p:cxnSp>
        <p:nvCxnSpPr>
          <p:cNvPr id="15" name="Connector 14"/>
          <p:cNvCxnSpPr/>
          <p:nvPr/>
        </p:nvCxnSpPr>
        <p:spPr>
          <a:xfrm>
            <a:off x="8238744" y="2633472"/>
            <a:ext cx="3355848" cy="0"/>
          </a:xfrm>
          <a:prstGeom prst="line">
            <a:avLst/>
          </a:prstGeom>
          <a:ln w="1778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8238744" y="2798064"/>
            <a:ext cx="3474720" cy="32004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6C9B8"/>
                </a:solidFill>
                <a:latin typeface="IBM Plex Mono"/>
              </a:rPr>
              <a:t>03 / EXPERIMENT</a:t>
            </a:r>
          </a:p>
        </p:txBody>
      </p:sp>
      <p:sp>
        <p:nvSpPr>
          <p:cNvPr id="17" name="TextBox 16"/>
          <p:cNvSpPr txBox="1"/>
          <p:nvPr/>
        </p:nvSpPr>
        <p:spPr>
          <a:xfrm>
            <a:off x="8238744" y="3282696"/>
            <a:ext cx="3337560" cy="786384"/>
          </a:xfrm>
          <a:prstGeom prst="rect">
            <a:avLst/>
          </a:prstGeom>
          <a:noFill/>
        </p:spPr>
        <p:txBody>
          <a:bodyPr wrap="square" lIns="0" rIns="0" tIns="0" bIns="0" anchor="t">
            <a:noAutofit/>
          </a:bodyPr>
          <a:lstStyle/>
          <a:p>
            <a:pPr algn="l">
              <a:lnSpc>
                <a:spcPct val="108000"/>
              </a:lnSpc>
              <a:spcBef>
                <a:spcPts val="0"/>
              </a:spcBef>
              <a:spcAft>
                <a:spcPts val="0"/>
              </a:spcAft>
            </a:pPr>
            <a:r>
              <a:rPr sz="2300" b="1">
                <a:solidFill>
                  <a:srgbClr val="F1EFE7"/>
                </a:solidFill>
                <a:latin typeface="IBM Plex Sans"/>
              </a:rPr>
              <a:t>Saved code + dataset</a:t>
            </a:r>
          </a:p>
        </p:txBody>
      </p:sp>
      <p:cxnSp>
        <p:nvCxnSpPr>
          <p:cNvPr id="18" name="Connector 17"/>
          <p:cNvCxnSpPr/>
          <p:nvPr/>
        </p:nvCxnSpPr>
        <p:spPr>
          <a:xfrm>
            <a:off x="594360" y="4197096"/>
            <a:ext cx="3355848" cy="0"/>
          </a:xfrm>
          <a:prstGeom prst="line">
            <a:avLst/>
          </a:prstGeom>
          <a:ln w="1778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19" name="TextBox 18"/>
          <p:cNvSpPr txBox="1"/>
          <p:nvPr/>
        </p:nvSpPr>
        <p:spPr>
          <a:xfrm>
            <a:off x="594360" y="4361688"/>
            <a:ext cx="3474720" cy="32004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6C9B8"/>
                </a:solidFill>
                <a:latin typeface="IBM Plex Mono"/>
              </a:rPr>
              <a:t>04 / RESULT</a:t>
            </a:r>
          </a:p>
        </p:txBody>
      </p:sp>
      <p:sp>
        <p:nvSpPr>
          <p:cNvPr id="20" name="TextBox 19"/>
          <p:cNvSpPr txBox="1"/>
          <p:nvPr/>
        </p:nvSpPr>
        <p:spPr>
          <a:xfrm>
            <a:off x="594360" y="4846320"/>
            <a:ext cx="3337560" cy="786384"/>
          </a:xfrm>
          <a:prstGeom prst="rect">
            <a:avLst/>
          </a:prstGeom>
          <a:noFill/>
        </p:spPr>
        <p:txBody>
          <a:bodyPr wrap="square" lIns="0" rIns="0" tIns="0" bIns="0" anchor="t">
            <a:noAutofit/>
          </a:bodyPr>
          <a:lstStyle/>
          <a:p>
            <a:pPr algn="l">
              <a:lnSpc>
                <a:spcPct val="108000"/>
              </a:lnSpc>
              <a:spcBef>
                <a:spcPts val="0"/>
              </a:spcBef>
              <a:spcAft>
                <a:spcPts val="0"/>
              </a:spcAft>
            </a:pPr>
            <a:r>
              <a:rPr sz="2300" b="1">
                <a:solidFill>
                  <a:srgbClr val="F1EFE7"/>
                </a:solidFill>
                <a:latin typeface="IBM Plex Sans"/>
              </a:rPr>
              <a:t>Raw output + units</a:t>
            </a:r>
          </a:p>
        </p:txBody>
      </p:sp>
      <p:cxnSp>
        <p:nvCxnSpPr>
          <p:cNvPr id="21" name="Connector 20"/>
          <p:cNvCxnSpPr/>
          <p:nvPr/>
        </p:nvCxnSpPr>
        <p:spPr>
          <a:xfrm>
            <a:off x="4416552" y="4197096"/>
            <a:ext cx="3355848" cy="0"/>
          </a:xfrm>
          <a:prstGeom prst="line">
            <a:avLst/>
          </a:prstGeom>
          <a:ln w="1778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4416552" y="4361688"/>
            <a:ext cx="3474720" cy="32004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6C9B8"/>
                </a:solidFill>
                <a:latin typeface="IBM Plex Mono"/>
              </a:rPr>
              <a:t>05 / VERIFICATION</a:t>
            </a:r>
          </a:p>
        </p:txBody>
      </p:sp>
      <p:sp>
        <p:nvSpPr>
          <p:cNvPr id="23" name="TextBox 22"/>
          <p:cNvSpPr txBox="1"/>
          <p:nvPr/>
        </p:nvSpPr>
        <p:spPr>
          <a:xfrm>
            <a:off x="4416552" y="4846320"/>
            <a:ext cx="3337560" cy="786384"/>
          </a:xfrm>
          <a:prstGeom prst="rect">
            <a:avLst/>
          </a:prstGeom>
          <a:noFill/>
        </p:spPr>
        <p:txBody>
          <a:bodyPr wrap="square" lIns="0" rIns="0" tIns="0" bIns="0" anchor="t">
            <a:noAutofit/>
          </a:bodyPr>
          <a:lstStyle/>
          <a:p>
            <a:pPr algn="l">
              <a:lnSpc>
                <a:spcPct val="108000"/>
              </a:lnSpc>
              <a:spcBef>
                <a:spcPts val="0"/>
              </a:spcBef>
              <a:spcAft>
                <a:spcPts val="0"/>
              </a:spcAft>
            </a:pPr>
            <a:r>
              <a:rPr sz="2300" b="1">
                <a:solidFill>
                  <a:srgbClr val="F1EFE7"/>
                </a:solidFill>
                <a:latin typeface="IBM Plex Sans"/>
              </a:rPr>
              <a:t>Checks + failed controls</a:t>
            </a:r>
          </a:p>
        </p:txBody>
      </p:sp>
      <p:cxnSp>
        <p:nvCxnSpPr>
          <p:cNvPr id="24" name="Connector 23"/>
          <p:cNvCxnSpPr/>
          <p:nvPr/>
        </p:nvCxnSpPr>
        <p:spPr>
          <a:xfrm>
            <a:off x="8238744" y="4197096"/>
            <a:ext cx="3355848" cy="0"/>
          </a:xfrm>
          <a:prstGeom prst="line">
            <a:avLst/>
          </a:prstGeom>
          <a:ln w="1778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8238744" y="4361688"/>
            <a:ext cx="3474720" cy="32004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6C9B8"/>
                </a:solidFill>
                <a:latin typeface="IBM Plex Mono"/>
              </a:rPr>
              <a:t>06 / REVIEW</a:t>
            </a:r>
          </a:p>
        </p:txBody>
      </p:sp>
      <p:sp>
        <p:nvSpPr>
          <p:cNvPr id="26" name="TextBox 25"/>
          <p:cNvSpPr txBox="1"/>
          <p:nvPr/>
        </p:nvSpPr>
        <p:spPr>
          <a:xfrm>
            <a:off x="8238744" y="4846320"/>
            <a:ext cx="3337560" cy="786384"/>
          </a:xfrm>
          <a:prstGeom prst="rect">
            <a:avLst/>
          </a:prstGeom>
          <a:noFill/>
        </p:spPr>
        <p:txBody>
          <a:bodyPr wrap="square" lIns="0" rIns="0" tIns="0" bIns="0" anchor="t">
            <a:noAutofit/>
          </a:bodyPr>
          <a:lstStyle/>
          <a:p>
            <a:pPr algn="l">
              <a:lnSpc>
                <a:spcPct val="108000"/>
              </a:lnSpc>
              <a:spcBef>
                <a:spcPts val="0"/>
              </a:spcBef>
              <a:spcAft>
                <a:spcPts val="0"/>
              </a:spcAft>
            </a:pPr>
            <a:r>
              <a:rPr sz="2300" b="1">
                <a:solidFill>
                  <a:srgbClr val="F1EFE7"/>
                </a:solidFill>
                <a:latin typeface="IBM Plex Sans"/>
              </a:rPr>
              <a:t>Recorded human decision</a:t>
            </a:r>
          </a:p>
        </p:txBody>
      </p:sp>
      <p:sp>
        <p:nvSpPr>
          <p:cNvPr id="27" name="TextBox 26"/>
          <p:cNvSpPr txBox="1"/>
          <p:nvPr/>
        </p:nvSpPr>
        <p:spPr>
          <a:xfrm>
            <a:off x="548640" y="5952744"/>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50" b="0">
                <a:solidFill>
                  <a:srgbClr val="DEB577"/>
                </a:solidFill>
                <a:latin typeface="IBM Plex Mono"/>
              </a:rPr>
              <a:t>REVEAL STORYBOARD · No qualifying run attached. Hidden from the default judge pitch.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OPTIONAL DISCOVERY SEQUENCE / SURVIVORS BEFORE THE REVEAL</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11</a:t>
            </a:r>
          </a:p>
        </p:txBody>
      </p:sp>
      <p:sp>
        <p:nvSpPr>
          <p:cNvPr id="8" name="TextBox 7"/>
          <p:cNvSpPr txBox="1"/>
          <p:nvPr/>
        </p:nvSpPr>
        <p:spPr>
          <a:xfrm>
            <a:off x="548640" y="987552"/>
            <a:ext cx="11018520" cy="1197864"/>
          </a:xfrm>
          <a:prstGeom prst="rect">
            <a:avLst/>
          </a:prstGeom>
          <a:noFill/>
        </p:spPr>
        <p:txBody>
          <a:bodyPr wrap="square" lIns="0" rIns="0" tIns="0" bIns="0" anchor="t">
            <a:noAutofit/>
          </a:bodyPr>
          <a:lstStyle/>
          <a:p>
            <a:pPr algn="l">
              <a:lnSpc>
                <a:spcPct val="108000"/>
              </a:lnSpc>
              <a:spcBef>
                <a:spcPts val="0"/>
              </a:spcBef>
              <a:spcAft>
                <a:spcPts val="0"/>
              </a:spcAft>
            </a:pPr>
            <a:r>
              <a:rPr sz="3900" b="1">
                <a:solidFill>
                  <a:srgbClr val="F1EFE7"/>
                </a:solidFill>
                <a:latin typeface="IBM Plex Sans"/>
              </a:rPr>
              <a:t>First, show what survived.</a:t>
            </a:r>
          </a:p>
        </p:txBody>
      </p:sp>
      <p:sp>
        <p:nvSpPr>
          <p:cNvPr id="9" name="Rectangle 8"/>
          <p:cNvSpPr/>
          <p:nvPr/>
        </p:nvSpPr>
        <p:spPr>
          <a:xfrm>
            <a:off x="594360" y="2715768"/>
            <a:ext cx="3401568" cy="2606040"/>
          </a:xfrm>
          <a:prstGeom prst="rect">
            <a:avLst/>
          </a:prstGeom>
          <a:solidFill>
            <a:srgbClr val="222E2A"/>
          </a:solidFill>
          <a:ln w="8890">
            <a:solidFill>
              <a:srgbClr val="3A494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804672" y="2990088"/>
            <a:ext cx="2971800" cy="32004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6C9B8"/>
                </a:solidFill>
                <a:latin typeface="IBM Plex Mono"/>
              </a:rPr>
              <a:t>CANDIDATE 01</a:t>
            </a:r>
          </a:p>
        </p:txBody>
      </p:sp>
      <p:sp>
        <p:nvSpPr>
          <p:cNvPr id="11" name="TextBox 10"/>
          <p:cNvSpPr txBox="1"/>
          <p:nvPr/>
        </p:nvSpPr>
        <p:spPr>
          <a:xfrm>
            <a:off x="813816" y="3621024"/>
            <a:ext cx="2926080" cy="960120"/>
          </a:xfrm>
          <a:prstGeom prst="rect">
            <a:avLst/>
          </a:prstGeom>
          <a:noFill/>
        </p:spPr>
        <p:txBody>
          <a:bodyPr wrap="square" lIns="0" rIns="0" tIns="0" bIns="0" anchor="t">
            <a:noAutofit/>
          </a:bodyPr>
          <a:lstStyle/>
          <a:p>
            <a:pPr algn="l">
              <a:lnSpc>
                <a:spcPct val="108000"/>
              </a:lnSpc>
              <a:spcBef>
                <a:spcPts val="0"/>
              </a:spcBef>
              <a:spcAft>
                <a:spcPts val="0"/>
              </a:spcAft>
            </a:pPr>
            <a:r>
              <a:rPr sz="2800" b="1">
                <a:solidFill>
                  <a:srgbClr val="F1EFE7"/>
                </a:solidFill>
                <a:latin typeface="IBM Plex Sans"/>
              </a:rPr>
              <a:t>Claim in plain</a:t>
            </a:r>
          </a:p>
          <a:p>
            <a:pPr algn="l">
              <a:lnSpc>
                <a:spcPct val="108000"/>
              </a:lnSpc>
              <a:spcBef>
                <a:spcPts val="0"/>
              </a:spcBef>
              <a:spcAft>
                <a:spcPts val="0"/>
              </a:spcAft>
            </a:pPr>
            <a:r>
              <a:rPr sz="2800" b="1">
                <a:solidFill>
                  <a:srgbClr val="F1EFE7"/>
                </a:solidFill>
                <a:latin typeface="IBM Plex Sans"/>
              </a:rPr>
              <a:t>language</a:t>
            </a:r>
          </a:p>
        </p:txBody>
      </p:sp>
      <p:sp>
        <p:nvSpPr>
          <p:cNvPr id="12" name="TextBox 11"/>
          <p:cNvSpPr txBox="1"/>
          <p:nvPr/>
        </p:nvSpPr>
        <p:spPr>
          <a:xfrm>
            <a:off x="813816" y="4736592"/>
            <a:ext cx="2953512" cy="420624"/>
          </a:xfrm>
          <a:prstGeom prst="rect">
            <a:avLst/>
          </a:prstGeom>
          <a:noFill/>
        </p:spPr>
        <p:txBody>
          <a:bodyPr wrap="square" lIns="0" rIns="0" tIns="0" bIns="0" anchor="t">
            <a:noAutofit/>
          </a:bodyPr>
          <a:lstStyle/>
          <a:p>
            <a:pPr algn="l">
              <a:lnSpc>
                <a:spcPct val="108000"/>
              </a:lnSpc>
              <a:spcBef>
                <a:spcPts val="0"/>
              </a:spcBef>
              <a:spcAft>
                <a:spcPts val="0"/>
              </a:spcAft>
            </a:pPr>
            <a:r>
              <a:rPr sz="1600" b="0">
                <a:solidFill>
                  <a:srgbClr val="AFB9B2"/>
                </a:solidFill>
                <a:latin typeface="IBM Plex Sans"/>
              </a:rPr>
              <a:t>Result • comparator • scope</a:t>
            </a:r>
          </a:p>
        </p:txBody>
      </p:sp>
      <p:sp>
        <p:nvSpPr>
          <p:cNvPr id="13" name="Rectangle 12"/>
          <p:cNvSpPr/>
          <p:nvPr/>
        </p:nvSpPr>
        <p:spPr>
          <a:xfrm>
            <a:off x="4416552" y="2715768"/>
            <a:ext cx="3401568" cy="2606040"/>
          </a:xfrm>
          <a:prstGeom prst="rect">
            <a:avLst/>
          </a:prstGeom>
          <a:solidFill>
            <a:srgbClr val="222E2A"/>
          </a:solidFill>
          <a:ln w="8890">
            <a:solidFill>
              <a:srgbClr val="3A494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626864" y="2990088"/>
            <a:ext cx="2971800" cy="32004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6C9B8"/>
                </a:solidFill>
                <a:latin typeface="IBM Plex Mono"/>
              </a:rPr>
              <a:t>CANDIDATE 02</a:t>
            </a:r>
          </a:p>
        </p:txBody>
      </p:sp>
      <p:sp>
        <p:nvSpPr>
          <p:cNvPr id="15" name="TextBox 14"/>
          <p:cNvSpPr txBox="1"/>
          <p:nvPr/>
        </p:nvSpPr>
        <p:spPr>
          <a:xfrm>
            <a:off x="4636008" y="3621024"/>
            <a:ext cx="2926080" cy="960120"/>
          </a:xfrm>
          <a:prstGeom prst="rect">
            <a:avLst/>
          </a:prstGeom>
          <a:noFill/>
        </p:spPr>
        <p:txBody>
          <a:bodyPr wrap="square" lIns="0" rIns="0" tIns="0" bIns="0" anchor="t">
            <a:noAutofit/>
          </a:bodyPr>
          <a:lstStyle/>
          <a:p>
            <a:pPr algn="l">
              <a:lnSpc>
                <a:spcPct val="108000"/>
              </a:lnSpc>
              <a:spcBef>
                <a:spcPts val="0"/>
              </a:spcBef>
              <a:spcAft>
                <a:spcPts val="0"/>
              </a:spcAft>
            </a:pPr>
            <a:r>
              <a:rPr sz="2800" b="1">
                <a:solidFill>
                  <a:srgbClr val="F1EFE7"/>
                </a:solidFill>
                <a:latin typeface="IBM Plex Sans"/>
              </a:rPr>
              <a:t>Claim in plain</a:t>
            </a:r>
          </a:p>
          <a:p>
            <a:pPr algn="l">
              <a:lnSpc>
                <a:spcPct val="108000"/>
              </a:lnSpc>
              <a:spcBef>
                <a:spcPts val="0"/>
              </a:spcBef>
              <a:spcAft>
                <a:spcPts val="0"/>
              </a:spcAft>
            </a:pPr>
            <a:r>
              <a:rPr sz="2800" b="1">
                <a:solidFill>
                  <a:srgbClr val="F1EFE7"/>
                </a:solidFill>
                <a:latin typeface="IBM Plex Sans"/>
              </a:rPr>
              <a:t>language</a:t>
            </a:r>
          </a:p>
        </p:txBody>
      </p:sp>
      <p:sp>
        <p:nvSpPr>
          <p:cNvPr id="16" name="TextBox 15"/>
          <p:cNvSpPr txBox="1"/>
          <p:nvPr/>
        </p:nvSpPr>
        <p:spPr>
          <a:xfrm>
            <a:off x="4636008" y="4736592"/>
            <a:ext cx="2953512" cy="420624"/>
          </a:xfrm>
          <a:prstGeom prst="rect">
            <a:avLst/>
          </a:prstGeom>
          <a:noFill/>
        </p:spPr>
        <p:txBody>
          <a:bodyPr wrap="square" lIns="0" rIns="0" tIns="0" bIns="0" anchor="t">
            <a:noAutofit/>
          </a:bodyPr>
          <a:lstStyle/>
          <a:p>
            <a:pPr algn="l">
              <a:lnSpc>
                <a:spcPct val="108000"/>
              </a:lnSpc>
              <a:spcBef>
                <a:spcPts val="0"/>
              </a:spcBef>
              <a:spcAft>
                <a:spcPts val="0"/>
              </a:spcAft>
            </a:pPr>
            <a:r>
              <a:rPr sz="1600" b="0">
                <a:solidFill>
                  <a:srgbClr val="AFB9B2"/>
                </a:solidFill>
                <a:latin typeface="IBM Plex Sans"/>
              </a:rPr>
              <a:t>Result • comparator • scope</a:t>
            </a:r>
          </a:p>
        </p:txBody>
      </p:sp>
      <p:sp>
        <p:nvSpPr>
          <p:cNvPr id="17" name="Rectangle 16"/>
          <p:cNvSpPr/>
          <p:nvPr/>
        </p:nvSpPr>
        <p:spPr>
          <a:xfrm>
            <a:off x="8238744" y="2715768"/>
            <a:ext cx="3401568" cy="2606040"/>
          </a:xfrm>
          <a:prstGeom prst="rect">
            <a:avLst/>
          </a:prstGeom>
          <a:solidFill>
            <a:srgbClr val="222E2A"/>
          </a:solidFill>
          <a:ln w="8890">
            <a:solidFill>
              <a:srgbClr val="3A494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449056" y="2990088"/>
            <a:ext cx="2971800" cy="32004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6C9B8"/>
                </a:solidFill>
                <a:latin typeface="IBM Plex Mono"/>
              </a:rPr>
              <a:t>CANDIDATE 03</a:t>
            </a:r>
          </a:p>
        </p:txBody>
      </p:sp>
      <p:sp>
        <p:nvSpPr>
          <p:cNvPr id="19" name="TextBox 18"/>
          <p:cNvSpPr txBox="1"/>
          <p:nvPr/>
        </p:nvSpPr>
        <p:spPr>
          <a:xfrm>
            <a:off x="8458200" y="3621024"/>
            <a:ext cx="2926080" cy="960120"/>
          </a:xfrm>
          <a:prstGeom prst="rect">
            <a:avLst/>
          </a:prstGeom>
          <a:noFill/>
        </p:spPr>
        <p:txBody>
          <a:bodyPr wrap="square" lIns="0" rIns="0" tIns="0" bIns="0" anchor="t">
            <a:noAutofit/>
          </a:bodyPr>
          <a:lstStyle/>
          <a:p>
            <a:pPr algn="l">
              <a:lnSpc>
                <a:spcPct val="108000"/>
              </a:lnSpc>
              <a:spcBef>
                <a:spcPts val="0"/>
              </a:spcBef>
              <a:spcAft>
                <a:spcPts val="0"/>
              </a:spcAft>
            </a:pPr>
            <a:r>
              <a:rPr sz="2800" b="1">
                <a:solidFill>
                  <a:srgbClr val="F1EFE7"/>
                </a:solidFill>
                <a:latin typeface="IBM Plex Sans"/>
              </a:rPr>
              <a:t>Claim in plain</a:t>
            </a:r>
          </a:p>
          <a:p>
            <a:pPr algn="l">
              <a:lnSpc>
                <a:spcPct val="108000"/>
              </a:lnSpc>
              <a:spcBef>
                <a:spcPts val="0"/>
              </a:spcBef>
              <a:spcAft>
                <a:spcPts val="0"/>
              </a:spcAft>
            </a:pPr>
            <a:r>
              <a:rPr sz="2800" b="1">
                <a:solidFill>
                  <a:srgbClr val="F1EFE7"/>
                </a:solidFill>
                <a:latin typeface="IBM Plex Sans"/>
              </a:rPr>
              <a:t>language</a:t>
            </a:r>
          </a:p>
        </p:txBody>
      </p:sp>
      <p:sp>
        <p:nvSpPr>
          <p:cNvPr id="20" name="TextBox 19"/>
          <p:cNvSpPr txBox="1"/>
          <p:nvPr/>
        </p:nvSpPr>
        <p:spPr>
          <a:xfrm>
            <a:off x="8458200" y="4736592"/>
            <a:ext cx="2953512" cy="420624"/>
          </a:xfrm>
          <a:prstGeom prst="rect">
            <a:avLst/>
          </a:prstGeom>
          <a:noFill/>
        </p:spPr>
        <p:txBody>
          <a:bodyPr wrap="square" lIns="0" rIns="0" tIns="0" bIns="0" anchor="t">
            <a:noAutofit/>
          </a:bodyPr>
          <a:lstStyle/>
          <a:p>
            <a:pPr algn="l">
              <a:lnSpc>
                <a:spcPct val="108000"/>
              </a:lnSpc>
              <a:spcBef>
                <a:spcPts val="0"/>
              </a:spcBef>
              <a:spcAft>
                <a:spcPts val="0"/>
              </a:spcAft>
            </a:pPr>
            <a:r>
              <a:rPr sz="1600" b="0">
                <a:solidFill>
                  <a:srgbClr val="AFB9B2"/>
                </a:solidFill>
                <a:latin typeface="IBM Plex Sans"/>
              </a:rPr>
              <a:t>Result • comparator • scope</a:t>
            </a:r>
          </a:p>
        </p:txBody>
      </p:sp>
      <p:sp>
        <p:nvSpPr>
          <p:cNvPr id="21" name="TextBox 20"/>
          <p:cNvSpPr txBox="1"/>
          <p:nvPr/>
        </p:nvSpPr>
        <p:spPr>
          <a:xfrm>
            <a:off x="548640" y="5952744"/>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50" b="0">
                <a:solidFill>
                  <a:srgbClr val="DEB577"/>
                </a:solidFill>
                <a:latin typeface="IBM Plex Mono"/>
              </a:rPr>
              <a:t>UNPOPULATED STORYBOARD · Card count is a layout example, not a measured survivor count.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OPTIONAL DISCOVERY SEQUENCE / PAPER FADES IN ON CLICK</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12</a:t>
            </a:r>
          </a:p>
        </p:txBody>
      </p:sp>
      <p:sp>
        <p:nvSpPr>
          <p:cNvPr id="8" name="TextBox 7"/>
          <p:cNvSpPr txBox="1"/>
          <p:nvPr/>
        </p:nvSpPr>
        <p:spPr>
          <a:xfrm>
            <a:off x="548640" y="987552"/>
            <a:ext cx="11018520" cy="1197864"/>
          </a:xfrm>
          <a:prstGeom prst="rect">
            <a:avLst/>
          </a:prstGeom>
          <a:noFill/>
        </p:spPr>
        <p:txBody>
          <a:bodyPr wrap="square" lIns="0" rIns="0" tIns="0" bIns="0" anchor="t">
            <a:noAutofit/>
          </a:bodyPr>
          <a:lstStyle/>
          <a:p>
            <a:pPr algn="l">
              <a:lnSpc>
                <a:spcPct val="108000"/>
              </a:lnSpc>
              <a:spcBef>
                <a:spcPts val="0"/>
              </a:spcBef>
              <a:spcAft>
                <a:spcPts val="0"/>
              </a:spcAft>
            </a:pPr>
            <a:r>
              <a:rPr sz="3900" b="1">
                <a:solidFill>
                  <a:srgbClr val="F1EFE7"/>
                </a:solidFill>
                <a:latin typeface="IBM Plex Sans"/>
              </a:rPr>
              <a:t>Then reveal where the</a:t>
            </a:r>
          </a:p>
          <a:p>
            <a:pPr algn="l">
              <a:lnSpc>
                <a:spcPct val="108000"/>
              </a:lnSpc>
              <a:spcBef>
                <a:spcPts val="0"/>
              </a:spcBef>
              <a:spcAft>
                <a:spcPts val="0"/>
              </a:spcAft>
            </a:pPr>
            <a:r>
              <a:rPr sz="3900" b="1">
                <a:solidFill>
                  <a:srgbClr val="F1EFE7"/>
                </a:solidFill>
                <a:latin typeface="IBM Plex Sans"/>
              </a:rPr>
              <a:t>candidate leads.</a:t>
            </a:r>
          </a:p>
        </p:txBody>
      </p:sp>
      <p:sp>
        <p:nvSpPr>
          <p:cNvPr id="9" name="TextBox 8"/>
          <p:cNvSpPr txBox="1"/>
          <p:nvPr/>
        </p:nvSpPr>
        <p:spPr>
          <a:xfrm>
            <a:off x="603504" y="2880360"/>
            <a:ext cx="4892040" cy="539496"/>
          </a:xfrm>
          <a:prstGeom prst="rect">
            <a:avLst/>
          </a:prstGeom>
          <a:noFill/>
        </p:spPr>
        <p:txBody>
          <a:bodyPr wrap="square" lIns="0" rIns="0" tIns="0" bIns="0" anchor="t">
            <a:noAutofit/>
          </a:bodyPr>
          <a:lstStyle/>
          <a:p>
            <a:pPr algn="l">
              <a:lnSpc>
                <a:spcPct val="108000"/>
              </a:lnSpc>
              <a:spcBef>
                <a:spcPts val="0"/>
              </a:spcBef>
              <a:spcAft>
                <a:spcPts val="0"/>
              </a:spcAft>
            </a:pPr>
            <a:r>
              <a:rPr sz="2500" b="1">
                <a:solidFill>
                  <a:srgbClr val="A6C9B8"/>
                </a:solidFill>
                <a:latin typeface="IBM Plex Sans"/>
              </a:rPr>
              <a:t>The surviving candidate</a:t>
            </a:r>
          </a:p>
        </p:txBody>
      </p:sp>
      <p:sp>
        <p:nvSpPr>
          <p:cNvPr id="10" name="TextBox 9"/>
          <p:cNvSpPr txBox="1"/>
          <p:nvPr/>
        </p:nvSpPr>
        <p:spPr>
          <a:xfrm>
            <a:off x="621792" y="3739896"/>
            <a:ext cx="4828032" cy="1225296"/>
          </a:xfrm>
          <a:prstGeom prst="rect">
            <a:avLst/>
          </a:prstGeom>
          <a:noFill/>
        </p:spPr>
        <p:txBody>
          <a:bodyPr wrap="square" lIns="0" rIns="0" tIns="0" bIns="0" anchor="t">
            <a:noAutofit/>
          </a:bodyPr>
          <a:lstStyle/>
          <a:p>
            <a:pPr algn="l">
              <a:lnSpc>
                <a:spcPct val="108000"/>
              </a:lnSpc>
              <a:spcBef>
                <a:spcPts val="0"/>
              </a:spcBef>
              <a:spcAft>
                <a:spcPts val="0"/>
              </a:spcAft>
            </a:pPr>
            <a:r>
              <a:rPr sz="2900" b="0">
                <a:solidFill>
                  <a:srgbClr val="F1EFE7"/>
                </a:solidFill>
                <a:latin typeface="IBM Plex Sans"/>
              </a:rPr>
              <a:t>Connect the measured claim</a:t>
            </a:r>
          </a:p>
          <a:p>
            <a:pPr algn="l">
              <a:lnSpc>
                <a:spcPct val="108000"/>
              </a:lnSpc>
              <a:spcBef>
                <a:spcPts val="0"/>
              </a:spcBef>
              <a:spcAft>
                <a:spcPts val="0"/>
              </a:spcAft>
            </a:pPr>
            <a:r>
              <a:rPr sz="2900" b="0">
                <a:solidFill>
                  <a:srgbClr val="F1EFE7"/>
                </a:solidFill>
                <a:latin typeface="IBM Plex Sans"/>
              </a:rPr>
              <a:t>to the later published finding.</a:t>
            </a:r>
          </a:p>
        </p:txBody>
      </p:sp>
      <p:grpSp>
        <p:nvGrpSpPr>
          <p:cNvPr id="11" name="Group 10"/>
          <p:cNvGrpSpPr/>
          <p:nvPr/>
        </p:nvGrpSpPr>
        <p:grpSpPr>
          <a:xfrm>
            <a:off x="6492240" y="2523744"/>
            <a:ext cx="4700016" cy="3429000"/>
            <a:chOff x="6492240" y="2523744"/>
            <a:chExt cx="4700016" cy="3429000"/>
          </a:xfrm>
        </p:grpSpPr>
        <p:sp>
          <p:nvSpPr>
            <p:cNvPr id="12" name="Rectangle 11"/>
            <p:cNvSpPr/>
            <p:nvPr/>
          </p:nvSpPr>
          <p:spPr>
            <a:xfrm>
              <a:off x="6492240" y="2523744"/>
              <a:ext cx="4700016" cy="3429000"/>
            </a:xfrm>
            <a:prstGeom prst="rect">
              <a:avLst/>
            </a:prstGeom>
            <a:solidFill>
              <a:srgbClr val="F1EF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848856" y="2871216"/>
              <a:ext cx="4005072" cy="347472"/>
            </a:xfrm>
            <a:prstGeom prst="rect">
              <a:avLst/>
            </a:prstGeom>
            <a:noFill/>
          </p:spPr>
          <p:txBody>
            <a:bodyPr wrap="square" lIns="0" rIns="0" tIns="0" bIns="0" anchor="t">
              <a:noAutofit/>
            </a:bodyPr>
            <a:lstStyle/>
            <a:p>
              <a:pPr algn="l">
                <a:lnSpc>
                  <a:spcPct val="108000"/>
                </a:lnSpc>
                <a:spcBef>
                  <a:spcPts val="0"/>
                </a:spcBef>
                <a:spcAft>
                  <a:spcPts val="0"/>
                </a:spcAft>
              </a:pPr>
              <a:r>
                <a:rPr sz="1200" b="1">
                  <a:solidFill>
                    <a:srgbClr val="365E4D"/>
                  </a:solidFill>
                  <a:latin typeface="IBM Plex Mono"/>
                </a:rPr>
                <a:t>LATER DISCOVERY PAPER</a:t>
              </a:r>
            </a:p>
          </p:txBody>
        </p:sp>
        <p:sp>
          <p:nvSpPr>
            <p:cNvPr id="14" name="TextBox 13"/>
            <p:cNvSpPr txBox="1"/>
            <p:nvPr/>
          </p:nvSpPr>
          <p:spPr>
            <a:xfrm>
              <a:off x="6848856" y="3630168"/>
              <a:ext cx="3995928" cy="1060704"/>
            </a:xfrm>
            <a:prstGeom prst="rect">
              <a:avLst/>
            </a:prstGeom>
            <a:noFill/>
          </p:spPr>
          <p:txBody>
            <a:bodyPr wrap="square" lIns="0" rIns="0" tIns="0" bIns="0" anchor="t">
              <a:noAutofit/>
            </a:bodyPr>
            <a:lstStyle/>
            <a:p>
              <a:pPr algn="l">
                <a:lnSpc>
                  <a:spcPct val="108000"/>
                </a:lnSpc>
                <a:spcBef>
                  <a:spcPts val="0"/>
                </a:spcBef>
                <a:spcAft>
                  <a:spcPts val="0"/>
                </a:spcAft>
              </a:pPr>
              <a:r>
                <a:rPr sz="2900" b="1">
                  <a:solidFill>
                    <a:srgbClr val="17201F"/>
                  </a:solidFill>
                  <a:latin typeface="IBM Plex Sans"/>
                </a:rPr>
                <a:t>Verified paper</a:t>
              </a:r>
            </a:p>
            <a:p>
              <a:pPr algn="l">
                <a:lnSpc>
                  <a:spcPct val="108000"/>
                </a:lnSpc>
                <a:spcBef>
                  <a:spcPts val="0"/>
                </a:spcBef>
                <a:spcAft>
                  <a:spcPts val="0"/>
                </a:spcAft>
              </a:pPr>
              <a:r>
                <a:rPr sz="2900" b="1">
                  <a:solidFill>
                    <a:srgbClr val="17201F"/>
                  </a:solidFill>
                  <a:latin typeface="IBM Plex Sans"/>
                </a:rPr>
                <a:t>cover goes here</a:t>
              </a:r>
            </a:p>
          </p:txBody>
        </p:sp>
        <p:sp>
          <p:nvSpPr>
            <p:cNvPr id="15" name="TextBox 14"/>
            <p:cNvSpPr txBox="1"/>
            <p:nvPr/>
          </p:nvSpPr>
          <p:spPr>
            <a:xfrm>
              <a:off x="6848856" y="5065776"/>
              <a:ext cx="3986784" cy="630936"/>
            </a:xfrm>
            <a:prstGeom prst="rect">
              <a:avLst/>
            </a:prstGeom>
            <a:noFill/>
          </p:spPr>
          <p:txBody>
            <a:bodyPr wrap="square" lIns="0" rIns="0" tIns="0" bIns="0" anchor="t">
              <a:noAutofit/>
            </a:bodyPr>
            <a:lstStyle/>
            <a:p>
              <a:pPr algn="l">
                <a:lnSpc>
                  <a:spcPct val="108000"/>
                </a:lnSpc>
                <a:spcBef>
                  <a:spcPts val="0"/>
                </a:spcBef>
                <a:spcAft>
                  <a:spcPts val="0"/>
                </a:spcAft>
              </a:pPr>
              <a:r>
                <a:rPr sz="1700" b="0">
                  <a:solidFill>
                    <a:srgbClr val="365E4D"/>
                  </a:solidFill>
                  <a:latin typeface="IBM Plex Sans"/>
                </a:rPr>
                <a:t>Title • authors • date • DOI</a:t>
              </a:r>
            </a:p>
            <a:p>
              <a:pPr algn="l">
                <a:lnSpc>
                  <a:spcPct val="108000"/>
                </a:lnSpc>
                <a:spcBef>
                  <a:spcPts val="0"/>
                </a:spcBef>
                <a:spcAft>
                  <a:spcPts val="0"/>
                </a:spcAft>
              </a:pPr>
              <a:r>
                <a:rPr sz="1700" b="0">
                  <a:solidFill>
                    <a:srgbClr val="365E4D"/>
                  </a:solidFill>
                  <a:latin typeface="IBM Plex Sans"/>
                </a:rPr>
                <a:t>Exact match to the candidate</a:t>
              </a:r>
            </a:p>
          </p:txBody>
        </p:sp>
      </p:grpSp>
      <p:sp>
        <p:nvSpPr>
          <p:cNvPr id="16" name="TextBox 15"/>
          <p:cNvSpPr txBox="1"/>
          <p:nvPr/>
        </p:nvSpPr>
        <p:spPr>
          <a:xfrm>
            <a:off x="548640" y="5952744"/>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50" b="0">
                <a:solidFill>
                  <a:srgbClr val="DEB577"/>
                </a:solidFill>
                <a:latin typeface="IBM Plex Mono"/>
              </a:rPr>
              <a:t>UNVERIFIED REVEAL SLOT · A matching paper has not been selected. Do not present as a discovery.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10" presetClass="entr" presetSubtype="0" fill="hold" nodeType="clickEffect">
                            <p:stCondLst>
                              <p:cond delay="0"/>
                            </p:stCondLst>
                            <p:childTnLst>
                              <p:animEffect transition="in" filter="fade">
                                <p:cBhvr>
                                  <p:cTn id="5" dur="800"/>
                                  <p:tgtEl>
                                    <p:spTgt spid="11"/>
                                  </p:tgtEl>
                                </p:cBhvr>
                              </p:animEffect>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F1EFE7"/>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17201F"/>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365E4D"/>
                </a:solidFill>
                <a:latin typeface="IBM Plex Mono"/>
              </a:rPr>
              <a:t>IMMEDIATELY AFTER REVEAL / THE EVIDENCE BOUNDARY</a:t>
            </a:r>
          </a:p>
        </p:txBody>
      </p:sp>
      <p:cxnSp>
        <p:nvCxnSpPr>
          <p:cNvPr id="4" name="Connector 3"/>
          <p:cNvCxnSpPr/>
          <p:nvPr/>
        </p:nvCxnSpPr>
        <p:spPr>
          <a:xfrm>
            <a:off x="502920" y="658368"/>
            <a:ext cx="11183112" cy="0"/>
          </a:xfrm>
          <a:prstGeom prst="line">
            <a:avLst/>
          </a:prstGeom>
          <a:ln w="8890">
            <a:solidFill>
              <a:srgbClr val="CDCFC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CDCFC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365E4D"/>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17201F"/>
                </a:solidFill>
                <a:latin typeface="IBM Plex Mono"/>
              </a:rPr>
              <a:t>13</a:t>
            </a:r>
          </a:p>
        </p:txBody>
      </p:sp>
      <p:sp>
        <p:nvSpPr>
          <p:cNvPr id="8" name="TextBox 7"/>
          <p:cNvSpPr txBox="1"/>
          <p:nvPr/>
        </p:nvSpPr>
        <p:spPr>
          <a:xfrm>
            <a:off x="548640" y="987552"/>
            <a:ext cx="11018520" cy="1197864"/>
          </a:xfrm>
          <a:prstGeom prst="rect">
            <a:avLst/>
          </a:prstGeom>
          <a:noFill/>
        </p:spPr>
        <p:txBody>
          <a:bodyPr wrap="square" lIns="0" rIns="0" tIns="0" bIns="0" anchor="t">
            <a:noAutofit/>
          </a:bodyPr>
          <a:lstStyle/>
          <a:p>
            <a:pPr algn="l">
              <a:lnSpc>
                <a:spcPct val="108000"/>
              </a:lnSpc>
              <a:spcBef>
                <a:spcPts val="0"/>
              </a:spcBef>
              <a:spcAft>
                <a:spcPts val="0"/>
              </a:spcAft>
            </a:pPr>
            <a:r>
              <a:rPr sz="3900" b="1">
                <a:solidFill>
                  <a:srgbClr val="17201F"/>
                </a:solidFill>
                <a:latin typeface="IBM Plex Sans"/>
              </a:rPr>
              <a:t>What could the system</a:t>
            </a:r>
          </a:p>
          <a:p>
            <a:pPr algn="l">
              <a:lnSpc>
                <a:spcPct val="108000"/>
              </a:lnSpc>
              <a:spcBef>
                <a:spcPts val="0"/>
              </a:spcBef>
              <a:spcAft>
                <a:spcPts val="0"/>
              </a:spcAft>
            </a:pPr>
            <a:r>
              <a:rPr sz="3900" b="1">
                <a:solidFill>
                  <a:srgbClr val="17201F"/>
                </a:solidFill>
                <a:latin typeface="IBM Plex Sans"/>
              </a:rPr>
              <a:t>actually know?</a:t>
            </a:r>
          </a:p>
        </p:txBody>
      </p:sp>
      <p:cxnSp>
        <p:nvCxnSpPr>
          <p:cNvPr id="9" name="Connector 8"/>
          <p:cNvCxnSpPr/>
          <p:nvPr/>
        </p:nvCxnSpPr>
        <p:spPr>
          <a:xfrm>
            <a:off x="548640" y="2496312"/>
            <a:ext cx="11064240" cy="0"/>
          </a:xfrm>
          <a:prstGeom prst="line">
            <a:avLst/>
          </a:prstGeom>
          <a:ln w="12700">
            <a:solidFill>
              <a:srgbClr val="C6CBBF"/>
            </a:solidFill>
          </a:ln>
          <a:effectLst/>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548640" y="2633472"/>
            <a:ext cx="3429914" cy="649224"/>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365E4D"/>
                </a:solidFill>
                <a:latin typeface="IBM Plex Sans"/>
              </a:rPr>
              <a:t>Accessible corpus</a:t>
            </a:r>
          </a:p>
        </p:txBody>
      </p:sp>
      <p:sp>
        <p:nvSpPr>
          <p:cNvPr id="11" name="TextBox 10"/>
          <p:cNvSpPr txBox="1"/>
          <p:nvPr/>
        </p:nvSpPr>
        <p:spPr>
          <a:xfrm>
            <a:off x="4310481" y="2642616"/>
            <a:ext cx="7302398" cy="713232"/>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17201F"/>
                </a:solidFill>
                <a:latin typeface="IBM Plex Sans"/>
              </a:rPr>
              <a:t>100 curated full-text papers; publication years 2007–2025.</a:t>
            </a:r>
          </a:p>
        </p:txBody>
      </p:sp>
      <p:cxnSp>
        <p:nvCxnSpPr>
          <p:cNvPr id="12" name="Connector 11"/>
          <p:cNvCxnSpPr/>
          <p:nvPr/>
        </p:nvCxnSpPr>
        <p:spPr>
          <a:xfrm>
            <a:off x="548640" y="3291840"/>
            <a:ext cx="11064240" cy="0"/>
          </a:xfrm>
          <a:prstGeom prst="line">
            <a:avLst/>
          </a:prstGeom>
          <a:ln w="12700">
            <a:solidFill>
              <a:srgbClr val="C6CBBF"/>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548640" y="3429000"/>
            <a:ext cx="3429914" cy="649224"/>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365E4D"/>
                </a:solidFill>
                <a:latin typeface="IBM Plex Sans"/>
              </a:rPr>
              <a:t>Curation boundary</a:t>
            </a:r>
          </a:p>
        </p:txBody>
      </p:sp>
      <p:sp>
        <p:nvSpPr>
          <p:cNvPr id="14" name="TextBox 13"/>
          <p:cNvSpPr txBox="1"/>
          <p:nvPr/>
        </p:nvSpPr>
        <p:spPr>
          <a:xfrm>
            <a:off x="4310481" y="3438144"/>
            <a:ext cx="7302398" cy="713232"/>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17201F"/>
                </a:solidFill>
                <a:latin typeface="IBM Plex Sans"/>
              </a:rPr>
              <a:t>Inclusive 2026-01-25 boundary; bind the actual run manifest.</a:t>
            </a:r>
          </a:p>
        </p:txBody>
      </p:sp>
      <p:cxnSp>
        <p:nvCxnSpPr>
          <p:cNvPr id="15" name="Connector 14"/>
          <p:cNvCxnSpPr/>
          <p:nvPr/>
        </p:nvCxnSpPr>
        <p:spPr>
          <a:xfrm>
            <a:off x="548640" y="4087368"/>
            <a:ext cx="11064240" cy="0"/>
          </a:xfrm>
          <a:prstGeom prst="line">
            <a:avLst/>
          </a:prstGeom>
          <a:ln w="12700">
            <a:solidFill>
              <a:srgbClr val="C6CBBF"/>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548640" y="4224528"/>
            <a:ext cx="3429914" cy="649224"/>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365E4D"/>
                </a:solidFill>
                <a:latin typeface="IBM Plex Sans"/>
              </a:rPr>
              <a:t>Excluded evidence</a:t>
            </a:r>
          </a:p>
        </p:txBody>
      </p:sp>
      <p:sp>
        <p:nvSpPr>
          <p:cNvPr id="17" name="TextBox 16"/>
          <p:cNvSpPr txBox="1"/>
          <p:nvPr/>
        </p:nvSpPr>
        <p:spPr>
          <a:xfrm>
            <a:off x="4310481" y="4233672"/>
            <a:ext cx="7302398" cy="713232"/>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17201F"/>
                </a:solidFill>
                <a:latin typeface="IBM Plex Sans"/>
              </a:rPr>
              <a:t>Prove the revealed paper was excluded from every accessible source.</a:t>
            </a:r>
          </a:p>
        </p:txBody>
      </p:sp>
      <p:cxnSp>
        <p:nvCxnSpPr>
          <p:cNvPr id="18" name="Connector 17"/>
          <p:cNvCxnSpPr/>
          <p:nvPr/>
        </p:nvCxnSpPr>
        <p:spPr>
          <a:xfrm>
            <a:off x="548640" y="4882896"/>
            <a:ext cx="11064240" cy="0"/>
          </a:xfrm>
          <a:prstGeom prst="line">
            <a:avLst/>
          </a:prstGeom>
          <a:ln w="12700">
            <a:solidFill>
              <a:srgbClr val="C6CBBF"/>
            </a:solidFill>
          </a:ln>
          <a:effectLst/>
        </p:spPr>
        <p:style>
          <a:lnRef idx="2">
            <a:schemeClr val="accent1"/>
          </a:lnRef>
          <a:fillRef idx="0">
            <a:schemeClr val="accent1"/>
          </a:fillRef>
          <a:effectRef idx="0">
            <a:schemeClr val="accent1"/>
          </a:effectRef>
          <a:fontRef idx="minor">
            <a:schemeClr val="tx1"/>
          </a:fontRef>
        </p:style>
      </p:cxnSp>
      <p:sp>
        <p:nvSpPr>
          <p:cNvPr id="19" name="TextBox 18"/>
          <p:cNvSpPr txBox="1"/>
          <p:nvPr/>
        </p:nvSpPr>
        <p:spPr>
          <a:xfrm>
            <a:off x="548640" y="5020056"/>
            <a:ext cx="3429914" cy="649224"/>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365E4D"/>
                </a:solidFill>
                <a:latin typeface="IBM Plex Sans"/>
              </a:rPr>
              <a:t>Remaining limitation</a:t>
            </a:r>
          </a:p>
        </p:txBody>
      </p:sp>
      <p:sp>
        <p:nvSpPr>
          <p:cNvPr id="20" name="TextBox 19"/>
          <p:cNvSpPr txBox="1"/>
          <p:nvPr/>
        </p:nvSpPr>
        <p:spPr>
          <a:xfrm>
            <a:off x="4310481" y="5029200"/>
            <a:ext cx="7302398" cy="713232"/>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17201F"/>
                </a:solidFill>
                <a:latin typeface="IBM Plex Sans"/>
              </a:rPr>
              <a:t>A frozen corpus does not eliminate model prior knowledge.</a:t>
            </a:r>
          </a:p>
        </p:txBody>
      </p:sp>
      <p:sp>
        <p:nvSpPr>
          <p:cNvPr id="21" name="TextBox 20"/>
          <p:cNvSpPr txBox="1"/>
          <p:nvPr/>
        </p:nvSpPr>
        <p:spPr>
          <a:xfrm>
            <a:off x="548640" y="5952744"/>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50" b="0">
                <a:solidFill>
                  <a:srgbClr val="365E4D"/>
                </a:solidFill>
                <a:latin typeface="IBM Plex Mono"/>
              </a:rPr>
              <a:t>CURATION FACTS ≠ VERIFIED RUN BOUNDARY · Corpus, tool access and model-memory audit still required.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FEASIBILITY / A COMPANY STARTS WITH A USEFUL WORKFLOW</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14</a:t>
            </a:r>
          </a:p>
        </p:txBody>
      </p:sp>
      <p:sp>
        <p:nvSpPr>
          <p:cNvPr id="8" name="TextBox 7"/>
          <p:cNvSpPr txBox="1"/>
          <p:nvPr/>
        </p:nvSpPr>
        <p:spPr>
          <a:xfrm>
            <a:off x="548640" y="987552"/>
            <a:ext cx="11018520" cy="1197864"/>
          </a:xfrm>
          <a:prstGeom prst="rect">
            <a:avLst/>
          </a:prstGeom>
          <a:noFill/>
        </p:spPr>
        <p:txBody>
          <a:bodyPr wrap="square" lIns="0" rIns="0" tIns="0" bIns="0" anchor="t">
            <a:noAutofit/>
          </a:bodyPr>
          <a:lstStyle/>
          <a:p>
            <a:pPr algn="l">
              <a:lnSpc>
                <a:spcPct val="108000"/>
              </a:lnSpc>
              <a:spcBef>
                <a:spcPts val="0"/>
              </a:spcBef>
              <a:spcAft>
                <a:spcPts val="0"/>
              </a:spcAft>
            </a:pPr>
            <a:r>
              <a:rPr sz="3900" b="1">
                <a:solidFill>
                  <a:srgbClr val="F1EFE7"/>
                </a:solidFill>
                <a:latin typeface="IBM Plex Sans"/>
              </a:rPr>
              <a:t>Start with one research team.</a:t>
            </a:r>
          </a:p>
          <a:p>
            <a:pPr algn="l">
              <a:lnSpc>
                <a:spcPct val="108000"/>
              </a:lnSpc>
              <a:spcBef>
                <a:spcPts val="0"/>
              </a:spcBef>
              <a:spcAft>
                <a:spcPts val="0"/>
              </a:spcAft>
            </a:pPr>
            <a:r>
              <a:rPr sz="3900" b="1">
                <a:solidFill>
                  <a:srgbClr val="F1EFE7"/>
                </a:solidFill>
                <a:latin typeface="IBM Plex Sans"/>
              </a:rPr>
              <a:t>Earn the right to expand.</a:t>
            </a:r>
          </a:p>
        </p:txBody>
      </p:sp>
      <p:cxnSp>
        <p:nvCxnSpPr>
          <p:cNvPr id="9" name="Connector 8"/>
          <p:cNvCxnSpPr/>
          <p:nvPr/>
        </p:nvCxnSpPr>
        <p:spPr>
          <a:xfrm>
            <a:off x="548640" y="2569464"/>
            <a:ext cx="1106424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548640" y="2706624"/>
            <a:ext cx="3429914" cy="649224"/>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A6C9B8"/>
                </a:solidFill>
                <a:latin typeface="IBM Plex Sans"/>
              </a:rPr>
              <a:t>Initial buyer</a:t>
            </a:r>
          </a:p>
        </p:txBody>
      </p:sp>
      <p:sp>
        <p:nvSpPr>
          <p:cNvPr id="11" name="TextBox 10"/>
          <p:cNvSpPr txBox="1"/>
          <p:nvPr/>
        </p:nvSpPr>
        <p:spPr>
          <a:xfrm>
            <a:off x="4310481" y="2715768"/>
            <a:ext cx="7302398" cy="713232"/>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A research lead choosing computational experiments for a small team.</a:t>
            </a:r>
          </a:p>
        </p:txBody>
      </p:sp>
      <p:cxnSp>
        <p:nvCxnSpPr>
          <p:cNvPr id="12" name="Connector 11"/>
          <p:cNvCxnSpPr/>
          <p:nvPr/>
        </p:nvCxnSpPr>
        <p:spPr>
          <a:xfrm>
            <a:off x="548640" y="3328416"/>
            <a:ext cx="1106424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548640" y="3465576"/>
            <a:ext cx="3429914" cy="649224"/>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A6C9B8"/>
                </a:solidFill>
                <a:latin typeface="IBM Plex Sans"/>
              </a:rPr>
              <a:t>First product</a:t>
            </a:r>
          </a:p>
        </p:txBody>
      </p:sp>
      <p:sp>
        <p:nvSpPr>
          <p:cNvPr id="14" name="TextBox 13"/>
          <p:cNvSpPr txBox="1"/>
          <p:nvPr/>
        </p:nvSpPr>
        <p:spPr>
          <a:xfrm>
            <a:off x="4310481" y="3474720"/>
            <a:ext cx="7302398" cy="713232"/>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A private research workspace, connected to approved data and tools.</a:t>
            </a:r>
          </a:p>
        </p:txBody>
      </p:sp>
      <p:cxnSp>
        <p:nvCxnSpPr>
          <p:cNvPr id="15" name="Connector 14"/>
          <p:cNvCxnSpPr/>
          <p:nvPr/>
        </p:nvCxnSpPr>
        <p:spPr>
          <a:xfrm>
            <a:off x="548640" y="4087368"/>
            <a:ext cx="1106424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548640" y="4224528"/>
            <a:ext cx="3429914" cy="649224"/>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A6C9B8"/>
                </a:solidFill>
                <a:latin typeface="IBM Plex Sans"/>
              </a:rPr>
              <a:t>Commercial hypothesis</a:t>
            </a:r>
          </a:p>
        </p:txBody>
      </p:sp>
      <p:sp>
        <p:nvSpPr>
          <p:cNvPr id="17" name="TextBox 16"/>
          <p:cNvSpPr txBox="1"/>
          <p:nvPr/>
        </p:nvSpPr>
        <p:spPr>
          <a:xfrm>
            <a:off x="4310481" y="4233672"/>
            <a:ext cx="7302398" cy="713232"/>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Workspace subscription plus metered compute; validate willingness to pay.</a:t>
            </a:r>
          </a:p>
        </p:txBody>
      </p:sp>
      <p:cxnSp>
        <p:nvCxnSpPr>
          <p:cNvPr id="18" name="Connector 17"/>
          <p:cNvCxnSpPr/>
          <p:nvPr/>
        </p:nvCxnSpPr>
        <p:spPr>
          <a:xfrm>
            <a:off x="548640" y="4846320"/>
            <a:ext cx="1106424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9" name="TextBox 18"/>
          <p:cNvSpPr txBox="1"/>
          <p:nvPr/>
        </p:nvSpPr>
        <p:spPr>
          <a:xfrm>
            <a:off x="548640" y="4983480"/>
            <a:ext cx="3429914" cy="649224"/>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A6C9B8"/>
                </a:solidFill>
                <a:latin typeface="IBM Plex Sans"/>
              </a:rPr>
              <a:t>Pilot acceptance</a:t>
            </a:r>
          </a:p>
        </p:txBody>
      </p:sp>
      <p:sp>
        <p:nvSpPr>
          <p:cNvPr id="20" name="TextBox 19"/>
          <p:cNvSpPr txBox="1"/>
          <p:nvPr/>
        </p:nvSpPr>
        <p:spPr>
          <a:xfrm>
            <a:off x="4310481" y="4992624"/>
            <a:ext cx="7302398" cy="713232"/>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Useful reviewed hypotheses, independent reruns, total cost and analyst time.</a:t>
            </a:r>
          </a:p>
        </p:txBody>
      </p:sp>
      <p:sp>
        <p:nvSpPr>
          <p:cNvPr id="21" name="TextBox 20"/>
          <p:cNvSpPr txBox="1"/>
          <p:nvPr/>
        </p:nvSpPr>
        <p:spPr>
          <a:xfrm>
            <a:off x="548640" y="5952744"/>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50" b="0">
                <a:solidFill>
                  <a:srgbClr val="AFB9B2"/>
                </a:solidFill>
                <a:latin typeface="IBM Plex Mono"/>
              </a:rPr>
              <a:t>PROPOSED BUSINESS MODEL · No customer, pricing, revenue or cost-saving claims.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DEPLOYMENT GATES</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15</a:t>
            </a:r>
          </a:p>
        </p:txBody>
      </p:sp>
      <p:sp>
        <p:nvSpPr>
          <p:cNvPr id="8" name="TextBox 7"/>
          <p:cNvSpPr txBox="1"/>
          <p:nvPr/>
        </p:nvSpPr>
        <p:spPr>
          <a:xfrm>
            <a:off x="548640" y="987552"/>
            <a:ext cx="11018520" cy="1197864"/>
          </a:xfrm>
          <a:prstGeom prst="rect">
            <a:avLst/>
          </a:prstGeom>
          <a:noFill/>
        </p:spPr>
        <p:txBody>
          <a:bodyPr wrap="square" lIns="0" rIns="0" tIns="0" bIns="0" anchor="t">
            <a:noAutofit/>
          </a:bodyPr>
          <a:lstStyle/>
          <a:p>
            <a:pPr algn="l">
              <a:lnSpc>
                <a:spcPct val="108000"/>
              </a:lnSpc>
              <a:spcBef>
                <a:spcPts val="0"/>
              </a:spcBef>
              <a:spcAft>
                <a:spcPts val="0"/>
              </a:spcAft>
            </a:pPr>
            <a:r>
              <a:rPr sz="3900" b="1">
                <a:solidFill>
                  <a:srgbClr val="F1EFE7"/>
                </a:solidFill>
                <a:latin typeface="IBM Plex Sans"/>
              </a:rPr>
              <a:t>The next milestone is proof</a:t>
            </a:r>
          </a:p>
          <a:p>
            <a:pPr algn="l">
              <a:lnSpc>
                <a:spcPct val="108000"/>
              </a:lnSpc>
              <a:spcBef>
                <a:spcPts val="0"/>
              </a:spcBef>
              <a:spcAft>
                <a:spcPts val="0"/>
              </a:spcAft>
            </a:pPr>
            <a:r>
              <a:rPr sz="3900" b="1">
                <a:solidFill>
                  <a:srgbClr val="F1EFE7"/>
                </a:solidFill>
                <a:latin typeface="IBM Plex Sans"/>
              </a:rPr>
              <a:t>that survives outside the demo.</a:t>
            </a:r>
          </a:p>
        </p:txBody>
      </p:sp>
      <p:cxnSp>
        <p:nvCxnSpPr>
          <p:cNvPr id="9" name="Connector 8"/>
          <p:cNvCxnSpPr/>
          <p:nvPr/>
        </p:nvCxnSpPr>
        <p:spPr>
          <a:xfrm>
            <a:off x="585216" y="2587752"/>
            <a:ext cx="3419856" cy="0"/>
          </a:xfrm>
          <a:prstGeom prst="line">
            <a:avLst/>
          </a:prstGeom>
          <a:ln w="2286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585216" y="2816352"/>
            <a:ext cx="3474720" cy="320040"/>
          </a:xfrm>
          <a:prstGeom prst="rect">
            <a:avLst/>
          </a:prstGeom>
          <a:noFill/>
        </p:spPr>
        <p:txBody>
          <a:bodyPr wrap="square" lIns="0" rIns="0" tIns="0" bIns="0" anchor="t">
            <a:noAutofit/>
          </a:bodyPr>
          <a:lstStyle/>
          <a:p>
            <a:pPr algn="l">
              <a:lnSpc>
                <a:spcPct val="108000"/>
              </a:lnSpc>
              <a:spcBef>
                <a:spcPts val="0"/>
              </a:spcBef>
              <a:spcAft>
                <a:spcPts val="0"/>
              </a:spcAft>
            </a:pPr>
            <a:r>
              <a:rPr sz="1300" b="1">
                <a:solidFill>
                  <a:srgbClr val="A6C9B8"/>
                </a:solidFill>
                <a:latin typeface="IBM Plex Mono"/>
              </a:rPr>
              <a:t>REPRODUCE</a:t>
            </a:r>
          </a:p>
        </p:txBody>
      </p:sp>
      <p:sp>
        <p:nvSpPr>
          <p:cNvPr id="11" name="TextBox 10"/>
          <p:cNvSpPr txBox="1"/>
          <p:nvPr/>
        </p:nvSpPr>
        <p:spPr>
          <a:xfrm>
            <a:off x="585216" y="3465576"/>
            <a:ext cx="3447288" cy="1005840"/>
          </a:xfrm>
          <a:prstGeom prst="rect">
            <a:avLst/>
          </a:prstGeom>
          <a:noFill/>
        </p:spPr>
        <p:txBody>
          <a:bodyPr wrap="square" lIns="0" rIns="0" tIns="0" bIns="0" anchor="t">
            <a:noAutofit/>
          </a:bodyPr>
          <a:lstStyle/>
          <a:p>
            <a:pPr algn="l">
              <a:lnSpc>
                <a:spcPct val="108000"/>
              </a:lnSpc>
              <a:spcBef>
                <a:spcPts val="0"/>
              </a:spcBef>
              <a:spcAft>
                <a:spcPts val="0"/>
              </a:spcAft>
            </a:pPr>
            <a:r>
              <a:rPr sz="2800" b="1">
                <a:solidFill>
                  <a:srgbClr val="F1EFE7"/>
                </a:solidFill>
                <a:latin typeface="IBM Plex Sans"/>
              </a:rPr>
              <a:t>One bounded investigation</a:t>
            </a:r>
          </a:p>
        </p:txBody>
      </p:sp>
      <p:sp>
        <p:nvSpPr>
          <p:cNvPr id="12" name="TextBox 11"/>
          <p:cNvSpPr txBox="1"/>
          <p:nvPr/>
        </p:nvSpPr>
        <p:spPr>
          <a:xfrm>
            <a:off x="585216" y="4700016"/>
            <a:ext cx="3465576" cy="960120"/>
          </a:xfrm>
          <a:prstGeom prst="rect">
            <a:avLst/>
          </a:prstGeom>
          <a:noFill/>
        </p:spPr>
        <p:txBody>
          <a:bodyPr wrap="square" lIns="0" rIns="0" tIns="0" bIns="0" anchor="t">
            <a:noAutofit/>
          </a:bodyPr>
          <a:lstStyle/>
          <a:p>
            <a:pPr algn="l">
              <a:lnSpc>
                <a:spcPct val="108000"/>
              </a:lnSpc>
              <a:spcBef>
                <a:spcPts val="0"/>
              </a:spcBef>
              <a:spcAft>
                <a:spcPts val="0"/>
              </a:spcAft>
            </a:pPr>
            <a:r>
              <a:rPr sz="2000" b="0">
                <a:solidFill>
                  <a:srgbClr val="AFB9B2"/>
                </a:solidFill>
                <a:latin typeface="IBM Plex Sans"/>
              </a:rPr>
              <a:t>Freeze task and baselines.</a:t>
            </a:r>
          </a:p>
          <a:p>
            <a:pPr algn="l">
              <a:lnSpc>
                <a:spcPct val="108000"/>
              </a:lnSpc>
              <a:spcBef>
                <a:spcPts val="0"/>
              </a:spcBef>
              <a:spcAft>
                <a:spcPts val="0"/>
              </a:spcAft>
            </a:pPr>
            <a:r>
              <a:rPr sz="2000" b="0">
                <a:solidFill>
                  <a:srgbClr val="AFB9B2"/>
                </a:solidFill>
                <a:latin typeface="IBM Plex Sans"/>
              </a:rPr>
              <a:t>Independent scientist rerun.</a:t>
            </a:r>
          </a:p>
        </p:txBody>
      </p:sp>
      <p:cxnSp>
        <p:nvCxnSpPr>
          <p:cNvPr id="13" name="Connector 12"/>
          <p:cNvCxnSpPr/>
          <p:nvPr/>
        </p:nvCxnSpPr>
        <p:spPr>
          <a:xfrm>
            <a:off x="4407407" y="2587752"/>
            <a:ext cx="3419856" cy="0"/>
          </a:xfrm>
          <a:prstGeom prst="line">
            <a:avLst/>
          </a:prstGeom>
          <a:ln w="22860">
            <a:solidFill>
              <a:srgbClr val="DEB577"/>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4407407" y="2816352"/>
            <a:ext cx="3474720" cy="320040"/>
          </a:xfrm>
          <a:prstGeom prst="rect">
            <a:avLst/>
          </a:prstGeom>
          <a:noFill/>
        </p:spPr>
        <p:txBody>
          <a:bodyPr wrap="square" lIns="0" rIns="0" tIns="0" bIns="0" anchor="t">
            <a:noAutofit/>
          </a:bodyPr>
          <a:lstStyle/>
          <a:p>
            <a:pPr algn="l">
              <a:lnSpc>
                <a:spcPct val="108000"/>
              </a:lnSpc>
              <a:spcBef>
                <a:spcPts val="0"/>
              </a:spcBef>
              <a:spcAft>
                <a:spcPts val="0"/>
              </a:spcAft>
            </a:pPr>
            <a:r>
              <a:rPr sz="1300" b="1">
                <a:solidFill>
                  <a:srgbClr val="DEB577"/>
                </a:solidFill>
                <a:latin typeface="IBM Plex Mono"/>
              </a:rPr>
              <a:t>HARDEN</a:t>
            </a:r>
          </a:p>
        </p:txBody>
      </p:sp>
      <p:sp>
        <p:nvSpPr>
          <p:cNvPr id="15" name="TextBox 14"/>
          <p:cNvSpPr txBox="1"/>
          <p:nvPr/>
        </p:nvSpPr>
        <p:spPr>
          <a:xfrm>
            <a:off x="4407407" y="3465576"/>
            <a:ext cx="3447288" cy="1005840"/>
          </a:xfrm>
          <a:prstGeom prst="rect">
            <a:avLst/>
          </a:prstGeom>
          <a:noFill/>
        </p:spPr>
        <p:txBody>
          <a:bodyPr wrap="square" lIns="0" rIns="0" tIns="0" bIns="0" anchor="t">
            <a:noAutofit/>
          </a:bodyPr>
          <a:lstStyle/>
          <a:p>
            <a:pPr algn="l">
              <a:lnSpc>
                <a:spcPct val="108000"/>
              </a:lnSpc>
              <a:spcBef>
                <a:spcPts val="0"/>
              </a:spcBef>
              <a:spcAft>
                <a:spcPts val="0"/>
              </a:spcAft>
            </a:pPr>
            <a:r>
              <a:rPr sz="2800" b="1">
                <a:solidFill>
                  <a:srgbClr val="F1EFE7"/>
                </a:solidFill>
                <a:latin typeface="IBM Plex Sans"/>
              </a:rPr>
              <a:t>One private pilot</a:t>
            </a:r>
          </a:p>
        </p:txBody>
      </p:sp>
      <p:sp>
        <p:nvSpPr>
          <p:cNvPr id="16" name="TextBox 15"/>
          <p:cNvSpPr txBox="1"/>
          <p:nvPr/>
        </p:nvSpPr>
        <p:spPr>
          <a:xfrm>
            <a:off x="4407407" y="4700016"/>
            <a:ext cx="3465576" cy="960120"/>
          </a:xfrm>
          <a:prstGeom prst="rect">
            <a:avLst/>
          </a:prstGeom>
          <a:noFill/>
        </p:spPr>
        <p:txBody>
          <a:bodyPr wrap="square" lIns="0" rIns="0" tIns="0" bIns="0" anchor="t">
            <a:noAutofit/>
          </a:bodyPr>
          <a:lstStyle/>
          <a:p>
            <a:pPr algn="l">
              <a:lnSpc>
                <a:spcPct val="108000"/>
              </a:lnSpc>
              <a:spcBef>
                <a:spcPts val="0"/>
              </a:spcBef>
              <a:spcAft>
                <a:spcPts val="0"/>
              </a:spcAft>
            </a:pPr>
            <a:r>
              <a:rPr sz="2000" b="0">
                <a:solidFill>
                  <a:srgbClr val="AFB9B2"/>
                </a:solidFill>
                <a:latin typeface="IBM Plex Sans"/>
              </a:rPr>
              <a:t>Separate identities and data.</a:t>
            </a:r>
          </a:p>
          <a:p>
            <a:pPr algn="l">
              <a:lnSpc>
                <a:spcPct val="108000"/>
              </a:lnSpc>
              <a:spcBef>
                <a:spcPts val="0"/>
              </a:spcBef>
              <a:spcAft>
                <a:spcPts val="0"/>
              </a:spcAft>
            </a:pPr>
            <a:r>
              <a:rPr sz="2000" b="0">
                <a:solidFill>
                  <a:srgbClr val="AFB9B2"/>
                </a:solidFill>
                <a:latin typeface="IBM Plex Sans"/>
              </a:rPr>
              <a:t>Constrain access and spend.</a:t>
            </a:r>
          </a:p>
        </p:txBody>
      </p:sp>
      <p:cxnSp>
        <p:nvCxnSpPr>
          <p:cNvPr id="17" name="Connector 16"/>
          <p:cNvCxnSpPr/>
          <p:nvPr/>
        </p:nvCxnSpPr>
        <p:spPr>
          <a:xfrm>
            <a:off x="8229600" y="2587752"/>
            <a:ext cx="3419856" cy="0"/>
          </a:xfrm>
          <a:prstGeom prst="line">
            <a:avLst/>
          </a:prstGeom>
          <a:ln w="22860">
            <a:solidFill>
              <a:srgbClr val="DEB577"/>
            </a:solidFill>
          </a:ln>
          <a:effectLst/>
        </p:spPr>
        <p:style>
          <a:lnRef idx="2">
            <a:schemeClr val="accent1"/>
          </a:lnRef>
          <a:fillRef idx="0">
            <a:schemeClr val="accent1"/>
          </a:fillRef>
          <a:effectRef idx="0">
            <a:schemeClr val="accent1"/>
          </a:effectRef>
          <a:fontRef idx="minor">
            <a:schemeClr val="tx1"/>
          </a:fontRef>
        </p:style>
      </p:cxnSp>
      <p:sp>
        <p:nvSpPr>
          <p:cNvPr id="18" name="TextBox 17"/>
          <p:cNvSpPr txBox="1"/>
          <p:nvPr/>
        </p:nvSpPr>
        <p:spPr>
          <a:xfrm>
            <a:off x="8229600" y="2816352"/>
            <a:ext cx="3474720" cy="320040"/>
          </a:xfrm>
          <a:prstGeom prst="rect">
            <a:avLst/>
          </a:prstGeom>
          <a:noFill/>
        </p:spPr>
        <p:txBody>
          <a:bodyPr wrap="square" lIns="0" rIns="0" tIns="0" bIns="0" anchor="t">
            <a:noAutofit/>
          </a:bodyPr>
          <a:lstStyle/>
          <a:p>
            <a:pPr algn="l">
              <a:lnSpc>
                <a:spcPct val="108000"/>
              </a:lnSpc>
              <a:spcBef>
                <a:spcPts val="0"/>
              </a:spcBef>
              <a:spcAft>
                <a:spcPts val="0"/>
              </a:spcAft>
            </a:pPr>
            <a:r>
              <a:rPr sz="1300" b="1">
                <a:solidFill>
                  <a:srgbClr val="DEB577"/>
                </a:solidFill>
                <a:latin typeface="IBM Plex Mono"/>
              </a:rPr>
              <a:t>VALIDATE</a:t>
            </a:r>
          </a:p>
        </p:txBody>
      </p:sp>
      <p:sp>
        <p:nvSpPr>
          <p:cNvPr id="19" name="TextBox 18"/>
          <p:cNvSpPr txBox="1"/>
          <p:nvPr/>
        </p:nvSpPr>
        <p:spPr>
          <a:xfrm>
            <a:off x="8229600" y="3465576"/>
            <a:ext cx="3447288" cy="1005840"/>
          </a:xfrm>
          <a:prstGeom prst="rect">
            <a:avLst/>
          </a:prstGeom>
          <a:noFill/>
        </p:spPr>
        <p:txBody>
          <a:bodyPr wrap="square" lIns="0" rIns="0" tIns="0" bIns="0" anchor="t">
            <a:noAutofit/>
          </a:bodyPr>
          <a:lstStyle/>
          <a:p>
            <a:pPr algn="l">
              <a:lnSpc>
                <a:spcPct val="108000"/>
              </a:lnSpc>
              <a:spcBef>
                <a:spcPts val="0"/>
              </a:spcBef>
              <a:spcAft>
                <a:spcPts val="0"/>
              </a:spcAft>
            </a:pPr>
            <a:r>
              <a:rPr sz="2800" b="1">
                <a:solidFill>
                  <a:srgbClr val="F1EFE7"/>
                </a:solidFill>
                <a:latin typeface="IBM Plex Sans"/>
              </a:rPr>
              <a:t>One useful workflow</a:t>
            </a:r>
          </a:p>
        </p:txBody>
      </p:sp>
      <p:sp>
        <p:nvSpPr>
          <p:cNvPr id="20" name="TextBox 19"/>
          <p:cNvSpPr txBox="1"/>
          <p:nvPr/>
        </p:nvSpPr>
        <p:spPr>
          <a:xfrm>
            <a:off x="8229600" y="4700016"/>
            <a:ext cx="3465576" cy="960120"/>
          </a:xfrm>
          <a:prstGeom prst="rect">
            <a:avLst/>
          </a:prstGeom>
          <a:noFill/>
        </p:spPr>
        <p:txBody>
          <a:bodyPr wrap="square" lIns="0" rIns="0" tIns="0" bIns="0" anchor="t">
            <a:noAutofit/>
          </a:bodyPr>
          <a:lstStyle/>
          <a:p>
            <a:pPr algn="l">
              <a:lnSpc>
                <a:spcPct val="108000"/>
              </a:lnSpc>
              <a:spcBef>
                <a:spcPts val="0"/>
              </a:spcBef>
              <a:spcAft>
                <a:spcPts val="0"/>
              </a:spcAft>
            </a:pPr>
            <a:r>
              <a:rPr sz="2000" b="0">
                <a:solidFill>
                  <a:srgbClr val="AFB9B2"/>
                </a:solidFill>
                <a:latin typeface="IBM Plex Sans"/>
              </a:rPr>
              <a:t>Measure quality and cost.</a:t>
            </a:r>
          </a:p>
          <a:p>
            <a:pPr algn="l">
              <a:lnSpc>
                <a:spcPct val="108000"/>
              </a:lnSpc>
              <a:spcBef>
                <a:spcPts val="0"/>
              </a:spcBef>
              <a:spcAft>
                <a:spcPts val="0"/>
              </a:spcAft>
            </a:pPr>
            <a:r>
              <a:rPr sz="2000" b="0">
                <a:solidFill>
                  <a:srgbClr val="AFB9B2"/>
                </a:solidFill>
                <a:latin typeface="IBM Plex Sans"/>
              </a:rPr>
              <a:t>Test the user workflow.</a:t>
            </a:r>
          </a:p>
        </p:txBody>
      </p:sp>
      <p:sp>
        <p:nvSpPr>
          <p:cNvPr id="21" name="TextBox 20"/>
          <p:cNvSpPr txBox="1"/>
          <p:nvPr/>
        </p:nvSpPr>
        <p:spPr>
          <a:xfrm>
            <a:off x="548640" y="5952744"/>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50" b="0">
                <a:solidFill>
                  <a:srgbClr val="AFB9B2"/>
                </a:solidFill>
                <a:latin typeface="IBM Plex Mono"/>
              </a:rPr>
              <a:t>RESEARCH-USE ROADMAP · Clinical use, regulated deployment and operational threat forecasting are not validated.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DN RESEARCH / CLOSING</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16</a:t>
            </a:r>
          </a:p>
        </p:txBody>
      </p:sp>
      <p:pic>
        <p:nvPicPr>
          <p:cNvPr id="8" name="Picture 7" descr="closing.jpg"/>
          <p:cNvPicPr>
            <a:picLocks noChangeAspect="1"/>
          </p:cNvPicPr>
          <p:nvPr/>
        </p:nvPicPr>
        <p:blipFill>
          <a:blip r:embed="rId2"/>
          <a:stretch>
            <a:fillRect/>
          </a:stretch>
        </p:blipFill>
        <p:spPr>
          <a:xfrm>
            <a:off x="0" y="26581"/>
            <a:ext cx="12191999" cy="6804837"/>
          </a:xfrm>
          <a:prstGeom prst="rect">
            <a:avLst/>
          </a:prstGeom>
        </p:spPr>
      </p:pic>
      <p:sp>
        <p:nvSpPr>
          <p:cNvPr id="9" name="Rectangle 8"/>
          <p:cNvSpPr/>
          <p:nvPr/>
        </p:nvSpPr>
        <p:spPr>
          <a:xfrm>
            <a:off x="0" y="0"/>
            <a:ext cx="12191999" cy="6858000"/>
          </a:xfrm>
          <a:prstGeom prst="rect">
            <a:avLst/>
          </a:prstGeom>
          <a:solidFill>
            <a:srgbClr val="17201F">
              <a:alpha val="42000"/>
            </a:srgbClr>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585216" y="329184"/>
            <a:ext cx="3657600" cy="365760"/>
          </a:xfrm>
          <a:prstGeom prst="rect">
            <a:avLst/>
          </a:prstGeom>
          <a:noFill/>
        </p:spPr>
        <p:txBody>
          <a:bodyPr wrap="square" lIns="0" rIns="0" tIns="0" bIns="0" anchor="t">
            <a:noAutofit/>
          </a:bodyPr>
          <a:lstStyle/>
          <a:p>
            <a:pPr algn="l">
              <a:lnSpc>
                <a:spcPct val="108000"/>
              </a:lnSpc>
              <a:spcBef>
                <a:spcPts val="0"/>
              </a:spcBef>
              <a:spcAft>
                <a:spcPts val="0"/>
              </a:spcAft>
            </a:pPr>
            <a:r>
              <a:rPr sz="1400" b="1">
                <a:solidFill>
                  <a:srgbClr val="F1EFE7"/>
                </a:solidFill>
                <a:latin typeface="IBM Plex Mono"/>
              </a:rPr>
              <a:t>DN / RESEARCH</a:t>
            </a:r>
          </a:p>
        </p:txBody>
      </p:sp>
      <p:sp>
        <p:nvSpPr>
          <p:cNvPr id="11" name="TextBox 10"/>
          <p:cNvSpPr txBox="1"/>
          <p:nvPr/>
        </p:nvSpPr>
        <p:spPr>
          <a:xfrm>
            <a:off x="557784" y="1463040"/>
            <a:ext cx="8321040" cy="1965960"/>
          </a:xfrm>
          <a:prstGeom prst="rect">
            <a:avLst/>
          </a:prstGeom>
          <a:noFill/>
        </p:spPr>
        <p:txBody>
          <a:bodyPr wrap="square" lIns="0" rIns="0" tIns="0" bIns="0" anchor="t">
            <a:noAutofit/>
          </a:bodyPr>
          <a:lstStyle/>
          <a:p>
            <a:pPr algn="l">
              <a:lnSpc>
                <a:spcPct val="108000"/>
              </a:lnSpc>
              <a:spcBef>
                <a:spcPts val="0"/>
              </a:spcBef>
              <a:spcAft>
                <a:spcPts val="0"/>
              </a:spcAft>
            </a:pPr>
            <a:r>
              <a:rPr sz="6100" b="1">
                <a:solidFill>
                  <a:srgbClr val="F1EFE7"/>
                </a:solidFill>
                <a:latin typeface="IBM Plex Sans"/>
              </a:rPr>
              <a:t>Give scientists</a:t>
            </a:r>
          </a:p>
          <a:p>
            <a:pPr algn="l">
              <a:lnSpc>
                <a:spcPct val="108000"/>
              </a:lnSpc>
              <a:spcBef>
                <a:spcPts val="0"/>
              </a:spcBef>
              <a:spcAft>
                <a:spcPts val="0"/>
              </a:spcAft>
            </a:pPr>
            <a:r>
              <a:rPr sz="6100" b="1">
                <a:solidFill>
                  <a:srgbClr val="F1EFE7"/>
                </a:solidFill>
                <a:latin typeface="IBM Plex Sans"/>
              </a:rPr>
              <a:t>a head start.</a:t>
            </a:r>
          </a:p>
        </p:txBody>
      </p:sp>
      <p:sp>
        <p:nvSpPr>
          <p:cNvPr id="12" name="TextBox 11"/>
          <p:cNvSpPr txBox="1"/>
          <p:nvPr/>
        </p:nvSpPr>
        <p:spPr>
          <a:xfrm>
            <a:off x="612648" y="3913632"/>
            <a:ext cx="8138160" cy="1143000"/>
          </a:xfrm>
          <a:prstGeom prst="rect">
            <a:avLst/>
          </a:prstGeom>
          <a:noFill/>
        </p:spPr>
        <p:txBody>
          <a:bodyPr wrap="square" lIns="0" rIns="0" tIns="0" bIns="0" anchor="t">
            <a:noAutofit/>
          </a:bodyPr>
          <a:lstStyle/>
          <a:p>
            <a:pPr algn="l">
              <a:lnSpc>
                <a:spcPct val="108000"/>
              </a:lnSpc>
              <a:spcBef>
                <a:spcPts val="0"/>
              </a:spcBef>
              <a:spcAft>
                <a:spcPts val="0"/>
              </a:spcAft>
            </a:pPr>
            <a:r>
              <a:rPr sz="2900" b="0">
                <a:solidFill>
                  <a:srgbClr val="A6C9B8"/>
                </a:solidFill>
                <a:latin typeface="IBM Plex Sans"/>
              </a:rPr>
              <a:t>On the biology that will shape</a:t>
            </a:r>
          </a:p>
          <a:p>
            <a:pPr algn="l">
              <a:lnSpc>
                <a:spcPct val="108000"/>
              </a:lnSpc>
              <a:spcBef>
                <a:spcPts val="0"/>
              </a:spcBef>
              <a:spcAft>
                <a:spcPts val="0"/>
              </a:spcAft>
            </a:pPr>
            <a:r>
              <a:rPr sz="2900" b="0">
                <a:solidFill>
                  <a:srgbClr val="A6C9B8"/>
                </a:solidFill>
                <a:latin typeface="IBM Plex Sans"/>
              </a:rPr>
              <a:t>industrial strength, health and security.</a:t>
            </a:r>
          </a:p>
        </p:txBody>
      </p:sp>
      <p:sp>
        <p:nvSpPr>
          <p:cNvPr id="13" name="TextBox 12"/>
          <p:cNvSpPr txBox="1"/>
          <p:nvPr/>
        </p:nvSpPr>
        <p:spPr>
          <a:xfrm>
            <a:off x="630936" y="5504688"/>
            <a:ext cx="8503920" cy="822960"/>
          </a:xfrm>
          <a:prstGeom prst="rect">
            <a:avLst/>
          </a:prstGeom>
          <a:noFill/>
        </p:spPr>
        <p:txBody>
          <a:bodyPr wrap="square" lIns="0" rIns="0" tIns="0" bIns="0" anchor="t">
            <a:noAutofit/>
          </a:bodyPr>
          <a:lstStyle/>
          <a:p>
            <a:pPr algn="l">
              <a:lnSpc>
                <a:spcPct val="108000"/>
              </a:lnSpc>
              <a:spcBef>
                <a:spcPts val="0"/>
              </a:spcBef>
              <a:spcAft>
                <a:spcPts val="0"/>
              </a:spcAft>
            </a:pPr>
            <a:r>
              <a:rPr sz="2200" b="0">
                <a:solidFill>
                  <a:srgbClr val="F1EFE7"/>
                </a:solidFill>
                <a:latin typeface="IBM Plex Sans"/>
              </a:rPr>
              <a:t>Our ambition: reduce the window</a:t>
            </a:r>
          </a:p>
          <a:p>
            <a:pPr algn="l">
              <a:lnSpc>
                <a:spcPct val="108000"/>
              </a:lnSpc>
              <a:spcBef>
                <a:spcPts val="0"/>
              </a:spcBef>
              <a:spcAft>
                <a:spcPts val="0"/>
              </a:spcAft>
            </a:pPr>
            <a:r>
              <a:rPr sz="2200" b="0">
                <a:solidFill>
                  <a:srgbClr val="F1EFE7"/>
                </a:solidFill>
                <a:latin typeface="IBM Plex Sans"/>
              </a:rPr>
              <a:t>of unilateral biological advantage.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0">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APPENDIX / DIRECT RUBRIC COVERAGE</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17</a:t>
            </a:r>
          </a:p>
        </p:txBody>
      </p:sp>
      <p:sp>
        <p:nvSpPr>
          <p:cNvPr id="8" name="TextBox 7"/>
          <p:cNvSpPr txBox="1"/>
          <p:nvPr/>
        </p:nvSpPr>
        <p:spPr>
          <a:xfrm>
            <a:off x="548640" y="987552"/>
            <a:ext cx="11018520" cy="1197864"/>
          </a:xfrm>
          <a:prstGeom prst="rect">
            <a:avLst/>
          </a:prstGeom>
          <a:noFill/>
        </p:spPr>
        <p:txBody>
          <a:bodyPr wrap="square" lIns="0" rIns="0" tIns="0" bIns="0" anchor="t">
            <a:noAutofit/>
          </a:bodyPr>
          <a:lstStyle/>
          <a:p>
            <a:pPr algn="l">
              <a:lnSpc>
                <a:spcPct val="108000"/>
              </a:lnSpc>
              <a:spcBef>
                <a:spcPts val="0"/>
              </a:spcBef>
              <a:spcAft>
                <a:spcPts val="0"/>
              </a:spcAft>
            </a:pPr>
            <a:r>
              <a:rPr sz="3900" b="1">
                <a:solidFill>
                  <a:srgbClr val="F1EFE7"/>
                </a:solidFill>
                <a:latin typeface="IBM Plex Sans"/>
              </a:rPr>
              <a:t>Every judging criterion has an evidence trail.</a:t>
            </a:r>
          </a:p>
        </p:txBody>
      </p:sp>
      <p:sp>
        <p:nvSpPr>
          <p:cNvPr id="9" name="TextBox 8"/>
          <p:cNvSpPr txBox="1"/>
          <p:nvPr/>
        </p:nvSpPr>
        <p:spPr>
          <a:xfrm>
            <a:off x="585216" y="2587752"/>
            <a:ext cx="3474720" cy="365760"/>
          </a:xfrm>
          <a:prstGeom prst="rect">
            <a:avLst/>
          </a:prstGeom>
          <a:noFill/>
        </p:spPr>
        <p:txBody>
          <a:bodyPr wrap="square" lIns="0" rIns="0" tIns="0" bIns="0" anchor="t">
            <a:noAutofit/>
          </a:bodyPr>
          <a:lstStyle/>
          <a:p>
            <a:pPr algn="l">
              <a:lnSpc>
                <a:spcPct val="108000"/>
              </a:lnSpc>
              <a:spcBef>
                <a:spcPts val="0"/>
              </a:spcBef>
              <a:spcAft>
                <a:spcPts val="0"/>
              </a:spcAft>
            </a:pPr>
            <a:r>
              <a:rPr sz="1400" b="1">
                <a:solidFill>
                  <a:srgbClr val="A6C9B8"/>
                </a:solidFill>
                <a:latin typeface="IBM Plex Mono"/>
              </a:rPr>
              <a:t>MAIN PRIZES</a:t>
            </a:r>
          </a:p>
        </p:txBody>
      </p:sp>
      <p:sp>
        <p:nvSpPr>
          <p:cNvPr id="10" name="TextBox 9"/>
          <p:cNvSpPr txBox="1"/>
          <p:nvPr/>
        </p:nvSpPr>
        <p:spPr>
          <a:xfrm>
            <a:off x="585216" y="3218688"/>
            <a:ext cx="3529584" cy="402336"/>
          </a:xfrm>
          <a:prstGeom prst="rect">
            <a:avLst/>
          </a:prstGeom>
          <a:noFill/>
        </p:spPr>
        <p:txBody>
          <a:bodyPr wrap="square" lIns="0" rIns="0" tIns="0" bIns="0" anchor="t">
            <a:noAutofit/>
          </a:bodyPr>
          <a:lstStyle/>
          <a:p>
            <a:pPr algn="l">
              <a:lnSpc>
                <a:spcPct val="108000"/>
              </a:lnSpc>
              <a:spcBef>
                <a:spcPts val="0"/>
              </a:spcBef>
              <a:spcAft>
                <a:spcPts val="0"/>
              </a:spcAft>
            </a:pPr>
            <a:r>
              <a:rPr sz="1800" b="1">
                <a:solidFill>
                  <a:srgbClr val="F1EFE7"/>
                </a:solidFill>
                <a:latin typeface="IBM Plex Sans"/>
              </a:rPr>
              <a:t>25 Problem / impact</a:t>
            </a:r>
          </a:p>
        </p:txBody>
      </p:sp>
      <p:sp>
        <p:nvSpPr>
          <p:cNvPr id="11" name="TextBox 10"/>
          <p:cNvSpPr txBox="1"/>
          <p:nvPr/>
        </p:nvSpPr>
        <p:spPr>
          <a:xfrm>
            <a:off x="585216" y="3639312"/>
            <a:ext cx="3502152" cy="274320"/>
          </a:xfrm>
          <a:prstGeom prst="rect">
            <a:avLst/>
          </a:prstGeom>
          <a:noFill/>
        </p:spPr>
        <p:txBody>
          <a:bodyPr wrap="square" lIns="0" rIns="0" tIns="0" bIns="0" anchor="t">
            <a:noAutofit/>
          </a:bodyPr>
          <a:lstStyle/>
          <a:p>
            <a:pPr algn="l">
              <a:lnSpc>
                <a:spcPct val="108000"/>
              </a:lnSpc>
              <a:spcBef>
                <a:spcPts val="0"/>
              </a:spcBef>
              <a:spcAft>
                <a:spcPts val="0"/>
              </a:spcAft>
            </a:pPr>
            <a:r>
              <a:rPr sz="1200" b="0">
                <a:solidFill>
                  <a:srgbClr val="AFB9B2"/>
                </a:solidFill>
                <a:latin typeface="IBM Plex Mono"/>
              </a:rPr>
              <a:t>SLIDES 1–4,16</a:t>
            </a:r>
          </a:p>
        </p:txBody>
      </p:sp>
      <p:sp>
        <p:nvSpPr>
          <p:cNvPr id="12" name="TextBox 11"/>
          <p:cNvSpPr txBox="1"/>
          <p:nvPr/>
        </p:nvSpPr>
        <p:spPr>
          <a:xfrm>
            <a:off x="585216" y="4032504"/>
            <a:ext cx="3529584" cy="402336"/>
          </a:xfrm>
          <a:prstGeom prst="rect">
            <a:avLst/>
          </a:prstGeom>
          <a:noFill/>
        </p:spPr>
        <p:txBody>
          <a:bodyPr wrap="square" lIns="0" rIns="0" tIns="0" bIns="0" anchor="t">
            <a:noAutofit/>
          </a:bodyPr>
          <a:lstStyle/>
          <a:p>
            <a:pPr algn="l">
              <a:lnSpc>
                <a:spcPct val="108000"/>
              </a:lnSpc>
              <a:spcBef>
                <a:spcPts val="0"/>
              </a:spcBef>
              <a:spcAft>
                <a:spcPts val="0"/>
              </a:spcAft>
            </a:pPr>
            <a:r>
              <a:rPr sz="1800" b="1">
                <a:solidFill>
                  <a:srgbClr val="F1EFE7"/>
                </a:solidFill>
                <a:latin typeface="IBM Plex Sans"/>
              </a:rPr>
              <a:t>50 Technical execution</a:t>
            </a:r>
          </a:p>
        </p:txBody>
      </p:sp>
      <p:sp>
        <p:nvSpPr>
          <p:cNvPr id="13" name="TextBox 12"/>
          <p:cNvSpPr txBox="1"/>
          <p:nvPr/>
        </p:nvSpPr>
        <p:spPr>
          <a:xfrm>
            <a:off x="585216" y="4453128"/>
            <a:ext cx="3502152" cy="274320"/>
          </a:xfrm>
          <a:prstGeom prst="rect">
            <a:avLst/>
          </a:prstGeom>
          <a:noFill/>
        </p:spPr>
        <p:txBody>
          <a:bodyPr wrap="square" lIns="0" rIns="0" tIns="0" bIns="0" anchor="t">
            <a:noAutofit/>
          </a:bodyPr>
          <a:lstStyle/>
          <a:p>
            <a:pPr algn="l">
              <a:lnSpc>
                <a:spcPct val="108000"/>
              </a:lnSpc>
              <a:spcBef>
                <a:spcPts val="0"/>
              </a:spcBef>
              <a:spcAft>
                <a:spcPts val="0"/>
              </a:spcAft>
            </a:pPr>
            <a:r>
              <a:rPr sz="1200" b="0">
                <a:solidFill>
                  <a:srgbClr val="AFB9B2"/>
                </a:solidFill>
                <a:latin typeface="IBM Plex Mono"/>
              </a:rPr>
              <a:t>SLIDES 6–13,18–24,28–29</a:t>
            </a:r>
          </a:p>
        </p:txBody>
      </p:sp>
      <p:sp>
        <p:nvSpPr>
          <p:cNvPr id="14" name="TextBox 13"/>
          <p:cNvSpPr txBox="1"/>
          <p:nvPr/>
        </p:nvSpPr>
        <p:spPr>
          <a:xfrm>
            <a:off x="585216" y="4846320"/>
            <a:ext cx="3529584" cy="402336"/>
          </a:xfrm>
          <a:prstGeom prst="rect">
            <a:avLst/>
          </a:prstGeom>
          <a:noFill/>
        </p:spPr>
        <p:txBody>
          <a:bodyPr wrap="square" lIns="0" rIns="0" tIns="0" bIns="0" anchor="t">
            <a:noAutofit/>
          </a:bodyPr>
          <a:lstStyle/>
          <a:p>
            <a:pPr algn="l">
              <a:lnSpc>
                <a:spcPct val="108000"/>
              </a:lnSpc>
              <a:spcBef>
                <a:spcPts val="0"/>
              </a:spcBef>
              <a:spcAft>
                <a:spcPts val="0"/>
              </a:spcAft>
            </a:pPr>
            <a:r>
              <a:rPr sz="1800" b="1">
                <a:solidFill>
                  <a:srgbClr val="F1EFE7"/>
                </a:solidFill>
                <a:latin typeface="IBM Plex Sans"/>
              </a:rPr>
              <a:t>25 Feasibility / deployment</a:t>
            </a:r>
          </a:p>
        </p:txBody>
      </p:sp>
      <p:sp>
        <p:nvSpPr>
          <p:cNvPr id="15" name="TextBox 14"/>
          <p:cNvSpPr txBox="1"/>
          <p:nvPr/>
        </p:nvSpPr>
        <p:spPr>
          <a:xfrm>
            <a:off x="585216" y="5266944"/>
            <a:ext cx="3502152" cy="274320"/>
          </a:xfrm>
          <a:prstGeom prst="rect">
            <a:avLst/>
          </a:prstGeom>
          <a:noFill/>
        </p:spPr>
        <p:txBody>
          <a:bodyPr wrap="square" lIns="0" rIns="0" tIns="0" bIns="0" anchor="t">
            <a:noAutofit/>
          </a:bodyPr>
          <a:lstStyle/>
          <a:p>
            <a:pPr algn="l">
              <a:lnSpc>
                <a:spcPct val="108000"/>
              </a:lnSpc>
              <a:spcBef>
                <a:spcPts val="0"/>
              </a:spcBef>
              <a:spcAft>
                <a:spcPts val="0"/>
              </a:spcAft>
            </a:pPr>
            <a:r>
              <a:rPr sz="1200" b="0">
                <a:solidFill>
                  <a:srgbClr val="AFB9B2"/>
                </a:solidFill>
                <a:latin typeface="IBM Plex Mono"/>
              </a:rPr>
              <a:t>SLIDES 14–15,26</a:t>
            </a:r>
          </a:p>
        </p:txBody>
      </p:sp>
      <p:sp>
        <p:nvSpPr>
          <p:cNvPr id="16" name="TextBox 15"/>
          <p:cNvSpPr txBox="1"/>
          <p:nvPr/>
        </p:nvSpPr>
        <p:spPr>
          <a:xfrm>
            <a:off x="4407407" y="2587752"/>
            <a:ext cx="3474720" cy="365760"/>
          </a:xfrm>
          <a:prstGeom prst="rect">
            <a:avLst/>
          </a:prstGeom>
          <a:noFill/>
        </p:spPr>
        <p:txBody>
          <a:bodyPr wrap="square" lIns="0" rIns="0" tIns="0" bIns="0" anchor="t">
            <a:noAutofit/>
          </a:bodyPr>
          <a:lstStyle/>
          <a:p>
            <a:pPr algn="l">
              <a:lnSpc>
                <a:spcPct val="108000"/>
              </a:lnSpc>
              <a:spcBef>
                <a:spcPts val="0"/>
              </a:spcBef>
              <a:spcAft>
                <a:spcPts val="0"/>
              </a:spcAft>
            </a:pPr>
            <a:r>
              <a:rPr sz="1400" b="1">
                <a:solidFill>
                  <a:srgbClr val="A6C9B8"/>
                </a:solidFill>
                <a:latin typeface="IBM Plex Mono"/>
              </a:rPr>
              <a:t>BEST USE OF AI</a:t>
            </a:r>
          </a:p>
        </p:txBody>
      </p:sp>
      <p:sp>
        <p:nvSpPr>
          <p:cNvPr id="17" name="TextBox 16"/>
          <p:cNvSpPr txBox="1"/>
          <p:nvPr/>
        </p:nvSpPr>
        <p:spPr>
          <a:xfrm>
            <a:off x="4407407" y="3218688"/>
            <a:ext cx="3529584" cy="402336"/>
          </a:xfrm>
          <a:prstGeom prst="rect">
            <a:avLst/>
          </a:prstGeom>
          <a:noFill/>
        </p:spPr>
        <p:txBody>
          <a:bodyPr wrap="square" lIns="0" rIns="0" tIns="0" bIns="0" anchor="t">
            <a:noAutofit/>
          </a:bodyPr>
          <a:lstStyle/>
          <a:p>
            <a:pPr algn="l">
              <a:lnSpc>
                <a:spcPct val="108000"/>
              </a:lnSpc>
              <a:spcBef>
                <a:spcPts val="0"/>
              </a:spcBef>
              <a:spcAft>
                <a:spcPts val="0"/>
              </a:spcAft>
            </a:pPr>
            <a:r>
              <a:rPr sz="1800" b="1">
                <a:solidFill>
                  <a:srgbClr val="F1EFE7"/>
                </a:solidFill>
                <a:latin typeface="IBM Plex Sans"/>
              </a:rPr>
              <a:t>25 Novelty / importance</a:t>
            </a:r>
          </a:p>
        </p:txBody>
      </p:sp>
      <p:sp>
        <p:nvSpPr>
          <p:cNvPr id="18" name="TextBox 17"/>
          <p:cNvSpPr txBox="1"/>
          <p:nvPr/>
        </p:nvSpPr>
        <p:spPr>
          <a:xfrm>
            <a:off x="4407407" y="3639312"/>
            <a:ext cx="3502152" cy="274320"/>
          </a:xfrm>
          <a:prstGeom prst="rect">
            <a:avLst/>
          </a:prstGeom>
          <a:noFill/>
        </p:spPr>
        <p:txBody>
          <a:bodyPr wrap="square" lIns="0" rIns="0" tIns="0" bIns="0" anchor="t">
            <a:noAutofit/>
          </a:bodyPr>
          <a:lstStyle/>
          <a:p>
            <a:pPr algn="l">
              <a:lnSpc>
                <a:spcPct val="108000"/>
              </a:lnSpc>
              <a:spcBef>
                <a:spcPts val="0"/>
              </a:spcBef>
              <a:spcAft>
                <a:spcPts val="0"/>
              </a:spcAft>
            </a:pPr>
            <a:r>
              <a:rPr sz="1200" b="0">
                <a:solidFill>
                  <a:srgbClr val="AFB9B2"/>
                </a:solidFill>
                <a:latin typeface="IBM Plex Mono"/>
              </a:rPr>
              <a:t>SLIDES 4,6,25</a:t>
            </a:r>
          </a:p>
        </p:txBody>
      </p:sp>
      <p:sp>
        <p:nvSpPr>
          <p:cNvPr id="19" name="TextBox 18"/>
          <p:cNvSpPr txBox="1"/>
          <p:nvPr/>
        </p:nvSpPr>
        <p:spPr>
          <a:xfrm>
            <a:off x="4407407" y="4032504"/>
            <a:ext cx="3529584" cy="402336"/>
          </a:xfrm>
          <a:prstGeom prst="rect">
            <a:avLst/>
          </a:prstGeom>
          <a:noFill/>
        </p:spPr>
        <p:txBody>
          <a:bodyPr wrap="square" lIns="0" rIns="0" tIns="0" bIns="0" anchor="t">
            <a:noAutofit/>
          </a:bodyPr>
          <a:lstStyle/>
          <a:p>
            <a:pPr algn="l">
              <a:lnSpc>
                <a:spcPct val="108000"/>
              </a:lnSpc>
              <a:spcBef>
                <a:spcPts val="0"/>
              </a:spcBef>
              <a:spcAft>
                <a:spcPts val="0"/>
              </a:spcAft>
            </a:pPr>
            <a:r>
              <a:rPr sz="1800" b="1">
                <a:solidFill>
                  <a:srgbClr val="F1EFE7"/>
                </a:solidFill>
                <a:latin typeface="IBM Plex Sans"/>
              </a:rPr>
              <a:t>50 Technical sophistication</a:t>
            </a:r>
          </a:p>
        </p:txBody>
      </p:sp>
      <p:sp>
        <p:nvSpPr>
          <p:cNvPr id="20" name="TextBox 19"/>
          <p:cNvSpPr txBox="1"/>
          <p:nvPr/>
        </p:nvSpPr>
        <p:spPr>
          <a:xfrm>
            <a:off x="4407407" y="4453128"/>
            <a:ext cx="3502152" cy="274320"/>
          </a:xfrm>
          <a:prstGeom prst="rect">
            <a:avLst/>
          </a:prstGeom>
          <a:noFill/>
        </p:spPr>
        <p:txBody>
          <a:bodyPr wrap="square" lIns="0" rIns="0" tIns="0" bIns="0" anchor="t">
            <a:noAutofit/>
          </a:bodyPr>
          <a:lstStyle/>
          <a:p>
            <a:pPr algn="l">
              <a:lnSpc>
                <a:spcPct val="108000"/>
              </a:lnSpc>
              <a:spcBef>
                <a:spcPts val="0"/>
              </a:spcBef>
              <a:spcAft>
                <a:spcPts val="0"/>
              </a:spcAft>
            </a:pPr>
            <a:r>
              <a:rPr sz="1200" b="0">
                <a:solidFill>
                  <a:srgbClr val="AFB9B2"/>
                </a:solidFill>
                <a:latin typeface="IBM Plex Mono"/>
              </a:rPr>
              <a:t>SLIDES 6–9,18–24,28–29</a:t>
            </a:r>
          </a:p>
        </p:txBody>
      </p:sp>
      <p:sp>
        <p:nvSpPr>
          <p:cNvPr id="21" name="TextBox 20"/>
          <p:cNvSpPr txBox="1"/>
          <p:nvPr/>
        </p:nvSpPr>
        <p:spPr>
          <a:xfrm>
            <a:off x="4407407" y="4846320"/>
            <a:ext cx="3529584" cy="402336"/>
          </a:xfrm>
          <a:prstGeom prst="rect">
            <a:avLst/>
          </a:prstGeom>
          <a:noFill/>
        </p:spPr>
        <p:txBody>
          <a:bodyPr wrap="square" lIns="0" rIns="0" tIns="0" bIns="0" anchor="t">
            <a:noAutofit/>
          </a:bodyPr>
          <a:lstStyle/>
          <a:p>
            <a:pPr algn="l">
              <a:lnSpc>
                <a:spcPct val="108000"/>
              </a:lnSpc>
              <a:spcBef>
                <a:spcPts val="0"/>
              </a:spcBef>
              <a:spcAft>
                <a:spcPts val="0"/>
              </a:spcAft>
            </a:pPr>
            <a:r>
              <a:rPr sz="1800" b="1">
                <a:solidFill>
                  <a:srgbClr val="F1EFE7"/>
                </a:solidFill>
                <a:latin typeface="IBM Plex Sans"/>
              </a:rPr>
              <a:t>25 Reliability / evaluation</a:t>
            </a:r>
          </a:p>
        </p:txBody>
      </p:sp>
      <p:sp>
        <p:nvSpPr>
          <p:cNvPr id="22" name="TextBox 21"/>
          <p:cNvSpPr txBox="1"/>
          <p:nvPr/>
        </p:nvSpPr>
        <p:spPr>
          <a:xfrm>
            <a:off x="4407407" y="5266944"/>
            <a:ext cx="3502152" cy="274320"/>
          </a:xfrm>
          <a:prstGeom prst="rect">
            <a:avLst/>
          </a:prstGeom>
          <a:noFill/>
        </p:spPr>
        <p:txBody>
          <a:bodyPr wrap="square" lIns="0" rIns="0" tIns="0" bIns="0" anchor="t">
            <a:noAutofit/>
          </a:bodyPr>
          <a:lstStyle/>
          <a:p>
            <a:pPr algn="l">
              <a:lnSpc>
                <a:spcPct val="108000"/>
              </a:lnSpc>
              <a:spcBef>
                <a:spcPts val="0"/>
              </a:spcBef>
              <a:spcAft>
                <a:spcPts val="0"/>
              </a:spcAft>
            </a:pPr>
            <a:r>
              <a:rPr sz="1200" b="0">
                <a:solidFill>
                  <a:srgbClr val="AFB9B2"/>
                </a:solidFill>
                <a:latin typeface="IBM Plex Mono"/>
              </a:rPr>
              <a:t>SLIDES 9–13,19–24,28–29</a:t>
            </a:r>
          </a:p>
        </p:txBody>
      </p:sp>
      <p:sp>
        <p:nvSpPr>
          <p:cNvPr id="23" name="TextBox 22"/>
          <p:cNvSpPr txBox="1"/>
          <p:nvPr/>
        </p:nvSpPr>
        <p:spPr>
          <a:xfrm>
            <a:off x="8229600" y="2587752"/>
            <a:ext cx="3474720" cy="365760"/>
          </a:xfrm>
          <a:prstGeom prst="rect">
            <a:avLst/>
          </a:prstGeom>
          <a:noFill/>
        </p:spPr>
        <p:txBody>
          <a:bodyPr wrap="square" lIns="0" rIns="0" tIns="0" bIns="0" anchor="t">
            <a:noAutofit/>
          </a:bodyPr>
          <a:lstStyle/>
          <a:p>
            <a:pPr algn="l">
              <a:lnSpc>
                <a:spcPct val="108000"/>
              </a:lnSpc>
              <a:spcBef>
                <a:spcPts val="0"/>
              </a:spcBef>
              <a:spcAft>
                <a:spcPts val="0"/>
              </a:spcAft>
            </a:pPr>
            <a:r>
              <a:rPr sz="1400" b="1">
                <a:solidFill>
                  <a:srgbClr val="A6C9B8"/>
                </a:solidFill>
                <a:latin typeface="IBM Plex Mono"/>
              </a:rPr>
              <a:t>BEST IN DESIGN</a:t>
            </a:r>
          </a:p>
        </p:txBody>
      </p:sp>
      <p:sp>
        <p:nvSpPr>
          <p:cNvPr id="24" name="TextBox 23"/>
          <p:cNvSpPr txBox="1"/>
          <p:nvPr/>
        </p:nvSpPr>
        <p:spPr>
          <a:xfrm>
            <a:off x="8229600" y="3218688"/>
            <a:ext cx="3529584" cy="402336"/>
          </a:xfrm>
          <a:prstGeom prst="rect">
            <a:avLst/>
          </a:prstGeom>
          <a:noFill/>
        </p:spPr>
        <p:txBody>
          <a:bodyPr wrap="square" lIns="0" rIns="0" tIns="0" bIns="0" anchor="t">
            <a:noAutofit/>
          </a:bodyPr>
          <a:lstStyle/>
          <a:p>
            <a:pPr algn="l">
              <a:lnSpc>
                <a:spcPct val="108000"/>
              </a:lnSpc>
              <a:spcBef>
                <a:spcPts val="0"/>
              </a:spcBef>
              <a:spcAft>
                <a:spcPts val="0"/>
              </a:spcAft>
            </a:pPr>
            <a:r>
              <a:rPr sz="1800" b="1">
                <a:solidFill>
                  <a:srgbClr val="F1EFE7"/>
                </a:solidFill>
                <a:latin typeface="IBM Plex Sans"/>
              </a:rPr>
              <a:t>30 Design / craft</a:t>
            </a:r>
          </a:p>
        </p:txBody>
      </p:sp>
      <p:sp>
        <p:nvSpPr>
          <p:cNvPr id="25" name="TextBox 24"/>
          <p:cNvSpPr txBox="1"/>
          <p:nvPr/>
        </p:nvSpPr>
        <p:spPr>
          <a:xfrm>
            <a:off x="8229600" y="3639312"/>
            <a:ext cx="3502152" cy="274320"/>
          </a:xfrm>
          <a:prstGeom prst="rect">
            <a:avLst/>
          </a:prstGeom>
          <a:noFill/>
        </p:spPr>
        <p:txBody>
          <a:bodyPr wrap="square" lIns="0" rIns="0" tIns="0" bIns="0" anchor="t">
            <a:noAutofit/>
          </a:bodyPr>
          <a:lstStyle/>
          <a:p>
            <a:pPr algn="l">
              <a:lnSpc>
                <a:spcPct val="108000"/>
              </a:lnSpc>
              <a:spcBef>
                <a:spcPts val="0"/>
              </a:spcBef>
              <a:spcAft>
                <a:spcPts val="0"/>
              </a:spcAft>
            </a:pPr>
            <a:r>
              <a:rPr sz="1200" b="0">
                <a:solidFill>
                  <a:srgbClr val="AFB9B2"/>
                </a:solidFill>
                <a:latin typeface="IBM Plex Mono"/>
              </a:rPr>
              <a:t>SLIDES 5,7,18</a:t>
            </a:r>
          </a:p>
        </p:txBody>
      </p:sp>
      <p:sp>
        <p:nvSpPr>
          <p:cNvPr id="26" name="TextBox 25"/>
          <p:cNvSpPr txBox="1"/>
          <p:nvPr/>
        </p:nvSpPr>
        <p:spPr>
          <a:xfrm>
            <a:off x="8229600" y="4032504"/>
            <a:ext cx="3529584" cy="402336"/>
          </a:xfrm>
          <a:prstGeom prst="rect">
            <a:avLst/>
          </a:prstGeom>
          <a:noFill/>
        </p:spPr>
        <p:txBody>
          <a:bodyPr wrap="square" lIns="0" rIns="0" tIns="0" bIns="0" anchor="t">
            <a:noAutofit/>
          </a:bodyPr>
          <a:lstStyle/>
          <a:p>
            <a:pPr algn="l">
              <a:lnSpc>
                <a:spcPct val="108000"/>
              </a:lnSpc>
              <a:spcBef>
                <a:spcPts val="0"/>
              </a:spcBef>
              <a:spcAft>
                <a:spcPts val="0"/>
              </a:spcAft>
            </a:pPr>
            <a:r>
              <a:rPr sz="1800" b="1">
                <a:solidFill>
                  <a:srgbClr val="F1EFE7"/>
                </a:solidFill>
                <a:latin typeface="IBM Plex Sans"/>
              </a:rPr>
              <a:t>40 UX / usability</a:t>
            </a:r>
          </a:p>
        </p:txBody>
      </p:sp>
      <p:sp>
        <p:nvSpPr>
          <p:cNvPr id="27" name="TextBox 26"/>
          <p:cNvSpPr txBox="1"/>
          <p:nvPr/>
        </p:nvSpPr>
        <p:spPr>
          <a:xfrm>
            <a:off x="8229600" y="4453128"/>
            <a:ext cx="3502152" cy="274320"/>
          </a:xfrm>
          <a:prstGeom prst="rect">
            <a:avLst/>
          </a:prstGeom>
          <a:noFill/>
        </p:spPr>
        <p:txBody>
          <a:bodyPr wrap="square" lIns="0" rIns="0" tIns="0" bIns="0" anchor="t">
            <a:noAutofit/>
          </a:bodyPr>
          <a:lstStyle/>
          <a:p>
            <a:pPr algn="l">
              <a:lnSpc>
                <a:spcPct val="108000"/>
              </a:lnSpc>
              <a:spcBef>
                <a:spcPts val="0"/>
              </a:spcBef>
              <a:spcAft>
                <a:spcPts val="0"/>
              </a:spcAft>
            </a:pPr>
            <a:r>
              <a:rPr sz="1200" b="0">
                <a:solidFill>
                  <a:srgbClr val="AFB9B2"/>
                </a:solidFill>
                <a:latin typeface="IBM Plex Mono"/>
              </a:rPr>
              <a:t>SLIDES 5–7,18</a:t>
            </a:r>
          </a:p>
        </p:txBody>
      </p:sp>
      <p:sp>
        <p:nvSpPr>
          <p:cNvPr id="28" name="TextBox 27"/>
          <p:cNvSpPr txBox="1"/>
          <p:nvPr/>
        </p:nvSpPr>
        <p:spPr>
          <a:xfrm>
            <a:off x="8229600" y="4846320"/>
            <a:ext cx="3529584" cy="402336"/>
          </a:xfrm>
          <a:prstGeom prst="rect">
            <a:avLst/>
          </a:prstGeom>
          <a:noFill/>
        </p:spPr>
        <p:txBody>
          <a:bodyPr wrap="square" lIns="0" rIns="0" tIns="0" bIns="0" anchor="t">
            <a:noAutofit/>
          </a:bodyPr>
          <a:lstStyle/>
          <a:p>
            <a:pPr algn="l">
              <a:lnSpc>
                <a:spcPct val="108000"/>
              </a:lnSpc>
              <a:spcBef>
                <a:spcPts val="0"/>
              </a:spcBef>
              <a:spcAft>
                <a:spcPts val="0"/>
              </a:spcAft>
            </a:pPr>
            <a:r>
              <a:rPr sz="1800" b="1">
                <a:solidFill>
                  <a:srgbClr val="F1EFE7"/>
                </a:solidFill>
                <a:latin typeface="IBM Plex Sans"/>
              </a:rPr>
              <a:t>30 Understanding the user</a:t>
            </a:r>
          </a:p>
        </p:txBody>
      </p:sp>
      <p:sp>
        <p:nvSpPr>
          <p:cNvPr id="29" name="TextBox 28"/>
          <p:cNvSpPr txBox="1"/>
          <p:nvPr/>
        </p:nvSpPr>
        <p:spPr>
          <a:xfrm>
            <a:off x="8229600" y="5266944"/>
            <a:ext cx="3502152" cy="274320"/>
          </a:xfrm>
          <a:prstGeom prst="rect">
            <a:avLst/>
          </a:prstGeom>
          <a:noFill/>
        </p:spPr>
        <p:txBody>
          <a:bodyPr wrap="square" lIns="0" rIns="0" tIns="0" bIns="0" anchor="t">
            <a:noAutofit/>
          </a:bodyPr>
          <a:lstStyle/>
          <a:p>
            <a:pPr algn="l">
              <a:lnSpc>
                <a:spcPct val="108000"/>
              </a:lnSpc>
              <a:spcBef>
                <a:spcPts val="0"/>
              </a:spcBef>
              <a:spcAft>
                <a:spcPts val="0"/>
              </a:spcAft>
            </a:pPr>
            <a:r>
              <a:rPr sz="1200" b="0">
                <a:solidFill>
                  <a:srgbClr val="AFB9B2"/>
                </a:solidFill>
                <a:latin typeface="IBM Plex Mono"/>
              </a:rPr>
              <a:t>SLIDES 5,14–15</a:t>
            </a:r>
          </a:p>
        </p:txBody>
      </p:sp>
      <p:sp>
        <p:nvSpPr>
          <p:cNvPr id="30" name="TextBox 29"/>
          <p:cNvSpPr txBox="1"/>
          <p:nvPr/>
        </p:nvSpPr>
        <p:spPr>
          <a:xfrm>
            <a:off x="548640" y="5952744"/>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50" b="0">
                <a:solidFill>
                  <a:srgbClr val="AFB9B2"/>
                </a:solidFill>
                <a:latin typeface="IBM Plex Mono"/>
              </a:rPr>
              <a:t>Weights supplied by the team · No score or award outcome predicted.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0">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APPENDIX / DESIGN FOLLOWS THE SCIENTIFIC TASK</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18</a:t>
            </a:r>
          </a:p>
        </p:txBody>
      </p:sp>
      <p:sp>
        <p:nvSpPr>
          <p:cNvPr id="8" name="TextBox 7"/>
          <p:cNvSpPr txBox="1"/>
          <p:nvPr/>
        </p:nvSpPr>
        <p:spPr>
          <a:xfrm>
            <a:off x="548640" y="987552"/>
            <a:ext cx="11018520" cy="1197864"/>
          </a:xfrm>
          <a:prstGeom prst="rect">
            <a:avLst/>
          </a:prstGeom>
          <a:noFill/>
        </p:spPr>
        <p:txBody>
          <a:bodyPr wrap="square" lIns="0" rIns="0" tIns="0" bIns="0" anchor="t">
            <a:noAutofit/>
          </a:bodyPr>
          <a:lstStyle/>
          <a:p>
            <a:pPr algn="l">
              <a:lnSpc>
                <a:spcPct val="108000"/>
              </a:lnSpc>
              <a:spcBef>
                <a:spcPts val="0"/>
              </a:spcBef>
              <a:spcAft>
                <a:spcPts val="0"/>
              </a:spcAft>
            </a:pPr>
            <a:r>
              <a:rPr sz="3900" b="1">
                <a:solidFill>
                  <a:srgbClr val="F1EFE7"/>
                </a:solidFill>
                <a:latin typeface="IBM Plex Sans"/>
              </a:rPr>
              <a:t>A useful view makes a hidden problem visible.</a:t>
            </a:r>
          </a:p>
        </p:txBody>
      </p:sp>
      <p:pic>
        <p:nvPicPr>
          <p:cNvPr id="9" name="Picture 8" descr="runtime-scene-hero.png"/>
          <p:cNvPicPr>
            <a:picLocks noChangeAspect="1"/>
          </p:cNvPicPr>
          <p:nvPr/>
        </p:nvPicPr>
        <p:blipFill>
          <a:blip r:embed="rId2"/>
          <a:stretch>
            <a:fillRect/>
          </a:stretch>
        </p:blipFill>
        <p:spPr>
          <a:xfrm>
            <a:off x="639521" y="2331720"/>
            <a:ext cx="5377789" cy="2834640"/>
          </a:xfrm>
          <a:prstGeom prst="rect">
            <a:avLst/>
          </a:prstGeom>
        </p:spPr>
      </p:pic>
      <p:pic>
        <p:nvPicPr>
          <p:cNvPr id="10" name="Picture 9" descr="scene-replay-interface-close-stage.png"/>
          <p:cNvPicPr>
            <a:picLocks noChangeAspect="1"/>
          </p:cNvPicPr>
          <p:nvPr/>
        </p:nvPicPr>
        <p:blipFill>
          <a:blip r:embed="rId3"/>
          <a:stretch>
            <a:fillRect/>
          </a:stretch>
        </p:blipFill>
        <p:spPr>
          <a:xfrm>
            <a:off x="6235649" y="2331720"/>
            <a:ext cx="5377789" cy="2834640"/>
          </a:xfrm>
          <a:prstGeom prst="rect">
            <a:avLst/>
          </a:prstGeom>
        </p:spPr>
      </p:pic>
      <p:sp>
        <p:nvSpPr>
          <p:cNvPr id="11" name="TextBox 10"/>
          <p:cNvSpPr txBox="1"/>
          <p:nvPr/>
        </p:nvSpPr>
        <p:spPr>
          <a:xfrm>
            <a:off x="630936" y="5404104"/>
            <a:ext cx="5321808" cy="448056"/>
          </a:xfrm>
          <a:prstGeom prst="rect">
            <a:avLst/>
          </a:prstGeom>
          <a:noFill/>
        </p:spPr>
        <p:txBody>
          <a:bodyPr wrap="square" lIns="0" rIns="0" tIns="0" bIns="0" anchor="t">
            <a:noAutofit/>
          </a:bodyPr>
          <a:lstStyle/>
          <a:p>
            <a:pPr algn="l">
              <a:lnSpc>
                <a:spcPct val="108000"/>
              </a:lnSpc>
              <a:spcBef>
                <a:spcPts val="0"/>
              </a:spcBef>
              <a:spcAft>
                <a:spcPts val="0"/>
              </a:spcAft>
            </a:pPr>
            <a:r>
              <a:rPr sz="2300" b="1">
                <a:solidFill>
                  <a:srgbClr val="A6C9B8"/>
                </a:solidFill>
                <a:latin typeface="IBM Plex Sans"/>
              </a:rPr>
              <a:t>Orient in the complete structure</a:t>
            </a:r>
          </a:p>
        </p:txBody>
      </p:sp>
      <p:sp>
        <p:nvSpPr>
          <p:cNvPr id="12" name="TextBox 11"/>
          <p:cNvSpPr txBox="1"/>
          <p:nvPr/>
        </p:nvSpPr>
        <p:spPr>
          <a:xfrm>
            <a:off x="6217920" y="5404104"/>
            <a:ext cx="5349240" cy="448056"/>
          </a:xfrm>
          <a:prstGeom prst="rect">
            <a:avLst/>
          </a:prstGeom>
          <a:noFill/>
        </p:spPr>
        <p:txBody>
          <a:bodyPr wrap="square" lIns="0" rIns="0" tIns="0" bIns="0" anchor="t">
            <a:noAutofit/>
          </a:bodyPr>
          <a:lstStyle/>
          <a:p>
            <a:pPr algn="l">
              <a:lnSpc>
                <a:spcPct val="108000"/>
              </a:lnSpc>
              <a:spcBef>
                <a:spcPts val="0"/>
              </a:spcBef>
              <a:spcAft>
                <a:spcPts val="0"/>
              </a:spcAft>
            </a:pPr>
            <a:r>
              <a:rPr sz="2300" b="1">
                <a:solidFill>
                  <a:srgbClr val="A6C9B8"/>
                </a:solidFill>
                <a:latin typeface="IBM Plex Sans"/>
              </a:rPr>
              <a:t>Inspect the contact-only cutaway</a:t>
            </a:r>
          </a:p>
        </p:txBody>
      </p:sp>
      <p:sp>
        <p:nvSpPr>
          <p:cNvPr id="13" name="TextBox 12"/>
          <p:cNvSpPr txBox="1"/>
          <p:nvPr/>
        </p:nvSpPr>
        <p:spPr>
          <a:xfrm>
            <a:off x="548640" y="5952744"/>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50" b="0">
                <a:solidFill>
                  <a:srgbClr val="AFB9B2"/>
                </a:solidFill>
                <a:latin typeface="IBM Plex Mono"/>
              </a:rPr>
              <a:t>ACTUAL UI CAPTURES · Same illustrative geometry. Color is paired with labels; opposing views expose occlusion.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0">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APPENDIX / TRAINED COMPONENTS AT A GLANCE</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19</a:t>
            </a:r>
          </a:p>
        </p:txBody>
      </p:sp>
      <p:sp>
        <p:nvSpPr>
          <p:cNvPr id="8" name="TextBox 7"/>
          <p:cNvSpPr txBox="1"/>
          <p:nvPr/>
        </p:nvSpPr>
        <p:spPr>
          <a:xfrm>
            <a:off x="548640" y="987552"/>
            <a:ext cx="11018520" cy="1197864"/>
          </a:xfrm>
          <a:prstGeom prst="rect">
            <a:avLst/>
          </a:prstGeom>
          <a:noFill/>
        </p:spPr>
        <p:txBody>
          <a:bodyPr wrap="square" lIns="0" rIns="0" tIns="0" bIns="0" anchor="t">
            <a:noAutofit/>
          </a:bodyPr>
          <a:lstStyle/>
          <a:p>
            <a:pPr algn="l">
              <a:lnSpc>
                <a:spcPct val="108000"/>
              </a:lnSpc>
              <a:spcBef>
                <a:spcPts val="0"/>
              </a:spcBef>
              <a:spcAft>
                <a:spcPts val="0"/>
              </a:spcAft>
            </a:pPr>
            <a:r>
              <a:rPr sz="3900" b="1">
                <a:solidFill>
                  <a:srgbClr val="F1EFE7"/>
                </a:solidFill>
                <a:latin typeface="IBM Plex Sans"/>
              </a:rPr>
              <a:t>What we trained—and what we did not.</a:t>
            </a:r>
          </a:p>
        </p:txBody>
      </p:sp>
      <p:cxnSp>
        <p:nvCxnSpPr>
          <p:cNvPr id="9" name="Connector 8"/>
          <p:cNvCxnSpPr/>
          <p:nvPr/>
        </p:nvCxnSpPr>
        <p:spPr>
          <a:xfrm>
            <a:off x="594360" y="2450592"/>
            <a:ext cx="11009376"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603504" y="2569464"/>
            <a:ext cx="1920240" cy="393192"/>
          </a:xfrm>
          <a:prstGeom prst="rect">
            <a:avLst/>
          </a:prstGeom>
          <a:noFill/>
        </p:spPr>
        <p:txBody>
          <a:bodyPr wrap="square" lIns="0" rIns="0" tIns="0" bIns="0" anchor="t">
            <a:noAutofit/>
          </a:bodyPr>
          <a:lstStyle/>
          <a:p>
            <a:pPr algn="l">
              <a:lnSpc>
                <a:spcPct val="108000"/>
              </a:lnSpc>
              <a:spcBef>
                <a:spcPts val="0"/>
              </a:spcBef>
              <a:spcAft>
                <a:spcPts val="0"/>
              </a:spcAft>
            </a:pPr>
            <a:r>
              <a:rPr sz="1800" b="1">
                <a:solidFill>
                  <a:srgbClr val="A6C9B8"/>
                </a:solidFill>
                <a:latin typeface="IBM Plex Sans"/>
              </a:rPr>
              <a:t>Expression</a:t>
            </a:r>
          </a:p>
        </p:txBody>
      </p:sp>
      <p:sp>
        <p:nvSpPr>
          <p:cNvPr id="11" name="TextBox 10"/>
          <p:cNvSpPr txBox="1"/>
          <p:nvPr/>
        </p:nvSpPr>
        <p:spPr>
          <a:xfrm>
            <a:off x="2697480" y="2542032"/>
            <a:ext cx="4608576" cy="457200"/>
          </a:xfrm>
          <a:prstGeom prst="rect">
            <a:avLst/>
          </a:prstGeom>
          <a:noFill/>
        </p:spPr>
        <p:txBody>
          <a:bodyPr wrap="square" lIns="0" rIns="0" tIns="0" bIns="0" anchor="t">
            <a:noAutofit/>
          </a:bodyPr>
          <a:lstStyle/>
          <a:p>
            <a:pPr algn="l">
              <a:lnSpc>
                <a:spcPct val="108000"/>
              </a:lnSpc>
              <a:spcBef>
                <a:spcPts val="0"/>
              </a:spcBef>
              <a:spcAft>
                <a:spcPts val="0"/>
              </a:spcAft>
            </a:pPr>
            <a:r>
              <a:rPr sz="1700" b="1">
                <a:solidFill>
                  <a:srgbClr val="F1EFE7"/>
                </a:solidFill>
                <a:latin typeface="IBM Plex Sans"/>
              </a:rPr>
              <a:t>Masked autoencoder + sequential neural bettor</a:t>
            </a:r>
          </a:p>
        </p:txBody>
      </p:sp>
      <p:sp>
        <p:nvSpPr>
          <p:cNvPr id="12" name="TextBox 11"/>
          <p:cNvSpPr txBox="1"/>
          <p:nvPr/>
        </p:nvSpPr>
        <p:spPr>
          <a:xfrm>
            <a:off x="7644383" y="2542032"/>
            <a:ext cx="3931920" cy="539496"/>
          </a:xfrm>
          <a:prstGeom prst="rect">
            <a:avLst/>
          </a:prstGeom>
          <a:noFill/>
        </p:spPr>
        <p:txBody>
          <a:bodyPr wrap="square" lIns="0" rIns="0" tIns="0" bIns="0" anchor="t">
            <a:noAutofit/>
          </a:bodyPr>
          <a:lstStyle/>
          <a:p>
            <a:pPr algn="l">
              <a:lnSpc>
                <a:spcPct val="108000"/>
              </a:lnSpc>
              <a:spcBef>
                <a:spcPts val="0"/>
              </a:spcBef>
              <a:spcAft>
                <a:spcPts val="0"/>
              </a:spcAft>
            </a:pPr>
            <a:r>
              <a:rPr sz="1500" b="0">
                <a:solidFill>
                  <a:srgbClr val="AFB9B2"/>
                </a:solidFill>
                <a:latin typeface="IBM Plex Sans"/>
              </a:rPr>
              <a:t>Reconstruct expression; score fresh paired observations.</a:t>
            </a:r>
          </a:p>
        </p:txBody>
      </p:sp>
      <p:cxnSp>
        <p:nvCxnSpPr>
          <p:cNvPr id="13" name="Connector 12"/>
          <p:cNvCxnSpPr/>
          <p:nvPr/>
        </p:nvCxnSpPr>
        <p:spPr>
          <a:xfrm>
            <a:off x="594360" y="3090672"/>
            <a:ext cx="11009376"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603504" y="3209544"/>
            <a:ext cx="1920240" cy="393192"/>
          </a:xfrm>
          <a:prstGeom prst="rect">
            <a:avLst/>
          </a:prstGeom>
          <a:noFill/>
        </p:spPr>
        <p:txBody>
          <a:bodyPr wrap="square" lIns="0" rIns="0" tIns="0" bIns="0" anchor="t">
            <a:noAutofit/>
          </a:bodyPr>
          <a:lstStyle/>
          <a:p>
            <a:pPr algn="l">
              <a:lnSpc>
                <a:spcPct val="108000"/>
              </a:lnSpc>
              <a:spcBef>
                <a:spcPts val="0"/>
              </a:spcBef>
              <a:spcAft>
                <a:spcPts val="0"/>
              </a:spcAft>
            </a:pPr>
            <a:r>
              <a:rPr sz="1800" b="1">
                <a:solidFill>
                  <a:srgbClr val="A6C9B8"/>
                </a:solidFill>
                <a:latin typeface="IBM Plex Sans"/>
              </a:rPr>
              <a:t>Protein</a:t>
            </a:r>
          </a:p>
        </p:txBody>
      </p:sp>
      <p:sp>
        <p:nvSpPr>
          <p:cNvPr id="15" name="TextBox 14"/>
          <p:cNvSpPr txBox="1"/>
          <p:nvPr/>
        </p:nvSpPr>
        <p:spPr>
          <a:xfrm>
            <a:off x="2697480" y="3182112"/>
            <a:ext cx="4608576" cy="457200"/>
          </a:xfrm>
          <a:prstGeom prst="rect">
            <a:avLst/>
          </a:prstGeom>
          <a:noFill/>
        </p:spPr>
        <p:txBody>
          <a:bodyPr wrap="square" lIns="0" rIns="0" tIns="0" bIns="0" anchor="t">
            <a:noAutofit/>
          </a:bodyPr>
          <a:lstStyle/>
          <a:p>
            <a:pPr algn="l">
              <a:lnSpc>
                <a:spcPct val="108000"/>
              </a:lnSpc>
              <a:spcBef>
                <a:spcPts val="0"/>
              </a:spcBef>
              <a:spcAft>
                <a:spcPts val="0"/>
              </a:spcAft>
            </a:pPr>
            <a:r>
              <a:rPr sz="1700" b="1">
                <a:solidFill>
                  <a:srgbClr val="F1EFE7"/>
                </a:solidFill>
                <a:latin typeface="IBM Plex Sans"/>
              </a:rPr>
              <a:t>PCA / rank-PCA / masked denoiser</a:t>
            </a:r>
          </a:p>
        </p:txBody>
      </p:sp>
      <p:sp>
        <p:nvSpPr>
          <p:cNvPr id="16" name="TextBox 15"/>
          <p:cNvSpPr txBox="1"/>
          <p:nvPr/>
        </p:nvSpPr>
        <p:spPr>
          <a:xfrm>
            <a:off x="7644383" y="3182112"/>
            <a:ext cx="3931920" cy="539496"/>
          </a:xfrm>
          <a:prstGeom prst="rect">
            <a:avLst/>
          </a:prstGeom>
          <a:noFill/>
        </p:spPr>
        <p:txBody>
          <a:bodyPr wrap="square" lIns="0" rIns="0" tIns="0" bIns="0" anchor="t">
            <a:noAutofit/>
          </a:bodyPr>
          <a:lstStyle/>
          <a:p>
            <a:pPr algn="l">
              <a:lnSpc>
                <a:spcPct val="108000"/>
              </a:lnSpc>
              <a:spcBef>
                <a:spcPts val="0"/>
              </a:spcBef>
              <a:spcAft>
                <a:spcPts val="0"/>
              </a:spcAft>
            </a:pPr>
            <a:r>
              <a:rPr sz="1500" b="0">
                <a:solidFill>
                  <a:srgbClr val="AFB9B2"/>
                </a:solidFill>
                <a:latin typeface="IBM Plex Sans"/>
              </a:rPr>
              <a:t>Learn protein-abundance structure and missingness.</a:t>
            </a:r>
          </a:p>
        </p:txBody>
      </p:sp>
      <p:cxnSp>
        <p:nvCxnSpPr>
          <p:cNvPr id="17" name="Connector 16"/>
          <p:cNvCxnSpPr/>
          <p:nvPr/>
        </p:nvCxnSpPr>
        <p:spPr>
          <a:xfrm>
            <a:off x="594360" y="3730752"/>
            <a:ext cx="11009376"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8" name="TextBox 17"/>
          <p:cNvSpPr txBox="1"/>
          <p:nvPr/>
        </p:nvSpPr>
        <p:spPr>
          <a:xfrm>
            <a:off x="603504" y="3849624"/>
            <a:ext cx="1920240" cy="393192"/>
          </a:xfrm>
          <a:prstGeom prst="rect">
            <a:avLst/>
          </a:prstGeom>
          <a:noFill/>
        </p:spPr>
        <p:txBody>
          <a:bodyPr wrap="square" lIns="0" rIns="0" tIns="0" bIns="0" anchor="t">
            <a:noAutofit/>
          </a:bodyPr>
          <a:lstStyle/>
          <a:p>
            <a:pPr algn="l">
              <a:lnSpc>
                <a:spcPct val="108000"/>
              </a:lnSpc>
              <a:spcBef>
                <a:spcPts val="0"/>
              </a:spcBef>
              <a:spcAft>
                <a:spcPts val="0"/>
              </a:spcAft>
            </a:pPr>
            <a:r>
              <a:rPr sz="1800" b="1">
                <a:solidFill>
                  <a:srgbClr val="A6C9B8"/>
                </a:solidFill>
                <a:latin typeface="IBM Plex Sans"/>
              </a:rPr>
              <a:t>Drug response</a:t>
            </a:r>
          </a:p>
        </p:txBody>
      </p:sp>
      <p:sp>
        <p:nvSpPr>
          <p:cNvPr id="19" name="TextBox 18"/>
          <p:cNvSpPr txBox="1"/>
          <p:nvPr/>
        </p:nvSpPr>
        <p:spPr>
          <a:xfrm>
            <a:off x="2697480" y="3822191"/>
            <a:ext cx="4608576" cy="457200"/>
          </a:xfrm>
          <a:prstGeom prst="rect">
            <a:avLst/>
          </a:prstGeom>
          <a:noFill/>
        </p:spPr>
        <p:txBody>
          <a:bodyPr wrap="square" lIns="0" rIns="0" tIns="0" bIns="0" anchor="t">
            <a:noAutofit/>
          </a:bodyPr>
          <a:lstStyle/>
          <a:p>
            <a:pPr algn="l">
              <a:lnSpc>
                <a:spcPct val="108000"/>
              </a:lnSpc>
              <a:spcBef>
                <a:spcPts val="0"/>
              </a:spcBef>
              <a:spcAft>
                <a:spcPts val="0"/>
              </a:spcAft>
            </a:pPr>
            <a:r>
              <a:rPr sz="1700" b="1">
                <a:solidFill>
                  <a:srgbClr val="F1EFE7"/>
                </a:solidFill>
                <a:latin typeface="IBM Plex Sans"/>
              </a:rPr>
              <a:t>Separate encoders + ridge + bounded critic</a:t>
            </a:r>
          </a:p>
        </p:txBody>
      </p:sp>
      <p:sp>
        <p:nvSpPr>
          <p:cNvPr id="20" name="TextBox 19"/>
          <p:cNvSpPr txBox="1"/>
          <p:nvPr/>
        </p:nvSpPr>
        <p:spPr>
          <a:xfrm>
            <a:off x="7644383" y="3822191"/>
            <a:ext cx="3931920" cy="539496"/>
          </a:xfrm>
          <a:prstGeom prst="rect">
            <a:avLst/>
          </a:prstGeom>
          <a:noFill/>
        </p:spPr>
        <p:txBody>
          <a:bodyPr wrap="square" lIns="0" rIns="0" tIns="0" bIns="0" anchor="t">
            <a:noAutofit/>
          </a:bodyPr>
          <a:lstStyle/>
          <a:p>
            <a:pPr algn="l">
              <a:lnSpc>
                <a:spcPct val="108000"/>
              </a:lnSpc>
              <a:spcBef>
                <a:spcPts val="0"/>
              </a:spcBef>
              <a:spcAft>
                <a:spcPts val="0"/>
              </a:spcAft>
            </a:pPr>
            <a:r>
              <a:rPr sz="1500" b="0">
                <a:solidFill>
                  <a:srgbClr val="AFB9B2"/>
                </a:solidFill>
                <a:latin typeface="IBM Plex Sans"/>
              </a:rPr>
              <a:t>Predict response; test association between two views.</a:t>
            </a:r>
          </a:p>
        </p:txBody>
      </p:sp>
      <p:cxnSp>
        <p:nvCxnSpPr>
          <p:cNvPr id="21" name="Connector 20"/>
          <p:cNvCxnSpPr/>
          <p:nvPr/>
        </p:nvCxnSpPr>
        <p:spPr>
          <a:xfrm>
            <a:off x="594360" y="4370831"/>
            <a:ext cx="11009376"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603504" y="4489703"/>
            <a:ext cx="1920240" cy="393192"/>
          </a:xfrm>
          <a:prstGeom prst="rect">
            <a:avLst/>
          </a:prstGeom>
          <a:noFill/>
        </p:spPr>
        <p:txBody>
          <a:bodyPr wrap="square" lIns="0" rIns="0" tIns="0" bIns="0" anchor="t">
            <a:noAutofit/>
          </a:bodyPr>
          <a:lstStyle/>
          <a:p>
            <a:pPr algn="l">
              <a:lnSpc>
                <a:spcPct val="108000"/>
              </a:lnSpc>
              <a:spcBef>
                <a:spcPts val="0"/>
              </a:spcBef>
              <a:spcAft>
                <a:spcPts val="0"/>
              </a:spcAft>
            </a:pPr>
            <a:r>
              <a:rPr sz="1800" b="1">
                <a:solidFill>
                  <a:srgbClr val="A6C9B8"/>
                </a:solidFill>
                <a:latin typeface="IBM Plex Sans"/>
              </a:rPr>
              <a:t>Cell ecosystems</a:t>
            </a:r>
          </a:p>
        </p:txBody>
      </p:sp>
      <p:sp>
        <p:nvSpPr>
          <p:cNvPr id="23" name="TextBox 22"/>
          <p:cNvSpPr txBox="1"/>
          <p:nvPr/>
        </p:nvSpPr>
        <p:spPr>
          <a:xfrm>
            <a:off x="2697480" y="4462271"/>
            <a:ext cx="4608576" cy="457200"/>
          </a:xfrm>
          <a:prstGeom prst="rect">
            <a:avLst/>
          </a:prstGeom>
          <a:noFill/>
        </p:spPr>
        <p:txBody>
          <a:bodyPr wrap="square" lIns="0" rIns="0" tIns="0" bIns="0" anchor="t">
            <a:noAutofit/>
          </a:bodyPr>
          <a:lstStyle/>
          <a:p>
            <a:pPr algn="l">
              <a:lnSpc>
                <a:spcPct val="108000"/>
              </a:lnSpc>
              <a:spcBef>
                <a:spcPts val="0"/>
              </a:spcBef>
              <a:spcAft>
                <a:spcPts val="0"/>
              </a:spcAft>
            </a:pPr>
            <a:r>
              <a:rPr sz="1700" b="1">
                <a:solidFill>
                  <a:srgbClr val="F1EFE7"/>
                </a:solidFill>
                <a:latin typeface="IBM Plex Sans"/>
              </a:rPr>
              <a:t>Cell encoders + lineage model + donor critics</a:t>
            </a:r>
          </a:p>
        </p:txBody>
      </p:sp>
      <p:sp>
        <p:nvSpPr>
          <p:cNvPr id="24" name="TextBox 23"/>
          <p:cNvSpPr txBox="1"/>
          <p:nvPr/>
        </p:nvSpPr>
        <p:spPr>
          <a:xfrm>
            <a:off x="7644383" y="4462271"/>
            <a:ext cx="3931920" cy="539496"/>
          </a:xfrm>
          <a:prstGeom prst="rect">
            <a:avLst/>
          </a:prstGeom>
          <a:noFill/>
        </p:spPr>
        <p:txBody>
          <a:bodyPr wrap="square" lIns="0" rIns="0" tIns="0" bIns="0" anchor="t">
            <a:noAutofit/>
          </a:bodyPr>
          <a:lstStyle/>
          <a:p>
            <a:pPr algn="l">
              <a:lnSpc>
                <a:spcPct val="108000"/>
              </a:lnSpc>
              <a:spcBef>
                <a:spcPts val="0"/>
              </a:spcBef>
              <a:spcAft>
                <a:spcPts val="0"/>
              </a:spcAft>
            </a:pPr>
            <a:r>
              <a:rPr sz="1500" b="0">
                <a:solidFill>
                  <a:srgbClr val="AFB9B2"/>
                </a:solidFill>
                <a:latin typeface="IBM Plex Sans"/>
              </a:rPr>
              <a:t>Represent populations; predict labels; compare donor views.</a:t>
            </a:r>
          </a:p>
        </p:txBody>
      </p:sp>
      <p:cxnSp>
        <p:nvCxnSpPr>
          <p:cNvPr id="25" name="Connector 24"/>
          <p:cNvCxnSpPr/>
          <p:nvPr/>
        </p:nvCxnSpPr>
        <p:spPr>
          <a:xfrm>
            <a:off x="594360" y="5010912"/>
            <a:ext cx="11009376"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26" name="TextBox 25"/>
          <p:cNvSpPr txBox="1"/>
          <p:nvPr/>
        </p:nvSpPr>
        <p:spPr>
          <a:xfrm>
            <a:off x="603504" y="5129784"/>
            <a:ext cx="1920240" cy="393192"/>
          </a:xfrm>
          <a:prstGeom prst="rect">
            <a:avLst/>
          </a:prstGeom>
          <a:noFill/>
        </p:spPr>
        <p:txBody>
          <a:bodyPr wrap="square" lIns="0" rIns="0" tIns="0" bIns="0" anchor="t">
            <a:noAutofit/>
          </a:bodyPr>
          <a:lstStyle/>
          <a:p>
            <a:pPr algn="l">
              <a:lnSpc>
                <a:spcPct val="108000"/>
              </a:lnSpc>
              <a:spcBef>
                <a:spcPts val="0"/>
              </a:spcBef>
              <a:spcAft>
                <a:spcPts val="0"/>
              </a:spcAft>
            </a:pPr>
            <a:r>
              <a:rPr sz="1800" b="1">
                <a:solidFill>
                  <a:srgbClr val="A6C9B8"/>
                </a:solidFill>
                <a:latin typeface="IBM Plex Sans"/>
              </a:rPr>
              <a:t>Branch monitor</a:t>
            </a:r>
          </a:p>
        </p:txBody>
      </p:sp>
      <p:sp>
        <p:nvSpPr>
          <p:cNvPr id="27" name="TextBox 26"/>
          <p:cNvSpPr txBox="1"/>
          <p:nvPr/>
        </p:nvSpPr>
        <p:spPr>
          <a:xfrm>
            <a:off x="2697480" y="5102352"/>
            <a:ext cx="4608576" cy="457200"/>
          </a:xfrm>
          <a:prstGeom prst="rect">
            <a:avLst/>
          </a:prstGeom>
          <a:noFill/>
        </p:spPr>
        <p:txBody>
          <a:bodyPr wrap="square" lIns="0" rIns="0" tIns="0" bIns="0" anchor="t">
            <a:noAutofit/>
          </a:bodyPr>
          <a:lstStyle/>
          <a:p>
            <a:pPr algn="l">
              <a:lnSpc>
                <a:spcPct val="108000"/>
              </a:lnSpc>
              <a:spcBef>
                <a:spcPts val="0"/>
              </a:spcBef>
              <a:spcAft>
                <a:spcPts val="0"/>
              </a:spcAft>
            </a:pPr>
            <a:r>
              <a:rPr sz="1700" b="1">
                <a:solidFill>
                  <a:srgbClr val="F1EFE7"/>
                </a:solidFill>
                <a:latin typeface="IBM Plex Sans"/>
              </a:rPr>
              <a:t>Per-prefix logistic models: implementation only</a:t>
            </a:r>
          </a:p>
        </p:txBody>
      </p:sp>
      <p:sp>
        <p:nvSpPr>
          <p:cNvPr id="28" name="TextBox 27"/>
          <p:cNvSpPr txBox="1"/>
          <p:nvPr/>
        </p:nvSpPr>
        <p:spPr>
          <a:xfrm>
            <a:off x="7644383" y="5102352"/>
            <a:ext cx="3931920" cy="539496"/>
          </a:xfrm>
          <a:prstGeom prst="rect">
            <a:avLst/>
          </a:prstGeom>
          <a:noFill/>
        </p:spPr>
        <p:txBody>
          <a:bodyPr wrap="square" lIns="0" rIns="0" tIns="0" bIns="0" anchor="t">
            <a:noAutofit/>
          </a:bodyPr>
          <a:lstStyle/>
          <a:p>
            <a:pPr algn="l">
              <a:lnSpc>
                <a:spcPct val="108000"/>
              </a:lnSpc>
              <a:spcBef>
                <a:spcPts val="0"/>
              </a:spcBef>
              <a:spcAft>
                <a:spcPts val="0"/>
              </a:spcAft>
            </a:pPr>
            <a:r>
              <a:rPr sz="1500" b="0">
                <a:solidFill>
                  <a:srgbClr val="AFB9B2"/>
                </a:solidFill>
                <a:latin typeface="IBM Plex Sans"/>
              </a:rPr>
              <a:t>Real-trajectory fitting and calibration still pending.</a:t>
            </a:r>
          </a:p>
        </p:txBody>
      </p:sp>
      <p:sp>
        <p:nvSpPr>
          <p:cNvPr id="29" name="TextBox 28"/>
          <p:cNvSpPr txBox="1"/>
          <p:nvPr/>
        </p:nvSpPr>
        <p:spPr>
          <a:xfrm>
            <a:off x="548640" y="5952744"/>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50" b="0">
                <a:solidFill>
                  <a:srgbClr val="AFB9B2"/>
                </a:solidFill>
                <a:latin typeface="IBM Plex Mono"/>
              </a:rPr>
              <a:t>Pretrained LLMs / embeddings are dependencies. Renderers and fixed statistical tests are not team-trained models.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APPENDIX / EXPRESSION REPRESENTATION AND EVIDENCE</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20</a:t>
            </a:r>
          </a:p>
        </p:txBody>
      </p:sp>
      <p:sp>
        <p:nvSpPr>
          <p:cNvPr id="8" name="TextBox 7"/>
          <p:cNvSpPr txBox="1"/>
          <p:nvPr/>
        </p:nvSpPr>
        <p:spPr>
          <a:xfrm>
            <a:off x="548640" y="987552"/>
            <a:ext cx="11018520" cy="1197864"/>
          </a:xfrm>
          <a:prstGeom prst="rect">
            <a:avLst/>
          </a:prstGeom>
          <a:noFill/>
        </p:spPr>
        <p:txBody>
          <a:bodyPr wrap="square" lIns="0" rIns="0" tIns="0" bIns="0" anchor="t">
            <a:noAutofit/>
          </a:bodyPr>
          <a:lstStyle/>
          <a:p>
            <a:pPr algn="l">
              <a:lnSpc>
                <a:spcPct val="108000"/>
              </a:lnSpc>
              <a:spcBef>
                <a:spcPts val="0"/>
              </a:spcBef>
              <a:spcAft>
                <a:spcPts val="0"/>
              </a:spcAft>
            </a:pPr>
            <a:r>
              <a:rPr sz="3900" b="1">
                <a:solidFill>
                  <a:srgbClr val="F1EFE7"/>
                </a:solidFill>
                <a:latin typeface="IBM Plex Sans"/>
              </a:rPr>
              <a:t>A measured training curve.</a:t>
            </a:r>
          </a:p>
          <a:p>
            <a:pPr algn="l">
              <a:lnSpc>
                <a:spcPct val="108000"/>
              </a:lnSpc>
              <a:spcBef>
                <a:spcPts val="0"/>
              </a:spcBef>
              <a:spcAft>
                <a:spcPts val="0"/>
              </a:spcAft>
            </a:pPr>
            <a:r>
              <a:rPr sz="3900" b="1">
                <a:solidFill>
                  <a:srgbClr val="F1EFE7"/>
                </a:solidFill>
                <a:latin typeface="IBM Plex Sans"/>
              </a:rPr>
              <a:t>A separate evidence trajectory.</a:t>
            </a:r>
          </a:p>
        </p:txBody>
      </p:sp>
      <p:pic>
        <p:nvPicPr>
          <p:cNvPr id="9" name="Picture 8" descr="expression.png"/>
          <p:cNvPicPr>
            <a:picLocks noChangeAspect="1"/>
          </p:cNvPicPr>
          <p:nvPr/>
        </p:nvPicPr>
        <p:blipFill>
          <a:blip r:embed="rId2"/>
          <a:stretch>
            <a:fillRect/>
          </a:stretch>
        </p:blipFill>
        <p:spPr>
          <a:xfrm>
            <a:off x="1204467" y="2313432"/>
            <a:ext cx="6030976" cy="3392424"/>
          </a:xfrm>
          <a:prstGeom prst="rect">
            <a:avLst/>
          </a:prstGeom>
        </p:spPr>
      </p:pic>
      <p:sp>
        <p:nvSpPr>
          <p:cNvPr id="10" name="TextBox 9"/>
          <p:cNvSpPr txBox="1"/>
          <p:nvPr/>
        </p:nvSpPr>
        <p:spPr>
          <a:xfrm>
            <a:off x="8193024" y="2514600"/>
            <a:ext cx="3392424" cy="530352"/>
          </a:xfrm>
          <a:prstGeom prst="rect">
            <a:avLst/>
          </a:prstGeom>
          <a:noFill/>
        </p:spPr>
        <p:txBody>
          <a:bodyPr wrap="square" lIns="0" rIns="0" tIns="0" bIns="0" anchor="t">
            <a:noAutofit/>
          </a:bodyPr>
          <a:lstStyle/>
          <a:p>
            <a:pPr algn="l">
              <a:lnSpc>
                <a:spcPct val="108000"/>
              </a:lnSpc>
              <a:spcBef>
                <a:spcPts val="0"/>
              </a:spcBef>
              <a:spcAft>
                <a:spcPts val="0"/>
              </a:spcAft>
            </a:pPr>
            <a:r>
              <a:rPr sz="2500" b="1">
                <a:solidFill>
                  <a:srgbClr val="A6C9B8"/>
                </a:solidFill>
                <a:latin typeface="IBM Plex Sans"/>
              </a:rPr>
              <a:t>374 day-zero donors</a:t>
            </a:r>
          </a:p>
        </p:txBody>
      </p:sp>
      <p:sp>
        <p:nvSpPr>
          <p:cNvPr id="11" name="TextBox 10"/>
          <p:cNvSpPr txBox="1"/>
          <p:nvPr/>
        </p:nvSpPr>
        <p:spPr>
          <a:xfrm>
            <a:off x="8211312" y="3291840"/>
            <a:ext cx="3392424" cy="1426464"/>
          </a:xfrm>
          <a:prstGeom prst="rect">
            <a:avLst/>
          </a:prstGeom>
          <a:noFill/>
        </p:spPr>
        <p:txBody>
          <a:bodyPr wrap="square" lIns="0" rIns="0" tIns="0" bIns="0" anchor="t">
            <a:noAutofit/>
          </a:bodyPr>
          <a:lstStyle/>
          <a:p>
            <a:pPr algn="l">
              <a:lnSpc>
                <a:spcPct val="108000"/>
              </a:lnSpc>
              <a:spcBef>
                <a:spcPts val="0"/>
              </a:spcBef>
              <a:spcAft>
                <a:spcPts val="0"/>
              </a:spcAft>
            </a:pPr>
            <a:r>
              <a:rPr sz="1800" b="0">
                <a:solidFill>
                  <a:srgbClr val="F1EFE7"/>
                </a:solidFill>
                <a:latin typeface="IBM Plex Sans"/>
              </a:rPr>
              <a:t>TRAIN 149 / DEV 74 / EVAL 151</a:t>
            </a:r>
          </a:p>
          <a:p>
            <a:pPr algn="l">
              <a:lnSpc>
                <a:spcPct val="108000"/>
              </a:lnSpc>
              <a:spcBef>
                <a:spcPts val="0"/>
              </a:spcBef>
              <a:spcAft>
                <a:spcPts val="0"/>
              </a:spcAft>
            </a:pPr>
            <a:r>
              <a:rPr sz="1800" b="0">
                <a:solidFill>
                  <a:srgbClr val="F1EFE7"/>
                </a:solidFill>
                <a:latin typeface="IBM Plex Sans"/>
              </a:rPr>
              <a:t>19,000→512→128 encoder</a:t>
            </a:r>
          </a:p>
          <a:p>
            <a:pPr algn="l">
              <a:lnSpc>
                <a:spcPct val="108000"/>
              </a:lnSpc>
              <a:spcBef>
                <a:spcPts val="0"/>
              </a:spcBef>
              <a:spcAft>
                <a:spcPts val="0"/>
              </a:spcAft>
            </a:pPr>
            <a:r>
              <a:rPr sz="1800" b="0">
                <a:solidFill>
                  <a:srgbClr val="F1EFE7"/>
                </a:solidFill>
                <a:latin typeface="IBM Plex Sans"/>
              </a:rPr>
              <a:t>15% masking · 100 epochs</a:t>
            </a:r>
          </a:p>
          <a:p>
            <a:pPr algn="l">
              <a:lnSpc>
                <a:spcPct val="108000"/>
              </a:lnSpc>
              <a:spcBef>
                <a:spcPts val="0"/>
              </a:spcBef>
              <a:spcAft>
                <a:spcPts val="0"/>
              </a:spcAft>
            </a:pPr>
            <a:r>
              <a:rPr sz="1800" b="0">
                <a:solidFill>
                  <a:srgbClr val="F1EFE7"/>
                </a:solidFill>
                <a:latin typeface="IBM Plex Sans"/>
              </a:rPr>
              <a:t>Masked reconstruction objective</a:t>
            </a:r>
          </a:p>
        </p:txBody>
      </p:sp>
      <p:sp>
        <p:nvSpPr>
          <p:cNvPr id="12" name="TextBox 11"/>
          <p:cNvSpPr txBox="1"/>
          <p:nvPr/>
        </p:nvSpPr>
        <p:spPr>
          <a:xfrm>
            <a:off x="8211312" y="4882896"/>
            <a:ext cx="3383280" cy="905256"/>
          </a:xfrm>
          <a:prstGeom prst="rect">
            <a:avLst/>
          </a:prstGeom>
          <a:noFill/>
        </p:spPr>
        <p:txBody>
          <a:bodyPr wrap="square" lIns="0" rIns="0" tIns="0" bIns="0" anchor="t">
            <a:noAutofit/>
          </a:bodyPr>
          <a:lstStyle/>
          <a:p>
            <a:pPr algn="l">
              <a:lnSpc>
                <a:spcPct val="108000"/>
              </a:lnSpc>
              <a:spcBef>
                <a:spcPts val="0"/>
              </a:spcBef>
              <a:spcAft>
                <a:spcPts val="0"/>
              </a:spcAft>
            </a:pPr>
            <a:r>
              <a:rPr sz="2000" b="1">
                <a:solidFill>
                  <a:srgbClr val="DEB577"/>
                </a:solidFill>
                <a:latin typeface="IBM Plex Sans"/>
              </a:rPr>
              <a:t>Single-gene baseline has</a:t>
            </a:r>
          </a:p>
          <a:p>
            <a:pPr algn="l">
              <a:lnSpc>
                <a:spcPct val="108000"/>
              </a:lnSpc>
              <a:spcBef>
                <a:spcPts val="0"/>
              </a:spcBef>
              <a:spcAft>
                <a:spcPts val="0"/>
              </a:spcAft>
            </a:pPr>
            <a:r>
              <a:rPr sz="2000" b="1">
                <a:solidFill>
                  <a:srgbClr val="DEB577"/>
                </a:solidFill>
                <a:latin typeface="IBM Plex Sans"/>
              </a:rPr>
              <a:t>greater final evidence</a:t>
            </a:r>
          </a:p>
          <a:p>
            <a:pPr algn="l">
              <a:lnSpc>
                <a:spcPct val="108000"/>
              </a:lnSpc>
              <a:spcBef>
                <a:spcPts val="0"/>
              </a:spcBef>
              <a:spcAft>
                <a:spcPts val="0"/>
              </a:spcAft>
            </a:pPr>
            <a:r>
              <a:rPr sz="2000" b="1">
                <a:solidFill>
                  <a:srgbClr val="DEB577"/>
                </a:solidFill>
                <a:latin typeface="IBM Plex Sans"/>
              </a:rPr>
              <a:t>in the primary run.</a:t>
            </a:r>
          </a:p>
        </p:txBody>
      </p:sp>
      <p:sp>
        <p:nvSpPr>
          <p:cNvPr id="13" name="TextBox 12"/>
          <p:cNvSpPr txBox="1"/>
          <p:nvPr/>
        </p:nvSpPr>
        <p:spPr>
          <a:xfrm>
            <a:off x="548640" y="5952744"/>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50" b="0">
                <a:solidFill>
                  <a:srgbClr val="AFB9B2"/>
                </a:solidFill>
                <a:latin typeface="IBM Plex Mono"/>
              </a:rPr>
              <a:t>GSE212041 · Observational COVID cohort; not PDAC. Training loss only; no epoch-level validation history retained.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APPENDIX / PROTEIN MODEL SELECTION</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21</a:t>
            </a:r>
          </a:p>
        </p:txBody>
      </p:sp>
      <p:sp>
        <p:nvSpPr>
          <p:cNvPr id="8" name="TextBox 7"/>
          <p:cNvSpPr txBox="1"/>
          <p:nvPr/>
        </p:nvSpPr>
        <p:spPr>
          <a:xfrm>
            <a:off x="548640" y="987552"/>
            <a:ext cx="11018520" cy="1197864"/>
          </a:xfrm>
          <a:prstGeom prst="rect">
            <a:avLst/>
          </a:prstGeom>
          <a:noFill/>
        </p:spPr>
        <p:txBody>
          <a:bodyPr wrap="square" lIns="0" rIns="0" tIns="0" bIns="0" anchor="t">
            <a:noAutofit/>
          </a:bodyPr>
          <a:lstStyle/>
          <a:p>
            <a:pPr algn="l">
              <a:lnSpc>
                <a:spcPct val="108000"/>
              </a:lnSpc>
              <a:spcBef>
                <a:spcPts val="0"/>
              </a:spcBef>
              <a:spcAft>
                <a:spcPts val="0"/>
              </a:spcAft>
            </a:pPr>
            <a:r>
              <a:rPr sz="3900" b="1">
                <a:solidFill>
                  <a:srgbClr val="F1EFE7"/>
                </a:solidFill>
                <a:latin typeface="IBM Plex Sans"/>
              </a:rPr>
              <a:t>The protein baseline won</a:t>
            </a:r>
          </a:p>
          <a:p>
            <a:pPr algn="l">
              <a:lnSpc>
                <a:spcPct val="108000"/>
              </a:lnSpc>
              <a:spcBef>
                <a:spcPts val="0"/>
              </a:spcBef>
              <a:spcAft>
                <a:spcPts val="0"/>
              </a:spcAft>
            </a:pPr>
            <a:r>
              <a:rPr sz="3900" b="1">
                <a:solidFill>
                  <a:srgbClr val="F1EFE7"/>
                </a:solidFill>
                <a:latin typeface="IBM Plex Sans"/>
              </a:rPr>
              <a:t>the held-out reconstruction test.</a:t>
            </a:r>
          </a:p>
        </p:txBody>
      </p:sp>
      <p:pic>
        <p:nvPicPr>
          <p:cNvPr id="9" name="Picture 8" descr="protein.png"/>
          <p:cNvPicPr>
            <a:picLocks noChangeAspect="1"/>
          </p:cNvPicPr>
          <p:nvPr/>
        </p:nvPicPr>
        <p:blipFill>
          <a:blip r:embed="rId2"/>
          <a:stretch>
            <a:fillRect/>
          </a:stretch>
        </p:blipFill>
        <p:spPr>
          <a:xfrm>
            <a:off x="986027" y="2340864"/>
            <a:ext cx="5900928" cy="3319272"/>
          </a:xfrm>
          <a:prstGeom prst="rect">
            <a:avLst/>
          </a:prstGeom>
        </p:spPr>
      </p:pic>
      <p:sp>
        <p:nvSpPr>
          <p:cNvPr id="10" name="TextBox 9"/>
          <p:cNvSpPr txBox="1"/>
          <p:nvPr/>
        </p:nvSpPr>
        <p:spPr>
          <a:xfrm>
            <a:off x="7662672" y="2551176"/>
            <a:ext cx="3968496" cy="557784"/>
          </a:xfrm>
          <a:prstGeom prst="rect">
            <a:avLst/>
          </a:prstGeom>
          <a:noFill/>
        </p:spPr>
        <p:txBody>
          <a:bodyPr wrap="square" lIns="0" rIns="0" tIns="0" bIns="0" anchor="t">
            <a:noAutofit/>
          </a:bodyPr>
          <a:lstStyle/>
          <a:p>
            <a:pPr algn="l">
              <a:lnSpc>
                <a:spcPct val="108000"/>
              </a:lnSpc>
              <a:spcBef>
                <a:spcPts val="0"/>
              </a:spcBef>
              <a:spcAft>
                <a:spcPts val="0"/>
              </a:spcAft>
            </a:pPr>
            <a:r>
              <a:rPr sz="2500" b="1">
                <a:solidFill>
                  <a:srgbClr val="A6C9B8"/>
                </a:solidFill>
                <a:latin typeface="IBM Plex Sans"/>
              </a:rPr>
              <a:t>219 train / 110 validation</a:t>
            </a:r>
          </a:p>
        </p:txBody>
      </p:sp>
      <p:sp>
        <p:nvSpPr>
          <p:cNvPr id="11" name="TextBox 10"/>
          <p:cNvSpPr txBox="1"/>
          <p:nvPr/>
        </p:nvSpPr>
        <p:spPr>
          <a:xfrm>
            <a:off x="7690104" y="3310128"/>
            <a:ext cx="3822191" cy="1097280"/>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CPTAC: breast + colon train</a:t>
            </a:r>
          </a:p>
          <a:p>
            <a:pPr algn="l">
              <a:lnSpc>
                <a:spcPct val="108000"/>
              </a:lnSpc>
              <a:spcBef>
                <a:spcPts val="0"/>
              </a:spcBef>
              <a:spcAft>
                <a:spcPts val="0"/>
              </a:spcAft>
            </a:pPr>
            <a:r>
              <a:rPr sz="1900" b="0">
                <a:solidFill>
                  <a:srgbClr val="F1EFE7"/>
                </a:solidFill>
                <a:latin typeface="IBM Plex Sans"/>
              </a:rPr>
              <a:t>Lung cohort validates</a:t>
            </a:r>
          </a:p>
          <a:p>
            <a:pPr algn="l">
              <a:lnSpc>
                <a:spcPct val="108000"/>
              </a:lnSpc>
              <a:spcBef>
                <a:spcPts val="0"/>
              </a:spcBef>
              <a:spcAft>
                <a:spcPts val="0"/>
              </a:spcAft>
            </a:pPr>
            <a:r>
              <a:rPr sz="1900" b="0">
                <a:solidFill>
                  <a:srgbClr val="F1EFE7"/>
                </a:solidFill>
                <a:latin typeface="IBM Plex Sans"/>
              </a:rPr>
              <a:t>105 pancreatic tumors: development set</a:t>
            </a:r>
          </a:p>
        </p:txBody>
      </p:sp>
      <p:sp>
        <p:nvSpPr>
          <p:cNvPr id="12" name="TextBox 11"/>
          <p:cNvSpPr txBox="1"/>
          <p:nvPr/>
        </p:nvSpPr>
        <p:spPr>
          <a:xfrm>
            <a:off x="7699248" y="4645152"/>
            <a:ext cx="3794760" cy="1033271"/>
          </a:xfrm>
          <a:prstGeom prst="rect">
            <a:avLst/>
          </a:prstGeom>
          <a:noFill/>
        </p:spPr>
        <p:txBody>
          <a:bodyPr wrap="square" lIns="0" rIns="0" tIns="0" bIns="0" anchor="t">
            <a:noAutofit/>
          </a:bodyPr>
          <a:lstStyle/>
          <a:p>
            <a:pPr algn="l">
              <a:lnSpc>
                <a:spcPct val="108000"/>
              </a:lnSpc>
              <a:spcBef>
                <a:spcPts val="0"/>
              </a:spcBef>
              <a:spcAft>
                <a:spcPts val="0"/>
              </a:spcAft>
            </a:pPr>
            <a:r>
              <a:rPr sz="1800" b="0">
                <a:solidFill>
                  <a:srgbClr val="AFB9B2"/>
                </a:solidFill>
                <a:latin typeface="IBM Plex Sans"/>
              </a:rPr>
              <a:t>Denoiser: 4000→256→32→2000</a:t>
            </a:r>
          </a:p>
          <a:p>
            <a:pPr algn="l">
              <a:lnSpc>
                <a:spcPct val="108000"/>
              </a:lnSpc>
              <a:spcBef>
                <a:spcPts val="0"/>
              </a:spcBef>
              <a:spcAft>
                <a:spcPts val="0"/>
              </a:spcAft>
            </a:pPr>
            <a:r>
              <a:rPr sz="1800" b="0">
                <a:solidFill>
                  <a:srgbClr val="AFB9B2"/>
                </a:solidFill>
                <a:latin typeface="IBM Plex Sans"/>
              </a:rPr>
              <a:t>20% corruption · 50 epochs</a:t>
            </a:r>
          </a:p>
          <a:p>
            <a:pPr algn="l">
              <a:lnSpc>
                <a:spcPct val="108000"/>
              </a:lnSpc>
              <a:spcBef>
                <a:spcPts val="0"/>
              </a:spcBef>
              <a:spcAft>
                <a:spcPts val="0"/>
              </a:spcAft>
            </a:pPr>
            <a:r>
              <a:rPr sz="1800" b="0">
                <a:solidFill>
                  <a:srgbClr val="AFB9B2"/>
                </a:solidFill>
                <a:latin typeface="IBM Plex Sans"/>
              </a:rPr>
              <a:t>Hidden-value reconstruction</a:t>
            </a:r>
          </a:p>
        </p:txBody>
      </p:sp>
      <p:sp>
        <p:nvSpPr>
          <p:cNvPr id="13" name="TextBox 12"/>
          <p:cNvSpPr txBox="1"/>
          <p:nvPr/>
        </p:nvSpPr>
        <p:spPr>
          <a:xfrm>
            <a:off x="548640" y="5952744"/>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50" b="0">
                <a:solidFill>
                  <a:srgbClr val="AFB9B2"/>
                </a:solidFill>
                <a:latin typeface="IBM Plex Mono"/>
              </a:rPr>
              <a:t>protein-s10-20260906-v2 · Standardized hidden-entry MSE, lower is better. Epoch loss histories were not retained.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APPENDIX / DRUG RESPONSE</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22</a:t>
            </a:r>
          </a:p>
        </p:txBody>
      </p:sp>
      <p:sp>
        <p:nvSpPr>
          <p:cNvPr id="8" name="TextBox 7"/>
          <p:cNvSpPr txBox="1"/>
          <p:nvPr/>
        </p:nvSpPr>
        <p:spPr>
          <a:xfrm>
            <a:off x="548640" y="987552"/>
            <a:ext cx="11018520" cy="1197864"/>
          </a:xfrm>
          <a:prstGeom prst="rect">
            <a:avLst/>
          </a:prstGeom>
          <a:noFill/>
        </p:spPr>
        <p:txBody>
          <a:bodyPr wrap="square" lIns="0" rIns="0" tIns="0" bIns="0" anchor="t">
            <a:noAutofit/>
          </a:bodyPr>
          <a:lstStyle/>
          <a:p>
            <a:pPr algn="l">
              <a:lnSpc>
                <a:spcPct val="108000"/>
              </a:lnSpc>
              <a:spcBef>
                <a:spcPts val="0"/>
              </a:spcBef>
              <a:spcAft>
                <a:spcPts val="0"/>
              </a:spcAft>
            </a:pPr>
            <a:r>
              <a:rPr sz="3900" b="1">
                <a:solidFill>
                  <a:srgbClr val="F1EFE7"/>
                </a:solidFill>
                <a:latin typeface="IBM Plex Sans"/>
              </a:rPr>
              <a:t>Two real datasets.</a:t>
            </a:r>
          </a:p>
          <a:p>
            <a:pPr algn="l">
              <a:lnSpc>
                <a:spcPct val="108000"/>
              </a:lnSpc>
              <a:spcBef>
                <a:spcPts val="0"/>
              </a:spcBef>
              <a:spcAft>
                <a:spcPts val="0"/>
              </a:spcAft>
            </a:pPr>
            <a:r>
              <a:rPr sz="3900" b="1">
                <a:solidFill>
                  <a:srgbClr val="F1EFE7"/>
                </a:solidFill>
                <a:latin typeface="IBM Plex Sans"/>
              </a:rPr>
              <a:t>Two limits on the claim.</a:t>
            </a:r>
          </a:p>
        </p:txBody>
      </p:sp>
      <p:pic>
        <p:nvPicPr>
          <p:cNvPr id="9" name="Picture 8" descr="pharmacotype.png"/>
          <p:cNvPicPr>
            <a:picLocks noChangeAspect="1"/>
          </p:cNvPicPr>
          <p:nvPr/>
        </p:nvPicPr>
        <p:blipFill>
          <a:blip r:embed="rId2"/>
          <a:stretch>
            <a:fillRect/>
          </a:stretch>
        </p:blipFill>
        <p:spPr>
          <a:xfrm>
            <a:off x="566928" y="2395727"/>
            <a:ext cx="5559552" cy="3127248"/>
          </a:xfrm>
          <a:prstGeom prst="rect">
            <a:avLst/>
          </a:prstGeom>
        </p:spPr>
      </p:pic>
      <p:pic>
        <p:nvPicPr>
          <p:cNvPr id="10" name="Picture 9" descr="pdo.png"/>
          <p:cNvPicPr>
            <a:picLocks noChangeAspect="1"/>
          </p:cNvPicPr>
          <p:nvPr/>
        </p:nvPicPr>
        <p:blipFill>
          <a:blip r:embed="rId3"/>
          <a:stretch>
            <a:fillRect/>
          </a:stretch>
        </p:blipFill>
        <p:spPr>
          <a:xfrm>
            <a:off x="6236208" y="2457450"/>
            <a:ext cx="5340096" cy="3003804"/>
          </a:xfrm>
          <a:prstGeom prst="rect">
            <a:avLst/>
          </a:prstGeom>
        </p:spPr>
      </p:pic>
      <p:sp>
        <p:nvSpPr>
          <p:cNvPr id="11" name="TextBox 10"/>
          <p:cNvSpPr txBox="1"/>
          <p:nvPr/>
        </p:nvSpPr>
        <p:spPr>
          <a:xfrm>
            <a:off x="548640" y="5952744"/>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50" b="0">
                <a:solidFill>
                  <a:srgbClr val="AFB9B2"/>
                </a:solidFill>
                <a:latin typeface="IBM Plex Mono"/>
              </a:rPr>
              <a:t>PRISM: 245/40/71 groups · PDO: 21/5/12 donors. Lower RMSE is better. These endpoints and scales differ.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0">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APPENDIX / INITIAL PENG–LIN ECOSYSTEM PILOT</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23</a:t>
            </a:r>
          </a:p>
        </p:txBody>
      </p:sp>
      <p:sp>
        <p:nvSpPr>
          <p:cNvPr id="8" name="TextBox 7"/>
          <p:cNvSpPr txBox="1"/>
          <p:nvPr/>
        </p:nvSpPr>
        <p:spPr>
          <a:xfrm>
            <a:off x="548640" y="987552"/>
            <a:ext cx="11018520" cy="1197864"/>
          </a:xfrm>
          <a:prstGeom prst="rect">
            <a:avLst/>
          </a:prstGeom>
          <a:noFill/>
        </p:spPr>
        <p:txBody>
          <a:bodyPr wrap="square" lIns="0" rIns="0" tIns="0" bIns="0" anchor="t">
            <a:noAutofit/>
          </a:bodyPr>
          <a:lstStyle/>
          <a:p>
            <a:pPr algn="l">
              <a:lnSpc>
                <a:spcPct val="108000"/>
              </a:lnSpc>
              <a:spcBef>
                <a:spcPts val="0"/>
              </a:spcBef>
              <a:spcAft>
                <a:spcPts val="0"/>
              </a:spcAft>
            </a:pPr>
            <a:r>
              <a:rPr sz="3900" b="1">
                <a:solidFill>
                  <a:srgbClr val="F1EFE7"/>
                </a:solidFill>
                <a:latin typeface="IBM Plex Sans"/>
              </a:rPr>
              <a:t>Represent the cells.</a:t>
            </a:r>
          </a:p>
          <a:p>
            <a:pPr algn="l">
              <a:lnSpc>
                <a:spcPct val="108000"/>
              </a:lnSpc>
              <a:spcBef>
                <a:spcPts val="0"/>
              </a:spcBef>
              <a:spcAft>
                <a:spcPts val="0"/>
              </a:spcAft>
            </a:pPr>
            <a:r>
              <a:rPr sz="3900" b="1">
                <a:solidFill>
                  <a:srgbClr val="F1EFE7"/>
                </a:solidFill>
                <a:latin typeface="IBM Plex Sans"/>
              </a:rPr>
              <a:t>Keep the donor as the unit of evidence.</a:t>
            </a:r>
          </a:p>
        </p:txBody>
      </p:sp>
      <p:pic>
        <p:nvPicPr>
          <p:cNvPr id="9" name="Picture 8" descr="ecosystem.png"/>
          <p:cNvPicPr>
            <a:picLocks noChangeAspect="1"/>
          </p:cNvPicPr>
          <p:nvPr/>
        </p:nvPicPr>
        <p:blipFill>
          <a:blip r:embed="rId2"/>
          <a:stretch>
            <a:fillRect/>
          </a:stretch>
        </p:blipFill>
        <p:spPr>
          <a:xfrm>
            <a:off x="1193292" y="2286000"/>
            <a:ext cx="6144767" cy="3456431"/>
          </a:xfrm>
          <a:prstGeom prst="rect">
            <a:avLst/>
          </a:prstGeom>
        </p:spPr>
      </p:pic>
      <p:sp>
        <p:nvSpPr>
          <p:cNvPr id="10" name="TextBox 9"/>
          <p:cNvSpPr txBox="1"/>
          <p:nvPr/>
        </p:nvSpPr>
        <p:spPr>
          <a:xfrm>
            <a:off x="8266175" y="2514600"/>
            <a:ext cx="3374136" cy="502920"/>
          </a:xfrm>
          <a:prstGeom prst="rect">
            <a:avLst/>
          </a:prstGeom>
          <a:noFill/>
        </p:spPr>
        <p:txBody>
          <a:bodyPr wrap="square" lIns="0" rIns="0" tIns="0" bIns="0" anchor="t">
            <a:noAutofit/>
          </a:bodyPr>
          <a:lstStyle/>
          <a:p>
            <a:pPr algn="l">
              <a:lnSpc>
                <a:spcPct val="108000"/>
              </a:lnSpc>
              <a:spcBef>
                <a:spcPts val="0"/>
              </a:spcBef>
              <a:spcAft>
                <a:spcPts val="0"/>
              </a:spcAft>
            </a:pPr>
            <a:r>
              <a:rPr sz="2500" b="1">
                <a:solidFill>
                  <a:srgbClr val="A6C9B8"/>
                </a:solidFill>
                <a:latin typeface="IBM Plex Sans"/>
              </a:rPr>
              <a:t>Peng → Lin transfer</a:t>
            </a:r>
          </a:p>
        </p:txBody>
      </p:sp>
      <p:sp>
        <p:nvSpPr>
          <p:cNvPr id="11" name="TextBox 10"/>
          <p:cNvSpPr txBox="1"/>
          <p:nvPr/>
        </p:nvSpPr>
        <p:spPr>
          <a:xfrm>
            <a:off x="8284464" y="3300984"/>
            <a:ext cx="3346704" cy="1316736"/>
          </a:xfrm>
          <a:prstGeom prst="rect">
            <a:avLst/>
          </a:prstGeom>
          <a:noFill/>
        </p:spPr>
        <p:txBody>
          <a:bodyPr wrap="square" lIns="0" rIns="0" tIns="0" bIns="0" anchor="t">
            <a:noAutofit/>
          </a:bodyPr>
          <a:lstStyle/>
          <a:p>
            <a:pPr algn="l">
              <a:lnSpc>
                <a:spcPct val="108000"/>
              </a:lnSpc>
              <a:spcBef>
                <a:spcPts val="0"/>
              </a:spcBef>
              <a:spcAft>
                <a:spcPts val="0"/>
              </a:spcAft>
            </a:pPr>
            <a:r>
              <a:rPr sz="1800" b="0">
                <a:solidFill>
                  <a:srgbClr val="F1EFE7"/>
                </a:solidFill>
                <a:latin typeface="IBM Plex Sans"/>
              </a:rPr>
              <a:t>16 training donors</a:t>
            </a:r>
          </a:p>
          <a:p>
            <a:pPr algn="l">
              <a:lnSpc>
                <a:spcPct val="108000"/>
              </a:lnSpc>
              <a:spcBef>
                <a:spcPts val="0"/>
              </a:spcBef>
              <a:spcAft>
                <a:spcPts val="0"/>
              </a:spcAft>
            </a:pPr>
            <a:r>
              <a:rPr sz="1800" b="0">
                <a:solidFill>
                  <a:srgbClr val="F1EFE7"/>
                </a:solidFill>
                <a:latin typeface="IBM Plex Sans"/>
              </a:rPr>
              <a:t>8 held-out donor partition</a:t>
            </a:r>
          </a:p>
          <a:p>
            <a:pPr algn="l">
              <a:lnSpc>
                <a:spcPct val="108000"/>
              </a:lnSpc>
              <a:spcBef>
                <a:spcPts val="0"/>
              </a:spcBef>
              <a:spcAft>
                <a:spcPts val="0"/>
              </a:spcAft>
            </a:pPr>
            <a:r>
              <a:rPr sz="1800" b="0">
                <a:solidFill>
                  <a:srgbClr val="F1EFE7"/>
                </a:solidFill>
                <a:latin typeface="IBM Plex Sans"/>
              </a:rPr>
              <a:t>32 cells per eligible donor</a:t>
            </a:r>
          </a:p>
          <a:p>
            <a:pPr algn="l">
              <a:lnSpc>
                <a:spcPct val="108000"/>
              </a:lnSpc>
              <a:spcBef>
                <a:spcPts val="0"/>
              </a:spcBef>
              <a:spcAft>
                <a:spcPts val="0"/>
              </a:spcAft>
            </a:pPr>
            <a:r>
              <a:rPr sz="1800" b="0">
                <a:solidFill>
                  <a:srgbClr val="F1EFE7"/>
                </a:solidFill>
                <a:latin typeface="IBM Plex Sans"/>
              </a:rPr>
              <a:t>2,000 genes per compartment</a:t>
            </a:r>
          </a:p>
        </p:txBody>
      </p:sp>
      <p:sp>
        <p:nvSpPr>
          <p:cNvPr id="12" name="TextBox 11"/>
          <p:cNvSpPr txBox="1"/>
          <p:nvPr/>
        </p:nvSpPr>
        <p:spPr>
          <a:xfrm>
            <a:off x="8293608" y="4946904"/>
            <a:ext cx="3355848" cy="813816"/>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DEB577"/>
                </a:solidFill>
                <a:latin typeface="IBM Plex Sans"/>
              </a:rPr>
              <a:t>Cell PCA retained.</a:t>
            </a:r>
          </a:p>
          <a:p>
            <a:pPr algn="l">
              <a:lnSpc>
                <a:spcPct val="108000"/>
              </a:lnSpc>
              <a:spcBef>
                <a:spcPts val="0"/>
              </a:spcBef>
              <a:spcAft>
                <a:spcPts val="0"/>
              </a:spcAft>
            </a:pPr>
            <a:r>
              <a:rPr sz="2200" b="1">
                <a:solidFill>
                  <a:srgbClr val="DEB577"/>
                </a:solidFill>
                <a:latin typeface="IBM Plex Sans"/>
              </a:rPr>
              <a:t>Neural gain unproven.</a:t>
            </a:r>
          </a:p>
        </p:txBody>
      </p:sp>
      <p:sp>
        <p:nvSpPr>
          <p:cNvPr id="13" name="TextBox 12"/>
          <p:cNvSpPr txBox="1"/>
          <p:nvPr/>
        </p:nvSpPr>
        <p:spPr>
          <a:xfrm>
            <a:off x="548640" y="5952744"/>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50" b="0">
                <a:solidFill>
                  <a:srgbClr val="AFB9B2"/>
                </a:solidFill>
                <a:latin typeface="IBM Plex Mono"/>
              </a:rPr>
              <a:t>INITIAL PILOT · 20 NB training epochs + final held-out errors. Expanded train/validation curves: slide 29.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0">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APPENDIX / TWO DIFFERENT EVIDENCE QUESTIONS</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24</a:t>
            </a:r>
          </a:p>
        </p:txBody>
      </p:sp>
      <p:sp>
        <p:nvSpPr>
          <p:cNvPr id="8" name="TextBox 7"/>
          <p:cNvSpPr txBox="1"/>
          <p:nvPr/>
        </p:nvSpPr>
        <p:spPr>
          <a:xfrm>
            <a:off x="548640" y="987552"/>
            <a:ext cx="11018520" cy="1197864"/>
          </a:xfrm>
          <a:prstGeom prst="rect">
            <a:avLst/>
          </a:prstGeom>
          <a:noFill/>
        </p:spPr>
        <p:txBody>
          <a:bodyPr wrap="square" lIns="0" rIns="0" tIns="0" bIns="0" anchor="t">
            <a:noAutofit/>
          </a:bodyPr>
          <a:lstStyle/>
          <a:p>
            <a:pPr algn="l">
              <a:lnSpc>
                <a:spcPct val="108000"/>
              </a:lnSpc>
              <a:spcBef>
                <a:spcPts val="0"/>
              </a:spcBef>
              <a:spcAft>
                <a:spcPts val="0"/>
              </a:spcAft>
            </a:pPr>
            <a:r>
              <a:rPr sz="3900" b="1">
                <a:solidFill>
                  <a:srgbClr val="F1EFE7"/>
                </a:solidFill>
                <a:latin typeface="IBM Plex Sans"/>
              </a:rPr>
              <a:t>Internal e-value tools and branch monitoring</a:t>
            </a:r>
          </a:p>
          <a:p>
            <a:pPr algn="l">
              <a:lnSpc>
                <a:spcPct val="108000"/>
              </a:lnSpc>
              <a:spcBef>
                <a:spcPts val="0"/>
              </a:spcBef>
              <a:spcAft>
                <a:spcPts val="0"/>
              </a:spcAft>
            </a:pPr>
            <a:r>
              <a:rPr sz="3900" b="1">
                <a:solidFill>
                  <a:srgbClr val="F1EFE7"/>
                </a:solidFill>
                <a:latin typeface="IBM Plex Sans"/>
              </a:rPr>
              <a:t>answer different questions.</a:t>
            </a:r>
          </a:p>
        </p:txBody>
      </p:sp>
      <p:cxnSp>
        <p:nvCxnSpPr>
          <p:cNvPr id="9" name="Connector 8"/>
          <p:cNvCxnSpPr/>
          <p:nvPr/>
        </p:nvCxnSpPr>
        <p:spPr>
          <a:xfrm>
            <a:off x="548640" y="2487168"/>
            <a:ext cx="1106424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548640" y="2624328"/>
            <a:ext cx="3429914" cy="649224"/>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A6C9B8"/>
                </a:solidFill>
                <a:latin typeface="IBM Plex Sans"/>
              </a:rPr>
              <a:t>Biological tools</a:t>
            </a:r>
          </a:p>
        </p:txBody>
      </p:sp>
      <p:sp>
        <p:nvSpPr>
          <p:cNvPr id="11" name="TextBox 10"/>
          <p:cNvSpPr txBox="1"/>
          <p:nvPr/>
        </p:nvSpPr>
        <p:spPr>
          <a:xfrm>
            <a:off x="4310481" y="2633472"/>
            <a:ext cx="7302398" cy="713232"/>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Is a specified measured relationship supported under its sampling contract?</a:t>
            </a:r>
          </a:p>
        </p:txBody>
      </p:sp>
      <p:cxnSp>
        <p:nvCxnSpPr>
          <p:cNvPr id="12" name="Connector 11"/>
          <p:cNvCxnSpPr/>
          <p:nvPr/>
        </p:nvCxnSpPr>
        <p:spPr>
          <a:xfrm>
            <a:off x="548640" y="3282696"/>
            <a:ext cx="1106424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548640" y="3419856"/>
            <a:ext cx="3429914" cy="649224"/>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A6C9B8"/>
                </a:solidFill>
                <a:latin typeface="IBM Plex Sans"/>
              </a:rPr>
              <a:t>Fixed statistics</a:t>
            </a:r>
          </a:p>
        </p:txBody>
      </p:sp>
      <p:sp>
        <p:nvSpPr>
          <p:cNvPr id="14" name="TextBox 13"/>
          <p:cNvSpPr txBox="1"/>
          <p:nvPr/>
        </p:nvSpPr>
        <p:spPr>
          <a:xfrm>
            <a:off x="4310481" y="3429000"/>
            <a:ext cx="7302398" cy="713232"/>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Permutation / calibrated tests are statistical logic, not trained encoders.</a:t>
            </a:r>
          </a:p>
        </p:txBody>
      </p:sp>
      <p:cxnSp>
        <p:nvCxnSpPr>
          <p:cNvPr id="15" name="Connector 14"/>
          <p:cNvCxnSpPr/>
          <p:nvPr/>
        </p:nvCxnSpPr>
        <p:spPr>
          <a:xfrm>
            <a:off x="548640" y="4078224"/>
            <a:ext cx="1106424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548640" y="4215384"/>
            <a:ext cx="3429914" cy="649224"/>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A6C9B8"/>
                </a:solidFill>
                <a:latin typeface="IBM Plex Sans"/>
              </a:rPr>
              <a:t>Branch monitor</a:t>
            </a:r>
          </a:p>
        </p:txBody>
      </p:sp>
      <p:sp>
        <p:nvSpPr>
          <p:cNvPr id="17" name="TextBox 16"/>
          <p:cNvSpPr txBox="1"/>
          <p:nvPr/>
        </p:nvSpPr>
        <p:spPr>
          <a:xfrm>
            <a:off x="4310481" y="4224528"/>
            <a:ext cx="7302398" cy="713232"/>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Could this research branch produce a qualifying result under a frozen budget?</a:t>
            </a:r>
          </a:p>
        </p:txBody>
      </p:sp>
      <p:cxnSp>
        <p:nvCxnSpPr>
          <p:cNvPr id="18" name="Connector 17"/>
          <p:cNvCxnSpPr/>
          <p:nvPr/>
        </p:nvCxnSpPr>
        <p:spPr>
          <a:xfrm>
            <a:off x="548640" y="4873752"/>
            <a:ext cx="1106424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9" name="TextBox 18"/>
          <p:cNvSpPr txBox="1"/>
          <p:nvPr/>
        </p:nvSpPr>
        <p:spPr>
          <a:xfrm>
            <a:off x="548640" y="5010912"/>
            <a:ext cx="3429914" cy="649224"/>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A6C9B8"/>
                </a:solidFill>
                <a:latin typeface="IBM Plex Sans"/>
              </a:rPr>
              <a:t>Current readiness</a:t>
            </a:r>
          </a:p>
        </p:txBody>
      </p:sp>
      <p:sp>
        <p:nvSpPr>
          <p:cNvPr id="20" name="TextBox 19"/>
          <p:cNvSpPr txBox="1"/>
          <p:nvPr/>
        </p:nvSpPr>
        <p:spPr>
          <a:xfrm>
            <a:off x="4310481" y="5020056"/>
            <a:ext cx="7302398" cy="713232"/>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Monitor code exists. Real-trajectory training and calibration remain uncompleted.</a:t>
            </a:r>
          </a:p>
        </p:txBody>
      </p:sp>
      <p:sp>
        <p:nvSpPr>
          <p:cNvPr id="21" name="TextBox 20"/>
          <p:cNvSpPr txBox="1"/>
          <p:nvPr/>
        </p:nvSpPr>
        <p:spPr>
          <a:xfrm>
            <a:off x="548640" y="5952744"/>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50" b="0">
                <a:solidFill>
                  <a:srgbClr val="DEB577"/>
                </a:solidFill>
                <a:latin typeface="IBM Plex Mono"/>
              </a:rPr>
              <a:t>NO LIVE CALIBRATED PRUNING · Learned branch ratios are not automatically exact e-processes.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APPENDIX / ORIGINALITY AND THE COMPETITIVE TEST</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25</a:t>
            </a:r>
          </a:p>
        </p:txBody>
      </p:sp>
      <p:sp>
        <p:nvSpPr>
          <p:cNvPr id="8" name="TextBox 7"/>
          <p:cNvSpPr txBox="1"/>
          <p:nvPr/>
        </p:nvSpPr>
        <p:spPr>
          <a:xfrm>
            <a:off x="548640" y="987552"/>
            <a:ext cx="11018520" cy="1197864"/>
          </a:xfrm>
          <a:prstGeom prst="rect">
            <a:avLst/>
          </a:prstGeom>
          <a:noFill/>
        </p:spPr>
        <p:txBody>
          <a:bodyPr wrap="square" lIns="0" rIns="0" tIns="0" bIns="0" anchor="t">
            <a:noAutofit/>
          </a:bodyPr>
          <a:lstStyle/>
          <a:p>
            <a:pPr algn="l">
              <a:lnSpc>
                <a:spcPct val="108000"/>
              </a:lnSpc>
              <a:spcBef>
                <a:spcPts val="0"/>
              </a:spcBef>
              <a:spcAft>
                <a:spcPts val="0"/>
              </a:spcAft>
            </a:pPr>
            <a:r>
              <a:rPr sz="3900" b="1">
                <a:solidFill>
                  <a:srgbClr val="F1EFE7"/>
                </a:solidFill>
                <a:latin typeface="IBM Plex Sans"/>
              </a:rPr>
              <a:t>The differentiation has to be demonstrated.</a:t>
            </a:r>
          </a:p>
        </p:txBody>
      </p:sp>
      <p:cxnSp>
        <p:nvCxnSpPr>
          <p:cNvPr id="9" name="Connector 8"/>
          <p:cNvCxnSpPr/>
          <p:nvPr/>
        </p:nvCxnSpPr>
        <p:spPr>
          <a:xfrm>
            <a:off x="548640" y="2496312"/>
            <a:ext cx="1106424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548640" y="2633472"/>
            <a:ext cx="3429914" cy="649224"/>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A6C9B8"/>
                </a:solidFill>
                <a:latin typeface="IBM Plex Sans"/>
              </a:rPr>
              <a:t>Existing research agents</a:t>
            </a:r>
          </a:p>
        </p:txBody>
      </p:sp>
      <p:sp>
        <p:nvSpPr>
          <p:cNvPr id="11" name="TextBox 10"/>
          <p:cNvSpPr txBox="1"/>
          <p:nvPr/>
        </p:nvSpPr>
        <p:spPr>
          <a:xfrm>
            <a:off x="4310481" y="2642616"/>
            <a:ext cx="7302398" cy="713232"/>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Elicit supports research workflows; DeepMind Co-scientist generates and evaluates hypotheses.</a:t>
            </a:r>
          </a:p>
        </p:txBody>
      </p:sp>
      <p:cxnSp>
        <p:nvCxnSpPr>
          <p:cNvPr id="12" name="Connector 11"/>
          <p:cNvCxnSpPr/>
          <p:nvPr/>
        </p:nvCxnSpPr>
        <p:spPr>
          <a:xfrm>
            <a:off x="548640" y="3300984"/>
            <a:ext cx="1106424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548640" y="3438144"/>
            <a:ext cx="3429914" cy="649224"/>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A6C9B8"/>
                </a:solidFill>
                <a:latin typeface="IBM Plex Sans"/>
              </a:rPr>
              <a:t>Our proposed wedge</a:t>
            </a:r>
          </a:p>
        </p:txBody>
      </p:sp>
      <p:sp>
        <p:nvSpPr>
          <p:cNvPr id="14" name="TextBox 13"/>
          <p:cNvSpPr txBox="1"/>
          <p:nvPr/>
        </p:nvSpPr>
        <p:spPr>
          <a:xfrm>
            <a:off x="4310481" y="3447288"/>
            <a:ext cx="7302398" cy="713232"/>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Executable investigations with specialized biological tools, receipts and an inspectable tree.</a:t>
            </a:r>
          </a:p>
        </p:txBody>
      </p:sp>
      <p:cxnSp>
        <p:nvCxnSpPr>
          <p:cNvPr id="15" name="Connector 14"/>
          <p:cNvCxnSpPr/>
          <p:nvPr/>
        </p:nvCxnSpPr>
        <p:spPr>
          <a:xfrm>
            <a:off x="548640" y="4105656"/>
            <a:ext cx="1106424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548640" y="4242816"/>
            <a:ext cx="3429914" cy="649224"/>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A6C9B8"/>
                </a:solidFill>
                <a:latin typeface="IBM Plex Sans"/>
              </a:rPr>
              <a:t>The comparison to run</a:t>
            </a:r>
          </a:p>
        </p:txBody>
      </p:sp>
      <p:sp>
        <p:nvSpPr>
          <p:cNvPr id="17" name="TextBox 16"/>
          <p:cNvSpPr txBox="1"/>
          <p:nvPr/>
        </p:nvSpPr>
        <p:spPr>
          <a:xfrm>
            <a:off x="4310481" y="4251960"/>
            <a:ext cx="7302398" cy="713232"/>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Strong single agent, flat parallel agents and our controller under the same total budget.</a:t>
            </a:r>
          </a:p>
        </p:txBody>
      </p:sp>
      <p:cxnSp>
        <p:nvCxnSpPr>
          <p:cNvPr id="18" name="Connector 17"/>
          <p:cNvCxnSpPr/>
          <p:nvPr/>
        </p:nvCxnSpPr>
        <p:spPr>
          <a:xfrm>
            <a:off x="548640" y="4910328"/>
            <a:ext cx="1106424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9" name="TextBox 18"/>
          <p:cNvSpPr txBox="1"/>
          <p:nvPr/>
        </p:nvSpPr>
        <p:spPr>
          <a:xfrm>
            <a:off x="548640" y="5047488"/>
            <a:ext cx="3429914" cy="649224"/>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A6C9B8"/>
                </a:solidFill>
                <a:latin typeface="IBM Plex Sans"/>
              </a:rPr>
              <a:t>The outcome that matters</a:t>
            </a:r>
          </a:p>
        </p:txBody>
      </p:sp>
      <p:sp>
        <p:nvSpPr>
          <p:cNvPr id="20" name="TextBox 19"/>
          <p:cNvSpPr txBox="1"/>
          <p:nvPr/>
        </p:nvSpPr>
        <p:spPr>
          <a:xfrm>
            <a:off x="4310481" y="5056632"/>
            <a:ext cx="7302398" cy="713232"/>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Independent rerun success, expert usefulness, time and total cost—including failures.</a:t>
            </a:r>
          </a:p>
        </p:txBody>
      </p:sp>
      <p:sp>
        <p:nvSpPr>
          <p:cNvPr id="21" name="TextBox 20"/>
          <p:cNvSpPr txBox="1"/>
          <p:nvPr/>
        </p:nvSpPr>
        <p:spPr>
          <a:xfrm>
            <a:off x="548640" y="5952744"/>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50" b="0">
                <a:solidFill>
                  <a:srgbClr val="AFB9B2"/>
                </a:solidFill>
                <a:latin typeface="IBM Plex Mono"/>
              </a:rPr>
              <a:t>POSITIONING HYPOTHESIS · No first-in-category, superior-performance or defensible-moat claim yet.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APPENDIX / DEPLOYMENT DILIGENCE AND EVIDENCE STATUS</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26</a:t>
            </a:r>
          </a:p>
        </p:txBody>
      </p:sp>
      <p:sp>
        <p:nvSpPr>
          <p:cNvPr id="8" name="TextBox 7"/>
          <p:cNvSpPr txBox="1"/>
          <p:nvPr/>
        </p:nvSpPr>
        <p:spPr>
          <a:xfrm>
            <a:off x="548640" y="987552"/>
            <a:ext cx="11018520" cy="1197864"/>
          </a:xfrm>
          <a:prstGeom prst="rect">
            <a:avLst/>
          </a:prstGeom>
          <a:noFill/>
        </p:spPr>
        <p:txBody>
          <a:bodyPr wrap="square" lIns="0" rIns="0" tIns="0" bIns="0" anchor="t">
            <a:noAutofit/>
          </a:bodyPr>
          <a:lstStyle/>
          <a:p>
            <a:pPr algn="l">
              <a:lnSpc>
                <a:spcPct val="108000"/>
              </a:lnSpc>
              <a:spcBef>
                <a:spcPts val="0"/>
              </a:spcBef>
              <a:spcAft>
                <a:spcPts val="0"/>
              </a:spcAft>
            </a:pPr>
            <a:r>
              <a:rPr sz="3900" b="1">
                <a:solidFill>
                  <a:srgbClr val="F1EFE7"/>
                </a:solidFill>
                <a:latin typeface="IBM Plex Sans"/>
              </a:rPr>
              <a:t>What a pilot must settle.</a:t>
            </a:r>
          </a:p>
        </p:txBody>
      </p:sp>
      <p:cxnSp>
        <p:nvCxnSpPr>
          <p:cNvPr id="9" name="Connector 8"/>
          <p:cNvCxnSpPr/>
          <p:nvPr/>
        </p:nvCxnSpPr>
        <p:spPr>
          <a:xfrm>
            <a:off x="548640" y="2496312"/>
            <a:ext cx="1106424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548640" y="2633472"/>
            <a:ext cx="3429914" cy="649224"/>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A6C9B8"/>
                </a:solidFill>
                <a:latin typeface="IBM Plex Sans"/>
              </a:rPr>
              <a:t>Cost + infrastructure</a:t>
            </a:r>
          </a:p>
        </p:txBody>
      </p:sp>
      <p:sp>
        <p:nvSpPr>
          <p:cNvPr id="11" name="TextBox 10"/>
          <p:cNvSpPr txBox="1"/>
          <p:nvPr/>
        </p:nvSpPr>
        <p:spPr>
          <a:xfrm>
            <a:off x="4310481" y="2642616"/>
            <a:ext cx="7302398" cy="713232"/>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Meter model calls, jobs, storage and review. Benchmark a complete investigation.</a:t>
            </a:r>
          </a:p>
        </p:txBody>
      </p:sp>
      <p:cxnSp>
        <p:nvCxnSpPr>
          <p:cNvPr id="12" name="Connector 11"/>
          <p:cNvCxnSpPr/>
          <p:nvPr/>
        </p:nvCxnSpPr>
        <p:spPr>
          <a:xfrm>
            <a:off x="548640" y="3319272"/>
            <a:ext cx="1106424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548640" y="3456432"/>
            <a:ext cx="3429914" cy="649224"/>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A6C9B8"/>
                </a:solidFill>
                <a:latin typeface="IBM Plex Sans"/>
              </a:rPr>
              <a:t>Security + integration</a:t>
            </a:r>
          </a:p>
        </p:txBody>
      </p:sp>
      <p:sp>
        <p:nvSpPr>
          <p:cNvPr id="14" name="TextBox 13"/>
          <p:cNvSpPr txBox="1"/>
          <p:nvPr/>
        </p:nvSpPr>
        <p:spPr>
          <a:xfrm>
            <a:off x="4310481" y="3465576"/>
            <a:ext cx="7302398" cy="713232"/>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Enforce service identities, approved sources, restricted execution, audit export and access controls.</a:t>
            </a:r>
          </a:p>
        </p:txBody>
      </p:sp>
      <p:cxnSp>
        <p:nvCxnSpPr>
          <p:cNvPr id="15" name="Connector 14"/>
          <p:cNvCxnSpPr/>
          <p:nvPr/>
        </p:nvCxnSpPr>
        <p:spPr>
          <a:xfrm>
            <a:off x="548640" y="4142232"/>
            <a:ext cx="1106424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548640" y="4279392"/>
            <a:ext cx="3429914" cy="649224"/>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A6C9B8"/>
                </a:solidFill>
                <a:latin typeface="IBM Plex Sans"/>
              </a:rPr>
              <a:t>Regulation + adoption</a:t>
            </a:r>
          </a:p>
        </p:txBody>
      </p:sp>
      <p:sp>
        <p:nvSpPr>
          <p:cNvPr id="17" name="TextBox 16"/>
          <p:cNvSpPr txBox="1"/>
          <p:nvPr/>
        </p:nvSpPr>
        <p:spPr>
          <a:xfrm>
            <a:off x="4310481" y="4288536"/>
            <a:ext cx="7302398" cy="713232"/>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Start with research use; assess dataset licenses, privacy, clinical scope and user workflow.</a:t>
            </a:r>
          </a:p>
        </p:txBody>
      </p:sp>
      <p:cxnSp>
        <p:nvCxnSpPr>
          <p:cNvPr id="18" name="Connector 17"/>
          <p:cNvCxnSpPr/>
          <p:nvPr/>
        </p:nvCxnSpPr>
        <p:spPr>
          <a:xfrm>
            <a:off x="548640" y="4965192"/>
            <a:ext cx="1106424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9" name="TextBox 18"/>
          <p:cNvSpPr txBox="1"/>
          <p:nvPr/>
        </p:nvSpPr>
        <p:spPr>
          <a:xfrm>
            <a:off x="548640" y="5102352"/>
            <a:ext cx="3429914" cy="649224"/>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A6C9B8"/>
                </a:solidFill>
                <a:latin typeface="IBM Plex Sans"/>
              </a:rPr>
              <a:t>Proof boundary</a:t>
            </a:r>
          </a:p>
        </p:txBody>
      </p:sp>
      <p:sp>
        <p:nvSpPr>
          <p:cNvPr id="20" name="TextBox 19"/>
          <p:cNvSpPr txBox="1"/>
          <p:nvPr/>
        </p:nvSpPr>
        <p:spPr>
          <a:xfrm>
            <a:off x="4310481" y="5111496"/>
            <a:ext cx="7302398" cy="713232"/>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No verified later-paper recovery, clinical benefit, customer traction or production certification.</a:t>
            </a:r>
          </a:p>
        </p:txBody>
      </p:sp>
      <p:sp>
        <p:nvSpPr>
          <p:cNvPr id="21" name="TextBox 20"/>
          <p:cNvSpPr txBox="1"/>
          <p:nvPr/>
        </p:nvSpPr>
        <p:spPr>
          <a:xfrm>
            <a:off x="548640" y="5952744"/>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50" b="0">
                <a:solidFill>
                  <a:srgbClr val="AFB9B2"/>
                </a:solidFill>
                <a:latin typeface="IBM Plex Mono"/>
              </a:rPr>
              <a:t>Evidence snapshot: fee3165 · Appendices are for questions; check the manifest before presenting.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APPENDIX / 3D TOOLKIT READINESS</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27</a:t>
            </a:r>
          </a:p>
        </p:txBody>
      </p:sp>
      <p:sp>
        <p:nvSpPr>
          <p:cNvPr id="8" name="TextBox 7"/>
          <p:cNvSpPr txBox="1"/>
          <p:nvPr/>
        </p:nvSpPr>
        <p:spPr>
          <a:xfrm>
            <a:off x="548640" y="987552"/>
            <a:ext cx="11018520" cy="1197864"/>
          </a:xfrm>
          <a:prstGeom prst="rect">
            <a:avLst/>
          </a:prstGeom>
          <a:noFill/>
        </p:spPr>
        <p:txBody>
          <a:bodyPr wrap="square" lIns="0" rIns="0" tIns="0" bIns="0" anchor="t">
            <a:noAutofit/>
          </a:bodyPr>
          <a:lstStyle/>
          <a:p>
            <a:pPr algn="l">
              <a:lnSpc>
                <a:spcPct val="108000"/>
              </a:lnSpc>
              <a:spcBef>
                <a:spcPts val="0"/>
              </a:spcBef>
              <a:spcAft>
                <a:spcPts val="0"/>
              </a:spcAft>
            </a:pPr>
            <a:r>
              <a:rPr sz="3900" b="1">
                <a:solidFill>
                  <a:srgbClr val="F1EFE7"/>
                </a:solidFill>
                <a:latin typeface="IBM Plex Sans"/>
              </a:rPr>
              <a:t>Every 3D tool keeps its own evidence boundary.</a:t>
            </a:r>
          </a:p>
        </p:txBody>
      </p:sp>
      <p:cxnSp>
        <p:nvCxnSpPr>
          <p:cNvPr id="9" name="Connector 8"/>
          <p:cNvCxnSpPr/>
          <p:nvPr/>
        </p:nvCxnSpPr>
        <p:spPr>
          <a:xfrm>
            <a:off x="548640" y="2496312"/>
            <a:ext cx="1106424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548640" y="2633472"/>
            <a:ext cx="3429914" cy="649224"/>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A6C9B8"/>
                </a:solidFill>
                <a:latin typeface="IBM Plex Sans"/>
              </a:rPr>
              <a:t>Binder workbench</a:t>
            </a:r>
          </a:p>
        </p:txBody>
      </p:sp>
      <p:sp>
        <p:nvSpPr>
          <p:cNvPr id="11" name="TextBox 10"/>
          <p:cNvSpPr txBox="1"/>
          <p:nvPr/>
        </p:nvSpPr>
        <p:spPr>
          <a:xfrm>
            <a:off x="4310481" y="2642616"/>
            <a:ext cx="7302398" cy="713232"/>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Recorded scene, image observation and reverse view. Illustrated geometry; affinity unmeasured.</a:t>
            </a:r>
          </a:p>
        </p:txBody>
      </p:sp>
      <p:cxnSp>
        <p:nvCxnSpPr>
          <p:cNvPr id="12" name="Connector 11"/>
          <p:cNvCxnSpPr/>
          <p:nvPr/>
        </p:nvCxnSpPr>
        <p:spPr>
          <a:xfrm>
            <a:off x="548640" y="3300984"/>
            <a:ext cx="1106424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548640" y="3438144"/>
            <a:ext cx="3429914" cy="649224"/>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A6C9B8"/>
                </a:solidFill>
                <a:latin typeface="IBM Plex Sans"/>
              </a:rPr>
              <a:t>Molecular geometry</a:t>
            </a:r>
          </a:p>
        </p:txBody>
      </p:sp>
      <p:sp>
        <p:nvSpPr>
          <p:cNvPr id="14" name="TextBox 13"/>
          <p:cNvSpPr txBox="1"/>
          <p:nvPr/>
        </p:nvSpPr>
        <p:spPr>
          <a:xfrm>
            <a:off x="4310481" y="3447288"/>
            <a:ext cx="7302398" cy="713232"/>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Scoped preparation, docking, image review and coordinate checks. Recovery benchmark did not pass.</a:t>
            </a:r>
          </a:p>
        </p:txBody>
      </p:sp>
      <p:cxnSp>
        <p:nvCxnSpPr>
          <p:cNvPr id="15" name="Connector 14"/>
          <p:cNvCxnSpPr/>
          <p:nvPr/>
        </p:nvCxnSpPr>
        <p:spPr>
          <a:xfrm>
            <a:off x="548640" y="4105656"/>
            <a:ext cx="1106424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548640" y="4242816"/>
            <a:ext cx="3429914" cy="649224"/>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A6C9B8"/>
                </a:solidFill>
                <a:latin typeface="IBM Plex Sans"/>
              </a:rPr>
              <a:t>Spindle mechanics</a:t>
            </a:r>
          </a:p>
        </p:txBody>
      </p:sp>
      <p:sp>
        <p:nvSpPr>
          <p:cNvPr id="17" name="TextBox 16"/>
          <p:cNvSpPr txBox="1"/>
          <p:nvPr/>
        </p:nvSpPr>
        <p:spPr>
          <a:xfrm>
            <a:off x="4310481" y="4251960"/>
            <a:ext cx="7302398" cy="713232"/>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Pinned Cytosim CPU worker; real pilot exports 11 three-dimensional frames. Calibration remains ahead.</a:t>
            </a:r>
          </a:p>
        </p:txBody>
      </p:sp>
      <p:cxnSp>
        <p:nvCxnSpPr>
          <p:cNvPr id="18" name="Connector 17"/>
          <p:cNvCxnSpPr/>
          <p:nvPr/>
        </p:nvCxnSpPr>
        <p:spPr>
          <a:xfrm>
            <a:off x="548640" y="4910328"/>
            <a:ext cx="1106424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9" name="TextBox 18"/>
          <p:cNvSpPr txBox="1"/>
          <p:nvPr/>
        </p:nvSpPr>
        <p:spPr>
          <a:xfrm>
            <a:off x="548640" y="5047488"/>
            <a:ext cx="3429914" cy="649224"/>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A6C9B8"/>
                </a:solidFill>
                <a:latin typeface="IBM Plex Sans"/>
              </a:rPr>
              <a:t>Tumor–stroma</a:t>
            </a:r>
          </a:p>
        </p:txBody>
      </p:sp>
      <p:sp>
        <p:nvSpPr>
          <p:cNvPr id="20" name="TextBox 19"/>
          <p:cNvSpPr txBox="1"/>
          <p:nvPr/>
        </p:nvSpPr>
        <p:spPr>
          <a:xfrm>
            <a:off x="4310481" y="5056632"/>
            <a:ext cx="7302398" cy="713232"/>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Native simulation and image workflow are active development beyond the audited snapshot.</a:t>
            </a:r>
          </a:p>
        </p:txBody>
      </p:sp>
      <p:sp>
        <p:nvSpPr>
          <p:cNvPr id="21" name="TextBox 20"/>
          <p:cNvSpPr txBox="1"/>
          <p:nvPr/>
        </p:nvSpPr>
        <p:spPr>
          <a:xfrm>
            <a:off x="548640" y="5952744"/>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50" b="0">
                <a:solidFill>
                  <a:srgbClr val="AFB9B2"/>
                </a:solidFill>
                <a:latin typeface="IBM Plex Mono"/>
              </a:rPr>
              <a:t>3D geometry, simulated mechanics and biological experiments are different evidence types.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APPENDIX / EXTERNAL PROTEIN TRANSFER</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28</a:t>
            </a:r>
          </a:p>
        </p:txBody>
      </p:sp>
      <p:sp>
        <p:nvSpPr>
          <p:cNvPr id="8" name="TextBox 7"/>
          <p:cNvSpPr txBox="1"/>
          <p:nvPr/>
        </p:nvSpPr>
        <p:spPr>
          <a:xfrm>
            <a:off x="548640" y="987552"/>
            <a:ext cx="11018520" cy="1197864"/>
          </a:xfrm>
          <a:prstGeom prst="rect">
            <a:avLst/>
          </a:prstGeom>
          <a:noFill/>
        </p:spPr>
        <p:txBody>
          <a:bodyPr wrap="square" lIns="0" rIns="0" tIns="0" bIns="0" anchor="t">
            <a:noAutofit/>
          </a:bodyPr>
          <a:lstStyle/>
          <a:p>
            <a:pPr algn="l">
              <a:lnSpc>
                <a:spcPct val="108000"/>
              </a:lnSpc>
              <a:spcBef>
                <a:spcPts val="0"/>
              </a:spcBef>
              <a:spcAft>
                <a:spcPts val="0"/>
              </a:spcAft>
            </a:pPr>
            <a:r>
              <a:rPr sz="3900" b="1">
                <a:solidFill>
                  <a:srgbClr val="F1EFE7"/>
                </a:solidFill>
                <a:latin typeface="IBM Plex Sans"/>
              </a:rPr>
              <a:t>External data changed the conclusion.</a:t>
            </a:r>
          </a:p>
        </p:txBody>
      </p:sp>
      <p:pic>
        <p:nvPicPr>
          <p:cNvPr id="9" name="Picture 8" descr="external_protein.png"/>
          <p:cNvPicPr>
            <a:picLocks noChangeAspect="1"/>
          </p:cNvPicPr>
          <p:nvPr/>
        </p:nvPicPr>
        <p:blipFill>
          <a:blip r:embed="rId2"/>
          <a:stretch>
            <a:fillRect/>
          </a:stretch>
        </p:blipFill>
        <p:spPr>
          <a:xfrm>
            <a:off x="1138428" y="2221992"/>
            <a:ext cx="6291072" cy="3538728"/>
          </a:xfrm>
          <a:prstGeom prst="rect">
            <a:avLst/>
          </a:prstGeom>
        </p:spPr>
      </p:pic>
      <p:sp>
        <p:nvSpPr>
          <p:cNvPr id="10" name="TextBox 9"/>
          <p:cNvSpPr txBox="1"/>
          <p:nvPr/>
        </p:nvSpPr>
        <p:spPr>
          <a:xfrm>
            <a:off x="8321040" y="2450592"/>
            <a:ext cx="3300984" cy="630936"/>
          </a:xfrm>
          <a:prstGeom prst="rect">
            <a:avLst/>
          </a:prstGeom>
          <a:noFill/>
        </p:spPr>
        <p:txBody>
          <a:bodyPr wrap="square" lIns="0" rIns="0" tIns="0" bIns="0" anchor="t">
            <a:noAutofit/>
          </a:bodyPr>
          <a:lstStyle/>
          <a:p>
            <a:pPr algn="l">
              <a:lnSpc>
                <a:spcPct val="108000"/>
              </a:lnSpc>
              <a:spcBef>
                <a:spcPts val="0"/>
              </a:spcBef>
              <a:spcAft>
                <a:spcPts val="0"/>
              </a:spcAft>
            </a:pPr>
            <a:r>
              <a:rPr sz="2600" b="1">
                <a:solidFill>
                  <a:srgbClr val="A6C9B8"/>
                </a:solidFill>
                <a:latin typeface="IBM Plex Sans"/>
              </a:rPr>
              <a:t>224 graded tumors</a:t>
            </a:r>
          </a:p>
        </p:txBody>
      </p:sp>
      <p:sp>
        <p:nvSpPr>
          <p:cNvPr id="11" name="TextBox 10"/>
          <p:cNvSpPr txBox="1"/>
          <p:nvPr/>
        </p:nvSpPr>
        <p:spPr>
          <a:xfrm>
            <a:off x="8339327" y="3319272"/>
            <a:ext cx="3246120" cy="1069848"/>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F1EFE7"/>
                </a:solidFill>
                <a:latin typeface="IBM Plex Sans"/>
              </a:rPr>
              <a:t>Fudan external benchmark</a:t>
            </a:r>
          </a:p>
          <a:p>
            <a:pPr algn="l">
              <a:lnSpc>
                <a:spcPct val="108000"/>
              </a:lnSpc>
              <a:spcBef>
                <a:spcPts val="0"/>
              </a:spcBef>
              <a:spcAft>
                <a:spcPts val="0"/>
              </a:spcAft>
            </a:pPr>
            <a:r>
              <a:rPr sz="1900" b="0">
                <a:solidFill>
                  <a:srgbClr val="F1EFE7"/>
                </a:solidFill>
                <a:latin typeface="IBM Plex Sans"/>
              </a:rPr>
              <a:t>159 G3 / 65 G2 tumors</a:t>
            </a:r>
          </a:p>
          <a:p>
            <a:pPr algn="l">
              <a:lnSpc>
                <a:spcPct val="108000"/>
              </a:lnSpc>
              <a:spcBef>
                <a:spcPts val="0"/>
              </a:spcBef>
              <a:spcAft>
                <a:spcPts val="0"/>
              </a:spcAft>
            </a:pPr>
            <a:r>
              <a:rPr sz="1900" b="0">
                <a:solidFill>
                  <a:srgbClr val="F1EFE7"/>
                </a:solidFill>
                <a:latin typeface="IBM Plex Sans"/>
              </a:rPr>
              <a:t>Five prespecified views</a:t>
            </a:r>
          </a:p>
        </p:txBody>
      </p:sp>
      <p:sp>
        <p:nvSpPr>
          <p:cNvPr id="12" name="TextBox 11"/>
          <p:cNvSpPr txBox="1"/>
          <p:nvPr/>
        </p:nvSpPr>
        <p:spPr>
          <a:xfrm>
            <a:off x="8348472" y="4690872"/>
            <a:ext cx="3246120" cy="960120"/>
          </a:xfrm>
          <a:prstGeom prst="rect">
            <a:avLst/>
          </a:prstGeom>
          <a:noFill/>
        </p:spPr>
        <p:txBody>
          <a:bodyPr wrap="square" lIns="0" rIns="0" tIns="0" bIns="0" anchor="t">
            <a:noAutofit/>
          </a:bodyPr>
          <a:lstStyle/>
          <a:p>
            <a:pPr algn="l">
              <a:lnSpc>
                <a:spcPct val="108000"/>
              </a:lnSpc>
              <a:spcBef>
                <a:spcPts val="0"/>
              </a:spcBef>
              <a:spcAft>
                <a:spcPts val="0"/>
              </a:spcAft>
            </a:pPr>
            <a:r>
              <a:rPr sz="2000" b="1">
                <a:solidFill>
                  <a:srgbClr val="DEB577"/>
                </a:solidFill>
                <a:latin typeface="IBM Plex Sans"/>
              </a:rPr>
              <a:t>Weak primary transfer.</a:t>
            </a:r>
          </a:p>
          <a:p>
            <a:pPr algn="l">
              <a:lnSpc>
                <a:spcPct val="108000"/>
              </a:lnSpc>
              <a:spcBef>
                <a:spcPts val="0"/>
              </a:spcBef>
              <a:spcAft>
                <a:spcPts val="0"/>
              </a:spcAft>
            </a:pPr>
            <a:r>
              <a:rPr sz="2000" b="1">
                <a:solidFill>
                  <a:srgbClr val="DEB577"/>
                </a:solidFill>
                <a:latin typeface="IBM Plex Sans"/>
              </a:rPr>
              <a:t>Secondary signal needs</a:t>
            </a:r>
          </a:p>
          <a:p>
            <a:pPr algn="l">
              <a:lnSpc>
                <a:spcPct val="108000"/>
              </a:lnSpc>
              <a:spcBef>
                <a:spcPts val="0"/>
              </a:spcBef>
              <a:spcAft>
                <a:spcPts val="0"/>
              </a:spcAft>
            </a:pPr>
            <a:r>
              <a:rPr sz="2000" b="1">
                <a:solidFill>
                  <a:srgbClr val="DEB577"/>
                </a:solidFill>
                <a:latin typeface="IBM Plex Sans"/>
              </a:rPr>
              <a:t>independent evaluation.</a:t>
            </a:r>
          </a:p>
        </p:txBody>
      </p:sp>
      <p:sp>
        <p:nvSpPr>
          <p:cNvPr id="13" name="TextBox 12"/>
          <p:cNvSpPr txBox="1"/>
          <p:nvPr/>
        </p:nvSpPr>
        <p:spPr>
          <a:xfrm>
            <a:off x="548640" y="5952744"/>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50" b="0">
                <a:solidFill>
                  <a:srgbClr val="AFB9B2"/>
                </a:solidFill>
                <a:latin typeface="IBM Plex Mono"/>
              </a:rPr>
              <a:t>CROSS-ASSAY EXPLORATORY BENCHMARK · Bootstrap intervals condition on the frozen model and observed cases.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0">
  <p:cSld>
    <p:bg>
      <p:bgPr>
        <a:solidFill>
          <a:srgbClr val="F1EFE7"/>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17201F"/>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365E4D"/>
                </a:solidFill>
                <a:latin typeface="IBM Plex Mono"/>
              </a:rPr>
              <a:t>APPENDIX / EXPANDED ECOSYSTEM TRAINING</a:t>
            </a:r>
          </a:p>
        </p:txBody>
      </p:sp>
      <p:cxnSp>
        <p:nvCxnSpPr>
          <p:cNvPr id="4" name="Connector 3"/>
          <p:cNvCxnSpPr/>
          <p:nvPr/>
        </p:nvCxnSpPr>
        <p:spPr>
          <a:xfrm>
            <a:off x="502920" y="658368"/>
            <a:ext cx="11183112" cy="0"/>
          </a:xfrm>
          <a:prstGeom prst="line">
            <a:avLst/>
          </a:prstGeom>
          <a:ln w="8890">
            <a:solidFill>
              <a:srgbClr val="CDCFC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CDCFC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365E4D"/>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17201F"/>
                </a:solidFill>
                <a:latin typeface="IBM Plex Mono"/>
              </a:rPr>
              <a:t>29</a:t>
            </a:r>
          </a:p>
        </p:txBody>
      </p:sp>
      <p:sp>
        <p:nvSpPr>
          <p:cNvPr id="8" name="TextBox 7"/>
          <p:cNvSpPr txBox="1"/>
          <p:nvPr/>
        </p:nvSpPr>
        <p:spPr>
          <a:xfrm>
            <a:off x="548640" y="987552"/>
            <a:ext cx="11018520" cy="1197864"/>
          </a:xfrm>
          <a:prstGeom prst="rect">
            <a:avLst/>
          </a:prstGeom>
          <a:noFill/>
        </p:spPr>
        <p:txBody>
          <a:bodyPr wrap="square" lIns="0" rIns="0" tIns="0" bIns="0" anchor="t">
            <a:noAutofit/>
          </a:bodyPr>
          <a:lstStyle/>
          <a:p>
            <a:pPr algn="l">
              <a:lnSpc>
                <a:spcPct val="108000"/>
              </a:lnSpc>
              <a:spcBef>
                <a:spcPts val="0"/>
              </a:spcBef>
              <a:spcAft>
                <a:spcPts val="0"/>
              </a:spcAft>
            </a:pPr>
            <a:r>
              <a:rPr sz="3900" b="1">
                <a:solidFill>
                  <a:srgbClr val="17201F"/>
                </a:solidFill>
                <a:latin typeface="IBM Plex Sans"/>
              </a:rPr>
              <a:t>Real validation curves.</a:t>
            </a:r>
          </a:p>
          <a:p>
            <a:pPr algn="l">
              <a:lnSpc>
                <a:spcPct val="108000"/>
              </a:lnSpc>
              <a:spcBef>
                <a:spcPts val="0"/>
              </a:spcBef>
              <a:spcAft>
                <a:spcPts val="0"/>
              </a:spcAft>
            </a:pPr>
            <a:r>
              <a:rPr sz="3900" b="1">
                <a:solidFill>
                  <a:srgbClr val="17201F"/>
                </a:solidFill>
                <a:latin typeface="IBM Plex Sans"/>
              </a:rPr>
              <a:t>PCA still leads externally.</a:t>
            </a:r>
          </a:p>
        </p:txBody>
      </p:sp>
      <p:sp>
        <p:nvSpPr>
          <p:cNvPr id="9" name="TextBox 8"/>
          <p:cNvSpPr txBox="1"/>
          <p:nvPr/>
        </p:nvSpPr>
        <p:spPr>
          <a:xfrm>
            <a:off x="594360" y="2258568"/>
            <a:ext cx="10972800" cy="320040"/>
          </a:xfrm>
          <a:prstGeom prst="rect">
            <a:avLst/>
          </a:prstGeom>
          <a:noFill/>
        </p:spPr>
        <p:txBody>
          <a:bodyPr wrap="square" lIns="0" rIns="0" tIns="0" bIns="0" anchor="t">
            <a:noAutofit/>
          </a:bodyPr>
          <a:lstStyle/>
          <a:p>
            <a:pPr algn="l">
              <a:lnSpc>
                <a:spcPct val="108000"/>
              </a:lnSpc>
              <a:spcBef>
                <a:spcPts val="0"/>
              </a:spcBef>
              <a:spcAft>
                <a:spcPts val="0"/>
              </a:spcAft>
            </a:pPr>
            <a:r>
              <a:rPr sz="1300" b="1">
                <a:solidFill>
                  <a:srgbClr val="365E4D"/>
                </a:solidFill>
                <a:latin typeface="IBM Plex Mono"/>
              </a:rPr>
              <a:t>72 DONOR RECORDS  /  45 TRAIN  /  11 VALIDATION  /  16 EXTERNAL</a:t>
            </a:r>
          </a:p>
        </p:txBody>
      </p:sp>
      <p:pic>
        <p:nvPicPr>
          <p:cNvPr id="10" name="Picture 9" descr="training-curves.png"/>
          <p:cNvPicPr>
            <a:picLocks noChangeAspect="1"/>
          </p:cNvPicPr>
          <p:nvPr/>
        </p:nvPicPr>
        <p:blipFill>
          <a:blip r:embed="rId2"/>
          <a:srcRect t="4500" b="48500"/>
          <a:stretch>
            <a:fillRect/>
          </a:stretch>
        </p:blipFill>
        <p:spPr>
          <a:xfrm>
            <a:off x="640080" y="2670048"/>
            <a:ext cx="10881360" cy="3429000"/>
          </a:xfrm>
          <a:prstGeom prst="rect">
            <a:avLst/>
          </a:prstGeom>
        </p:spPr>
      </p:pic>
      <p:sp>
        <p:nvSpPr>
          <p:cNvPr id="11" name="TextBox 10"/>
          <p:cNvSpPr txBox="1"/>
          <p:nvPr/>
        </p:nvSpPr>
        <p:spPr>
          <a:xfrm>
            <a:off x="521207" y="6099048"/>
            <a:ext cx="11064240" cy="228600"/>
          </a:xfrm>
          <a:prstGeom prst="rect">
            <a:avLst/>
          </a:prstGeom>
          <a:noFill/>
        </p:spPr>
        <p:txBody>
          <a:bodyPr wrap="square" lIns="0" rIns="0" tIns="0" bIns="0" anchor="t">
            <a:noAutofit/>
          </a:bodyPr>
          <a:lstStyle/>
          <a:p>
            <a:pPr algn="l">
              <a:lnSpc>
                <a:spcPct val="108000"/>
              </a:lnSpc>
              <a:spcBef>
                <a:spcPts val="0"/>
              </a:spcBef>
              <a:spcAft>
                <a:spcPts val="0"/>
              </a:spcAft>
            </a:pPr>
            <a:r>
              <a:rPr sz="900" b="0">
                <a:solidFill>
                  <a:srgbClr val="365E4D"/>
                </a:solidFill>
                <a:latin typeface="IBM Plex Sans"/>
              </a:rPr>
              <a:t>EPITHELIAL MODELS SHOWN · Actual three-seed histories. Full fibroblast curves and source JSON are linked in Notes.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IBM Plex Sans"/>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BM Plex Sans"/>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DN Research — DNHacks 2026</dc:title>
  <dc:subject>Editable working pitch: scientific discovery, AI engineering and trustworthy evidence</dc:subject>
  <dc:creator>DNHacks team</dc:creator>
  <cp:keywords>DNHacks, DN Research, working draft, scientific discovery</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