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TENTATIVE SCRIPT · 30 seconds</a:t>
            </a:r>
          </a:p>
          <a:p>
            <a:r>
              <a:t>Biology is an underappreciated source of future unilateral power: a discovery can give one actor capabilities others have not anticipated. Reactive measures are inadequate when the capability itself is new. The national biotechnology commission describes the United States repeatedly playing catch-up. Our thesis is that scientists need systems that continuously connect published claims, formulate hypotheses and execute computational experiments. We are building that research engine, with a record of how every result was produced.</a:t>
            </a:r>
          </a:p>
          <a:p/>
          <a:p>
            <a:r>
              <a:t>EVIDENCE / STATUS</a:t>
            </a:r>
          </a:p>
          <a:p>
            <a:r>
              <a:t>Strategic thesis and product ambition. Native editable rendering shows papers, claim graph, recursive sessions, executable experiments and review feedback. It is a conceptual system diagram, not a measured run. No operational threat prediction or biological prevention result is claimed.</a:t>
            </a:r>
          </a:p>
          <a:p/>
          <a:p>
            <a:r>
              <a:t>BEFORE PRESENTING / NEXT EDIT</a:t>
            </a:r>
          </a:p>
          <a:p>
            <a:r>
              <a:t>Working product name; edit freely. The rest of this deck puts technical mechanisms and measurements in the main argument. Preserve future-direction status where the complete capability has not been demonstrated.</a:t>
            </a:r>
          </a:p>
          <a:p/>
          <a:p>
            <a:r>
              <a:t>JUDGING CRITERIA</a:t>
            </a:r>
          </a:p>
          <a:p>
            <a:r>
              <a:t>Problem &amp; Real-World Impact (25); DTX strategic relevance</a:t>
            </a:r>
          </a:p>
          <a:p/>
          <a:p>
            <a:r>
              <a:t>SOURCES</a:t>
            </a:r>
          </a:p>
          <a:p>
            <a:r>
              <a:t>NSCEB final report, 2025, §1.3: https://www.biotech.senate.gov/final-report/chapters/chapter-1/section-3/ (accessed 2026-09-06)</a:t>
            </a:r>
          </a:p>
          <a:p>
            <a:r>
              <a:t>NSCEB final report, 2025, §3.3: https://www.biotech.senate.gov/final-report/chapters/chapter-3/section-3/ (accessed 2026-09-06)</a:t>
            </a:r>
          </a:p>
          <a:p>
            <a:r>
              <a:t>DTX Ventures · Vision: https://www.dtxventures.com/vision (accessed 2026-09-06)</a:t>
            </a:r>
          </a:p>
          <a:p>
            <a:r>
              <a:t>Repository: ARCHITECTURE.md at da551e0cccfc1833830c71eabb52b78bfb100db5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TENTATIVE SCRIPT · 35 seconds</a:t>
            </a:r>
          </a:p>
          <a:p>
            <a:r>
              <a:t>Biology is becoming more accessible as AI learns to reason about it and execute longer tasks. AISI reports models scoring up to sixty percent above expert baselines on selected biology and chemistry questions. Safeguards are improving, but extensive adversarial testing still uncovers vulnerabilities. That does not show that a novice can build a weapon; it shows why safeguards alone are an incomplete preparedness strategy. Our proposed role is anticipatory research: test consequential scientific questions and assemble traceable evidence before an emerging capability becomes a crisis.</a:t>
            </a:r>
          </a:p>
          <a:p/>
          <a:p>
            <a:r>
              <a:t>EVIDENCE / STATUS</a:t>
            </a:r>
          </a:p>
          <a:p>
            <a:r>
              <a:t>AISI report covers models released through October2025. Relative QA score improvement, not a 60-percentage-point gain, whole-scientist competence or measured weapons feasibility. Private biology/chemistry sets each contain over280 open-ended questions; expert absolute scores roughly40–50%. Anthropic reports over1700 cumulative red-team hours and198000 attempts, one high-risk vulnerability, no universal jailbreak discovered in that evaluation. It is not a misuse probability. NSCEB §3.3 calls for emerging-biotechnology foresight and early detection/characterization. The proposed project contribution is an investment/product thesis, not validated threat prediction. No operational threat generation or jailbreak method is included.</a:t>
            </a:r>
          </a:p>
          <a:p/>
          <a:p>
            <a:r>
              <a:t>BEFORE PRESENTING / NEXT EDIT</a:t>
            </a:r>
          </a:p>
          <a:p>
            <a:r>
              <a:t>Experimental second slide requested by the user. Keep benchmark and red-team scope in the spoken explanation. The current system supports scientific investigation; the anticipatory-defense use case still needs domain-led evaluation.</a:t>
            </a:r>
          </a:p>
          <a:p/>
          <a:p>
            <a:r>
              <a:t>JUDGING CRITERIA</a:t>
            </a:r>
          </a:p>
          <a:p>
            <a:r>
              <a:t>Problem &amp; Real-World Impact (25); DTX relevance; Feasibility (25)</a:t>
            </a:r>
          </a:p>
          <a:p/>
          <a:p>
            <a:r>
              <a:t>SOURCES</a:t>
            </a:r>
          </a:p>
          <a:p>
            <a:r>
              <a:t>UK AISI, Frontier AI Trends Report; models through October 2025: https://www.aisi.gov.uk/frontier-ai-trends-report (accessed 2026-09-06)</a:t>
            </a:r>
          </a:p>
          <a:p>
            <a:r>
              <a:t>Anthropic, Constitutional Classifiers++: https://www.anthropic.com/research/next-generation-constitutional-classifiers (accessed 2026-09-06)</a:t>
            </a:r>
          </a:p>
          <a:p>
            <a:r>
              <a:t>NSCEB final report, 2025, §1.3: https://www.biotech.senate.gov/final-report/chapters/chapter-1/section-3/ (accessed 2026-09-06)</a:t>
            </a:r>
          </a:p>
          <a:p>
            <a:r>
              <a:t>NSCEB final report, 2025, §3.3: https://www.biotech.senate.gov/final-report/chapters/chapter-3/section-3/ (accessed 2026-09-06)</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TENTATIVE SCRIPT · 40 seconds</a:t>
            </a:r>
          </a:p>
          <a:p>
            <a:r>
              <a:t>The graph stores typed biological claims, resolved entity identifiers, context and source quotations. A resumable agent searches that graph and its papers, proposes hypotheses, writes analysis code and observes the result. It can fork a question into child sessions. Every eighteen research actions it reports to a parent controller, which continues, forks or prunes the branch. All descendants share a frozen budget; transactional grants and recorded decisions survive restart. The scientist sees the same provenance chain in the website, from a literature relationship to the branch and its experimental artifacts.</a:t>
            </a:r>
          </a:p>
          <a:p/>
          <a:p>
            <a:r>
              <a:t>EVIDENCE / STATUS</a:t>
            </a:r>
          </a:p>
          <a:p>
            <a:r>
              <a:t>Implemented extraction, grounding, claim/evidence storage, recursive sessions, controller and runtime journal. The two images are actual current React UI captures at a054f1b with synthetic test data, not a measured six-agent investigation. Claim confidence counts distinct source papers, not independently deduplicated experiments. The controller has no measured equal-budget discovery advantage. Ordinary falsifier screens reported fields/flags, not an independent rerun of arbitrary code; human review records a decision.</a:t>
            </a:r>
          </a:p>
          <a:p/>
          <a:p>
            <a:r>
              <a:t>BEFORE PRESENTING / NEXT EDIT</a:t>
            </a:r>
          </a:p>
          <a:p>
            <a:r>
              <a:t>Replace both screenshots with the final corpus and selected investigation. Current sample data is marked on slide. For deeper questions: Opus extraction, separate Sonnet direction/repair sessions, closed-vocabulary grounding, DuckDB evidence and SQLite controller; the current executor uses host Python subprocesses, recorded submitted/executed code, scoped working paths and owned-process cancellation. This is not OS isolation; separate-account security remains deployment work.</a:t>
            </a:r>
          </a:p>
          <a:p/>
          <a:p>
            <a:r>
              <a:t>JUDGING CRITERIA</a:t>
            </a:r>
          </a:p>
          <a:p>
            <a:r>
              <a:t>Technical Execution (50); AI Novelty (25); AI Sophistication (50); UX (40); Understanding User (30)</a:t>
            </a:r>
          </a:p>
          <a:p/>
          <a:p>
            <a:r>
              <a:t>SOURCES</a:t>
            </a:r>
          </a:p>
          <a:p>
            <a:r>
              <a:t>Repository: ARCHITECTURE.md at da551e0cccfc1833830c71eabb52b78bfb100db5</a:t>
            </a:r>
          </a:p>
          <a:p>
            <a:r>
              <a:t>Repository: docs/claim-repair.md at da551e0cccfc1833830c71eabb52b78bfb100db5</a:t>
            </a:r>
          </a:p>
          <a:p>
            <a:r>
              <a:t>Repository: docs/runtime.md at da551e0cccfc1833830c71eabb52b78bfb100db5</a:t>
            </a:r>
          </a:p>
          <a:p>
            <a:r>
              <a:t>Repository: src/dnhacksbio/explorer/control.py at da551e0cccfc1833830c71eabb52b78bfb100db5</a:t>
            </a:r>
          </a:p>
          <a:p>
            <a:r>
              <a:t>Repository: presentation/assets/revision/manifest.json at da551e0cccfc1833830c71eabb52b78bfb100db5</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TENTATIVE SCRIPT · 45 seconds</a:t>
            </a:r>
          </a:p>
          <a:p>
            <a:r>
              <a:t>These are scientific instruments the agent can operate, not just images returned by a chatbot. We ran three docking seeds. The agent inspected the paired molecular images and counterchecked the same contact using canonical coordinates. The selected contact was 3.132 versus 5.324 angstroms, but the whole-pose recovery error was 2.675 against a two-angstrom requirement. That control failed, and the failure stays in the record. The toolkit also includes PhysiCell and BioFVM tissue simulation, Cytosim spindle mechanics and binder-interface inspection. The short binder movie illustrates the website interaction; it is not a new molecular result.</a:t>
            </a:r>
          </a:p>
          <a:p/>
          <a:p>
            <a:r>
              <a:t>EVIDENCE / STATUS</a:t>
            </a:r>
          </a:p>
          <a:p>
            <a:r>
              <a:t>Actual 3VQU/O22 workbench and recorded agent countercheck. Three-seed recovery criterion is RMSD ≤2 Å; proximity does not establish efficacy. The 23.44-second H.264 movie is the authored binder node-reveal browser capture with illustrative geometry. Tissue and spindle are conditional, uncalibrated simulations. Binder interface exists; no BindCraft inference pilot is claimed. Native movie start condition is delay=0; PowerPoint playback still needs local rehearsal.</a:t>
            </a:r>
          </a:p>
          <a:p/>
          <a:p>
            <a:r>
              <a:t>BEFORE PRESENTING / NEXT EDIT</a:t>
            </a:r>
          </a:p>
          <a:p>
            <a:r>
              <a:t>Play the deck in Slide Show mode: this movie is configured to start when the slide opens. The green button opens the adjacent binder-reveal.mp4 in the extracted delivery folder; the same clip was sent separately to Telegram. A PDF or Telegram document preview cannot play embedded PowerPoint media. Swap the cinematic for a final recorded real investigation when available.</a:t>
            </a:r>
          </a:p>
          <a:p/>
          <a:p>
            <a:r>
              <a:t>JUDGING CRITERIA</a:t>
            </a:r>
          </a:p>
          <a:p>
            <a:r>
              <a:t>Technical Execution (50); AI Sophistication (50); Design Craft (30); Usability (40); AI Reliability (25)</a:t>
            </a:r>
          </a:p>
          <a:p/>
          <a:p>
            <a:r>
              <a:t>SOURCES</a:t>
            </a:r>
          </a:p>
          <a:p>
            <a:r>
              <a:t>Repository: docs/inhibitor-review/README.md at da551e0cccfc1833830c71eabb52b78bfb100db5</a:t>
            </a:r>
          </a:p>
          <a:p>
            <a:r>
              <a:t>Repository: docs/inhibitor-review/agent-countercheck.json at da551e0cccfc1833830c71eabb52b78bfb100db5</a:t>
            </a:r>
          </a:p>
          <a:p>
            <a:r>
              <a:t>Repository: docs/tumor-stroma.md at da551e0cccfc1833830c71eabb52b78bfb100db5</a:t>
            </a:r>
          </a:p>
          <a:p>
            <a:r>
              <a:t>Repository: docs/spindle-simulator.md at da551e0cccfc1833830c71eabb52b78bfb100db5</a:t>
            </a:r>
          </a:p>
          <a:p>
            <a:r>
              <a:t>Repository: docs/binder-design.md at da551e0cccfc1833830c71eabb52b78bfb100db5</a:t>
            </a:r>
          </a:p>
          <a:p>
            <a:r>
              <a:t>Repository: docs/demo-cinematics.md at da551e0cccfc1833830c71eabb52b78bfb100db5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TENTATIVE SCRIPT · 40 seconds</a:t>
            </a:r>
          </a:p>
          <a:p>
            <a:r>
              <a:t>We train a representation before collecting evidence. Each gene is standardized using training donors only. We hide fifteen percent of the inputs and minimize squared error on those hidden entries, so simply copying the input cannot solve the task. This is the denoising-autoencoder principle. A predictor that always returns the training mean has expected standardized error around one; the recorded training loss ends at point-one-one-six. This is a fit diagnostic, not proof of generalization. We froze that encoder and evaluated it on fresh donors. The recorded hundred-epoch fit ran on an L40S GPU in three-point-four-one seconds.</a:t>
            </a:r>
          </a:p>
          <a:p/>
          <a:p>
            <a:r>
              <a:t>EVIDENCE / STATUS</a:t>
            </a:r>
          </a:p>
          <a:p>
            <a:r>
              <a:t>Implemented loss in expr_encoder.py: (decoder(encoder(damaged))-target)[mask].square().mean(). Each nonconstant gene has TRAIN empirical variance1 after log1p(TPM) standardization. Returning its TRAIN mean corresponds to zero and gives expected uniformly masked MSE approximately1. This analytically defined reference is not a new empirical baseline run, held-out score or random-network measurement. Final recorded TRAIN masked MSE0.1161042408. A changing random mask and minibatch weight updates are part of the logged curve. No per-epoch held-out loss exists. MSE is appropriate to standardized continuous reconstruction; low TRAIN MSE does not establish biological usefulness. Denoising rationale follows Vincent et al.2010; this architecture is our small cohort-specific implementation, not their benchmark replication. GPU metadata: L40S/CUDA12.8/Torch2.10.0, float32, fixed seed20260905,100epochs,Adam.001, batch64. Timing covers the fit call plus CUDA synchronization; excludes file serialization, data loading/download and provisioning; it is not a discovery runtime or CPU speedup. The small float64 bettor device check actually ran faster on CPU than CUDA. No GPU rediscovery run is attributed to these records.</a:t>
            </a:r>
          </a:p>
          <a:p/>
          <a:p>
            <a:r>
              <a:t>BEFORE PRESENTING / NEXT EDIT</a:t>
            </a:r>
          </a:p>
          <a:p>
            <a:r>
              <a:t>Keep the TRAIN label and analytical-baseline label. Data source: GSE212041 observational D0 cohort,374donors. Fixed149/74/151split; top19000variance genes, means/scales and representation fitted onTRAIN only. Training is distinct from branch-monitor fitting, which remains future work.</a:t>
            </a:r>
          </a:p>
          <a:p/>
          <a:p>
            <a:r>
              <a:t>JUDGING CRITERIA</a:t>
            </a:r>
          </a:p>
          <a:p>
            <a:r>
              <a:t>AI Technical Sophistication (50); Technical Execution (50); AI Reliability (25)</a:t>
            </a:r>
          </a:p>
          <a:p/>
          <a:p>
            <a:r>
              <a:t>SOURCES</a:t>
            </a:r>
          </a:p>
          <a:p>
            <a:r>
              <a:t>Vincent et al., Stacked Denoising Autoencoders, JMLR 2010: https://www.jmlr.org/papers/v11/vincent10a.html (accessed 2026-09-06)</a:t>
            </a:r>
          </a:p>
          <a:p>
            <a:r>
              <a:t>Repository: src/dnhacksbio/expr_encoder.py at da551e0cccfc1833830c71eabb52b78bfb100db5</a:t>
            </a:r>
          </a:p>
          <a:p>
            <a:r>
              <a:t>Repository: research/learned-evalue-validation/real-expression/training.json at da551e0cccfc1833830c71eabb52b78bfb100db5</a:t>
            </a:r>
          </a:p>
          <a:p>
            <a:r>
              <a:t>Repository: research/learned-evalue-validation/real-expression/device-benchmark.json at da551e0cccfc1833830c71eabb52b78bfb100db5</a:t>
            </a:r>
          </a:p>
          <a:p>
            <a:r>
              <a:t>Repository: presentation/assets/revision/plots/manifest.json at da551e0cccfc1833830c71eabb52b78bfb100db5</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TENTATIVE SCRIPT · 50 seconds</a:t>
            </a:r>
          </a:p>
          <a:p>
            <a:r>
              <a:t>We do not ask an LLM to invent a confidence score. The network minimizes negative log payoff on past pairs, then bets on a fresh pair. Under the registered null, swapping the two inputs changes the sign and makes the bet conditionally fair. That gives a five-percent bound on ever crossing twenty, even if we inspect every batch. A constant critic stays at one: no information, no evidence growth. Our learned representation finished at 3,653 against PCA's 86; the stronger single-gene comparator stays in the plot. A separate synthetic audit had 112 crossings in 10,000 runs. Better prediction can increase power; the sampling contract and arithmetic determine validity.</a:t>
            </a:r>
          </a:p>
          <a:p/>
          <a:p>
            <a:r>
              <a:t>EVIDENCE / STATUS</a:t>
            </a:r>
          </a:p>
          <a:p>
            <a:r>
              <a:t>IMPLEMENTED, MEASURED COMPONENT DIAGNOSTIC; not a verified biological discovery.</a:t>
            </a:r>
          </a:p>
          <a:p>
            <a:r>
              <a:t>METHOD / ATTRIBUTION: Pandeva et al., Deep anytime-valid hypothesis testing, AISTATS 2024, https://proceedings.mlr.press/v238/pandeva24a.html. This is an adapted two-sample DAVT diagnostic with a frozen expression representation; it is not our new theorem and not the research-trajectory E-valuator method or native four-term association kernel. For pair t, d_t = clip(f_t(x_t)-f_t(y_t), -4,4), q_t = 1+tanh(d_t), E_t = product of scored q_i. f_t is trained/selected using past pairs only. Under equal independent group distributions and a predictable learner, exchangeability makes the conditional factor expectation one. At alpha=.05 the anytime threshold is 20. Code computes log(2)-softplus(-2d), adds log factors, and returns final wealth; a running maximum is a separate diagnostic, not the returned e-value.</a:t>
            </a:r>
          </a:p>
          <a:p>
            <a:r>
              <a:t>DATA / TRAINING: GSE212041 neutrophil TPM, COVID-positive versus symptomatic negative, one D0 sample per donor; healthy controls and later/event-driven draws excluded. 374 donors: TRAIN149 (119+/30-), DEV74, EVAL151 (121+/30-). Fixed stratified split. Top19,000 genes selected by TRAIN-only log1p(TPM) variance; frozen TRAIN means/scales. Masked autoencoder19,000→512→128 with mirrored decoder, 15% masking, Adam lr=.001, 100 epochs, seed20260905, NVIDIA L40S float32. DEV was available for device timing, not model/feature/epoch selection. Slide 5 shows the committed TRAIN masked reconstruction MSE series; no per-epoch held-out validation curve was recorded. PCA uses64 components, so the representations do not have matched dimensionality.</a:t>
            </a:r>
          </a:p>
          <a:p>
            <a:r>
              <a:t>FRESH-PAIR SCORING: Primary predeclared seed20260906 uses30 selected disjoint pairs; 91 positive EVAL donors are unused. These are group-comparison pairs, not clinically matched patients. Batch size4: first8 pairs are unscored training/validation burn-in; 22 pairs are scored in six batches, last partial. The64/64 ReLU bettor fits older batches, validates on the latest past batch, and scores unseen rows before reuse; Adam lr=.0005, weight_decay=.01, max100 epochs/update, patience10. Representation and preprocessing never train on DEV/EVAL. Final e-values3652.81 learned,85.76 PCA,5964.41 predeclared IFIT3 scalar; calibrated permutation final e99 (p=.0001), not shown in this figure. IFIT3 is stronger here. These are evidence statistics, not accuracy, effect size, clinical utility or power. Ten order/subsample sensitivities reuse donors; they are not independent power trials. Observational recruitment, severity, treatment and cell composition can explain a distribution difference; no causal or PDAC therapeutic inference is claimed.</a:t>
            </a:r>
          </a:p>
          <a:p>
            <a:r>
              <a:t>NULL AUDIT:112/10,000 ever-crossings =1.12%, pointwise95% Wilson CI0.93–1.35%; 20/10,000 final rejections =.20%. This is the separately trained small synthetic autoencoder benchmark,96 pairs/run, not the19,000-gene RNA encoder, product-wide error rate or branch-monitor calibration. Regression tests separately enumerate all64 orientations of six fixed unordered pairs and audit fit/score separation.</a:t>
            </a:r>
          </a:p>
          <a:p>
            <a:r>
              <a:t>ADDITIONAL TRAINED TOOL / PROTEIN: donor-disjoint CPTAC TRAIN219, LUAD VAL110, PDAC DEV105; 2,000-protein panel; masked denoiser4,000→256→32→2,000 with20% masking. Held-out reconstruction MSE: training mean2.9318, PCA1.8243, denoiser2.1067. These are final reconstruction metrics; no epoch curve was retained. External Fudan 224 graded tumors: primary rank-PCA AUROC.55249, secondary rank-kernel.69376, not independent sequential confirmation. The frozen rank kernel did not meet the modeled targeted-effect power requirement; fixed-module simulation results are separate. Actual protein plots remain at presentation/assets/v2/plots/protein.png and external_protein.png for manual slide editing.</a:t>
            </a:r>
          </a:p>
          <a:p>
            <a:r>
              <a:t>ADDITIONAL INTERNAL EVIDENCE CORE: native association scoring uses a distinct four-term matched/crossed two-donor factor, 1+stake*(c11+c22-c12-c21)/4, with bounded critic scores and frozen stake. Under its registered independent sampling null, the factor has conditional expectation one. The private ledger atomically commits donor consumption, factor, cursor and critic state; exact retries cannot accrue evidence twice. Adapters still require audited sampling/access/measurement and prospective power. This is not the RNA DAVT construction pictured above.</a:t>
            </a:r>
          </a:p>
          <a:p>
            <a:r>
              <a:t>STATUS: Biological two-sample diagnostic and its public-input replay guards are implemented. Branch-monitor prefix scoring/grouped calibration infrastructure exists; real research-trajectory fitting and calibration remain pending. This slide does not claim a validated branch-stopping policy, private clinical confirmation, independent falsifier recomputation, or completed literature-to-discovery recovery.</a:t>
            </a:r>
          </a:p>
          <a:p/>
          <a:p>
            <a:r>
              <a:t>BEFORE PRESENTING / NEXT EDIT</a:t>
            </a:r>
          </a:p>
          <a:p>
            <a:r>
              <a:t>Preserve every predeclared representation comparator. The constant critic g=0 is an analytical no-information baseline with E=1, not an empirical random-number experiment. Never equate an e-value with accuracy, clinical utility or probability that a claim is true. The 112/10,000 crossing audit uses the separate small synthetic encoder. Unlike a fixed confidence number, this score has a conditional expectation bound; arbitrary LLM numbers do not. Better fitting cannot rescue dependence, leakage or a wrong null. Do not transfer the diagnostic to branch-monitor calibration, which remains pending.</a:t>
            </a:r>
          </a:p>
          <a:p/>
          <a:p>
            <a:r>
              <a:t>JUDGING CRITERIA</a:t>
            </a:r>
          </a:p>
          <a:p>
            <a:r>
              <a:t>Main Technical Execution (50); AI Technical Sophistication (50); AI Reliability/Evaluation/Trustworthiness (25); AI Importance (25)</a:t>
            </a:r>
          </a:p>
          <a:p/>
          <a:p>
            <a:r>
              <a:t>SOURCES</a:t>
            </a:r>
          </a:p>
          <a:p>
            <a:r>
              <a:t>Repository: src/dnhacksbio/learned_evalue.py at da551e0cccfc1833830c71eabb52b78bfb100db5</a:t>
            </a:r>
          </a:p>
          <a:p>
            <a:r>
              <a:t>Repository: src/dnhacksbio/expr_encoder.py at da551e0cccfc1833830c71eabb52b78bfb100db5</a:t>
            </a:r>
          </a:p>
          <a:p>
            <a:r>
              <a:t>Repository: docs/learned-evalue-process.md at da551e0cccfc1833830c71eabb52b78bfb100db5</a:t>
            </a:r>
          </a:p>
          <a:p>
            <a:r>
              <a:t>Repository: research/learned-evalue-validation/real-expression/training.json at da551e0cccfc1833830c71eabb52b78bfb100db5</a:t>
            </a:r>
          </a:p>
          <a:p>
            <a:r>
              <a:t>Repository: research/learned-evalue-validation/real-expression/evaluation.json at da551e0cccfc1833830c71eabb52b78bfb100db5</a:t>
            </a:r>
          </a:p>
          <a:p>
            <a:r>
              <a:t>Repository: research/learned-evalue-validation/real-expression/manifest.json at da551e0cccfc1833830c71eabb52b78bfb100db5</a:t>
            </a:r>
          </a:p>
          <a:p>
            <a:r>
              <a:t>Repository: research/learned-evalue-validation/expanded-null.json at da551e0cccfc1833830c71eabb52b78bfb100db5</a:t>
            </a:r>
          </a:p>
          <a:p>
            <a:r>
              <a:t>Repository: tests/test_learned_evalue.py at da551e0cccfc1833830c71eabb52b78bfb100db5</a:t>
            </a:r>
          </a:p>
          <a:p>
            <a:r>
              <a:t>Repository: docs/branch-monitoring.md at da551e0cccfc1833830c71eabb52b78bfb100db5</a:t>
            </a:r>
          </a:p>
          <a:p>
            <a:r>
              <a:t>Repository: docs/native-evidence.md at da551e0cccfc1833830c71eabb52b78bfb100db5</a:t>
            </a:r>
          </a:p>
          <a:p>
            <a:r>
              <a:t>Repository: docs/protein-training.md at da551e0cccfc1833830c71eabb52b78bfb100db5</a:t>
            </a:r>
          </a:p>
          <a:p>
            <a:r>
              <a:t>Repository: docs/protein-external.md at da551e0cccfc1833830c71eabb52b78bfb100db5</a:t>
            </a:r>
          </a:p>
          <a:p>
            <a:r>
              <a:t>Repository: docs/protein-model-power.md at da551e0cccfc1833830c71eabb52b78bfb100db5</a:t>
            </a:r>
          </a:p>
          <a:p>
            <a:r>
              <a:t>Repository: presentation/assets/v2/plots/manifest.json at da551e0cccfc1833830c71eabb52b78bfb100db5</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TENTATIVE SCRIPT · 35 seconds</a:t>
            </a:r>
          </a:p>
          <a:p>
            <a:r>
              <a:t>[Fill the bracketed run details before presenting.] Start with the source relationship in the website. Show the agent turning a gap into a question, then open its saved analysis and raw output. Show what the automatic checks accepted and the scientist reviewed. Of [proposed] candidates, [passed] reached review. Now click to reveal the later paper: this candidate matches [the exact finding]. Explain the shared result, not just overlapping keywords. The audience has seen the working loop first; on the next slide, show how its accessible evidence was frozen.</a:t>
            </a:r>
          </a:p>
          <a:p/>
          <a:p>
            <a:r>
              <a:t>EVIDENCE / STATUS</a:t>
            </a:r>
          </a:p>
          <a:p>
            <a:r>
              <a:t>User confirms demonstration records are on a teammate machine and authorizes inferred structure with placeholders. Counts, candidate, paper identity and exact match are not locally verified. The white paper mockup is native editable text/shapes, not an invented publication. Current left image is actual website UI with synthetic test data. The paper group has an800ms on-click fade; it is visible in PDF final state.</a:t>
            </a:r>
          </a:p>
          <a:p/>
          <a:p>
            <a:r>
              <a:t>BEFORE PRESENTING / NEXT EDIT</a:t>
            </a:r>
          </a:p>
          <a:p>
            <a:r>
              <a:t>Replace the left panel with a video or snapshots from the same selected run, and fill the actual survivors and paper. Show the full loop, then survivors, then click the paper reveal. Advance directly to slide 8. The user will manually edit this working deck.</a:t>
            </a:r>
          </a:p>
          <a:p/>
          <a:p>
            <a:r>
              <a:t>JUDGING CRITERIA</a:t>
            </a:r>
          </a:p>
          <a:p>
            <a:r>
              <a:t>Technical Originality/Execution (50); Problem &amp; Impact (25); Reliability/Trustworthiness (25)</a:t>
            </a:r>
          </a:p>
          <a:p/>
          <a:p>
            <a:r>
              <a:t>SOURCES</a:t>
            </a:r>
          </a:p>
          <a:p>
            <a:r>
              <a:t>Repository: plans/PLAN-demo-slides.md at da551e0cccfc1833830c71eabb52b78bfb100db5</a:t>
            </a:r>
          </a:p>
          <a:p>
            <a:r>
              <a:t>Repository: presentation/assets/revision/manifest.json at da551e0cccfc1833830c71eabb52b78bfb100db5</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TENTATIVE SCRIPT · 35 seconds</a:t>
            </a:r>
          </a:p>
          <a:p>
            <a:r>
              <a:t>Here is the backtest behind the reveal. Freeze the papers, data and access policy before starting, with the matching later paper held out. Run the ordinary research workflow and retain source references, submitted code, outputs and retrieval logs. Then compare the exact candidate finding with the held-out publication. GPU use belongs to a particular recorded model fit or scientific computation; fill that task and timing from the teammate run. Our locally documented L40S work trained the expression representation. The next stronger test uses sealed post-cutoff data and the same compute budget for a retrieval-only or unguided agent.</a:t>
            </a:r>
          </a:p>
          <a:p/>
          <a:p>
            <a:r>
              <a:t>EVIDENCE / STATUS</a:t>
            </a:r>
          </a:p>
          <a:p>
            <a:r>
              <a:t>Inferred demo structure authorized by the user; teammate records supply the placeholders. Curated local PDAC collection:100papers dated2007–2025 with inclusive2026-01-25curation boundary; this is not itself a run-access boundary. No actual Library/reader image or teammate recovery records are local. The independent L40S expression fit is supported by training.json; it must not be relabeled GPU-powered recovery. A frozen retrieval corpus cannot rule out pretrained model knowledge. A later matching paper does not by itself establish causality, novelty, or equal-budget discovery advantage. A real audit must check external retrieval and exact available data, including locally cached artifacts.</a:t>
            </a:r>
          </a:p>
          <a:p/>
          <a:p>
            <a:r>
              <a:t>BEFORE PRESENTING / NEXT EDIT</a:t>
            </a:r>
          </a:p>
          <a:p>
            <a:r>
              <a:t>Keep immediately after the paper-reveal slide. Fill every bracketed field from the selected run and exclusion audit. Replace the left native panel with an actual Library/source-reader screenshot. Do not turn a curation date into a claim about model memory or unrestricted retrieval.</a:t>
            </a:r>
          </a:p>
          <a:p/>
          <a:p>
            <a:r>
              <a:t>JUDGING CRITERIA</a:t>
            </a:r>
          </a:p>
          <a:p>
            <a:r>
              <a:t>AI Reliability/Evaluation (25); Technical Originality (50); UX/Understanding User (40/30)</a:t>
            </a:r>
          </a:p>
          <a:p/>
          <a:p>
            <a:r>
              <a:t>SOURCES</a:t>
            </a:r>
          </a:p>
          <a:p>
            <a:r>
              <a:t>Repository: demo/pdac/README.md at da551e0cccfc1833830c71eabb52b78bfb100db5</a:t>
            </a:r>
          </a:p>
          <a:p>
            <a:r>
              <a:t>Repository: demo/pdac/papers.json at da551e0cccfc1833830c71eabb52b78bfb100db5</a:t>
            </a:r>
          </a:p>
          <a:p>
            <a:r>
              <a:t>Repository: plans/PLAN-demo-slides.md at da551e0cccfc1833830c71eabb52b78bfb100db5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TENTATIVE SCRIPT · 30 seconds</a:t>
            </a:r>
          </a:p>
          <a:p>
            <a:r>
              <a:t>The first customer is a computational research lead who already has questions, data and a limited experimental budget. Start in one private workspace and integrate with that team’s literature and analysis workflow. Measure independently rerunnable useful findings, total model and tool cost, and reviewer time. A subscription plus metered compute is a business model to test. The longer-term direction is an autonomous research organization: allocating experiments across scientific instruments, accumulating evidence and helping scientists anticipate consequential biological capabilities before they become widespread.</a:t>
            </a:r>
          </a:p>
          <a:p/>
          <a:p>
            <a:r>
              <a:t>EVIDENCE / STATUS</a:t>
            </a:r>
          </a:p>
          <a:p>
            <a:r>
              <a:t>Buyer and commercial model are hypotheses; no traction or pricing validation is claimed. Existing runtime records action/operation time and SDK usage; cost per useful discovery has not been measured. Research branch monitoring has prefix models/grouped calibration code but real-trajectory fitting remains pending. Separate-account deployment, execution permissions, data rights, privacy and security review remain deployment work. The tissue and spindle panels are actual conditional software outputs; biological calibration is not established.</a:t>
            </a:r>
          </a:p>
          <a:p/>
          <a:p>
            <a:r>
              <a:t>BEFORE PRESENTING / NEXT EDIT</a:t>
            </a:r>
          </a:p>
          <a:p>
            <a:r>
              <a:t>Add the team’s final ask and any measured pilot cost/user feedback. Future direction may be presented boldly; do not invent customers or effectiveness. Medical/clinical use would require additional validation and regulatory work. The active ecosystem/pharmacotype research routes were cancelled; these distinct 3D tools are not those routes.</a:t>
            </a:r>
          </a:p>
          <a:p/>
          <a:p>
            <a:r>
              <a:t>JUDGING CRITERIA</a:t>
            </a:r>
          </a:p>
          <a:p>
            <a:r>
              <a:t>Feasibility &amp; Deployment (25); Understanding User (30); Design Craft (30); Problem &amp; Impact (25)</a:t>
            </a:r>
          </a:p>
          <a:p/>
          <a:p>
            <a:r>
              <a:t>SOURCES</a:t>
            </a:r>
          </a:p>
          <a:p>
            <a:r>
              <a:t>Repository: docs/deployment.md at da551e0cccfc1833830c71eabb52b78bfb100db5</a:t>
            </a:r>
          </a:p>
          <a:p>
            <a:r>
              <a:t>Repository: docs/runtime.md at da551e0cccfc1833830c71eabb52b78bfb100db5</a:t>
            </a:r>
          </a:p>
          <a:p>
            <a:r>
              <a:t>Repository: docs/branch-monitoring.md at da551e0cccfc1833830c71eabb52b78bfb100db5</a:t>
            </a:r>
          </a:p>
          <a:p>
            <a:r>
              <a:t>Repository: docs/tumor-stroma.md at da551e0cccfc1833830c71eabb52b78bfb100db5</a:t>
            </a:r>
          </a:p>
          <a:p>
            <a:r>
              <a:t>Repository: docs/spindle-motors.md at da551e0cccfc1833830c71eabb52b78bfb100db5</a:t>
            </a:r>
          </a:p>
          <a:p>
            <a:r>
              <a:t>DTX Ventures · Vision: https://www.dtxventures.com/vision (accessed 2026-09-06)</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TENTATIVE SCRIPT · 35 seconds</a:t>
            </a:r>
          </a:p>
          <a:p>
            <a:r>
              <a:t>Our three-year thesis is that model progress expands this system’s useful workload. Better extraction fills the grounded graph; better coding and instrument use expand what an investigation can execute. We keep the experimental records and evaluation contracts while changing the model. First prove a repeatable team workflow. Then train allocation on completed trajectories and demonstrate better results at the same budget. By year three, the optimistic product is continuous, supervised research programs. The company must earn its position through trusted integrations, accumulated evidence and customer retention, as stronger models become widely available.</a:t>
            </a:r>
          </a:p>
          <a:p/>
          <a:p>
            <a:r>
              <a:t>EVIDENCE / STATUS</a:t>
            </a:r>
          </a:p>
          <a:p>
            <a:r>
              <a:t>Explicit prospective milestones, not forecasts or delivered capabilities. Real branch-monitor fitting, calibration and operational statistical stopping are pending. Prospective independent episodes and careful handling of censored/pruned branches are required; related children are not independent calibration units. Better models can improve power or productivity but do not guarantee discovery yield. Permissioned sources, instrument integrations and accepted research histories are potential durable assets only if customers value them. No pricing, margin, revenue, retention or pilot uplift is fabricated. Three-year horizons are relative to the2026hackathon.</a:t>
            </a:r>
          </a:p>
          <a:p/>
          <a:p>
            <a:r>
              <a:t>BEFORE PRESENTING / NEXT EDIT</a:t>
            </a:r>
          </a:p>
          <a:p>
            <a:r>
              <a:t>Replace goals with measured pilot metrics as they become available. A useful VC dashboard records all-in cost per independently rerunnable useful result, expert review minutes, return usage, paid expansion, retention and integration time. Compare models/workflows at equal budgets and retain negative outcomes.</a:t>
            </a:r>
          </a:p>
          <a:p/>
          <a:p>
            <a:r>
              <a:t>JUDGING CRITERIA</a:t>
            </a:r>
          </a:p>
          <a:p>
            <a:r>
              <a:t>Feasibility &amp; Deployment (25); Technical Originality (50); Problem &amp; Impact (25)</a:t>
            </a:r>
          </a:p>
          <a:p/>
          <a:p>
            <a:r>
              <a:t>SOURCES</a:t>
            </a:r>
          </a:p>
          <a:p>
            <a:r>
              <a:t>Repository: docs/branch-monitoring.md at da551e0cccfc1833830c71eabb52b78bfb100db5</a:t>
            </a:r>
          </a:p>
          <a:p>
            <a:r>
              <a:t>Repository: docs/deployment.md at da551e0cccfc1833830c71eabb52b78bfb100db5</a:t>
            </a:r>
          </a:p>
          <a:p>
            <a:r>
              <a:t>Repository: docs/runtime.md at da551e0cccfc1833830c71eabb52b78bfb100db5</a:t>
            </a:r>
          </a:p>
          <a:p>
            <a:r>
              <a:t>DTX Ventures · Vision: https://www.dtxventures.com/vision (accessed 2026-09-06)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4.png"/><Relationship Id="rId6" Type="http://schemas.openxmlformats.org/officeDocument/2006/relationships/hyperlink" Target="binder-reveal.mp4" TargetMode="Externa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1F"/>
        </a:solidFill>
        <a:effectLst/>
      </p:bgPr>
    </p:bg>
    <p:spTree>
      <p:nvGrpSpPr>
        <p:cNvPr id="1" name=""/>
        <p:cNvGrpSpPr/>
        <p:nvPr/>
      </p:nvGrpSpPr>
      <p:grpSpPr/>
      <p:sp>
        <p:nvSpPr>
          <p:cNvPr id="2" name="TextBox 1"/>
          <p:cNvSpPr txBox="1"/>
          <p:nvPr/>
        </p:nvSpPr>
        <p:spPr>
          <a:xfrm>
            <a:off x="502920" y="246888"/>
            <a:ext cx="2377440" cy="219456"/>
          </a:xfrm>
          <a:prstGeom prst="rect">
            <a:avLst/>
          </a:prstGeom>
          <a:noFill/>
        </p:spPr>
        <p:txBody>
          <a:bodyPr wrap="square" lIns="0" rIns="0" tIns="0" bIns="0" anchor="t">
            <a:noAutofit/>
          </a:bodyPr>
          <a:lstStyle/>
          <a:p>
            <a:pPr algn="l">
              <a:lnSpc>
                <a:spcPct val="108000"/>
              </a:lnSpc>
              <a:spcBef>
                <a:spcPts val="0"/>
              </a:spcBef>
              <a:spcAft>
                <a:spcPts val="0"/>
              </a:spcAft>
            </a:pPr>
            <a:r>
              <a:rPr sz="1100" b="1">
                <a:solidFill>
                  <a:srgbClr val="F1EFE7"/>
                </a:solidFill>
                <a:latin typeface="IBM Plex Mono"/>
              </a:rPr>
              <a:t>DN / RESEARCH</a:t>
            </a:r>
          </a:p>
        </p:txBody>
      </p:sp>
      <p:sp>
        <p:nvSpPr>
          <p:cNvPr id="3" name="TextBox 2"/>
          <p:cNvSpPr txBox="1"/>
          <p:nvPr/>
        </p:nvSpPr>
        <p:spPr>
          <a:xfrm>
            <a:off x="4572000" y="256032"/>
            <a:ext cx="7095744" cy="201168"/>
          </a:xfrm>
          <a:prstGeom prst="rect">
            <a:avLst/>
          </a:prstGeom>
          <a:noFill/>
        </p:spPr>
        <p:txBody>
          <a:bodyPr wrap="square" lIns="0" rIns="0" tIns="0" bIns="0" anchor="t">
            <a:noAutofit/>
          </a:bodyPr>
          <a:lstStyle/>
          <a:p>
            <a:pPr algn="r">
              <a:lnSpc>
                <a:spcPct val="108000"/>
              </a:lnSpc>
              <a:spcBef>
                <a:spcPts val="0"/>
              </a:spcBef>
              <a:spcAft>
                <a:spcPts val="0"/>
              </a:spcAft>
            </a:pPr>
            <a:r>
              <a:rPr sz="1000" b="0">
                <a:solidFill>
                  <a:srgbClr val="AFB9B2"/>
                </a:solidFill>
                <a:latin typeface="IBM Plex Mono"/>
              </a:rPr>
              <a:t>BIOLOGICAL FORESIGHT</a:t>
            </a:r>
          </a:p>
        </p:txBody>
      </p:sp>
      <p:cxnSp>
        <p:nvCxnSpPr>
          <p:cNvPr id="4" name="Connector 3"/>
          <p:cNvCxnSpPr/>
          <p:nvPr/>
        </p:nvCxnSpPr>
        <p:spPr>
          <a:xfrm>
            <a:off x="502920" y="658368"/>
            <a:ext cx="11183112" cy="0"/>
          </a:xfrm>
          <a:prstGeom prst="line">
            <a:avLst/>
          </a:prstGeom>
          <a:ln w="8890">
            <a:solidFill>
              <a:srgbClr val="3A4944"/>
            </a:solidFill>
          </a:ln>
          <a:effectLst/>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02920" y="6437376"/>
            <a:ext cx="11183112" cy="0"/>
          </a:xfrm>
          <a:prstGeom prst="line">
            <a:avLst/>
          </a:prstGeom>
          <a:ln w="8890">
            <a:solidFill>
              <a:srgbClr val="3A4944"/>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02920" y="6547104"/>
            <a:ext cx="7315200" cy="173736"/>
          </a:xfrm>
          <a:prstGeom prst="rect">
            <a:avLst/>
          </a:prstGeom>
          <a:noFill/>
        </p:spPr>
        <p:txBody>
          <a:bodyPr wrap="square" lIns="0" rIns="0" tIns="0" bIns="0" anchor="t">
            <a:noAutofit/>
          </a:bodyPr>
          <a:lstStyle/>
          <a:p>
            <a:pPr algn="l">
              <a:lnSpc>
                <a:spcPct val="108000"/>
              </a:lnSpc>
              <a:spcBef>
                <a:spcPts val="0"/>
              </a:spcBef>
              <a:spcAft>
                <a:spcPts val="0"/>
              </a:spcAft>
            </a:pPr>
            <a:r>
              <a:rPr sz="800" b="0">
                <a:solidFill>
                  <a:srgbClr val="AFB9B2"/>
                </a:solidFill>
                <a:latin typeface="IBM Plex Mono"/>
              </a:rPr>
              <a:t>DNHACKS 2026  /  WORKING PRESENTATION</a:t>
            </a:r>
          </a:p>
        </p:txBody>
      </p:sp>
      <p:sp>
        <p:nvSpPr>
          <p:cNvPr id="7" name="TextBox 6"/>
          <p:cNvSpPr txBox="1"/>
          <p:nvPr/>
        </p:nvSpPr>
        <p:spPr>
          <a:xfrm>
            <a:off x="11100816" y="6501384"/>
            <a:ext cx="585216" cy="265176"/>
          </a:xfrm>
          <a:prstGeom prst="rect">
            <a:avLst/>
          </a:prstGeom>
          <a:noFill/>
        </p:spPr>
        <p:txBody>
          <a:bodyPr wrap="square" lIns="0" rIns="0" tIns="0" bIns="0" anchor="t">
            <a:noAutofit/>
          </a:bodyPr>
          <a:lstStyle/>
          <a:p>
            <a:pPr algn="r">
              <a:lnSpc>
                <a:spcPct val="108000"/>
              </a:lnSpc>
              <a:spcBef>
                <a:spcPts val="0"/>
              </a:spcBef>
              <a:spcAft>
                <a:spcPts val="0"/>
              </a:spcAft>
            </a:pPr>
            <a:r>
              <a:rPr sz="1200" b="0">
                <a:solidFill>
                  <a:srgbClr val="F1EFE7"/>
                </a:solidFill>
                <a:latin typeface="IBM Plex Mono"/>
              </a:rPr>
              <a:t>01</a:t>
            </a:r>
          </a:p>
        </p:txBody>
      </p:sp>
      <p:sp>
        <p:nvSpPr>
          <p:cNvPr id="8" name="Oval 7"/>
          <p:cNvSpPr/>
          <p:nvPr/>
        </p:nvSpPr>
        <p:spPr>
          <a:xfrm>
            <a:off x="6008522" y="107076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Oval 8"/>
          <p:cNvSpPr/>
          <p:nvPr/>
        </p:nvSpPr>
        <p:spPr>
          <a:xfrm>
            <a:off x="6008522" y="131765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Oval 9"/>
          <p:cNvSpPr/>
          <p:nvPr/>
        </p:nvSpPr>
        <p:spPr>
          <a:xfrm>
            <a:off x="6008522" y="156453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Oval 10"/>
          <p:cNvSpPr/>
          <p:nvPr/>
        </p:nvSpPr>
        <p:spPr>
          <a:xfrm>
            <a:off x="6008522" y="181142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Oval 11"/>
          <p:cNvSpPr/>
          <p:nvPr/>
        </p:nvSpPr>
        <p:spPr>
          <a:xfrm>
            <a:off x="6008522" y="205831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Oval 12"/>
          <p:cNvSpPr/>
          <p:nvPr/>
        </p:nvSpPr>
        <p:spPr>
          <a:xfrm>
            <a:off x="6008522" y="230520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Oval 13"/>
          <p:cNvSpPr/>
          <p:nvPr/>
        </p:nvSpPr>
        <p:spPr>
          <a:xfrm>
            <a:off x="6008522" y="255209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Oval 14"/>
          <p:cNvSpPr/>
          <p:nvPr/>
        </p:nvSpPr>
        <p:spPr>
          <a:xfrm>
            <a:off x="6008522" y="279897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Oval 15"/>
          <p:cNvSpPr/>
          <p:nvPr/>
        </p:nvSpPr>
        <p:spPr>
          <a:xfrm>
            <a:off x="6008522" y="304586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Oval 16"/>
          <p:cNvSpPr/>
          <p:nvPr/>
        </p:nvSpPr>
        <p:spPr>
          <a:xfrm>
            <a:off x="6008522" y="329275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Oval 17"/>
          <p:cNvSpPr/>
          <p:nvPr/>
        </p:nvSpPr>
        <p:spPr>
          <a:xfrm>
            <a:off x="6008522" y="353964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Oval 18"/>
          <p:cNvSpPr/>
          <p:nvPr/>
        </p:nvSpPr>
        <p:spPr>
          <a:xfrm>
            <a:off x="6008522" y="378653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Oval 19"/>
          <p:cNvSpPr/>
          <p:nvPr/>
        </p:nvSpPr>
        <p:spPr>
          <a:xfrm>
            <a:off x="6008522" y="403341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6008522" y="428030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Oval 21"/>
          <p:cNvSpPr/>
          <p:nvPr/>
        </p:nvSpPr>
        <p:spPr>
          <a:xfrm>
            <a:off x="6008522" y="452719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Oval 22"/>
          <p:cNvSpPr/>
          <p:nvPr/>
        </p:nvSpPr>
        <p:spPr>
          <a:xfrm>
            <a:off x="6008522" y="477408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Oval 23"/>
          <p:cNvSpPr/>
          <p:nvPr/>
        </p:nvSpPr>
        <p:spPr>
          <a:xfrm>
            <a:off x="6008522" y="502097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Oval 24"/>
          <p:cNvSpPr/>
          <p:nvPr/>
        </p:nvSpPr>
        <p:spPr>
          <a:xfrm>
            <a:off x="6008522" y="526785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Oval 25"/>
          <p:cNvSpPr/>
          <p:nvPr/>
        </p:nvSpPr>
        <p:spPr>
          <a:xfrm>
            <a:off x="6008522" y="551474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Oval 26"/>
          <p:cNvSpPr/>
          <p:nvPr/>
        </p:nvSpPr>
        <p:spPr>
          <a:xfrm>
            <a:off x="6255410" y="107076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Oval 27"/>
          <p:cNvSpPr/>
          <p:nvPr/>
        </p:nvSpPr>
        <p:spPr>
          <a:xfrm>
            <a:off x="6255410" y="131765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Oval 28"/>
          <p:cNvSpPr/>
          <p:nvPr/>
        </p:nvSpPr>
        <p:spPr>
          <a:xfrm>
            <a:off x="6255410" y="156453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Oval 29"/>
          <p:cNvSpPr/>
          <p:nvPr/>
        </p:nvSpPr>
        <p:spPr>
          <a:xfrm>
            <a:off x="6255410" y="181142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Oval 30"/>
          <p:cNvSpPr/>
          <p:nvPr/>
        </p:nvSpPr>
        <p:spPr>
          <a:xfrm>
            <a:off x="6255410" y="205831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Oval 31"/>
          <p:cNvSpPr/>
          <p:nvPr/>
        </p:nvSpPr>
        <p:spPr>
          <a:xfrm>
            <a:off x="6255410" y="230520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Oval 32"/>
          <p:cNvSpPr/>
          <p:nvPr/>
        </p:nvSpPr>
        <p:spPr>
          <a:xfrm>
            <a:off x="6255410" y="255209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Oval 33"/>
          <p:cNvSpPr/>
          <p:nvPr/>
        </p:nvSpPr>
        <p:spPr>
          <a:xfrm>
            <a:off x="6255410" y="279897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Oval 34"/>
          <p:cNvSpPr/>
          <p:nvPr/>
        </p:nvSpPr>
        <p:spPr>
          <a:xfrm>
            <a:off x="6255410" y="304586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Oval 35"/>
          <p:cNvSpPr/>
          <p:nvPr/>
        </p:nvSpPr>
        <p:spPr>
          <a:xfrm>
            <a:off x="6255410" y="329275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Oval 36"/>
          <p:cNvSpPr/>
          <p:nvPr/>
        </p:nvSpPr>
        <p:spPr>
          <a:xfrm>
            <a:off x="6255410" y="353964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Oval 37"/>
          <p:cNvSpPr/>
          <p:nvPr/>
        </p:nvSpPr>
        <p:spPr>
          <a:xfrm>
            <a:off x="6255410" y="378653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Oval 38"/>
          <p:cNvSpPr/>
          <p:nvPr/>
        </p:nvSpPr>
        <p:spPr>
          <a:xfrm>
            <a:off x="6255410" y="403341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Oval 39"/>
          <p:cNvSpPr/>
          <p:nvPr/>
        </p:nvSpPr>
        <p:spPr>
          <a:xfrm>
            <a:off x="6255410" y="428030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Oval 40"/>
          <p:cNvSpPr/>
          <p:nvPr/>
        </p:nvSpPr>
        <p:spPr>
          <a:xfrm>
            <a:off x="6255410" y="452719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Oval 41"/>
          <p:cNvSpPr/>
          <p:nvPr/>
        </p:nvSpPr>
        <p:spPr>
          <a:xfrm>
            <a:off x="6255410" y="477408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Oval 42"/>
          <p:cNvSpPr/>
          <p:nvPr/>
        </p:nvSpPr>
        <p:spPr>
          <a:xfrm>
            <a:off x="6255410" y="502097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Oval 43"/>
          <p:cNvSpPr/>
          <p:nvPr/>
        </p:nvSpPr>
        <p:spPr>
          <a:xfrm>
            <a:off x="6255410" y="526785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Oval 44"/>
          <p:cNvSpPr/>
          <p:nvPr/>
        </p:nvSpPr>
        <p:spPr>
          <a:xfrm>
            <a:off x="6255410" y="551474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Oval 45"/>
          <p:cNvSpPr/>
          <p:nvPr/>
        </p:nvSpPr>
        <p:spPr>
          <a:xfrm>
            <a:off x="6502298" y="107076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Oval 46"/>
          <p:cNvSpPr/>
          <p:nvPr/>
        </p:nvSpPr>
        <p:spPr>
          <a:xfrm>
            <a:off x="6502298" y="131765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Oval 47"/>
          <p:cNvSpPr/>
          <p:nvPr/>
        </p:nvSpPr>
        <p:spPr>
          <a:xfrm>
            <a:off x="6502298" y="156453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Oval 48"/>
          <p:cNvSpPr/>
          <p:nvPr/>
        </p:nvSpPr>
        <p:spPr>
          <a:xfrm>
            <a:off x="6502298" y="181142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Oval 49"/>
          <p:cNvSpPr/>
          <p:nvPr/>
        </p:nvSpPr>
        <p:spPr>
          <a:xfrm>
            <a:off x="6502298" y="205831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Oval 50"/>
          <p:cNvSpPr/>
          <p:nvPr/>
        </p:nvSpPr>
        <p:spPr>
          <a:xfrm>
            <a:off x="6502298" y="230520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Oval 51"/>
          <p:cNvSpPr/>
          <p:nvPr/>
        </p:nvSpPr>
        <p:spPr>
          <a:xfrm>
            <a:off x="6502298" y="255209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Oval 52"/>
          <p:cNvSpPr/>
          <p:nvPr/>
        </p:nvSpPr>
        <p:spPr>
          <a:xfrm>
            <a:off x="6502298" y="279897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Oval 53"/>
          <p:cNvSpPr/>
          <p:nvPr/>
        </p:nvSpPr>
        <p:spPr>
          <a:xfrm>
            <a:off x="6502298" y="304586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Oval 54"/>
          <p:cNvSpPr/>
          <p:nvPr/>
        </p:nvSpPr>
        <p:spPr>
          <a:xfrm>
            <a:off x="6502298" y="329275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Oval 55"/>
          <p:cNvSpPr/>
          <p:nvPr/>
        </p:nvSpPr>
        <p:spPr>
          <a:xfrm>
            <a:off x="6502298" y="353964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Oval 56"/>
          <p:cNvSpPr/>
          <p:nvPr/>
        </p:nvSpPr>
        <p:spPr>
          <a:xfrm>
            <a:off x="6502298" y="378653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Oval 57"/>
          <p:cNvSpPr/>
          <p:nvPr/>
        </p:nvSpPr>
        <p:spPr>
          <a:xfrm>
            <a:off x="6502298" y="403341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Oval 58"/>
          <p:cNvSpPr/>
          <p:nvPr/>
        </p:nvSpPr>
        <p:spPr>
          <a:xfrm>
            <a:off x="6502298" y="428030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Oval 59"/>
          <p:cNvSpPr/>
          <p:nvPr/>
        </p:nvSpPr>
        <p:spPr>
          <a:xfrm>
            <a:off x="6502298" y="452719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Oval 60"/>
          <p:cNvSpPr/>
          <p:nvPr/>
        </p:nvSpPr>
        <p:spPr>
          <a:xfrm>
            <a:off x="6502298" y="477408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Oval 61"/>
          <p:cNvSpPr/>
          <p:nvPr/>
        </p:nvSpPr>
        <p:spPr>
          <a:xfrm>
            <a:off x="6502298" y="502097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Oval 62"/>
          <p:cNvSpPr/>
          <p:nvPr/>
        </p:nvSpPr>
        <p:spPr>
          <a:xfrm>
            <a:off x="6502298" y="526785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Oval 63"/>
          <p:cNvSpPr/>
          <p:nvPr/>
        </p:nvSpPr>
        <p:spPr>
          <a:xfrm>
            <a:off x="6502298" y="551474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Oval 64"/>
          <p:cNvSpPr/>
          <p:nvPr/>
        </p:nvSpPr>
        <p:spPr>
          <a:xfrm>
            <a:off x="6749186" y="107076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Oval 65"/>
          <p:cNvSpPr/>
          <p:nvPr/>
        </p:nvSpPr>
        <p:spPr>
          <a:xfrm>
            <a:off x="6749186" y="131765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Oval 66"/>
          <p:cNvSpPr/>
          <p:nvPr/>
        </p:nvSpPr>
        <p:spPr>
          <a:xfrm>
            <a:off x="6749186" y="156453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Oval 67"/>
          <p:cNvSpPr/>
          <p:nvPr/>
        </p:nvSpPr>
        <p:spPr>
          <a:xfrm>
            <a:off x="6749186" y="181142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Oval 68"/>
          <p:cNvSpPr/>
          <p:nvPr/>
        </p:nvSpPr>
        <p:spPr>
          <a:xfrm>
            <a:off x="6749186" y="205831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Oval 69"/>
          <p:cNvSpPr/>
          <p:nvPr/>
        </p:nvSpPr>
        <p:spPr>
          <a:xfrm>
            <a:off x="6749186" y="230520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Oval 70"/>
          <p:cNvSpPr/>
          <p:nvPr/>
        </p:nvSpPr>
        <p:spPr>
          <a:xfrm>
            <a:off x="6749186" y="255209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Oval 71"/>
          <p:cNvSpPr/>
          <p:nvPr/>
        </p:nvSpPr>
        <p:spPr>
          <a:xfrm>
            <a:off x="6749186" y="279897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Oval 72"/>
          <p:cNvSpPr/>
          <p:nvPr/>
        </p:nvSpPr>
        <p:spPr>
          <a:xfrm>
            <a:off x="6749186" y="304586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Oval 73"/>
          <p:cNvSpPr/>
          <p:nvPr/>
        </p:nvSpPr>
        <p:spPr>
          <a:xfrm>
            <a:off x="6749186" y="329275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Oval 74"/>
          <p:cNvSpPr/>
          <p:nvPr/>
        </p:nvSpPr>
        <p:spPr>
          <a:xfrm>
            <a:off x="6749186" y="353964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Oval 75"/>
          <p:cNvSpPr/>
          <p:nvPr/>
        </p:nvSpPr>
        <p:spPr>
          <a:xfrm>
            <a:off x="6749186" y="378653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Oval 76"/>
          <p:cNvSpPr/>
          <p:nvPr/>
        </p:nvSpPr>
        <p:spPr>
          <a:xfrm>
            <a:off x="6749186" y="403341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Oval 77"/>
          <p:cNvSpPr/>
          <p:nvPr/>
        </p:nvSpPr>
        <p:spPr>
          <a:xfrm>
            <a:off x="6749186" y="428030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Oval 78"/>
          <p:cNvSpPr/>
          <p:nvPr/>
        </p:nvSpPr>
        <p:spPr>
          <a:xfrm>
            <a:off x="6749186" y="452719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Oval 79"/>
          <p:cNvSpPr/>
          <p:nvPr/>
        </p:nvSpPr>
        <p:spPr>
          <a:xfrm>
            <a:off x="6749186" y="477408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Oval 80"/>
          <p:cNvSpPr/>
          <p:nvPr/>
        </p:nvSpPr>
        <p:spPr>
          <a:xfrm>
            <a:off x="6749186" y="502097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Oval 81"/>
          <p:cNvSpPr/>
          <p:nvPr/>
        </p:nvSpPr>
        <p:spPr>
          <a:xfrm>
            <a:off x="6749186" y="526785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Oval 82"/>
          <p:cNvSpPr/>
          <p:nvPr/>
        </p:nvSpPr>
        <p:spPr>
          <a:xfrm>
            <a:off x="6749186" y="551474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Oval 83"/>
          <p:cNvSpPr/>
          <p:nvPr/>
        </p:nvSpPr>
        <p:spPr>
          <a:xfrm>
            <a:off x="6996074" y="107076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Oval 84"/>
          <p:cNvSpPr/>
          <p:nvPr/>
        </p:nvSpPr>
        <p:spPr>
          <a:xfrm>
            <a:off x="6996074" y="131765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Oval 85"/>
          <p:cNvSpPr/>
          <p:nvPr/>
        </p:nvSpPr>
        <p:spPr>
          <a:xfrm>
            <a:off x="6996074" y="156453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Oval 86"/>
          <p:cNvSpPr/>
          <p:nvPr/>
        </p:nvSpPr>
        <p:spPr>
          <a:xfrm>
            <a:off x="6996074" y="181142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Oval 87"/>
          <p:cNvSpPr/>
          <p:nvPr/>
        </p:nvSpPr>
        <p:spPr>
          <a:xfrm>
            <a:off x="6996074" y="205831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Oval 88"/>
          <p:cNvSpPr/>
          <p:nvPr/>
        </p:nvSpPr>
        <p:spPr>
          <a:xfrm>
            <a:off x="6996074" y="230520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0" name="Oval 89"/>
          <p:cNvSpPr/>
          <p:nvPr/>
        </p:nvSpPr>
        <p:spPr>
          <a:xfrm>
            <a:off x="6996074" y="255209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1" name="Oval 90"/>
          <p:cNvSpPr/>
          <p:nvPr/>
        </p:nvSpPr>
        <p:spPr>
          <a:xfrm>
            <a:off x="6996074" y="279897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2" name="Oval 91"/>
          <p:cNvSpPr/>
          <p:nvPr/>
        </p:nvSpPr>
        <p:spPr>
          <a:xfrm>
            <a:off x="6996074" y="304586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Oval 92"/>
          <p:cNvSpPr/>
          <p:nvPr/>
        </p:nvSpPr>
        <p:spPr>
          <a:xfrm>
            <a:off x="6996074" y="329275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4" name="Oval 93"/>
          <p:cNvSpPr/>
          <p:nvPr/>
        </p:nvSpPr>
        <p:spPr>
          <a:xfrm>
            <a:off x="6996074" y="353964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5" name="Oval 94"/>
          <p:cNvSpPr/>
          <p:nvPr/>
        </p:nvSpPr>
        <p:spPr>
          <a:xfrm>
            <a:off x="6996074" y="378653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6" name="Oval 95"/>
          <p:cNvSpPr/>
          <p:nvPr/>
        </p:nvSpPr>
        <p:spPr>
          <a:xfrm>
            <a:off x="6996074" y="403341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7" name="Oval 96"/>
          <p:cNvSpPr/>
          <p:nvPr/>
        </p:nvSpPr>
        <p:spPr>
          <a:xfrm>
            <a:off x="6996074" y="428030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8" name="Oval 97"/>
          <p:cNvSpPr/>
          <p:nvPr/>
        </p:nvSpPr>
        <p:spPr>
          <a:xfrm>
            <a:off x="6996074" y="452719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Oval 98"/>
          <p:cNvSpPr/>
          <p:nvPr/>
        </p:nvSpPr>
        <p:spPr>
          <a:xfrm>
            <a:off x="6996074" y="477408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0" name="Oval 99"/>
          <p:cNvSpPr/>
          <p:nvPr/>
        </p:nvSpPr>
        <p:spPr>
          <a:xfrm>
            <a:off x="6996074" y="502097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1" name="Oval 100"/>
          <p:cNvSpPr/>
          <p:nvPr/>
        </p:nvSpPr>
        <p:spPr>
          <a:xfrm>
            <a:off x="6996074" y="526785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2" name="Oval 101"/>
          <p:cNvSpPr/>
          <p:nvPr/>
        </p:nvSpPr>
        <p:spPr>
          <a:xfrm>
            <a:off x="6996074" y="551474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3" name="Oval 102"/>
          <p:cNvSpPr/>
          <p:nvPr/>
        </p:nvSpPr>
        <p:spPr>
          <a:xfrm>
            <a:off x="7242962" y="107076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4" name="Oval 103"/>
          <p:cNvSpPr/>
          <p:nvPr/>
        </p:nvSpPr>
        <p:spPr>
          <a:xfrm>
            <a:off x="7242962" y="131765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5" name="Oval 104"/>
          <p:cNvSpPr/>
          <p:nvPr/>
        </p:nvSpPr>
        <p:spPr>
          <a:xfrm>
            <a:off x="7242962" y="156453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6" name="Oval 105"/>
          <p:cNvSpPr/>
          <p:nvPr/>
        </p:nvSpPr>
        <p:spPr>
          <a:xfrm>
            <a:off x="7242962" y="181142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Oval 106"/>
          <p:cNvSpPr/>
          <p:nvPr/>
        </p:nvSpPr>
        <p:spPr>
          <a:xfrm>
            <a:off x="7242962" y="205831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8" name="Oval 107"/>
          <p:cNvSpPr/>
          <p:nvPr/>
        </p:nvSpPr>
        <p:spPr>
          <a:xfrm>
            <a:off x="7242962" y="230520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9" name="Oval 108"/>
          <p:cNvSpPr/>
          <p:nvPr/>
        </p:nvSpPr>
        <p:spPr>
          <a:xfrm>
            <a:off x="7242962" y="255209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0" name="Oval 109"/>
          <p:cNvSpPr/>
          <p:nvPr/>
        </p:nvSpPr>
        <p:spPr>
          <a:xfrm>
            <a:off x="7242962" y="279897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1" name="Oval 110"/>
          <p:cNvSpPr/>
          <p:nvPr/>
        </p:nvSpPr>
        <p:spPr>
          <a:xfrm>
            <a:off x="7242962" y="304586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2" name="Oval 111"/>
          <p:cNvSpPr/>
          <p:nvPr/>
        </p:nvSpPr>
        <p:spPr>
          <a:xfrm>
            <a:off x="7242962" y="329275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3" name="Oval 112"/>
          <p:cNvSpPr/>
          <p:nvPr/>
        </p:nvSpPr>
        <p:spPr>
          <a:xfrm>
            <a:off x="7242962" y="353964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4" name="Oval 113"/>
          <p:cNvSpPr/>
          <p:nvPr/>
        </p:nvSpPr>
        <p:spPr>
          <a:xfrm>
            <a:off x="7242962" y="378653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5" name="Oval 114"/>
          <p:cNvSpPr/>
          <p:nvPr/>
        </p:nvSpPr>
        <p:spPr>
          <a:xfrm>
            <a:off x="7242962" y="403341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6" name="Oval 115"/>
          <p:cNvSpPr/>
          <p:nvPr/>
        </p:nvSpPr>
        <p:spPr>
          <a:xfrm>
            <a:off x="7242962" y="428030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7" name="Oval 116"/>
          <p:cNvSpPr/>
          <p:nvPr/>
        </p:nvSpPr>
        <p:spPr>
          <a:xfrm>
            <a:off x="7242962" y="452719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8" name="Oval 117"/>
          <p:cNvSpPr/>
          <p:nvPr/>
        </p:nvSpPr>
        <p:spPr>
          <a:xfrm>
            <a:off x="7242962" y="477408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9" name="Oval 118"/>
          <p:cNvSpPr/>
          <p:nvPr/>
        </p:nvSpPr>
        <p:spPr>
          <a:xfrm>
            <a:off x="7242962" y="502097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0" name="Oval 119"/>
          <p:cNvSpPr/>
          <p:nvPr/>
        </p:nvSpPr>
        <p:spPr>
          <a:xfrm>
            <a:off x="7242962" y="526785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1" name="Oval 120"/>
          <p:cNvSpPr/>
          <p:nvPr/>
        </p:nvSpPr>
        <p:spPr>
          <a:xfrm>
            <a:off x="7242962" y="551474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2" name="Oval 121"/>
          <p:cNvSpPr/>
          <p:nvPr/>
        </p:nvSpPr>
        <p:spPr>
          <a:xfrm>
            <a:off x="7489850" y="107076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3" name="Oval 122"/>
          <p:cNvSpPr/>
          <p:nvPr/>
        </p:nvSpPr>
        <p:spPr>
          <a:xfrm>
            <a:off x="7489850" y="131765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4" name="Oval 123"/>
          <p:cNvSpPr/>
          <p:nvPr/>
        </p:nvSpPr>
        <p:spPr>
          <a:xfrm>
            <a:off x="7489850" y="156453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5" name="Oval 124"/>
          <p:cNvSpPr/>
          <p:nvPr/>
        </p:nvSpPr>
        <p:spPr>
          <a:xfrm>
            <a:off x="7489850" y="181142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6" name="Oval 125"/>
          <p:cNvSpPr/>
          <p:nvPr/>
        </p:nvSpPr>
        <p:spPr>
          <a:xfrm>
            <a:off x="7489850" y="205831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7" name="Oval 126"/>
          <p:cNvSpPr/>
          <p:nvPr/>
        </p:nvSpPr>
        <p:spPr>
          <a:xfrm>
            <a:off x="7489850" y="230520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8" name="Oval 127"/>
          <p:cNvSpPr/>
          <p:nvPr/>
        </p:nvSpPr>
        <p:spPr>
          <a:xfrm>
            <a:off x="7489850" y="255209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9" name="Oval 128"/>
          <p:cNvSpPr/>
          <p:nvPr/>
        </p:nvSpPr>
        <p:spPr>
          <a:xfrm>
            <a:off x="7489850" y="279897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0" name="Oval 129"/>
          <p:cNvSpPr/>
          <p:nvPr/>
        </p:nvSpPr>
        <p:spPr>
          <a:xfrm>
            <a:off x="7489850" y="304586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1" name="Oval 130"/>
          <p:cNvSpPr/>
          <p:nvPr/>
        </p:nvSpPr>
        <p:spPr>
          <a:xfrm>
            <a:off x="7489850" y="329275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2" name="Oval 131"/>
          <p:cNvSpPr/>
          <p:nvPr/>
        </p:nvSpPr>
        <p:spPr>
          <a:xfrm>
            <a:off x="7489850" y="353964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3" name="Oval 132"/>
          <p:cNvSpPr/>
          <p:nvPr/>
        </p:nvSpPr>
        <p:spPr>
          <a:xfrm>
            <a:off x="7489850" y="378653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4" name="Oval 133"/>
          <p:cNvSpPr/>
          <p:nvPr/>
        </p:nvSpPr>
        <p:spPr>
          <a:xfrm>
            <a:off x="7489850" y="403341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5" name="Oval 134"/>
          <p:cNvSpPr/>
          <p:nvPr/>
        </p:nvSpPr>
        <p:spPr>
          <a:xfrm>
            <a:off x="7489850" y="428030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6" name="Oval 135"/>
          <p:cNvSpPr/>
          <p:nvPr/>
        </p:nvSpPr>
        <p:spPr>
          <a:xfrm>
            <a:off x="7489850" y="452719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7" name="Oval 136"/>
          <p:cNvSpPr/>
          <p:nvPr/>
        </p:nvSpPr>
        <p:spPr>
          <a:xfrm>
            <a:off x="7489850" y="477408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8" name="Oval 137"/>
          <p:cNvSpPr/>
          <p:nvPr/>
        </p:nvSpPr>
        <p:spPr>
          <a:xfrm>
            <a:off x="7489850" y="502097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9" name="Oval 138"/>
          <p:cNvSpPr/>
          <p:nvPr/>
        </p:nvSpPr>
        <p:spPr>
          <a:xfrm>
            <a:off x="7489850" y="526785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0" name="Oval 139"/>
          <p:cNvSpPr/>
          <p:nvPr/>
        </p:nvSpPr>
        <p:spPr>
          <a:xfrm>
            <a:off x="7489850" y="551474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1" name="Oval 140"/>
          <p:cNvSpPr/>
          <p:nvPr/>
        </p:nvSpPr>
        <p:spPr>
          <a:xfrm>
            <a:off x="7736738" y="107076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2" name="Oval 141"/>
          <p:cNvSpPr/>
          <p:nvPr/>
        </p:nvSpPr>
        <p:spPr>
          <a:xfrm>
            <a:off x="7736738" y="131765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3" name="Oval 142"/>
          <p:cNvSpPr/>
          <p:nvPr/>
        </p:nvSpPr>
        <p:spPr>
          <a:xfrm>
            <a:off x="7736738" y="156453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4" name="Oval 143"/>
          <p:cNvSpPr/>
          <p:nvPr/>
        </p:nvSpPr>
        <p:spPr>
          <a:xfrm>
            <a:off x="7736738" y="181142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5" name="Oval 144"/>
          <p:cNvSpPr/>
          <p:nvPr/>
        </p:nvSpPr>
        <p:spPr>
          <a:xfrm>
            <a:off x="7736738" y="205831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6" name="Oval 145"/>
          <p:cNvSpPr/>
          <p:nvPr/>
        </p:nvSpPr>
        <p:spPr>
          <a:xfrm>
            <a:off x="7736738" y="230520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7" name="Oval 146"/>
          <p:cNvSpPr/>
          <p:nvPr/>
        </p:nvSpPr>
        <p:spPr>
          <a:xfrm>
            <a:off x="7736738" y="255209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8" name="Oval 147"/>
          <p:cNvSpPr/>
          <p:nvPr/>
        </p:nvSpPr>
        <p:spPr>
          <a:xfrm>
            <a:off x="7736738" y="279897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9" name="Oval 148"/>
          <p:cNvSpPr/>
          <p:nvPr/>
        </p:nvSpPr>
        <p:spPr>
          <a:xfrm>
            <a:off x="7736738" y="304586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0" name="Oval 149"/>
          <p:cNvSpPr/>
          <p:nvPr/>
        </p:nvSpPr>
        <p:spPr>
          <a:xfrm>
            <a:off x="7736738" y="329275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1" name="Oval 150"/>
          <p:cNvSpPr/>
          <p:nvPr/>
        </p:nvSpPr>
        <p:spPr>
          <a:xfrm>
            <a:off x="7736738" y="353964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2" name="Oval 151"/>
          <p:cNvSpPr/>
          <p:nvPr/>
        </p:nvSpPr>
        <p:spPr>
          <a:xfrm>
            <a:off x="7736738" y="378653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3" name="Oval 152"/>
          <p:cNvSpPr/>
          <p:nvPr/>
        </p:nvSpPr>
        <p:spPr>
          <a:xfrm>
            <a:off x="7736738" y="403341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4" name="Oval 153"/>
          <p:cNvSpPr/>
          <p:nvPr/>
        </p:nvSpPr>
        <p:spPr>
          <a:xfrm>
            <a:off x="7736738" y="428030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5" name="Oval 154"/>
          <p:cNvSpPr/>
          <p:nvPr/>
        </p:nvSpPr>
        <p:spPr>
          <a:xfrm>
            <a:off x="7736738" y="452719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6" name="Oval 155"/>
          <p:cNvSpPr/>
          <p:nvPr/>
        </p:nvSpPr>
        <p:spPr>
          <a:xfrm>
            <a:off x="7736738" y="477408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7" name="Oval 156"/>
          <p:cNvSpPr/>
          <p:nvPr/>
        </p:nvSpPr>
        <p:spPr>
          <a:xfrm>
            <a:off x="7736738" y="502097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8" name="Oval 157"/>
          <p:cNvSpPr/>
          <p:nvPr/>
        </p:nvSpPr>
        <p:spPr>
          <a:xfrm>
            <a:off x="7736738" y="526785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9" name="Oval 158"/>
          <p:cNvSpPr/>
          <p:nvPr/>
        </p:nvSpPr>
        <p:spPr>
          <a:xfrm>
            <a:off x="7736738" y="551474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0" name="Oval 159"/>
          <p:cNvSpPr/>
          <p:nvPr/>
        </p:nvSpPr>
        <p:spPr>
          <a:xfrm>
            <a:off x="7983626" y="107076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1" name="Oval 160"/>
          <p:cNvSpPr/>
          <p:nvPr/>
        </p:nvSpPr>
        <p:spPr>
          <a:xfrm>
            <a:off x="7983626" y="131765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2" name="Oval 161"/>
          <p:cNvSpPr/>
          <p:nvPr/>
        </p:nvSpPr>
        <p:spPr>
          <a:xfrm>
            <a:off x="7983626" y="156453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3" name="Oval 162"/>
          <p:cNvSpPr/>
          <p:nvPr/>
        </p:nvSpPr>
        <p:spPr>
          <a:xfrm>
            <a:off x="7983626" y="181142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4" name="Oval 163"/>
          <p:cNvSpPr/>
          <p:nvPr/>
        </p:nvSpPr>
        <p:spPr>
          <a:xfrm>
            <a:off x="7983626" y="205831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5" name="Oval 164"/>
          <p:cNvSpPr/>
          <p:nvPr/>
        </p:nvSpPr>
        <p:spPr>
          <a:xfrm>
            <a:off x="7983626" y="230520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6" name="Oval 165"/>
          <p:cNvSpPr/>
          <p:nvPr/>
        </p:nvSpPr>
        <p:spPr>
          <a:xfrm>
            <a:off x="7983626" y="255209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7" name="Oval 166"/>
          <p:cNvSpPr/>
          <p:nvPr/>
        </p:nvSpPr>
        <p:spPr>
          <a:xfrm>
            <a:off x="7983626" y="279897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8" name="Oval 167"/>
          <p:cNvSpPr/>
          <p:nvPr/>
        </p:nvSpPr>
        <p:spPr>
          <a:xfrm>
            <a:off x="7983626" y="304586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9" name="Oval 168"/>
          <p:cNvSpPr/>
          <p:nvPr/>
        </p:nvSpPr>
        <p:spPr>
          <a:xfrm>
            <a:off x="7983626" y="329275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0" name="Oval 169"/>
          <p:cNvSpPr/>
          <p:nvPr/>
        </p:nvSpPr>
        <p:spPr>
          <a:xfrm>
            <a:off x="7983626" y="353964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1" name="Oval 170"/>
          <p:cNvSpPr/>
          <p:nvPr/>
        </p:nvSpPr>
        <p:spPr>
          <a:xfrm>
            <a:off x="7983626" y="378653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2" name="Oval 171"/>
          <p:cNvSpPr/>
          <p:nvPr/>
        </p:nvSpPr>
        <p:spPr>
          <a:xfrm>
            <a:off x="7983626" y="403341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3" name="Oval 172"/>
          <p:cNvSpPr/>
          <p:nvPr/>
        </p:nvSpPr>
        <p:spPr>
          <a:xfrm>
            <a:off x="7983626" y="428030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4" name="Oval 173"/>
          <p:cNvSpPr/>
          <p:nvPr/>
        </p:nvSpPr>
        <p:spPr>
          <a:xfrm>
            <a:off x="7983626" y="452719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5" name="Oval 174"/>
          <p:cNvSpPr/>
          <p:nvPr/>
        </p:nvSpPr>
        <p:spPr>
          <a:xfrm>
            <a:off x="7983626" y="477408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6" name="Oval 175"/>
          <p:cNvSpPr/>
          <p:nvPr/>
        </p:nvSpPr>
        <p:spPr>
          <a:xfrm>
            <a:off x="7983626" y="502097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7" name="Oval 176"/>
          <p:cNvSpPr/>
          <p:nvPr/>
        </p:nvSpPr>
        <p:spPr>
          <a:xfrm>
            <a:off x="7983626" y="526785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8" name="Oval 177"/>
          <p:cNvSpPr/>
          <p:nvPr/>
        </p:nvSpPr>
        <p:spPr>
          <a:xfrm>
            <a:off x="7983626" y="551474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9" name="Oval 178"/>
          <p:cNvSpPr/>
          <p:nvPr/>
        </p:nvSpPr>
        <p:spPr>
          <a:xfrm>
            <a:off x="8230514" y="107076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0" name="Oval 179"/>
          <p:cNvSpPr/>
          <p:nvPr/>
        </p:nvSpPr>
        <p:spPr>
          <a:xfrm>
            <a:off x="8230514" y="131765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1" name="Oval 180"/>
          <p:cNvSpPr/>
          <p:nvPr/>
        </p:nvSpPr>
        <p:spPr>
          <a:xfrm>
            <a:off x="8230514" y="156453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2" name="Oval 181"/>
          <p:cNvSpPr/>
          <p:nvPr/>
        </p:nvSpPr>
        <p:spPr>
          <a:xfrm>
            <a:off x="8230514" y="181142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3" name="Oval 182"/>
          <p:cNvSpPr/>
          <p:nvPr/>
        </p:nvSpPr>
        <p:spPr>
          <a:xfrm>
            <a:off x="8230514" y="205831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4" name="Oval 183"/>
          <p:cNvSpPr/>
          <p:nvPr/>
        </p:nvSpPr>
        <p:spPr>
          <a:xfrm>
            <a:off x="8230514" y="230520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5" name="Oval 184"/>
          <p:cNvSpPr/>
          <p:nvPr/>
        </p:nvSpPr>
        <p:spPr>
          <a:xfrm>
            <a:off x="8230514" y="255209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6" name="Oval 185"/>
          <p:cNvSpPr/>
          <p:nvPr/>
        </p:nvSpPr>
        <p:spPr>
          <a:xfrm>
            <a:off x="8230514" y="279897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7" name="Oval 186"/>
          <p:cNvSpPr/>
          <p:nvPr/>
        </p:nvSpPr>
        <p:spPr>
          <a:xfrm>
            <a:off x="8230514" y="304586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8" name="Oval 187"/>
          <p:cNvSpPr/>
          <p:nvPr/>
        </p:nvSpPr>
        <p:spPr>
          <a:xfrm>
            <a:off x="8230514" y="329275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9" name="Oval 188"/>
          <p:cNvSpPr/>
          <p:nvPr/>
        </p:nvSpPr>
        <p:spPr>
          <a:xfrm>
            <a:off x="8230514" y="353964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0" name="Oval 189"/>
          <p:cNvSpPr/>
          <p:nvPr/>
        </p:nvSpPr>
        <p:spPr>
          <a:xfrm>
            <a:off x="8230514" y="378653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1" name="Oval 190"/>
          <p:cNvSpPr/>
          <p:nvPr/>
        </p:nvSpPr>
        <p:spPr>
          <a:xfrm>
            <a:off x="8230514" y="403341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2" name="Oval 191"/>
          <p:cNvSpPr/>
          <p:nvPr/>
        </p:nvSpPr>
        <p:spPr>
          <a:xfrm>
            <a:off x="8230514" y="428030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3" name="Oval 192"/>
          <p:cNvSpPr/>
          <p:nvPr/>
        </p:nvSpPr>
        <p:spPr>
          <a:xfrm>
            <a:off x="8230514" y="452719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4" name="Oval 193"/>
          <p:cNvSpPr/>
          <p:nvPr/>
        </p:nvSpPr>
        <p:spPr>
          <a:xfrm>
            <a:off x="8230514" y="477408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5" name="Oval 194"/>
          <p:cNvSpPr/>
          <p:nvPr/>
        </p:nvSpPr>
        <p:spPr>
          <a:xfrm>
            <a:off x="8230514" y="502097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6" name="Oval 195"/>
          <p:cNvSpPr/>
          <p:nvPr/>
        </p:nvSpPr>
        <p:spPr>
          <a:xfrm>
            <a:off x="8230514" y="526785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7" name="Oval 196"/>
          <p:cNvSpPr/>
          <p:nvPr/>
        </p:nvSpPr>
        <p:spPr>
          <a:xfrm>
            <a:off x="8230514" y="551474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8" name="Oval 197"/>
          <p:cNvSpPr/>
          <p:nvPr/>
        </p:nvSpPr>
        <p:spPr>
          <a:xfrm>
            <a:off x="8477402" y="107076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9" name="Oval 198"/>
          <p:cNvSpPr/>
          <p:nvPr/>
        </p:nvSpPr>
        <p:spPr>
          <a:xfrm>
            <a:off x="8477402" y="131765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0" name="Oval 199"/>
          <p:cNvSpPr/>
          <p:nvPr/>
        </p:nvSpPr>
        <p:spPr>
          <a:xfrm>
            <a:off x="8477402" y="156453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1" name="Oval 200"/>
          <p:cNvSpPr/>
          <p:nvPr/>
        </p:nvSpPr>
        <p:spPr>
          <a:xfrm>
            <a:off x="8477402" y="181142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2" name="Oval 201"/>
          <p:cNvSpPr/>
          <p:nvPr/>
        </p:nvSpPr>
        <p:spPr>
          <a:xfrm>
            <a:off x="8477402" y="205831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3" name="Oval 202"/>
          <p:cNvSpPr/>
          <p:nvPr/>
        </p:nvSpPr>
        <p:spPr>
          <a:xfrm>
            <a:off x="8477402" y="230520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4" name="Oval 203"/>
          <p:cNvSpPr/>
          <p:nvPr/>
        </p:nvSpPr>
        <p:spPr>
          <a:xfrm>
            <a:off x="8477402" y="255209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5" name="Oval 204"/>
          <p:cNvSpPr/>
          <p:nvPr/>
        </p:nvSpPr>
        <p:spPr>
          <a:xfrm>
            <a:off x="8477402" y="279897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6" name="Oval 205"/>
          <p:cNvSpPr/>
          <p:nvPr/>
        </p:nvSpPr>
        <p:spPr>
          <a:xfrm>
            <a:off x="8477402" y="304586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7" name="Oval 206"/>
          <p:cNvSpPr/>
          <p:nvPr/>
        </p:nvSpPr>
        <p:spPr>
          <a:xfrm>
            <a:off x="8477402" y="329275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8" name="Oval 207"/>
          <p:cNvSpPr/>
          <p:nvPr/>
        </p:nvSpPr>
        <p:spPr>
          <a:xfrm>
            <a:off x="8477402" y="353964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9" name="Oval 208"/>
          <p:cNvSpPr/>
          <p:nvPr/>
        </p:nvSpPr>
        <p:spPr>
          <a:xfrm>
            <a:off x="8477402" y="378653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0" name="Oval 209"/>
          <p:cNvSpPr/>
          <p:nvPr/>
        </p:nvSpPr>
        <p:spPr>
          <a:xfrm>
            <a:off x="8477402" y="403341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1" name="Oval 210"/>
          <p:cNvSpPr/>
          <p:nvPr/>
        </p:nvSpPr>
        <p:spPr>
          <a:xfrm>
            <a:off x="8477402" y="428030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2" name="Oval 211"/>
          <p:cNvSpPr/>
          <p:nvPr/>
        </p:nvSpPr>
        <p:spPr>
          <a:xfrm>
            <a:off x="8477402" y="452719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3" name="Oval 212"/>
          <p:cNvSpPr/>
          <p:nvPr/>
        </p:nvSpPr>
        <p:spPr>
          <a:xfrm>
            <a:off x="8477402" y="477408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4" name="Oval 213"/>
          <p:cNvSpPr/>
          <p:nvPr/>
        </p:nvSpPr>
        <p:spPr>
          <a:xfrm>
            <a:off x="8477402" y="502097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5" name="Oval 214"/>
          <p:cNvSpPr/>
          <p:nvPr/>
        </p:nvSpPr>
        <p:spPr>
          <a:xfrm>
            <a:off x="8477402" y="526785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6" name="Oval 215"/>
          <p:cNvSpPr/>
          <p:nvPr/>
        </p:nvSpPr>
        <p:spPr>
          <a:xfrm>
            <a:off x="8477402" y="551474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7" name="Oval 216"/>
          <p:cNvSpPr/>
          <p:nvPr/>
        </p:nvSpPr>
        <p:spPr>
          <a:xfrm>
            <a:off x="8724290" y="107076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8" name="Oval 217"/>
          <p:cNvSpPr/>
          <p:nvPr/>
        </p:nvSpPr>
        <p:spPr>
          <a:xfrm>
            <a:off x="8724290" y="131765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9" name="Oval 218"/>
          <p:cNvSpPr/>
          <p:nvPr/>
        </p:nvSpPr>
        <p:spPr>
          <a:xfrm>
            <a:off x="8724290" y="156453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0" name="Oval 219"/>
          <p:cNvSpPr/>
          <p:nvPr/>
        </p:nvSpPr>
        <p:spPr>
          <a:xfrm>
            <a:off x="8724290" y="181142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1" name="Oval 220"/>
          <p:cNvSpPr/>
          <p:nvPr/>
        </p:nvSpPr>
        <p:spPr>
          <a:xfrm>
            <a:off x="8724290" y="205831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2" name="Oval 221"/>
          <p:cNvSpPr/>
          <p:nvPr/>
        </p:nvSpPr>
        <p:spPr>
          <a:xfrm>
            <a:off x="8724290" y="230520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3" name="Oval 222"/>
          <p:cNvSpPr/>
          <p:nvPr/>
        </p:nvSpPr>
        <p:spPr>
          <a:xfrm>
            <a:off x="8724290" y="255209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4" name="Oval 223"/>
          <p:cNvSpPr/>
          <p:nvPr/>
        </p:nvSpPr>
        <p:spPr>
          <a:xfrm>
            <a:off x="8724290" y="279897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5" name="Oval 224"/>
          <p:cNvSpPr/>
          <p:nvPr/>
        </p:nvSpPr>
        <p:spPr>
          <a:xfrm>
            <a:off x="8724290" y="304586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6" name="Oval 225"/>
          <p:cNvSpPr/>
          <p:nvPr/>
        </p:nvSpPr>
        <p:spPr>
          <a:xfrm>
            <a:off x="8724290" y="329275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7" name="Oval 226"/>
          <p:cNvSpPr/>
          <p:nvPr/>
        </p:nvSpPr>
        <p:spPr>
          <a:xfrm>
            <a:off x="8724290" y="353964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8" name="Oval 227"/>
          <p:cNvSpPr/>
          <p:nvPr/>
        </p:nvSpPr>
        <p:spPr>
          <a:xfrm>
            <a:off x="8724290" y="378653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9" name="Oval 228"/>
          <p:cNvSpPr/>
          <p:nvPr/>
        </p:nvSpPr>
        <p:spPr>
          <a:xfrm>
            <a:off x="8724290" y="403341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0" name="Oval 229"/>
          <p:cNvSpPr/>
          <p:nvPr/>
        </p:nvSpPr>
        <p:spPr>
          <a:xfrm>
            <a:off x="8724290" y="428030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1" name="Oval 230"/>
          <p:cNvSpPr/>
          <p:nvPr/>
        </p:nvSpPr>
        <p:spPr>
          <a:xfrm>
            <a:off x="8724290" y="452719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2" name="Oval 231"/>
          <p:cNvSpPr/>
          <p:nvPr/>
        </p:nvSpPr>
        <p:spPr>
          <a:xfrm>
            <a:off x="8724290" y="477408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3" name="Oval 232"/>
          <p:cNvSpPr/>
          <p:nvPr/>
        </p:nvSpPr>
        <p:spPr>
          <a:xfrm>
            <a:off x="8724290" y="502097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4" name="Oval 233"/>
          <p:cNvSpPr/>
          <p:nvPr/>
        </p:nvSpPr>
        <p:spPr>
          <a:xfrm>
            <a:off x="8724290" y="526785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5" name="Oval 234"/>
          <p:cNvSpPr/>
          <p:nvPr/>
        </p:nvSpPr>
        <p:spPr>
          <a:xfrm>
            <a:off x="8724290" y="551474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6" name="Oval 235"/>
          <p:cNvSpPr/>
          <p:nvPr/>
        </p:nvSpPr>
        <p:spPr>
          <a:xfrm>
            <a:off x="8971178" y="107076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7" name="Oval 236"/>
          <p:cNvSpPr/>
          <p:nvPr/>
        </p:nvSpPr>
        <p:spPr>
          <a:xfrm>
            <a:off x="8971178" y="131765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8" name="Oval 237"/>
          <p:cNvSpPr/>
          <p:nvPr/>
        </p:nvSpPr>
        <p:spPr>
          <a:xfrm>
            <a:off x="8971178" y="156453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9" name="Oval 238"/>
          <p:cNvSpPr/>
          <p:nvPr/>
        </p:nvSpPr>
        <p:spPr>
          <a:xfrm>
            <a:off x="8971178" y="181142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0" name="Oval 239"/>
          <p:cNvSpPr/>
          <p:nvPr/>
        </p:nvSpPr>
        <p:spPr>
          <a:xfrm>
            <a:off x="8971178" y="205831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1" name="Oval 240"/>
          <p:cNvSpPr/>
          <p:nvPr/>
        </p:nvSpPr>
        <p:spPr>
          <a:xfrm>
            <a:off x="8971178" y="230520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2" name="Oval 241"/>
          <p:cNvSpPr/>
          <p:nvPr/>
        </p:nvSpPr>
        <p:spPr>
          <a:xfrm>
            <a:off x="8971178" y="255209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3" name="Oval 242"/>
          <p:cNvSpPr/>
          <p:nvPr/>
        </p:nvSpPr>
        <p:spPr>
          <a:xfrm>
            <a:off x="8971178" y="279897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4" name="Oval 243"/>
          <p:cNvSpPr/>
          <p:nvPr/>
        </p:nvSpPr>
        <p:spPr>
          <a:xfrm>
            <a:off x="8971178" y="304586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5" name="Oval 244"/>
          <p:cNvSpPr/>
          <p:nvPr/>
        </p:nvSpPr>
        <p:spPr>
          <a:xfrm>
            <a:off x="8971178" y="329275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6" name="Oval 245"/>
          <p:cNvSpPr/>
          <p:nvPr/>
        </p:nvSpPr>
        <p:spPr>
          <a:xfrm>
            <a:off x="8971178" y="353964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7" name="Oval 246"/>
          <p:cNvSpPr/>
          <p:nvPr/>
        </p:nvSpPr>
        <p:spPr>
          <a:xfrm>
            <a:off x="8971178" y="378653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8" name="Oval 247"/>
          <p:cNvSpPr/>
          <p:nvPr/>
        </p:nvSpPr>
        <p:spPr>
          <a:xfrm>
            <a:off x="8971178" y="403341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9" name="Oval 248"/>
          <p:cNvSpPr/>
          <p:nvPr/>
        </p:nvSpPr>
        <p:spPr>
          <a:xfrm>
            <a:off x="8971178" y="428030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0" name="Oval 249"/>
          <p:cNvSpPr/>
          <p:nvPr/>
        </p:nvSpPr>
        <p:spPr>
          <a:xfrm>
            <a:off x="8971178" y="452719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1" name="Oval 250"/>
          <p:cNvSpPr/>
          <p:nvPr/>
        </p:nvSpPr>
        <p:spPr>
          <a:xfrm>
            <a:off x="8971178" y="477408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2" name="Oval 251"/>
          <p:cNvSpPr/>
          <p:nvPr/>
        </p:nvSpPr>
        <p:spPr>
          <a:xfrm>
            <a:off x="8971178" y="502097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3" name="Oval 252"/>
          <p:cNvSpPr/>
          <p:nvPr/>
        </p:nvSpPr>
        <p:spPr>
          <a:xfrm>
            <a:off x="8971178" y="526785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4" name="Oval 253"/>
          <p:cNvSpPr/>
          <p:nvPr/>
        </p:nvSpPr>
        <p:spPr>
          <a:xfrm>
            <a:off x="8971178" y="551474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5" name="Oval 254"/>
          <p:cNvSpPr/>
          <p:nvPr/>
        </p:nvSpPr>
        <p:spPr>
          <a:xfrm>
            <a:off x="9218066" y="107076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6" name="Oval 255"/>
          <p:cNvSpPr/>
          <p:nvPr/>
        </p:nvSpPr>
        <p:spPr>
          <a:xfrm>
            <a:off x="9218066" y="131765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7" name="Oval 256"/>
          <p:cNvSpPr/>
          <p:nvPr/>
        </p:nvSpPr>
        <p:spPr>
          <a:xfrm>
            <a:off x="9218066" y="156453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8" name="Oval 257"/>
          <p:cNvSpPr/>
          <p:nvPr/>
        </p:nvSpPr>
        <p:spPr>
          <a:xfrm>
            <a:off x="9218066" y="181142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9" name="Oval 258"/>
          <p:cNvSpPr/>
          <p:nvPr/>
        </p:nvSpPr>
        <p:spPr>
          <a:xfrm>
            <a:off x="9218066" y="205831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0" name="Oval 259"/>
          <p:cNvSpPr/>
          <p:nvPr/>
        </p:nvSpPr>
        <p:spPr>
          <a:xfrm>
            <a:off x="9218066" y="230520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1" name="Oval 260"/>
          <p:cNvSpPr/>
          <p:nvPr/>
        </p:nvSpPr>
        <p:spPr>
          <a:xfrm>
            <a:off x="9218066" y="255209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2" name="Oval 261"/>
          <p:cNvSpPr/>
          <p:nvPr/>
        </p:nvSpPr>
        <p:spPr>
          <a:xfrm>
            <a:off x="9218066" y="279897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3" name="Oval 262"/>
          <p:cNvSpPr/>
          <p:nvPr/>
        </p:nvSpPr>
        <p:spPr>
          <a:xfrm>
            <a:off x="9218066" y="304586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4" name="Oval 263"/>
          <p:cNvSpPr/>
          <p:nvPr/>
        </p:nvSpPr>
        <p:spPr>
          <a:xfrm>
            <a:off x="9218066" y="329275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5" name="Oval 264"/>
          <p:cNvSpPr/>
          <p:nvPr/>
        </p:nvSpPr>
        <p:spPr>
          <a:xfrm>
            <a:off x="9218066" y="353964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6" name="Oval 265"/>
          <p:cNvSpPr/>
          <p:nvPr/>
        </p:nvSpPr>
        <p:spPr>
          <a:xfrm>
            <a:off x="9218066" y="378653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7" name="Oval 266"/>
          <p:cNvSpPr/>
          <p:nvPr/>
        </p:nvSpPr>
        <p:spPr>
          <a:xfrm>
            <a:off x="9218066" y="403341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8" name="Oval 267"/>
          <p:cNvSpPr/>
          <p:nvPr/>
        </p:nvSpPr>
        <p:spPr>
          <a:xfrm>
            <a:off x="9218066" y="428030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9" name="Oval 268"/>
          <p:cNvSpPr/>
          <p:nvPr/>
        </p:nvSpPr>
        <p:spPr>
          <a:xfrm>
            <a:off x="9218066" y="452719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0" name="Oval 269"/>
          <p:cNvSpPr/>
          <p:nvPr/>
        </p:nvSpPr>
        <p:spPr>
          <a:xfrm>
            <a:off x="9218066" y="477408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1" name="Oval 270"/>
          <p:cNvSpPr/>
          <p:nvPr/>
        </p:nvSpPr>
        <p:spPr>
          <a:xfrm>
            <a:off x="9218066" y="502097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2" name="Oval 271"/>
          <p:cNvSpPr/>
          <p:nvPr/>
        </p:nvSpPr>
        <p:spPr>
          <a:xfrm>
            <a:off x="9218066" y="526785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3" name="Oval 272"/>
          <p:cNvSpPr/>
          <p:nvPr/>
        </p:nvSpPr>
        <p:spPr>
          <a:xfrm>
            <a:off x="9218066" y="551474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4" name="Oval 273"/>
          <p:cNvSpPr/>
          <p:nvPr/>
        </p:nvSpPr>
        <p:spPr>
          <a:xfrm>
            <a:off x="9464954" y="107076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5" name="Oval 274"/>
          <p:cNvSpPr/>
          <p:nvPr/>
        </p:nvSpPr>
        <p:spPr>
          <a:xfrm>
            <a:off x="9464954" y="131765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6" name="Oval 275"/>
          <p:cNvSpPr/>
          <p:nvPr/>
        </p:nvSpPr>
        <p:spPr>
          <a:xfrm>
            <a:off x="9464954" y="156453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7" name="Oval 276"/>
          <p:cNvSpPr/>
          <p:nvPr/>
        </p:nvSpPr>
        <p:spPr>
          <a:xfrm>
            <a:off x="9464954" y="181142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8" name="Oval 277"/>
          <p:cNvSpPr/>
          <p:nvPr/>
        </p:nvSpPr>
        <p:spPr>
          <a:xfrm>
            <a:off x="9464954" y="205831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9" name="Oval 278"/>
          <p:cNvSpPr/>
          <p:nvPr/>
        </p:nvSpPr>
        <p:spPr>
          <a:xfrm>
            <a:off x="9464954" y="230520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0" name="Oval 279"/>
          <p:cNvSpPr/>
          <p:nvPr/>
        </p:nvSpPr>
        <p:spPr>
          <a:xfrm>
            <a:off x="9464954" y="255209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1" name="Oval 280"/>
          <p:cNvSpPr/>
          <p:nvPr/>
        </p:nvSpPr>
        <p:spPr>
          <a:xfrm>
            <a:off x="9464954" y="279897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2" name="Oval 281"/>
          <p:cNvSpPr/>
          <p:nvPr/>
        </p:nvSpPr>
        <p:spPr>
          <a:xfrm>
            <a:off x="9464954" y="304586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3" name="Oval 282"/>
          <p:cNvSpPr/>
          <p:nvPr/>
        </p:nvSpPr>
        <p:spPr>
          <a:xfrm>
            <a:off x="9464954" y="329275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4" name="Oval 283"/>
          <p:cNvSpPr/>
          <p:nvPr/>
        </p:nvSpPr>
        <p:spPr>
          <a:xfrm>
            <a:off x="9464954" y="353964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5" name="Oval 284"/>
          <p:cNvSpPr/>
          <p:nvPr/>
        </p:nvSpPr>
        <p:spPr>
          <a:xfrm>
            <a:off x="9464954" y="378653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6" name="Oval 285"/>
          <p:cNvSpPr/>
          <p:nvPr/>
        </p:nvSpPr>
        <p:spPr>
          <a:xfrm>
            <a:off x="9464954" y="403341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7" name="Oval 286"/>
          <p:cNvSpPr/>
          <p:nvPr/>
        </p:nvSpPr>
        <p:spPr>
          <a:xfrm>
            <a:off x="9464954" y="428030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8" name="Oval 287"/>
          <p:cNvSpPr/>
          <p:nvPr/>
        </p:nvSpPr>
        <p:spPr>
          <a:xfrm>
            <a:off x="9464954" y="452719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9" name="Oval 288"/>
          <p:cNvSpPr/>
          <p:nvPr/>
        </p:nvSpPr>
        <p:spPr>
          <a:xfrm>
            <a:off x="9464954" y="477408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0" name="Oval 289"/>
          <p:cNvSpPr/>
          <p:nvPr/>
        </p:nvSpPr>
        <p:spPr>
          <a:xfrm>
            <a:off x="9464954" y="502097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1" name="Oval 290"/>
          <p:cNvSpPr/>
          <p:nvPr/>
        </p:nvSpPr>
        <p:spPr>
          <a:xfrm>
            <a:off x="9464954" y="526785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2" name="Oval 291"/>
          <p:cNvSpPr/>
          <p:nvPr/>
        </p:nvSpPr>
        <p:spPr>
          <a:xfrm>
            <a:off x="9464954" y="551474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3" name="Oval 292"/>
          <p:cNvSpPr/>
          <p:nvPr/>
        </p:nvSpPr>
        <p:spPr>
          <a:xfrm>
            <a:off x="9711842" y="107076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4" name="Oval 293"/>
          <p:cNvSpPr/>
          <p:nvPr/>
        </p:nvSpPr>
        <p:spPr>
          <a:xfrm>
            <a:off x="9711842" y="131765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5" name="Oval 294"/>
          <p:cNvSpPr/>
          <p:nvPr/>
        </p:nvSpPr>
        <p:spPr>
          <a:xfrm>
            <a:off x="9711842" y="156453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6" name="Oval 295"/>
          <p:cNvSpPr/>
          <p:nvPr/>
        </p:nvSpPr>
        <p:spPr>
          <a:xfrm>
            <a:off x="9711842" y="181142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7" name="Oval 296"/>
          <p:cNvSpPr/>
          <p:nvPr/>
        </p:nvSpPr>
        <p:spPr>
          <a:xfrm>
            <a:off x="9711842" y="205831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8" name="Oval 297"/>
          <p:cNvSpPr/>
          <p:nvPr/>
        </p:nvSpPr>
        <p:spPr>
          <a:xfrm>
            <a:off x="9711842" y="230520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9" name="Oval 298"/>
          <p:cNvSpPr/>
          <p:nvPr/>
        </p:nvSpPr>
        <p:spPr>
          <a:xfrm>
            <a:off x="9711842" y="255209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0" name="Oval 299"/>
          <p:cNvSpPr/>
          <p:nvPr/>
        </p:nvSpPr>
        <p:spPr>
          <a:xfrm>
            <a:off x="9711842" y="279897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1" name="Oval 300"/>
          <p:cNvSpPr/>
          <p:nvPr/>
        </p:nvSpPr>
        <p:spPr>
          <a:xfrm>
            <a:off x="9711842" y="304586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2" name="Oval 301"/>
          <p:cNvSpPr/>
          <p:nvPr/>
        </p:nvSpPr>
        <p:spPr>
          <a:xfrm>
            <a:off x="9711842" y="329275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3" name="Oval 302"/>
          <p:cNvSpPr/>
          <p:nvPr/>
        </p:nvSpPr>
        <p:spPr>
          <a:xfrm>
            <a:off x="9711842" y="353964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4" name="Oval 303"/>
          <p:cNvSpPr/>
          <p:nvPr/>
        </p:nvSpPr>
        <p:spPr>
          <a:xfrm>
            <a:off x="9711842" y="378653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5" name="Oval 304"/>
          <p:cNvSpPr/>
          <p:nvPr/>
        </p:nvSpPr>
        <p:spPr>
          <a:xfrm>
            <a:off x="9711842" y="403341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6" name="Oval 305"/>
          <p:cNvSpPr/>
          <p:nvPr/>
        </p:nvSpPr>
        <p:spPr>
          <a:xfrm>
            <a:off x="9711842" y="428030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7" name="Oval 306"/>
          <p:cNvSpPr/>
          <p:nvPr/>
        </p:nvSpPr>
        <p:spPr>
          <a:xfrm>
            <a:off x="9711842" y="452719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8" name="Oval 307"/>
          <p:cNvSpPr/>
          <p:nvPr/>
        </p:nvSpPr>
        <p:spPr>
          <a:xfrm>
            <a:off x="9711842" y="477408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9" name="Oval 308"/>
          <p:cNvSpPr/>
          <p:nvPr/>
        </p:nvSpPr>
        <p:spPr>
          <a:xfrm>
            <a:off x="9711842" y="502097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0" name="Oval 309"/>
          <p:cNvSpPr/>
          <p:nvPr/>
        </p:nvSpPr>
        <p:spPr>
          <a:xfrm>
            <a:off x="9711842" y="526785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1" name="Oval 310"/>
          <p:cNvSpPr/>
          <p:nvPr/>
        </p:nvSpPr>
        <p:spPr>
          <a:xfrm>
            <a:off x="9711842" y="551474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2" name="Oval 311"/>
          <p:cNvSpPr/>
          <p:nvPr/>
        </p:nvSpPr>
        <p:spPr>
          <a:xfrm>
            <a:off x="9958730" y="107076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3" name="Oval 312"/>
          <p:cNvSpPr/>
          <p:nvPr/>
        </p:nvSpPr>
        <p:spPr>
          <a:xfrm>
            <a:off x="9958730" y="131765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4" name="Oval 313"/>
          <p:cNvSpPr/>
          <p:nvPr/>
        </p:nvSpPr>
        <p:spPr>
          <a:xfrm>
            <a:off x="9958730" y="156453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5" name="Oval 314"/>
          <p:cNvSpPr/>
          <p:nvPr/>
        </p:nvSpPr>
        <p:spPr>
          <a:xfrm>
            <a:off x="9958730" y="181142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6" name="Oval 315"/>
          <p:cNvSpPr/>
          <p:nvPr/>
        </p:nvSpPr>
        <p:spPr>
          <a:xfrm>
            <a:off x="9958730" y="205831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7" name="Oval 316"/>
          <p:cNvSpPr/>
          <p:nvPr/>
        </p:nvSpPr>
        <p:spPr>
          <a:xfrm>
            <a:off x="9958730" y="230520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8" name="Oval 317"/>
          <p:cNvSpPr/>
          <p:nvPr/>
        </p:nvSpPr>
        <p:spPr>
          <a:xfrm>
            <a:off x="9958730" y="255209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9" name="Oval 318"/>
          <p:cNvSpPr/>
          <p:nvPr/>
        </p:nvSpPr>
        <p:spPr>
          <a:xfrm>
            <a:off x="9958730" y="279897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0" name="Oval 319"/>
          <p:cNvSpPr/>
          <p:nvPr/>
        </p:nvSpPr>
        <p:spPr>
          <a:xfrm>
            <a:off x="9958730" y="304586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1" name="Oval 320"/>
          <p:cNvSpPr/>
          <p:nvPr/>
        </p:nvSpPr>
        <p:spPr>
          <a:xfrm>
            <a:off x="9958730" y="329275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2" name="Oval 321"/>
          <p:cNvSpPr/>
          <p:nvPr/>
        </p:nvSpPr>
        <p:spPr>
          <a:xfrm>
            <a:off x="9958730" y="353964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3" name="Oval 322"/>
          <p:cNvSpPr/>
          <p:nvPr/>
        </p:nvSpPr>
        <p:spPr>
          <a:xfrm>
            <a:off x="9958730" y="378653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4" name="Oval 323"/>
          <p:cNvSpPr/>
          <p:nvPr/>
        </p:nvSpPr>
        <p:spPr>
          <a:xfrm>
            <a:off x="9958730" y="403341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5" name="Oval 324"/>
          <p:cNvSpPr/>
          <p:nvPr/>
        </p:nvSpPr>
        <p:spPr>
          <a:xfrm>
            <a:off x="9958730" y="428030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6" name="Oval 325"/>
          <p:cNvSpPr/>
          <p:nvPr/>
        </p:nvSpPr>
        <p:spPr>
          <a:xfrm>
            <a:off x="9958730" y="452719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7" name="Oval 326"/>
          <p:cNvSpPr/>
          <p:nvPr/>
        </p:nvSpPr>
        <p:spPr>
          <a:xfrm>
            <a:off x="9958730" y="477408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8" name="Oval 327"/>
          <p:cNvSpPr/>
          <p:nvPr/>
        </p:nvSpPr>
        <p:spPr>
          <a:xfrm>
            <a:off x="9958730" y="502097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9" name="Oval 328"/>
          <p:cNvSpPr/>
          <p:nvPr/>
        </p:nvSpPr>
        <p:spPr>
          <a:xfrm>
            <a:off x="9958730" y="526785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0" name="Oval 329"/>
          <p:cNvSpPr/>
          <p:nvPr/>
        </p:nvSpPr>
        <p:spPr>
          <a:xfrm>
            <a:off x="9958730" y="551474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1" name="Oval 330"/>
          <p:cNvSpPr/>
          <p:nvPr/>
        </p:nvSpPr>
        <p:spPr>
          <a:xfrm>
            <a:off x="10205618" y="107076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2" name="Oval 331"/>
          <p:cNvSpPr/>
          <p:nvPr/>
        </p:nvSpPr>
        <p:spPr>
          <a:xfrm>
            <a:off x="10205618" y="131765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3" name="Oval 332"/>
          <p:cNvSpPr/>
          <p:nvPr/>
        </p:nvSpPr>
        <p:spPr>
          <a:xfrm>
            <a:off x="10205618" y="156453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4" name="Oval 333"/>
          <p:cNvSpPr/>
          <p:nvPr/>
        </p:nvSpPr>
        <p:spPr>
          <a:xfrm>
            <a:off x="10205618" y="181142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5" name="Oval 334"/>
          <p:cNvSpPr/>
          <p:nvPr/>
        </p:nvSpPr>
        <p:spPr>
          <a:xfrm>
            <a:off x="10205618" y="205831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6" name="Oval 335"/>
          <p:cNvSpPr/>
          <p:nvPr/>
        </p:nvSpPr>
        <p:spPr>
          <a:xfrm>
            <a:off x="10205618" y="230520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7" name="Oval 336"/>
          <p:cNvSpPr/>
          <p:nvPr/>
        </p:nvSpPr>
        <p:spPr>
          <a:xfrm>
            <a:off x="10205618" y="255209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8" name="Oval 337"/>
          <p:cNvSpPr/>
          <p:nvPr/>
        </p:nvSpPr>
        <p:spPr>
          <a:xfrm>
            <a:off x="10205618" y="279897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9" name="Oval 338"/>
          <p:cNvSpPr/>
          <p:nvPr/>
        </p:nvSpPr>
        <p:spPr>
          <a:xfrm>
            <a:off x="10205618" y="304586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0" name="Oval 339"/>
          <p:cNvSpPr/>
          <p:nvPr/>
        </p:nvSpPr>
        <p:spPr>
          <a:xfrm>
            <a:off x="10205618" y="329275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1" name="Oval 340"/>
          <p:cNvSpPr/>
          <p:nvPr/>
        </p:nvSpPr>
        <p:spPr>
          <a:xfrm>
            <a:off x="10205618" y="353964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2" name="Oval 341"/>
          <p:cNvSpPr/>
          <p:nvPr/>
        </p:nvSpPr>
        <p:spPr>
          <a:xfrm>
            <a:off x="10205618" y="378653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3" name="Oval 342"/>
          <p:cNvSpPr/>
          <p:nvPr/>
        </p:nvSpPr>
        <p:spPr>
          <a:xfrm>
            <a:off x="10205618" y="403341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4" name="Oval 343"/>
          <p:cNvSpPr/>
          <p:nvPr/>
        </p:nvSpPr>
        <p:spPr>
          <a:xfrm>
            <a:off x="10205618" y="428030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5" name="Oval 344"/>
          <p:cNvSpPr/>
          <p:nvPr/>
        </p:nvSpPr>
        <p:spPr>
          <a:xfrm>
            <a:off x="10205618" y="452719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6" name="Oval 345"/>
          <p:cNvSpPr/>
          <p:nvPr/>
        </p:nvSpPr>
        <p:spPr>
          <a:xfrm>
            <a:off x="10205618" y="477408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7" name="Oval 346"/>
          <p:cNvSpPr/>
          <p:nvPr/>
        </p:nvSpPr>
        <p:spPr>
          <a:xfrm>
            <a:off x="10205618" y="502097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8" name="Oval 347"/>
          <p:cNvSpPr/>
          <p:nvPr/>
        </p:nvSpPr>
        <p:spPr>
          <a:xfrm>
            <a:off x="10205618" y="526785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9" name="Oval 348"/>
          <p:cNvSpPr/>
          <p:nvPr/>
        </p:nvSpPr>
        <p:spPr>
          <a:xfrm>
            <a:off x="10205618" y="551474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0" name="Oval 349"/>
          <p:cNvSpPr/>
          <p:nvPr/>
        </p:nvSpPr>
        <p:spPr>
          <a:xfrm>
            <a:off x="10452506" y="107076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1" name="Oval 350"/>
          <p:cNvSpPr/>
          <p:nvPr/>
        </p:nvSpPr>
        <p:spPr>
          <a:xfrm>
            <a:off x="10452506" y="131765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2" name="Oval 351"/>
          <p:cNvSpPr/>
          <p:nvPr/>
        </p:nvSpPr>
        <p:spPr>
          <a:xfrm>
            <a:off x="10452506" y="156453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3" name="Oval 352"/>
          <p:cNvSpPr/>
          <p:nvPr/>
        </p:nvSpPr>
        <p:spPr>
          <a:xfrm>
            <a:off x="10452506" y="181142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4" name="Oval 353"/>
          <p:cNvSpPr/>
          <p:nvPr/>
        </p:nvSpPr>
        <p:spPr>
          <a:xfrm>
            <a:off x="10452506" y="205831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5" name="Oval 354"/>
          <p:cNvSpPr/>
          <p:nvPr/>
        </p:nvSpPr>
        <p:spPr>
          <a:xfrm>
            <a:off x="10452506" y="230520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6" name="Oval 355"/>
          <p:cNvSpPr/>
          <p:nvPr/>
        </p:nvSpPr>
        <p:spPr>
          <a:xfrm>
            <a:off x="10452506" y="255209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7" name="Oval 356"/>
          <p:cNvSpPr/>
          <p:nvPr/>
        </p:nvSpPr>
        <p:spPr>
          <a:xfrm>
            <a:off x="10452506" y="279897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8" name="Oval 357"/>
          <p:cNvSpPr/>
          <p:nvPr/>
        </p:nvSpPr>
        <p:spPr>
          <a:xfrm>
            <a:off x="10452506" y="304586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9" name="Oval 358"/>
          <p:cNvSpPr/>
          <p:nvPr/>
        </p:nvSpPr>
        <p:spPr>
          <a:xfrm>
            <a:off x="10452506" y="329275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0" name="Oval 359"/>
          <p:cNvSpPr/>
          <p:nvPr/>
        </p:nvSpPr>
        <p:spPr>
          <a:xfrm>
            <a:off x="10452506" y="353964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1" name="Oval 360"/>
          <p:cNvSpPr/>
          <p:nvPr/>
        </p:nvSpPr>
        <p:spPr>
          <a:xfrm>
            <a:off x="10452506" y="378653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2" name="Oval 361"/>
          <p:cNvSpPr/>
          <p:nvPr/>
        </p:nvSpPr>
        <p:spPr>
          <a:xfrm>
            <a:off x="10452506" y="403341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3" name="Oval 362"/>
          <p:cNvSpPr/>
          <p:nvPr/>
        </p:nvSpPr>
        <p:spPr>
          <a:xfrm>
            <a:off x="10452506" y="428030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4" name="Oval 363"/>
          <p:cNvSpPr/>
          <p:nvPr/>
        </p:nvSpPr>
        <p:spPr>
          <a:xfrm>
            <a:off x="10452506" y="452719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5" name="Oval 364"/>
          <p:cNvSpPr/>
          <p:nvPr/>
        </p:nvSpPr>
        <p:spPr>
          <a:xfrm>
            <a:off x="10452506" y="477408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6" name="Oval 365"/>
          <p:cNvSpPr/>
          <p:nvPr/>
        </p:nvSpPr>
        <p:spPr>
          <a:xfrm>
            <a:off x="10452506" y="502097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7" name="Oval 366"/>
          <p:cNvSpPr/>
          <p:nvPr/>
        </p:nvSpPr>
        <p:spPr>
          <a:xfrm>
            <a:off x="10452506" y="526785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8" name="Oval 367"/>
          <p:cNvSpPr/>
          <p:nvPr/>
        </p:nvSpPr>
        <p:spPr>
          <a:xfrm>
            <a:off x="10452506" y="551474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9" name="Oval 368"/>
          <p:cNvSpPr/>
          <p:nvPr/>
        </p:nvSpPr>
        <p:spPr>
          <a:xfrm>
            <a:off x="10699394" y="107076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0" name="Oval 369"/>
          <p:cNvSpPr/>
          <p:nvPr/>
        </p:nvSpPr>
        <p:spPr>
          <a:xfrm>
            <a:off x="10699394" y="131765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1" name="Oval 370"/>
          <p:cNvSpPr/>
          <p:nvPr/>
        </p:nvSpPr>
        <p:spPr>
          <a:xfrm>
            <a:off x="10699394" y="156453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2" name="Oval 371"/>
          <p:cNvSpPr/>
          <p:nvPr/>
        </p:nvSpPr>
        <p:spPr>
          <a:xfrm>
            <a:off x="10699394" y="181142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3" name="Oval 372"/>
          <p:cNvSpPr/>
          <p:nvPr/>
        </p:nvSpPr>
        <p:spPr>
          <a:xfrm>
            <a:off x="10699394" y="205831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4" name="Oval 373"/>
          <p:cNvSpPr/>
          <p:nvPr/>
        </p:nvSpPr>
        <p:spPr>
          <a:xfrm>
            <a:off x="10699394" y="230520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5" name="Oval 374"/>
          <p:cNvSpPr/>
          <p:nvPr/>
        </p:nvSpPr>
        <p:spPr>
          <a:xfrm>
            <a:off x="10699394" y="255209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6" name="Oval 375"/>
          <p:cNvSpPr/>
          <p:nvPr/>
        </p:nvSpPr>
        <p:spPr>
          <a:xfrm>
            <a:off x="10699394" y="279897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7" name="Oval 376"/>
          <p:cNvSpPr/>
          <p:nvPr/>
        </p:nvSpPr>
        <p:spPr>
          <a:xfrm>
            <a:off x="10699394" y="304586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8" name="Oval 377"/>
          <p:cNvSpPr/>
          <p:nvPr/>
        </p:nvSpPr>
        <p:spPr>
          <a:xfrm>
            <a:off x="10699394" y="329275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9" name="Oval 378"/>
          <p:cNvSpPr/>
          <p:nvPr/>
        </p:nvSpPr>
        <p:spPr>
          <a:xfrm>
            <a:off x="10699394" y="353964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0" name="Oval 379"/>
          <p:cNvSpPr/>
          <p:nvPr/>
        </p:nvSpPr>
        <p:spPr>
          <a:xfrm>
            <a:off x="10699394" y="378653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1" name="Oval 380"/>
          <p:cNvSpPr/>
          <p:nvPr/>
        </p:nvSpPr>
        <p:spPr>
          <a:xfrm>
            <a:off x="10699394" y="403341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2" name="Oval 381"/>
          <p:cNvSpPr/>
          <p:nvPr/>
        </p:nvSpPr>
        <p:spPr>
          <a:xfrm>
            <a:off x="10699394" y="428030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3" name="Oval 382"/>
          <p:cNvSpPr/>
          <p:nvPr/>
        </p:nvSpPr>
        <p:spPr>
          <a:xfrm>
            <a:off x="10699394" y="452719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4" name="Oval 383"/>
          <p:cNvSpPr/>
          <p:nvPr/>
        </p:nvSpPr>
        <p:spPr>
          <a:xfrm>
            <a:off x="10699394" y="477408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5" name="Oval 384"/>
          <p:cNvSpPr/>
          <p:nvPr/>
        </p:nvSpPr>
        <p:spPr>
          <a:xfrm>
            <a:off x="10699394" y="502097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6" name="Oval 385"/>
          <p:cNvSpPr/>
          <p:nvPr/>
        </p:nvSpPr>
        <p:spPr>
          <a:xfrm>
            <a:off x="10699394" y="526785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7" name="Oval 386"/>
          <p:cNvSpPr/>
          <p:nvPr/>
        </p:nvSpPr>
        <p:spPr>
          <a:xfrm>
            <a:off x="10699394" y="551474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8" name="Oval 387"/>
          <p:cNvSpPr/>
          <p:nvPr/>
        </p:nvSpPr>
        <p:spPr>
          <a:xfrm>
            <a:off x="10946282" y="107076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9" name="Oval 388"/>
          <p:cNvSpPr/>
          <p:nvPr/>
        </p:nvSpPr>
        <p:spPr>
          <a:xfrm>
            <a:off x="10946282" y="131765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0" name="Oval 389"/>
          <p:cNvSpPr/>
          <p:nvPr/>
        </p:nvSpPr>
        <p:spPr>
          <a:xfrm>
            <a:off x="10946282" y="156453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1" name="Oval 390"/>
          <p:cNvSpPr/>
          <p:nvPr/>
        </p:nvSpPr>
        <p:spPr>
          <a:xfrm>
            <a:off x="10946282" y="181142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2" name="Oval 391"/>
          <p:cNvSpPr/>
          <p:nvPr/>
        </p:nvSpPr>
        <p:spPr>
          <a:xfrm>
            <a:off x="10946282" y="205831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3" name="Oval 392"/>
          <p:cNvSpPr/>
          <p:nvPr/>
        </p:nvSpPr>
        <p:spPr>
          <a:xfrm>
            <a:off x="10946282" y="230520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4" name="Oval 393"/>
          <p:cNvSpPr/>
          <p:nvPr/>
        </p:nvSpPr>
        <p:spPr>
          <a:xfrm>
            <a:off x="10946282" y="255209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5" name="Oval 394"/>
          <p:cNvSpPr/>
          <p:nvPr/>
        </p:nvSpPr>
        <p:spPr>
          <a:xfrm>
            <a:off x="10946282" y="279897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6" name="Oval 395"/>
          <p:cNvSpPr/>
          <p:nvPr/>
        </p:nvSpPr>
        <p:spPr>
          <a:xfrm>
            <a:off x="10946282" y="304586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7" name="Oval 396"/>
          <p:cNvSpPr/>
          <p:nvPr/>
        </p:nvSpPr>
        <p:spPr>
          <a:xfrm>
            <a:off x="10946282" y="329275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8" name="Oval 397"/>
          <p:cNvSpPr/>
          <p:nvPr/>
        </p:nvSpPr>
        <p:spPr>
          <a:xfrm>
            <a:off x="10946282" y="353964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9" name="Oval 398"/>
          <p:cNvSpPr/>
          <p:nvPr/>
        </p:nvSpPr>
        <p:spPr>
          <a:xfrm>
            <a:off x="10946282" y="378653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0" name="Oval 399"/>
          <p:cNvSpPr/>
          <p:nvPr/>
        </p:nvSpPr>
        <p:spPr>
          <a:xfrm>
            <a:off x="10946282" y="403341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1" name="Oval 400"/>
          <p:cNvSpPr/>
          <p:nvPr/>
        </p:nvSpPr>
        <p:spPr>
          <a:xfrm>
            <a:off x="10946282" y="428030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2" name="Oval 401"/>
          <p:cNvSpPr/>
          <p:nvPr/>
        </p:nvSpPr>
        <p:spPr>
          <a:xfrm>
            <a:off x="10946282" y="452719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3" name="Oval 402"/>
          <p:cNvSpPr/>
          <p:nvPr/>
        </p:nvSpPr>
        <p:spPr>
          <a:xfrm>
            <a:off x="10946282" y="477408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4" name="Oval 403"/>
          <p:cNvSpPr/>
          <p:nvPr/>
        </p:nvSpPr>
        <p:spPr>
          <a:xfrm>
            <a:off x="10946282" y="502097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5" name="Oval 404"/>
          <p:cNvSpPr/>
          <p:nvPr/>
        </p:nvSpPr>
        <p:spPr>
          <a:xfrm>
            <a:off x="10946282" y="526785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6" name="Oval 405"/>
          <p:cNvSpPr/>
          <p:nvPr/>
        </p:nvSpPr>
        <p:spPr>
          <a:xfrm>
            <a:off x="10946282" y="551474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7" name="Oval 406"/>
          <p:cNvSpPr/>
          <p:nvPr/>
        </p:nvSpPr>
        <p:spPr>
          <a:xfrm>
            <a:off x="11193170" y="107076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8" name="Oval 407"/>
          <p:cNvSpPr/>
          <p:nvPr/>
        </p:nvSpPr>
        <p:spPr>
          <a:xfrm>
            <a:off x="11193170" y="131765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9" name="Oval 408"/>
          <p:cNvSpPr/>
          <p:nvPr/>
        </p:nvSpPr>
        <p:spPr>
          <a:xfrm>
            <a:off x="11193170" y="156453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0" name="Oval 409"/>
          <p:cNvSpPr/>
          <p:nvPr/>
        </p:nvSpPr>
        <p:spPr>
          <a:xfrm>
            <a:off x="11193170" y="181142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1" name="Oval 410"/>
          <p:cNvSpPr/>
          <p:nvPr/>
        </p:nvSpPr>
        <p:spPr>
          <a:xfrm>
            <a:off x="11193170" y="205831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2" name="Oval 411"/>
          <p:cNvSpPr/>
          <p:nvPr/>
        </p:nvSpPr>
        <p:spPr>
          <a:xfrm>
            <a:off x="11193170" y="230520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3" name="Oval 412"/>
          <p:cNvSpPr/>
          <p:nvPr/>
        </p:nvSpPr>
        <p:spPr>
          <a:xfrm>
            <a:off x="11193170" y="255209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4" name="Oval 413"/>
          <p:cNvSpPr/>
          <p:nvPr/>
        </p:nvSpPr>
        <p:spPr>
          <a:xfrm>
            <a:off x="11193170" y="279897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5" name="Oval 414"/>
          <p:cNvSpPr/>
          <p:nvPr/>
        </p:nvSpPr>
        <p:spPr>
          <a:xfrm>
            <a:off x="11193170" y="304586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6" name="Oval 415"/>
          <p:cNvSpPr/>
          <p:nvPr/>
        </p:nvSpPr>
        <p:spPr>
          <a:xfrm>
            <a:off x="11193170" y="329275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7" name="Oval 416"/>
          <p:cNvSpPr/>
          <p:nvPr/>
        </p:nvSpPr>
        <p:spPr>
          <a:xfrm>
            <a:off x="11193170" y="353964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8" name="Oval 417"/>
          <p:cNvSpPr/>
          <p:nvPr/>
        </p:nvSpPr>
        <p:spPr>
          <a:xfrm>
            <a:off x="11193170" y="378653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9" name="Oval 418"/>
          <p:cNvSpPr/>
          <p:nvPr/>
        </p:nvSpPr>
        <p:spPr>
          <a:xfrm>
            <a:off x="11193170" y="403341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0" name="Oval 419"/>
          <p:cNvSpPr/>
          <p:nvPr/>
        </p:nvSpPr>
        <p:spPr>
          <a:xfrm>
            <a:off x="11193170" y="428030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1" name="Oval 420"/>
          <p:cNvSpPr/>
          <p:nvPr/>
        </p:nvSpPr>
        <p:spPr>
          <a:xfrm>
            <a:off x="11193170" y="452719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2" name="Oval 421"/>
          <p:cNvSpPr/>
          <p:nvPr/>
        </p:nvSpPr>
        <p:spPr>
          <a:xfrm>
            <a:off x="11193170" y="477408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3" name="Oval 422"/>
          <p:cNvSpPr/>
          <p:nvPr/>
        </p:nvSpPr>
        <p:spPr>
          <a:xfrm>
            <a:off x="11193170" y="502097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4" name="Oval 423"/>
          <p:cNvSpPr/>
          <p:nvPr/>
        </p:nvSpPr>
        <p:spPr>
          <a:xfrm>
            <a:off x="11193170" y="526785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5" name="Oval 424"/>
          <p:cNvSpPr/>
          <p:nvPr/>
        </p:nvSpPr>
        <p:spPr>
          <a:xfrm>
            <a:off x="11193170" y="551474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6" name="Oval 425"/>
          <p:cNvSpPr/>
          <p:nvPr/>
        </p:nvSpPr>
        <p:spPr>
          <a:xfrm>
            <a:off x="11440058" y="107076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7" name="Oval 426"/>
          <p:cNvSpPr/>
          <p:nvPr/>
        </p:nvSpPr>
        <p:spPr>
          <a:xfrm>
            <a:off x="11440058" y="131765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8" name="Oval 427"/>
          <p:cNvSpPr/>
          <p:nvPr/>
        </p:nvSpPr>
        <p:spPr>
          <a:xfrm>
            <a:off x="11440058" y="156453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9" name="Oval 428"/>
          <p:cNvSpPr/>
          <p:nvPr/>
        </p:nvSpPr>
        <p:spPr>
          <a:xfrm>
            <a:off x="11440058" y="181142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0" name="Oval 429"/>
          <p:cNvSpPr/>
          <p:nvPr/>
        </p:nvSpPr>
        <p:spPr>
          <a:xfrm>
            <a:off x="11440058" y="205831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1" name="Oval 430"/>
          <p:cNvSpPr/>
          <p:nvPr/>
        </p:nvSpPr>
        <p:spPr>
          <a:xfrm>
            <a:off x="11440058" y="230520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2" name="Oval 431"/>
          <p:cNvSpPr/>
          <p:nvPr/>
        </p:nvSpPr>
        <p:spPr>
          <a:xfrm>
            <a:off x="11440058" y="255209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3" name="Oval 432"/>
          <p:cNvSpPr/>
          <p:nvPr/>
        </p:nvSpPr>
        <p:spPr>
          <a:xfrm>
            <a:off x="11440058" y="279897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4" name="Oval 433"/>
          <p:cNvSpPr/>
          <p:nvPr/>
        </p:nvSpPr>
        <p:spPr>
          <a:xfrm>
            <a:off x="11440058" y="304586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5" name="Oval 434"/>
          <p:cNvSpPr/>
          <p:nvPr/>
        </p:nvSpPr>
        <p:spPr>
          <a:xfrm>
            <a:off x="11440058" y="329275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6" name="Oval 435"/>
          <p:cNvSpPr/>
          <p:nvPr/>
        </p:nvSpPr>
        <p:spPr>
          <a:xfrm>
            <a:off x="11440058" y="353964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7" name="Oval 436"/>
          <p:cNvSpPr/>
          <p:nvPr/>
        </p:nvSpPr>
        <p:spPr>
          <a:xfrm>
            <a:off x="11440058" y="378653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8" name="Oval 437"/>
          <p:cNvSpPr/>
          <p:nvPr/>
        </p:nvSpPr>
        <p:spPr>
          <a:xfrm>
            <a:off x="11440058" y="403341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9" name="Oval 438"/>
          <p:cNvSpPr/>
          <p:nvPr/>
        </p:nvSpPr>
        <p:spPr>
          <a:xfrm>
            <a:off x="11440058" y="428030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0" name="Oval 439"/>
          <p:cNvSpPr/>
          <p:nvPr/>
        </p:nvSpPr>
        <p:spPr>
          <a:xfrm>
            <a:off x="11440058" y="452719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1" name="Oval 440"/>
          <p:cNvSpPr/>
          <p:nvPr/>
        </p:nvSpPr>
        <p:spPr>
          <a:xfrm>
            <a:off x="11440058" y="477408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2" name="Oval 441"/>
          <p:cNvSpPr/>
          <p:nvPr/>
        </p:nvSpPr>
        <p:spPr>
          <a:xfrm>
            <a:off x="11440058" y="502097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3" name="Oval 442"/>
          <p:cNvSpPr/>
          <p:nvPr/>
        </p:nvSpPr>
        <p:spPr>
          <a:xfrm>
            <a:off x="11440058" y="526785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4" name="Oval 443"/>
          <p:cNvSpPr/>
          <p:nvPr/>
        </p:nvSpPr>
        <p:spPr>
          <a:xfrm>
            <a:off x="11440058" y="551474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5" name="Oval 444"/>
          <p:cNvSpPr/>
          <p:nvPr/>
        </p:nvSpPr>
        <p:spPr>
          <a:xfrm>
            <a:off x="11686946" y="107076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6" name="Oval 445"/>
          <p:cNvSpPr/>
          <p:nvPr/>
        </p:nvSpPr>
        <p:spPr>
          <a:xfrm>
            <a:off x="11686946" y="131765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7" name="Oval 446"/>
          <p:cNvSpPr/>
          <p:nvPr/>
        </p:nvSpPr>
        <p:spPr>
          <a:xfrm>
            <a:off x="11686946" y="156453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8" name="Oval 447"/>
          <p:cNvSpPr/>
          <p:nvPr/>
        </p:nvSpPr>
        <p:spPr>
          <a:xfrm>
            <a:off x="11686946" y="181142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9" name="Oval 448"/>
          <p:cNvSpPr/>
          <p:nvPr/>
        </p:nvSpPr>
        <p:spPr>
          <a:xfrm>
            <a:off x="11686946" y="205831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0" name="Oval 449"/>
          <p:cNvSpPr/>
          <p:nvPr/>
        </p:nvSpPr>
        <p:spPr>
          <a:xfrm>
            <a:off x="11686946" y="230520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1" name="Oval 450"/>
          <p:cNvSpPr/>
          <p:nvPr/>
        </p:nvSpPr>
        <p:spPr>
          <a:xfrm>
            <a:off x="11686946" y="255209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2" name="Oval 451"/>
          <p:cNvSpPr/>
          <p:nvPr/>
        </p:nvSpPr>
        <p:spPr>
          <a:xfrm>
            <a:off x="11686946" y="279897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3" name="Oval 452"/>
          <p:cNvSpPr/>
          <p:nvPr/>
        </p:nvSpPr>
        <p:spPr>
          <a:xfrm>
            <a:off x="11686946" y="304586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4" name="Oval 453"/>
          <p:cNvSpPr/>
          <p:nvPr/>
        </p:nvSpPr>
        <p:spPr>
          <a:xfrm>
            <a:off x="11686946" y="329275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5" name="Oval 454"/>
          <p:cNvSpPr/>
          <p:nvPr/>
        </p:nvSpPr>
        <p:spPr>
          <a:xfrm>
            <a:off x="11686946" y="353964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6" name="Oval 455"/>
          <p:cNvSpPr/>
          <p:nvPr/>
        </p:nvSpPr>
        <p:spPr>
          <a:xfrm>
            <a:off x="11686946" y="378653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7" name="Oval 456"/>
          <p:cNvSpPr/>
          <p:nvPr/>
        </p:nvSpPr>
        <p:spPr>
          <a:xfrm>
            <a:off x="11686946" y="403341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8" name="Oval 457"/>
          <p:cNvSpPr/>
          <p:nvPr/>
        </p:nvSpPr>
        <p:spPr>
          <a:xfrm>
            <a:off x="11686946" y="428030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9" name="Oval 458"/>
          <p:cNvSpPr/>
          <p:nvPr/>
        </p:nvSpPr>
        <p:spPr>
          <a:xfrm>
            <a:off x="11686946" y="4527194"/>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0" name="Oval 459"/>
          <p:cNvSpPr/>
          <p:nvPr/>
        </p:nvSpPr>
        <p:spPr>
          <a:xfrm>
            <a:off x="11686946" y="4774082"/>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1" name="Oval 460"/>
          <p:cNvSpPr/>
          <p:nvPr/>
        </p:nvSpPr>
        <p:spPr>
          <a:xfrm>
            <a:off x="11686946" y="5020970"/>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2" name="Oval 461"/>
          <p:cNvSpPr/>
          <p:nvPr/>
        </p:nvSpPr>
        <p:spPr>
          <a:xfrm>
            <a:off x="11686946" y="5267858"/>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3" name="Oval 462"/>
          <p:cNvSpPr/>
          <p:nvPr/>
        </p:nvSpPr>
        <p:spPr>
          <a:xfrm>
            <a:off x="11686946" y="5514746"/>
            <a:ext cx="16459" cy="16459"/>
          </a:xfrm>
          <a:prstGeom prst="ellipse">
            <a:avLst/>
          </a:prstGeom>
          <a:solidFill>
            <a:srgbClr val="3A494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4" name="TextBox 463"/>
          <p:cNvSpPr txBox="1"/>
          <p:nvPr/>
        </p:nvSpPr>
        <p:spPr>
          <a:xfrm>
            <a:off x="5989320" y="941832"/>
            <a:ext cx="5504688" cy="237744"/>
          </a:xfrm>
          <a:prstGeom prst="rect">
            <a:avLst/>
          </a:prstGeom>
          <a:noFill/>
        </p:spPr>
        <p:txBody>
          <a:bodyPr wrap="square" lIns="0" rIns="0" tIns="0" bIns="0" anchor="t">
            <a:noAutofit/>
          </a:bodyPr>
          <a:lstStyle/>
          <a:p>
            <a:pPr algn="l">
              <a:lnSpc>
                <a:spcPct val="108000"/>
              </a:lnSpc>
              <a:spcBef>
                <a:spcPts val="0"/>
              </a:spcBef>
              <a:spcAft>
                <a:spcPts val="0"/>
              </a:spcAft>
            </a:pPr>
            <a:r>
              <a:rPr sz="1000" b="1">
                <a:solidFill>
                  <a:srgbClr val="A6C9B8"/>
                </a:solidFill>
                <a:latin typeface="IBM Plex Mono"/>
              </a:rPr>
              <a:t>SOURCE → STATE → EXPERIMENT → REVIEW</a:t>
            </a:r>
          </a:p>
        </p:txBody>
      </p:sp>
      <p:sp>
        <p:nvSpPr>
          <p:cNvPr id="465" name="Rectangle 464"/>
          <p:cNvSpPr/>
          <p:nvPr/>
        </p:nvSpPr>
        <p:spPr>
          <a:xfrm>
            <a:off x="6126480" y="1581912"/>
            <a:ext cx="1060704" cy="1307592"/>
          </a:xfrm>
          <a:prstGeom prst="rect">
            <a:avLst/>
          </a:prstGeom>
          <a:solidFill>
            <a:srgbClr val="222E2A"/>
          </a:solidFill>
          <a:ln w="8890">
            <a:solidFill>
              <a:srgbClr val="3A494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66" name="Connector 465"/>
          <p:cNvCxnSpPr/>
          <p:nvPr/>
        </p:nvCxnSpPr>
        <p:spPr>
          <a:xfrm>
            <a:off x="6263640" y="1792224"/>
            <a:ext cx="749808" cy="0"/>
          </a:xfrm>
          <a:prstGeom prst="line">
            <a:avLst/>
          </a:prstGeom>
          <a:ln w="10160">
            <a:solidFill>
              <a:srgbClr val="A6C9B8"/>
            </a:solidFill>
          </a:ln>
          <a:effectLst/>
        </p:spPr>
        <p:style>
          <a:lnRef idx="2">
            <a:schemeClr val="accent1"/>
          </a:lnRef>
          <a:fillRef idx="0">
            <a:schemeClr val="accent1"/>
          </a:fillRef>
          <a:effectRef idx="0">
            <a:schemeClr val="accent1"/>
          </a:effectRef>
          <a:fontRef idx="minor">
            <a:schemeClr val="tx1"/>
          </a:fontRef>
        </p:style>
      </p:cxnSp>
      <p:cxnSp>
        <p:nvCxnSpPr>
          <p:cNvPr id="467" name="Connector 466"/>
          <p:cNvCxnSpPr/>
          <p:nvPr/>
        </p:nvCxnSpPr>
        <p:spPr>
          <a:xfrm>
            <a:off x="6263640" y="1938528"/>
            <a:ext cx="749808" cy="0"/>
          </a:xfrm>
          <a:prstGeom prst="line">
            <a:avLst/>
          </a:prstGeom>
          <a:ln w="10160">
            <a:solidFill>
              <a:srgbClr val="3A4944"/>
            </a:solidFill>
          </a:ln>
          <a:effectLst/>
        </p:spPr>
        <p:style>
          <a:lnRef idx="2">
            <a:schemeClr val="accent1"/>
          </a:lnRef>
          <a:fillRef idx="0">
            <a:schemeClr val="accent1"/>
          </a:fillRef>
          <a:effectRef idx="0">
            <a:schemeClr val="accent1"/>
          </a:effectRef>
          <a:fontRef idx="minor">
            <a:schemeClr val="tx1"/>
          </a:fontRef>
        </p:style>
      </p:cxnSp>
      <p:cxnSp>
        <p:nvCxnSpPr>
          <p:cNvPr id="468" name="Connector 467"/>
          <p:cNvCxnSpPr/>
          <p:nvPr/>
        </p:nvCxnSpPr>
        <p:spPr>
          <a:xfrm>
            <a:off x="6263640" y="2084831"/>
            <a:ext cx="749808" cy="0"/>
          </a:xfrm>
          <a:prstGeom prst="line">
            <a:avLst/>
          </a:prstGeom>
          <a:ln w="10160">
            <a:solidFill>
              <a:srgbClr val="3A4944"/>
            </a:solidFill>
          </a:ln>
          <a:effectLst/>
        </p:spPr>
        <p:style>
          <a:lnRef idx="2">
            <a:schemeClr val="accent1"/>
          </a:lnRef>
          <a:fillRef idx="0">
            <a:schemeClr val="accent1"/>
          </a:fillRef>
          <a:effectRef idx="0">
            <a:schemeClr val="accent1"/>
          </a:effectRef>
          <a:fontRef idx="minor">
            <a:schemeClr val="tx1"/>
          </a:fontRef>
        </p:style>
      </p:cxnSp>
      <p:cxnSp>
        <p:nvCxnSpPr>
          <p:cNvPr id="469" name="Connector 468"/>
          <p:cNvCxnSpPr/>
          <p:nvPr/>
        </p:nvCxnSpPr>
        <p:spPr>
          <a:xfrm>
            <a:off x="6263640" y="2231136"/>
            <a:ext cx="749808" cy="0"/>
          </a:xfrm>
          <a:prstGeom prst="line">
            <a:avLst/>
          </a:prstGeom>
          <a:ln w="10160">
            <a:solidFill>
              <a:srgbClr val="3A4944"/>
            </a:solidFill>
          </a:ln>
          <a:effectLst/>
        </p:spPr>
        <p:style>
          <a:lnRef idx="2">
            <a:schemeClr val="accent1"/>
          </a:lnRef>
          <a:fillRef idx="0">
            <a:schemeClr val="accent1"/>
          </a:fillRef>
          <a:effectRef idx="0">
            <a:schemeClr val="accent1"/>
          </a:effectRef>
          <a:fontRef idx="minor">
            <a:schemeClr val="tx1"/>
          </a:fontRef>
        </p:style>
      </p:cxnSp>
      <p:cxnSp>
        <p:nvCxnSpPr>
          <p:cNvPr id="470" name="Connector 469"/>
          <p:cNvCxnSpPr/>
          <p:nvPr/>
        </p:nvCxnSpPr>
        <p:spPr>
          <a:xfrm>
            <a:off x="6263640" y="2377440"/>
            <a:ext cx="749808" cy="0"/>
          </a:xfrm>
          <a:prstGeom prst="line">
            <a:avLst/>
          </a:prstGeom>
          <a:ln w="10160">
            <a:solidFill>
              <a:srgbClr val="3A4944"/>
            </a:solidFill>
          </a:ln>
          <a:effectLst/>
        </p:spPr>
        <p:style>
          <a:lnRef idx="2">
            <a:schemeClr val="accent1"/>
          </a:lnRef>
          <a:fillRef idx="0">
            <a:schemeClr val="accent1"/>
          </a:fillRef>
          <a:effectRef idx="0">
            <a:schemeClr val="accent1"/>
          </a:effectRef>
          <a:fontRef idx="minor">
            <a:schemeClr val="tx1"/>
          </a:fontRef>
        </p:style>
      </p:cxnSp>
      <p:cxnSp>
        <p:nvCxnSpPr>
          <p:cNvPr id="471" name="Connector 470"/>
          <p:cNvCxnSpPr/>
          <p:nvPr/>
        </p:nvCxnSpPr>
        <p:spPr>
          <a:xfrm>
            <a:off x="6263640" y="2523744"/>
            <a:ext cx="749808" cy="0"/>
          </a:xfrm>
          <a:prstGeom prst="line">
            <a:avLst/>
          </a:prstGeom>
          <a:ln w="10160">
            <a:solidFill>
              <a:srgbClr val="3A4944"/>
            </a:solidFill>
          </a:ln>
          <a:effectLst/>
        </p:spPr>
        <p:style>
          <a:lnRef idx="2">
            <a:schemeClr val="accent1"/>
          </a:lnRef>
          <a:fillRef idx="0">
            <a:schemeClr val="accent1"/>
          </a:fillRef>
          <a:effectRef idx="0">
            <a:schemeClr val="accent1"/>
          </a:effectRef>
          <a:fontRef idx="minor">
            <a:schemeClr val="tx1"/>
          </a:fontRef>
        </p:style>
      </p:cxnSp>
      <p:sp>
        <p:nvSpPr>
          <p:cNvPr id="472" name="Rectangle 471"/>
          <p:cNvSpPr/>
          <p:nvPr/>
        </p:nvSpPr>
        <p:spPr>
          <a:xfrm>
            <a:off x="6309360" y="1728216"/>
            <a:ext cx="1060704" cy="1307592"/>
          </a:xfrm>
          <a:prstGeom prst="rect">
            <a:avLst/>
          </a:prstGeom>
          <a:solidFill>
            <a:srgbClr val="222E2A"/>
          </a:solidFill>
          <a:ln w="8890">
            <a:solidFill>
              <a:srgbClr val="3A494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73" name="Connector 472"/>
          <p:cNvCxnSpPr/>
          <p:nvPr/>
        </p:nvCxnSpPr>
        <p:spPr>
          <a:xfrm>
            <a:off x="6446520" y="1938528"/>
            <a:ext cx="749808" cy="0"/>
          </a:xfrm>
          <a:prstGeom prst="line">
            <a:avLst/>
          </a:prstGeom>
          <a:ln w="10160">
            <a:solidFill>
              <a:srgbClr val="A6C9B8"/>
            </a:solidFill>
          </a:ln>
          <a:effectLst/>
        </p:spPr>
        <p:style>
          <a:lnRef idx="2">
            <a:schemeClr val="accent1"/>
          </a:lnRef>
          <a:fillRef idx="0">
            <a:schemeClr val="accent1"/>
          </a:fillRef>
          <a:effectRef idx="0">
            <a:schemeClr val="accent1"/>
          </a:effectRef>
          <a:fontRef idx="minor">
            <a:schemeClr val="tx1"/>
          </a:fontRef>
        </p:style>
      </p:cxnSp>
      <p:cxnSp>
        <p:nvCxnSpPr>
          <p:cNvPr id="474" name="Connector 473"/>
          <p:cNvCxnSpPr/>
          <p:nvPr/>
        </p:nvCxnSpPr>
        <p:spPr>
          <a:xfrm>
            <a:off x="6446520" y="2084832"/>
            <a:ext cx="749808" cy="0"/>
          </a:xfrm>
          <a:prstGeom prst="line">
            <a:avLst/>
          </a:prstGeom>
          <a:ln w="10160">
            <a:solidFill>
              <a:srgbClr val="3A4944"/>
            </a:solidFill>
          </a:ln>
          <a:effectLst/>
        </p:spPr>
        <p:style>
          <a:lnRef idx="2">
            <a:schemeClr val="accent1"/>
          </a:lnRef>
          <a:fillRef idx="0">
            <a:schemeClr val="accent1"/>
          </a:fillRef>
          <a:effectRef idx="0">
            <a:schemeClr val="accent1"/>
          </a:effectRef>
          <a:fontRef idx="minor">
            <a:schemeClr val="tx1"/>
          </a:fontRef>
        </p:style>
      </p:cxnSp>
      <p:cxnSp>
        <p:nvCxnSpPr>
          <p:cNvPr id="475" name="Connector 474"/>
          <p:cNvCxnSpPr/>
          <p:nvPr/>
        </p:nvCxnSpPr>
        <p:spPr>
          <a:xfrm>
            <a:off x="6446520" y="2231136"/>
            <a:ext cx="749808" cy="0"/>
          </a:xfrm>
          <a:prstGeom prst="line">
            <a:avLst/>
          </a:prstGeom>
          <a:ln w="10160">
            <a:solidFill>
              <a:srgbClr val="3A4944"/>
            </a:solidFill>
          </a:ln>
          <a:effectLst/>
        </p:spPr>
        <p:style>
          <a:lnRef idx="2">
            <a:schemeClr val="accent1"/>
          </a:lnRef>
          <a:fillRef idx="0">
            <a:schemeClr val="accent1"/>
          </a:fillRef>
          <a:effectRef idx="0">
            <a:schemeClr val="accent1"/>
          </a:effectRef>
          <a:fontRef idx="minor">
            <a:schemeClr val="tx1"/>
          </a:fontRef>
        </p:style>
      </p:cxnSp>
      <p:cxnSp>
        <p:nvCxnSpPr>
          <p:cNvPr id="476" name="Connector 475"/>
          <p:cNvCxnSpPr/>
          <p:nvPr/>
        </p:nvCxnSpPr>
        <p:spPr>
          <a:xfrm>
            <a:off x="6446520" y="2377440"/>
            <a:ext cx="749808" cy="0"/>
          </a:xfrm>
          <a:prstGeom prst="line">
            <a:avLst/>
          </a:prstGeom>
          <a:ln w="10160">
            <a:solidFill>
              <a:srgbClr val="3A4944"/>
            </a:solidFill>
          </a:ln>
          <a:effectLst/>
        </p:spPr>
        <p:style>
          <a:lnRef idx="2">
            <a:schemeClr val="accent1"/>
          </a:lnRef>
          <a:fillRef idx="0">
            <a:schemeClr val="accent1"/>
          </a:fillRef>
          <a:effectRef idx="0">
            <a:schemeClr val="accent1"/>
          </a:effectRef>
          <a:fontRef idx="minor">
            <a:schemeClr val="tx1"/>
          </a:fontRef>
        </p:style>
      </p:cxnSp>
      <p:cxnSp>
        <p:nvCxnSpPr>
          <p:cNvPr id="477" name="Connector 476"/>
          <p:cNvCxnSpPr/>
          <p:nvPr/>
        </p:nvCxnSpPr>
        <p:spPr>
          <a:xfrm>
            <a:off x="6446520" y="2523744"/>
            <a:ext cx="749808" cy="0"/>
          </a:xfrm>
          <a:prstGeom prst="line">
            <a:avLst/>
          </a:prstGeom>
          <a:ln w="10160">
            <a:solidFill>
              <a:srgbClr val="3A4944"/>
            </a:solidFill>
          </a:ln>
          <a:effectLst/>
        </p:spPr>
        <p:style>
          <a:lnRef idx="2">
            <a:schemeClr val="accent1"/>
          </a:lnRef>
          <a:fillRef idx="0">
            <a:schemeClr val="accent1"/>
          </a:fillRef>
          <a:effectRef idx="0">
            <a:schemeClr val="accent1"/>
          </a:effectRef>
          <a:fontRef idx="minor">
            <a:schemeClr val="tx1"/>
          </a:fontRef>
        </p:style>
      </p:cxnSp>
      <p:cxnSp>
        <p:nvCxnSpPr>
          <p:cNvPr id="478" name="Connector 477"/>
          <p:cNvCxnSpPr/>
          <p:nvPr/>
        </p:nvCxnSpPr>
        <p:spPr>
          <a:xfrm>
            <a:off x="6446520" y="2670048"/>
            <a:ext cx="749808" cy="0"/>
          </a:xfrm>
          <a:prstGeom prst="line">
            <a:avLst/>
          </a:prstGeom>
          <a:ln w="10160">
            <a:solidFill>
              <a:srgbClr val="3A4944"/>
            </a:solidFill>
          </a:ln>
          <a:effectLst/>
        </p:spPr>
        <p:style>
          <a:lnRef idx="2">
            <a:schemeClr val="accent1"/>
          </a:lnRef>
          <a:fillRef idx="0">
            <a:schemeClr val="accent1"/>
          </a:fillRef>
          <a:effectRef idx="0">
            <a:schemeClr val="accent1"/>
          </a:effectRef>
          <a:fontRef idx="minor">
            <a:schemeClr val="tx1"/>
          </a:fontRef>
        </p:style>
      </p:cxnSp>
      <p:sp>
        <p:nvSpPr>
          <p:cNvPr id="479" name="Rectangle 478"/>
          <p:cNvSpPr/>
          <p:nvPr/>
        </p:nvSpPr>
        <p:spPr>
          <a:xfrm>
            <a:off x="6492240" y="1874519"/>
            <a:ext cx="1060704" cy="1307592"/>
          </a:xfrm>
          <a:prstGeom prst="rect">
            <a:avLst/>
          </a:prstGeom>
          <a:solidFill>
            <a:srgbClr val="222E2A"/>
          </a:solidFill>
          <a:ln w="8890">
            <a:solidFill>
              <a:srgbClr val="3A494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80" name="Connector 479"/>
          <p:cNvCxnSpPr/>
          <p:nvPr/>
        </p:nvCxnSpPr>
        <p:spPr>
          <a:xfrm>
            <a:off x="6629400" y="2084831"/>
            <a:ext cx="749808" cy="0"/>
          </a:xfrm>
          <a:prstGeom prst="line">
            <a:avLst/>
          </a:prstGeom>
          <a:ln w="10160">
            <a:solidFill>
              <a:srgbClr val="A6C9B8"/>
            </a:solidFill>
          </a:ln>
          <a:effectLst/>
        </p:spPr>
        <p:style>
          <a:lnRef idx="2">
            <a:schemeClr val="accent1"/>
          </a:lnRef>
          <a:fillRef idx="0">
            <a:schemeClr val="accent1"/>
          </a:fillRef>
          <a:effectRef idx="0">
            <a:schemeClr val="accent1"/>
          </a:effectRef>
          <a:fontRef idx="minor">
            <a:schemeClr val="tx1"/>
          </a:fontRef>
        </p:style>
      </p:cxnSp>
      <p:cxnSp>
        <p:nvCxnSpPr>
          <p:cNvPr id="481" name="Connector 480"/>
          <p:cNvCxnSpPr/>
          <p:nvPr/>
        </p:nvCxnSpPr>
        <p:spPr>
          <a:xfrm>
            <a:off x="6629400" y="2231136"/>
            <a:ext cx="749808" cy="0"/>
          </a:xfrm>
          <a:prstGeom prst="line">
            <a:avLst/>
          </a:prstGeom>
          <a:ln w="10160">
            <a:solidFill>
              <a:srgbClr val="3A4944"/>
            </a:solidFill>
          </a:ln>
          <a:effectLst/>
        </p:spPr>
        <p:style>
          <a:lnRef idx="2">
            <a:schemeClr val="accent1"/>
          </a:lnRef>
          <a:fillRef idx="0">
            <a:schemeClr val="accent1"/>
          </a:fillRef>
          <a:effectRef idx="0">
            <a:schemeClr val="accent1"/>
          </a:effectRef>
          <a:fontRef idx="minor">
            <a:schemeClr val="tx1"/>
          </a:fontRef>
        </p:style>
      </p:cxnSp>
      <p:cxnSp>
        <p:nvCxnSpPr>
          <p:cNvPr id="482" name="Connector 481"/>
          <p:cNvCxnSpPr/>
          <p:nvPr/>
        </p:nvCxnSpPr>
        <p:spPr>
          <a:xfrm>
            <a:off x="6629400" y="2377439"/>
            <a:ext cx="749808" cy="0"/>
          </a:xfrm>
          <a:prstGeom prst="line">
            <a:avLst/>
          </a:prstGeom>
          <a:ln w="10160">
            <a:solidFill>
              <a:srgbClr val="3A4944"/>
            </a:solidFill>
          </a:ln>
          <a:effectLst/>
        </p:spPr>
        <p:style>
          <a:lnRef idx="2">
            <a:schemeClr val="accent1"/>
          </a:lnRef>
          <a:fillRef idx="0">
            <a:schemeClr val="accent1"/>
          </a:fillRef>
          <a:effectRef idx="0">
            <a:schemeClr val="accent1"/>
          </a:effectRef>
          <a:fontRef idx="minor">
            <a:schemeClr val="tx1"/>
          </a:fontRef>
        </p:style>
      </p:cxnSp>
      <p:cxnSp>
        <p:nvCxnSpPr>
          <p:cNvPr id="483" name="Connector 482"/>
          <p:cNvCxnSpPr/>
          <p:nvPr/>
        </p:nvCxnSpPr>
        <p:spPr>
          <a:xfrm>
            <a:off x="6629400" y="2523744"/>
            <a:ext cx="749808" cy="0"/>
          </a:xfrm>
          <a:prstGeom prst="line">
            <a:avLst/>
          </a:prstGeom>
          <a:ln w="10160">
            <a:solidFill>
              <a:srgbClr val="3A4944"/>
            </a:solidFill>
          </a:ln>
          <a:effectLst/>
        </p:spPr>
        <p:style>
          <a:lnRef idx="2">
            <a:schemeClr val="accent1"/>
          </a:lnRef>
          <a:fillRef idx="0">
            <a:schemeClr val="accent1"/>
          </a:fillRef>
          <a:effectRef idx="0">
            <a:schemeClr val="accent1"/>
          </a:effectRef>
          <a:fontRef idx="minor">
            <a:schemeClr val="tx1"/>
          </a:fontRef>
        </p:style>
      </p:cxnSp>
      <p:cxnSp>
        <p:nvCxnSpPr>
          <p:cNvPr id="484" name="Connector 483"/>
          <p:cNvCxnSpPr/>
          <p:nvPr/>
        </p:nvCxnSpPr>
        <p:spPr>
          <a:xfrm>
            <a:off x="6629400" y="2670048"/>
            <a:ext cx="749808" cy="0"/>
          </a:xfrm>
          <a:prstGeom prst="line">
            <a:avLst/>
          </a:prstGeom>
          <a:ln w="10160">
            <a:solidFill>
              <a:srgbClr val="3A4944"/>
            </a:solidFill>
          </a:ln>
          <a:effectLst/>
        </p:spPr>
        <p:style>
          <a:lnRef idx="2">
            <a:schemeClr val="accent1"/>
          </a:lnRef>
          <a:fillRef idx="0">
            <a:schemeClr val="accent1"/>
          </a:fillRef>
          <a:effectRef idx="0">
            <a:schemeClr val="accent1"/>
          </a:effectRef>
          <a:fontRef idx="minor">
            <a:schemeClr val="tx1"/>
          </a:fontRef>
        </p:style>
      </p:cxnSp>
      <p:cxnSp>
        <p:nvCxnSpPr>
          <p:cNvPr id="485" name="Connector 484"/>
          <p:cNvCxnSpPr/>
          <p:nvPr/>
        </p:nvCxnSpPr>
        <p:spPr>
          <a:xfrm>
            <a:off x="6629400" y="2816352"/>
            <a:ext cx="749808" cy="0"/>
          </a:xfrm>
          <a:prstGeom prst="line">
            <a:avLst/>
          </a:prstGeom>
          <a:ln w="10160">
            <a:solidFill>
              <a:srgbClr val="3A4944"/>
            </a:solidFill>
          </a:ln>
          <a:effectLst/>
        </p:spPr>
        <p:style>
          <a:lnRef idx="2">
            <a:schemeClr val="accent1"/>
          </a:lnRef>
          <a:fillRef idx="0">
            <a:schemeClr val="accent1"/>
          </a:fillRef>
          <a:effectRef idx="0">
            <a:schemeClr val="accent1"/>
          </a:effectRef>
          <a:fontRef idx="minor">
            <a:schemeClr val="tx1"/>
          </a:fontRef>
        </p:style>
      </p:cxnSp>
      <p:sp>
        <p:nvSpPr>
          <p:cNvPr id="486" name="TextBox 485"/>
          <p:cNvSpPr txBox="1"/>
          <p:nvPr/>
        </p:nvSpPr>
        <p:spPr>
          <a:xfrm>
            <a:off x="6345936" y="3072384"/>
            <a:ext cx="1380744" cy="256032"/>
          </a:xfrm>
          <a:prstGeom prst="rect">
            <a:avLst/>
          </a:prstGeom>
          <a:noFill/>
        </p:spPr>
        <p:txBody>
          <a:bodyPr wrap="square" lIns="0" rIns="0" tIns="0" bIns="0" anchor="t">
            <a:noAutofit/>
          </a:bodyPr>
          <a:lstStyle/>
          <a:p>
            <a:pPr algn="l">
              <a:lnSpc>
                <a:spcPct val="108000"/>
              </a:lnSpc>
              <a:spcBef>
                <a:spcPts val="0"/>
              </a:spcBef>
              <a:spcAft>
                <a:spcPts val="0"/>
              </a:spcAft>
            </a:pPr>
            <a:r>
              <a:rPr sz="1100" b="1">
                <a:solidFill>
                  <a:srgbClr val="AFB9B2"/>
                </a:solidFill>
                <a:latin typeface="IBM Plex Mono"/>
              </a:rPr>
              <a:t>PAPERS</a:t>
            </a:r>
          </a:p>
        </p:txBody>
      </p:sp>
      <p:cxnSp>
        <p:nvCxnSpPr>
          <p:cNvPr id="487" name="Connector 486"/>
          <p:cNvCxnSpPr/>
          <p:nvPr/>
        </p:nvCxnSpPr>
        <p:spPr>
          <a:xfrm flipV="1">
            <a:off x="7360920" y="2176272"/>
            <a:ext cx="749807" cy="192024"/>
          </a:xfrm>
          <a:prstGeom prst="line">
            <a:avLst/>
          </a:prstGeom>
          <a:ln w="20320">
            <a:solidFill>
              <a:srgbClr val="A6C9B8"/>
            </a:solidFill>
          </a:ln>
          <a:effectLst/>
        </p:spPr>
        <p:style>
          <a:lnRef idx="2">
            <a:schemeClr val="accent1"/>
          </a:lnRef>
          <a:fillRef idx="0">
            <a:schemeClr val="accent1"/>
          </a:fillRef>
          <a:effectRef idx="0">
            <a:schemeClr val="accent1"/>
          </a:effectRef>
          <a:fontRef idx="minor">
            <a:schemeClr val="tx1"/>
          </a:fontRef>
        </p:style>
      </p:cxnSp>
      <p:cxnSp>
        <p:nvCxnSpPr>
          <p:cNvPr id="488" name="Connector 487"/>
          <p:cNvCxnSpPr/>
          <p:nvPr/>
        </p:nvCxnSpPr>
        <p:spPr>
          <a:xfrm flipV="1">
            <a:off x="8110727" y="1783080"/>
            <a:ext cx="777241" cy="393192"/>
          </a:xfrm>
          <a:prstGeom prst="line">
            <a:avLst/>
          </a:prstGeom>
          <a:ln w="20320">
            <a:solidFill>
              <a:srgbClr val="A6C9B8"/>
            </a:solidFill>
          </a:ln>
          <a:effectLst/>
        </p:spPr>
        <p:style>
          <a:lnRef idx="2">
            <a:schemeClr val="accent1"/>
          </a:lnRef>
          <a:fillRef idx="0">
            <a:schemeClr val="accent1"/>
          </a:fillRef>
          <a:effectRef idx="0">
            <a:schemeClr val="accent1"/>
          </a:effectRef>
          <a:fontRef idx="minor">
            <a:schemeClr val="tx1"/>
          </a:fontRef>
        </p:style>
      </p:cxnSp>
      <p:cxnSp>
        <p:nvCxnSpPr>
          <p:cNvPr id="489" name="Connector 488"/>
          <p:cNvCxnSpPr/>
          <p:nvPr/>
        </p:nvCxnSpPr>
        <p:spPr>
          <a:xfrm>
            <a:off x="8110727" y="2176272"/>
            <a:ext cx="649225" cy="621792"/>
          </a:xfrm>
          <a:prstGeom prst="line">
            <a:avLst/>
          </a:prstGeom>
          <a:ln w="20320">
            <a:solidFill>
              <a:srgbClr val="A6C9B8"/>
            </a:solidFill>
          </a:ln>
          <a:effectLst/>
        </p:spPr>
        <p:style>
          <a:lnRef idx="2">
            <a:schemeClr val="accent1"/>
          </a:lnRef>
          <a:fillRef idx="0">
            <a:schemeClr val="accent1"/>
          </a:fillRef>
          <a:effectRef idx="0">
            <a:schemeClr val="accent1"/>
          </a:effectRef>
          <a:fontRef idx="minor">
            <a:schemeClr val="tx1"/>
          </a:fontRef>
        </p:style>
      </p:cxnSp>
      <p:cxnSp>
        <p:nvCxnSpPr>
          <p:cNvPr id="490" name="Connector 489"/>
          <p:cNvCxnSpPr/>
          <p:nvPr/>
        </p:nvCxnSpPr>
        <p:spPr>
          <a:xfrm>
            <a:off x="8887968" y="1783080"/>
            <a:ext cx="530352" cy="530352"/>
          </a:xfrm>
          <a:prstGeom prst="line">
            <a:avLst/>
          </a:prstGeom>
          <a:ln w="20320">
            <a:solidFill>
              <a:srgbClr val="A6C9B8"/>
            </a:solidFill>
          </a:ln>
          <a:effectLst/>
        </p:spPr>
        <p:style>
          <a:lnRef idx="2">
            <a:schemeClr val="accent1"/>
          </a:lnRef>
          <a:fillRef idx="0">
            <a:schemeClr val="accent1"/>
          </a:fillRef>
          <a:effectRef idx="0">
            <a:schemeClr val="accent1"/>
          </a:effectRef>
          <a:fontRef idx="minor">
            <a:schemeClr val="tx1"/>
          </a:fontRef>
        </p:style>
      </p:cxnSp>
      <p:cxnSp>
        <p:nvCxnSpPr>
          <p:cNvPr id="491" name="Connector 490"/>
          <p:cNvCxnSpPr/>
          <p:nvPr/>
        </p:nvCxnSpPr>
        <p:spPr>
          <a:xfrm flipV="1">
            <a:off x="8759952" y="2313432"/>
            <a:ext cx="658368" cy="484632"/>
          </a:xfrm>
          <a:prstGeom prst="line">
            <a:avLst/>
          </a:prstGeom>
          <a:ln w="20320">
            <a:solidFill>
              <a:srgbClr val="A6C9B8"/>
            </a:solidFill>
          </a:ln>
          <a:effectLst/>
        </p:spPr>
        <p:style>
          <a:lnRef idx="2">
            <a:schemeClr val="accent1"/>
          </a:lnRef>
          <a:fillRef idx="0">
            <a:schemeClr val="accent1"/>
          </a:fillRef>
          <a:effectRef idx="0">
            <a:schemeClr val="accent1"/>
          </a:effectRef>
          <a:fontRef idx="minor">
            <a:schemeClr val="tx1"/>
          </a:fontRef>
        </p:style>
      </p:cxnSp>
      <p:cxnSp>
        <p:nvCxnSpPr>
          <p:cNvPr id="492" name="Connector 491"/>
          <p:cNvCxnSpPr/>
          <p:nvPr/>
        </p:nvCxnSpPr>
        <p:spPr>
          <a:xfrm flipH="1">
            <a:off x="7854696" y="2176272"/>
            <a:ext cx="256031" cy="658368"/>
          </a:xfrm>
          <a:prstGeom prst="line">
            <a:avLst/>
          </a:prstGeom>
          <a:ln w="20320">
            <a:solidFill>
              <a:srgbClr val="A6C9B8"/>
            </a:solidFill>
          </a:ln>
          <a:effectLst/>
        </p:spPr>
        <p:style>
          <a:lnRef idx="2">
            <a:schemeClr val="accent1"/>
          </a:lnRef>
          <a:fillRef idx="0">
            <a:schemeClr val="accent1"/>
          </a:fillRef>
          <a:effectRef idx="0">
            <a:schemeClr val="accent1"/>
          </a:effectRef>
          <a:fontRef idx="minor">
            <a:schemeClr val="tx1"/>
          </a:fontRef>
        </p:style>
      </p:cxnSp>
      <p:sp>
        <p:nvSpPr>
          <p:cNvPr id="493" name="Oval 492"/>
          <p:cNvSpPr/>
          <p:nvPr/>
        </p:nvSpPr>
        <p:spPr>
          <a:xfrm>
            <a:off x="7964423" y="2029967"/>
            <a:ext cx="292608" cy="292608"/>
          </a:xfrm>
          <a:prstGeom prst="ellipse">
            <a:avLst/>
          </a:prstGeom>
          <a:solidFill>
            <a:srgbClr val="A6C9B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4" name="Oval 493"/>
          <p:cNvSpPr/>
          <p:nvPr/>
        </p:nvSpPr>
        <p:spPr>
          <a:xfrm>
            <a:off x="8796528" y="1691639"/>
            <a:ext cx="182880" cy="182880"/>
          </a:xfrm>
          <a:prstGeom prst="ellipse">
            <a:avLst/>
          </a:prstGeom>
          <a:solidFill>
            <a:srgbClr val="A6C9B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5" name="Oval 494"/>
          <p:cNvSpPr/>
          <p:nvPr/>
        </p:nvSpPr>
        <p:spPr>
          <a:xfrm>
            <a:off x="8641080" y="2679192"/>
            <a:ext cx="237744" cy="237744"/>
          </a:xfrm>
          <a:prstGeom prst="ellipse">
            <a:avLst/>
          </a:prstGeom>
          <a:solidFill>
            <a:srgbClr val="A6C9B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6" name="Oval 495"/>
          <p:cNvSpPr/>
          <p:nvPr/>
        </p:nvSpPr>
        <p:spPr>
          <a:xfrm>
            <a:off x="9326880" y="2221991"/>
            <a:ext cx="182880" cy="182880"/>
          </a:xfrm>
          <a:prstGeom prst="ellipse">
            <a:avLst/>
          </a:prstGeom>
          <a:solidFill>
            <a:srgbClr val="A6C9B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7" name="Oval 496"/>
          <p:cNvSpPr/>
          <p:nvPr/>
        </p:nvSpPr>
        <p:spPr>
          <a:xfrm>
            <a:off x="7790688" y="2770632"/>
            <a:ext cx="128016" cy="128016"/>
          </a:xfrm>
          <a:prstGeom prst="ellipse">
            <a:avLst/>
          </a:prstGeom>
          <a:solidFill>
            <a:srgbClr val="A6C9B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8" name="TextBox 497"/>
          <p:cNvSpPr txBox="1"/>
          <p:nvPr/>
        </p:nvSpPr>
        <p:spPr>
          <a:xfrm>
            <a:off x="7818120" y="3264408"/>
            <a:ext cx="2020824" cy="256032"/>
          </a:xfrm>
          <a:prstGeom prst="rect">
            <a:avLst/>
          </a:prstGeom>
          <a:noFill/>
        </p:spPr>
        <p:txBody>
          <a:bodyPr wrap="square" lIns="0" rIns="0" tIns="0" bIns="0" anchor="t">
            <a:noAutofit/>
          </a:bodyPr>
          <a:lstStyle/>
          <a:p>
            <a:pPr algn="l">
              <a:lnSpc>
                <a:spcPct val="108000"/>
              </a:lnSpc>
              <a:spcBef>
                <a:spcPts val="0"/>
              </a:spcBef>
              <a:spcAft>
                <a:spcPts val="0"/>
              </a:spcAft>
            </a:pPr>
            <a:r>
              <a:rPr sz="1100" b="1">
                <a:solidFill>
                  <a:srgbClr val="A6C9B8"/>
                </a:solidFill>
                <a:latin typeface="IBM Plex Mono"/>
              </a:rPr>
              <a:t>CLAIM GRAPH</a:t>
            </a:r>
          </a:p>
        </p:txBody>
      </p:sp>
      <p:cxnSp>
        <p:nvCxnSpPr>
          <p:cNvPr id="499" name="Connector 498"/>
          <p:cNvCxnSpPr/>
          <p:nvPr/>
        </p:nvCxnSpPr>
        <p:spPr>
          <a:xfrm>
            <a:off x="9592056" y="2340864"/>
            <a:ext cx="594360" cy="0"/>
          </a:xfrm>
          <a:prstGeom prst="line">
            <a:avLst/>
          </a:prstGeom>
          <a:ln w="17780">
            <a:solidFill>
              <a:srgbClr val="A6C9B8"/>
            </a:solidFill>
          </a:ln>
          <a:effectLst/>
        </p:spPr>
        <p:style>
          <a:lnRef idx="2">
            <a:schemeClr val="accent1"/>
          </a:lnRef>
          <a:fillRef idx="0">
            <a:schemeClr val="accent1"/>
          </a:fillRef>
          <a:effectRef idx="0">
            <a:schemeClr val="accent1"/>
          </a:effectRef>
          <a:fontRef idx="minor">
            <a:schemeClr val="tx1"/>
          </a:fontRef>
        </p:style>
      </p:cxnSp>
      <p:cxnSp>
        <p:nvCxnSpPr>
          <p:cNvPr id="500" name="Connector 499"/>
          <p:cNvCxnSpPr/>
          <p:nvPr/>
        </p:nvCxnSpPr>
        <p:spPr>
          <a:xfrm>
            <a:off x="10186416" y="2340864"/>
            <a:ext cx="0" cy="1481327"/>
          </a:xfrm>
          <a:prstGeom prst="line">
            <a:avLst/>
          </a:prstGeom>
          <a:ln w="17780">
            <a:solidFill>
              <a:srgbClr val="A6C9B8"/>
            </a:solidFill>
          </a:ln>
          <a:effectLst/>
        </p:spPr>
        <p:style>
          <a:lnRef idx="2">
            <a:schemeClr val="accent1"/>
          </a:lnRef>
          <a:fillRef idx="0">
            <a:schemeClr val="accent1"/>
          </a:fillRef>
          <a:effectRef idx="0">
            <a:schemeClr val="accent1"/>
          </a:effectRef>
          <a:fontRef idx="minor">
            <a:schemeClr val="tx1"/>
          </a:fontRef>
        </p:style>
      </p:cxnSp>
      <p:cxnSp>
        <p:nvCxnSpPr>
          <p:cNvPr id="501" name="Connector 500"/>
          <p:cNvCxnSpPr/>
          <p:nvPr/>
        </p:nvCxnSpPr>
        <p:spPr>
          <a:xfrm>
            <a:off x="10186416" y="1563624"/>
            <a:ext cx="438912" cy="0"/>
          </a:xfrm>
          <a:prstGeom prst="line">
            <a:avLst/>
          </a:prstGeom>
          <a:ln w="17780">
            <a:solidFill>
              <a:srgbClr val="A6C9B8"/>
            </a:solidFill>
          </a:ln>
          <a:effectLst/>
        </p:spPr>
        <p:style>
          <a:lnRef idx="2">
            <a:schemeClr val="accent1"/>
          </a:lnRef>
          <a:fillRef idx="0">
            <a:schemeClr val="accent1"/>
          </a:fillRef>
          <a:effectRef idx="0">
            <a:schemeClr val="accent1"/>
          </a:effectRef>
          <a:fontRef idx="minor">
            <a:schemeClr val="tx1"/>
          </a:fontRef>
        </p:style>
      </p:cxnSp>
      <p:sp>
        <p:nvSpPr>
          <p:cNvPr id="502" name="Rounded Rectangle 501"/>
          <p:cNvSpPr/>
          <p:nvPr/>
        </p:nvSpPr>
        <p:spPr>
          <a:xfrm>
            <a:off x="10625328" y="1316736"/>
            <a:ext cx="749808" cy="493776"/>
          </a:xfrm>
          <a:prstGeom prst="roundRect">
            <a:avLst>
              <a:gd name="adj" fmla="val 8000"/>
            </a:avLst>
          </a:prstGeom>
          <a:solidFill>
            <a:srgbClr val="222E2A"/>
          </a:solidFill>
          <a:ln w="8890">
            <a:solidFill>
              <a:srgbClr val="A6C9B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3" name="Oval 502"/>
          <p:cNvSpPr/>
          <p:nvPr/>
        </p:nvSpPr>
        <p:spPr>
          <a:xfrm>
            <a:off x="10762488" y="1508760"/>
            <a:ext cx="109728" cy="109728"/>
          </a:xfrm>
          <a:prstGeom prst="ellipse">
            <a:avLst/>
          </a:prstGeom>
          <a:solidFill>
            <a:srgbClr val="A6C9B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504" name="Connector 503"/>
          <p:cNvCxnSpPr/>
          <p:nvPr/>
        </p:nvCxnSpPr>
        <p:spPr>
          <a:xfrm>
            <a:off x="10945368" y="1517904"/>
            <a:ext cx="256032" cy="0"/>
          </a:xfrm>
          <a:prstGeom prst="line">
            <a:avLst/>
          </a:prstGeom>
          <a:ln w="12700">
            <a:solidFill>
              <a:srgbClr val="AFB9B2"/>
            </a:solidFill>
          </a:ln>
          <a:effectLst/>
        </p:spPr>
        <p:style>
          <a:lnRef idx="2">
            <a:schemeClr val="accent1"/>
          </a:lnRef>
          <a:fillRef idx="0">
            <a:schemeClr val="accent1"/>
          </a:fillRef>
          <a:effectRef idx="0">
            <a:schemeClr val="accent1"/>
          </a:effectRef>
          <a:fontRef idx="minor">
            <a:schemeClr val="tx1"/>
          </a:fontRef>
        </p:style>
      </p:cxnSp>
      <p:cxnSp>
        <p:nvCxnSpPr>
          <p:cNvPr id="505" name="Connector 504"/>
          <p:cNvCxnSpPr/>
          <p:nvPr/>
        </p:nvCxnSpPr>
        <p:spPr>
          <a:xfrm>
            <a:off x="10945368" y="1627632"/>
            <a:ext cx="210312" cy="0"/>
          </a:xfrm>
          <a:prstGeom prst="line">
            <a:avLst/>
          </a:prstGeom>
          <a:ln w="12700">
            <a:solidFill>
              <a:srgbClr val="3A4944"/>
            </a:solidFill>
          </a:ln>
          <a:effectLst/>
        </p:spPr>
        <p:style>
          <a:lnRef idx="2">
            <a:schemeClr val="accent1"/>
          </a:lnRef>
          <a:fillRef idx="0">
            <a:schemeClr val="accent1"/>
          </a:fillRef>
          <a:effectRef idx="0">
            <a:schemeClr val="accent1"/>
          </a:effectRef>
          <a:fontRef idx="minor">
            <a:schemeClr val="tx1"/>
          </a:fontRef>
        </p:style>
      </p:cxnSp>
      <p:cxnSp>
        <p:nvCxnSpPr>
          <p:cNvPr id="506" name="Connector 505"/>
          <p:cNvCxnSpPr/>
          <p:nvPr/>
        </p:nvCxnSpPr>
        <p:spPr>
          <a:xfrm>
            <a:off x="10186416" y="2660904"/>
            <a:ext cx="438912" cy="0"/>
          </a:xfrm>
          <a:prstGeom prst="line">
            <a:avLst/>
          </a:prstGeom>
          <a:ln w="17780">
            <a:solidFill>
              <a:srgbClr val="A6C9B8"/>
            </a:solidFill>
          </a:ln>
          <a:effectLst/>
        </p:spPr>
        <p:style>
          <a:lnRef idx="2">
            <a:schemeClr val="accent1"/>
          </a:lnRef>
          <a:fillRef idx="0">
            <a:schemeClr val="accent1"/>
          </a:fillRef>
          <a:effectRef idx="0">
            <a:schemeClr val="accent1"/>
          </a:effectRef>
          <a:fontRef idx="minor">
            <a:schemeClr val="tx1"/>
          </a:fontRef>
        </p:style>
      </p:cxnSp>
      <p:sp>
        <p:nvSpPr>
          <p:cNvPr id="507" name="Rounded Rectangle 506"/>
          <p:cNvSpPr/>
          <p:nvPr/>
        </p:nvSpPr>
        <p:spPr>
          <a:xfrm>
            <a:off x="10625328" y="2414016"/>
            <a:ext cx="749808" cy="493776"/>
          </a:xfrm>
          <a:prstGeom prst="roundRect">
            <a:avLst>
              <a:gd name="adj" fmla="val 8000"/>
            </a:avLst>
          </a:prstGeom>
          <a:solidFill>
            <a:srgbClr val="222E2A"/>
          </a:solidFill>
          <a:ln w="8890">
            <a:solidFill>
              <a:srgbClr val="A6C9B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8" name="Oval 507"/>
          <p:cNvSpPr/>
          <p:nvPr/>
        </p:nvSpPr>
        <p:spPr>
          <a:xfrm>
            <a:off x="10762488" y="2606040"/>
            <a:ext cx="109728" cy="109728"/>
          </a:xfrm>
          <a:prstGeom prst="ellipse">
            <a:avLst/>
          </a:prstGeom>
          <a:solidFill>
            <a:srgbClr val="A6C9B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509" name="Connector 508"/>
          <p:cNvCxnSpPr/>
          <p:nvPr/>
        </p:nvCxnSpPr>
        <p:spPr>
          <a:xfrm>
            <a:off x="10945368" y="2615184"/>
            <a:ext cx="256032" cy="0"/>
          </a:xfrm>
          <a:prstGeom prst="line">
            <a:avLst/>
          </a:prstGeom>
          <a:ln w="12700">
            <a:solidFill>
              <a:srgbClr val="AFB9B2"/>
            </a:solidFill>
          </a:ln>
          <a:effectLst/>
        </p:spPr>
        <p:style>
          <a:lnRef idx="2">
            <a:schemeClr val="accent1"/>
          </a:lnRef>
          <a:fillRef idx="0">
            <a:schemeClr val="accent1"/>
          </a:fillRef>
          <a:effectRef idx="0">
            <a:schemeClr val="accent1"/>
          </a:effectRef>
          <a:fontRef idx="minor">
            <a:schemeClr val="tx1"/>
          </a:fontRef>
        </p:style>
      </p:cxnSp>
      <p:cxnSp>
        <p:nvCxnSpPr>
          <p:cNvPr id="510" name="Connector 509"/>
          <p:cNvCxnSpPr/>
          <p:nvPr/>
        </p:nvCxnSpPr>
        <p:spPr>
          <a:xfrm>
            <a:off x="10945368" y="2724912"/>
            <a:ext cx="210312" cy="0"/>
          </a:xfrm>
          <a:prstGeom prst="line">
            <a:avLst/>
          </a:prstGeom>
          <a:ln w="12700">
            <a:solidFill>
              <a:srgbClr val="3A4944"/>
            </a:solidFill>
          </a:ln>
          <a:effectLst/>
        </p:spPr>
        <p:style>
          <a:lnRef idx="2">
            <a:schemeClr val="accent1"/>
          </a:lnRef>
          <a:fillRef idx="0">
            <a:schemeClr val="accent1"/>
          </a:fillRef>
          <a:effectRef idx="0">
            <a:schemeClr val="accent1"/>
          </a:effectRef>
          <a:fontRef idx="minor">
            <a:schemeClr val="tx1"/>
          </a:fontRef>
        </p:style>
      </p:cxnSp>
      <p:cxnSp>
        <p:nvCxnSpPr>
          <p:cNvPr id="511" name="Connector 510"/>
          <p:cNvCxnSpPr/>
          <p:nvPr/>
        </p:nvCxnSpPr>
        <p:spPr>
          <a:xfrm>
            <a:off x="10186416" y="3767328"/>
            <a:ext cx="438912" cy="0"/>
          </a:xfrm>
          <a:prstGeom prst="line">
            <a:avLst/>
          </a:prstGeom>
          <a:ln w="17780">
            <a:solidFill>
              <a:srgbClr val="A6C9B8"/>
            </a:solidFill>
          </a:ln>
          <a:effectLst/>
        </p:spPr>
        <p:style>
          <a:lnRef idx="2">
            <a:schemeClr val="accent1"/>
          </a:lnRef>
          <a:fillRef idx="0">
            <a:schemeClr val="accent1"/>
          </a:fillRef>
          <a:effectRef idx="0">
            <a:schemeClr val="accent1"/>
          </a:effectRef>
          <a:fontRef idx="minor">
            <a:schemeClr val="tx1"/>
          </a:fontRef>
        </p:style>
      </p:cxnSp>
      <p:sp>
        <p:nvSpPr>
          <p:cNvPr id="512" name="Rounded Rectangle 511"/>
          <p:cNvSpPr/>
          <p:nvPr/>
        </p:nvSpPr>
        <p:spPr>
          <a:xfrm>
            <a:off x="10625328" y="3520440"/>
            <a:ext cx="749808" cy="493776"/>
          </a:xfrm>
          <a:prstGeom prst="roundRect">
            <a:avLst>
              <a:gd name="adj" fmla="val 8000"/>
            </a:avLst>
          </a:prstGeom>
          <a:solidFill>
            <a:srgbClr val="222E2A"/>
          </a:solidFill>
          <a:ln w="8890">
            <a:solidFill>
              <a:srgbClr val="A6C9B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3" name="Oval 512"/>
          <p:cNvSpPr/>
          <p:nvPr/>
        </p:nvSpPr>
        <p:spPr>
          <a:xfrm>
            <a:off x="10762488" y="3712464"/>
            <a:ext cx="109728" cy="109728"/>
          </a:xfrm>
          <a:prstGeom prst="ellipse">
            <a:avLst/>
          </a:prstGeom>
          <a:solidFill>
            <a:srgbClr val="A6C9B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514" name="Connector 513"/>
          <p:cNvCxnSpPr/>
          <p:nvPr/>
        </p:nvCxnSpPr>
        <p:spPr>
          <a:xfrm>
            <a:off x="10945368" y="3721608"/>
            <a:ext cx="256032" cy="0"/>
          </a:xfrm>
          <a:prstGeom prst="line">
            <a:avLst/>
          </a:prstGeom>
          <a:ln w="12700">
            <a:solidFill>
              <a:srgbClr val="AFB9B2"/>
            </a:solidFill>
          </a:ln>
          <a:effectLst/>
        </p:spPr>
        <p:style>
          <a:lnRef idx="2">
            <a:schemeClr val="accent1"/>
          </a:lnRef>
          <a:fillRef idx="0">
            <a:schemeClr val="accent1"/>
          </a:fillRef>
          <a:effectRef idx="0">
            <a:schemeClr val="accent1"/>
          </a:effectRef>
          <a:fontRef idx="minor">
            <a:schemeClr val="tx1"/>
          </a:fontRef>
        </p:style>
      </p:cxnSp>
      <p:cxnSp>
        <p:nvCxnSpPr>
          <p:cNvPr id="515" name="Connector 514"/>
          <p:cNvCxnSpPr/>
          <p:nvPr/>
        </p:nvCxnSpPr>
        <p:spPr>
          <a:xfrm>
            <a:off x="10945368" y="3831336"/>
            <a:ext cx="210312" cy="0"/>
          </a:xfrm>
          <a:prstGeom prst="line">
            <a:avLst/>
          </a:prstGeom>
          <a:ln w="12700">
            <a:solidFill>
              <a:srgbClr val="3A4944"/>
            </a:solidFill>
          </a:ln>
          <a:effectLst/>
        </p:spPr>
        <p:style>
          <a:lnRef idx="2">
            <a:schemeClr val="accent1"/>
          </a:lnRef>
          <a:fillRef idx="0">
            <a:schemeClr val="accent1"/>
          </a:fillRef>
          <a:effectRef idx="0">
            <a:schemeClr val="accent1"/>
          </a:effectRef>
          <a:fontRef idx="minor">
            <a:schemeClr val="tx1"/>
          </a:fontRef>
        </p:style>
      </p:cxnSp>
      <p:sp>
        <p:nvSpPr>
          <p:cNvPr id="516" name="TextBox 515"/>
          <p:cNvSpPr txBox="1"/>
          <p:nvPr/>
        </p:nvSpPr>
        <p:spPr>
          <a:xfrm>
            <a:off x="9912096" y="4233672"/>
            <a:ext cx="1856231" cy="457200"/>
          </a:xfrm>
          <a:prstGeom prst="rect">
            <a:avLst/>
          </a:prstGeom>
          <a:noFill/>
        </p:spPr>
        <p:txBody>
          <a:bodyPr wrap="square" lIns="0" rIns="0" tIns="0" bIns="0" anchor="t">
            <a:noAutofit/>
          </a:bodyPr>
          <a:lstStyle/>
          <a:p>
            <a:pPr algn="l">
              <a:lnSpc>
                <a:spcPct val="108000"/>
              </a:lnSpc>
              <a:spcBef>
                <a:spcPts val="0"/>
              </a:spcBef>
              <a:spcAft>
                <a:spcPts val="0"/>
              </a:spcAft>
            </a:pPr>
            <a:r>
              <a:rPr sz="1100" b="1">
                <a:solidFill>
                  <a:srgbClr val="A6C9B8"/>
                </a:solidFill>
                <a:latin typeface="IBM Plex Mono"/>
              </a:rPr>
              <a:t>AGENT SESSIONS</a:t>
            </a:r>
          </a:p>
        </p:txBody>
      </p:sp>
      <p:cxnSp>
        <p:nvCxnSpPr>
          <p:cNvPr id="517" name="Connector 516"/>
          <p:cNvCxnSpPr/>
          <p:nvPr/>
        </p:nvCxnSpPr>
        <p:spPr>
          <a:xfrm>
            <a:off x="11027664" y="4069080"/>
            <a:ext cx="0" cy="896112"/>
          </a:xfrm>
          <a:prstGeom prst="line">
            <a:avLst/>
          </a:prstGeom>
          <a:ln w="17780">
            <a:solidFill>
              <a:srgbClr val="DEB577"/>
            </a:solidFill>
          </a:ln>
          <a:effectLst/>
        </p:spPr>
        <p:style>
          <a:lnRef idx="2">
            <a:schemeClr val="accent1"/>
          </a:lnRef>
          <a:fillRef idx="0">
            <a:schemeClr val="accent1"/>
          </a:fillRef>
          <a:effectRef idx="0">
            <a:schemeClr val="accent1"/>
          </a:effectRef>
          <a:fontRef idx="minor">
            <a:schemeClr val="tx1"/>
          </a:fontRef>
        </p:style>
      </p:cxnSp>
      <p:cxnSp>
        <p:nvCxnSpPr>
          <p:cNvPr id="518" name="Connector 517"/>
          <p:cNvCxnSpPr/>
          <p:nvPr/>
        </p:nvCxnSpPr>
        <p:spPr>
          <a:xfrm flipH="1">
            <a:off x="9756648" y="4965192"/>
            <a:ext cx="1271016" cy="0"/>
          </a:xfrm>
          <a:prstGeom prst="line">
            <a:avLst/>
          </a:prstGeom>
          <a:ln w="17780">
            <a:solidFill>
              <a:srgbClr val="DEB577"/>
            </a:solidFill>
          </a:ln>
          <a:effectLst/>
        </p:spPr>
        <p:style>
          <a:lnRef idx="2">
            <a:schemeClr val="accent1"/>
          </a:lnRef>
          <a:fillRef idx="0">
            <a:schemeClr val="accent1"/>
          </a:fillRef>
          <a:effectRef idx="0">
            <a:schemeClr val="accent1"/>
          </a:effectRef>
          <a:fontRef idx="minor">
            <a:schemeClr val="tx1"/>
          </a:fontRef>
        </p:style>
      </p:cxnSp>
      <p:sp>
        <p:nvSpPr>
          <p:cNvPr id="519" name="Rectangle 518"/>
          <p:cNvSpPr/>
          <p:nvPr/>
        </p:nvSpPr>
        <p:spPr>
          <a:xfrm>
            <a:off x="7799831" y="4626864"/>
            <a:ext cx="1938528" cy="694944"/>
          </a:xfrm>
          <a:prstGeom prst="rect">
            <a:avLst/>
          </a:prstGeom>
          <a:solidFill>
            <a:srgbClr val="222E2A"/>
          </a:solidFill>
          <a:ln w="8890">
            <a:solidFill>
              <a:srgbClr val="DEB57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0" name="TextBox 519"/>
          <p:cNvSpPr txBox="1"/>
          <p:nvPr/>
        </p:nvSpPr>
        <p:spPr>
          <a:xfrm>
            <a:off x="7982712" y="4837176"/>
            <a:ext cx="1618488" cy="256032"/>
          </a:xfrm>
          <a:prstGeom prst="rect">
            <a:avLst/>
          </a:prstGeom>
          <a:noFill/>
        </p:spPr>
        <p:txBody>
          <a:bodyPr wrap="square" lIns="0" rIns="0" tIns="0" bIns="0" anchor="t">
            <a:noAutofit/>
          </a:bodyPr>
          <a:lstStyle/>
          <a:p>
            <a:pPr algn="l">
              <a:lnSpc>
                <a:spcPct val="108000"/>
              </a:lnSpc>
              <a:spcBef>
                <a:spcPts val="0"/>
              </a:spcBef>
              <a:spcAft>
                <a:spcPts val="0"/>
              </a:spcAft>
            </a:pPr>
            <a:r>
              <a:rPr sz="1200" b="1">
                <a:solidFill>
                  <a:srgbClr val="DEB577"/>
                </a:solidFill>
                <a:latin typeface="IBM Plex Mono"/>
              </a:rPr>
              <a:t>CODE + DATA</a:t>
            </a:r>
          </a:p>
        </p:txBody>
      </p:sp>
      <p:cxnSp>
        <p:nvCxnSpPr>
          <p:cNvPr id="521" name="Connector 520"/>
          <p:cNvCxnSpPr/>
          <p:nvPr/>
        </p:nvCxnSpPr>
        <p:spPr>
          <a:xfrm flipH="1">
            <a:off x="7205472" y="4965192"/>
            <a:ext cx="576072" cy="0"/>
          </a:xfrm>
          <a:prstGeom prst="line">
            <a:avLst/>
          </a:prstGeom>
          <a:ln w="17780">
            <a:solidFill>
              <a:srgbClr val="DEB577"/>
            </a:solidFill>
          </a:ln>
          <a:effectLst/>
        </p:spPr>
        <p:style>
          <a:lnRef idx="2">
            <a:schemeClr val="accent1"/>
          </a:lnRef>
          <a:fillRef idx="0">
            <a:schemeClr val="accent1"/>
          </a:fillRef>
          <a:effectRef idx="0">
            <a:schemeClr val="accent1"/>
          </a:effectRef>
          <a:fontRef idx="minor">
            <a:schemeClr val="tx1"/>
          </a:fontRef>
        </p:style>
      </p:cxnSp>
      <p:sp>
        <p:nvSpPr>
          <p:cNvPr id="522" name="Rectangle 521"/>
          <p:cNvSpPr/>
          <p:nvPr/>
        </p:nvSpPr>
        <p:spPr>
          <a:xfrm>
            <a:off x="6089904" y="4626864"/>
            <a:ext cx="1097280" cy="694944"/>
          </a:xfrm>
          <a:prstGeom prst="rect">
            <a:avLst/>
          </a:prstGeom>
          <a:solidFill>
            <a:srgbClr val="A6C9B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3" name="TextBox 522"/>
          <p:cNvSpPr txBox="1"/>
          <p:nvPr/>
        </p:nvSpPr>
        <p:spPr>
          <a:xfrm>
            <a:off x="6236208" y="4855464"/>
            <a:ext cx="868680" cy="228600"/>
          </a:xfrm>
          <a:prstGeom prst="rect">
            <a:avLst/>
          </a:prstGeom>
          <a:noFill/>
        </p:spPr>
        <p:txBody>
          <a:bodyPr wrap="square" lIns="0" rIns="0" tIns="0" bIns="0" anchor="t">
            <a:noAutofit/>
          </a:bodyPr>
          <a:lstStyle/>
          <a:p>
            <a:pPr algn="l">
              <a:lnSpc>
                <a:spcPct val="108000"/>
              </a:lnSpc>
              <a:spcBef>
                <a:spcPts val="0"/>
              </a:spcBef>
              <a:spcAft>
                <a:spcPts val="0"/>
              </a:spcAft>
            </a:pPr>
            <a:r>
              <a:rPr sz="1100" b="1">
                <a:solidFill>
                  <a:srgbClr val="17201F"/>
                </a:solidFill>
                <a:latin typeface="IBM Plex Mono"/>
              </a:rPr>
              <a:t>REVIEW</a:t>
            </a:r>
          </a:p>
        </p:txBody>
      </p:sp>
      <p:cxnSp>
        <p:nvCxnSpPr>
          <p:cNvPr id="524" name="Connector 523"/>
          <p:cNvCxnSpPr/>
          <p:nvPr/>
        </p:nvCxnSpPr>
        <p:spPr>
          <a:xfrm flipV="1">
            <a:off x="6611112" y="3886200"/>
            <a:ext cx="0" cy="713232"/>
          </a:xfrm>
          <a:prstGeom prst="line">
            <a:avLst/>
          </a:prstGeom>
          <a:ln w="15240">
            <a:solidFill>
              <a:srgbClr val="A6C9B8"/>
            </a:solidFill>
            <a:prstDash val="dash"/>
          </a:ln>
          <a:effectLst/>
        </p:spPr>
        <p:style>
          <a:lnRef idx="2">
            <a:schemeClr val="accent1"/>
          </a:lnRef>
          <a:fillRef idx="0">
            <a:schemeClr val="accent1"/>
          </a:fillRef>
          <a:effectRef idx="0">
            <a:schemeClr val="accent1"/>
          </a:effectRef>
          <a:fontRef idx="minor">
            <a:schemeClr val="tx1"/>
          </a:fontRef>
        </p:style>
      </p:cxnSp>
      <p:cxnSp>
        <p:nvCxnSpPr>
          <p:cNvPr id="525" name="Connector 524"/>
          <p:cNvCxnSpPr/>
          <p:nvPr/>
        </p:nvCxnSpPr>
        <p:spPr>
          <a:xfrm>
            <a:off x="6611112" y="3886200"/>
            <a:ext cx="1993392" cy="0"/>
          </a:xfrm>
          <a:prstGeom prst="line">
            <a:avLst/>
          </a:prstGeom>
          <a:ln w="15240">
            <a:solidFill>
              <a:srgbClr val="A6C9B8"/>
            </a:solidFill>
            <a:prstDash val="dash"/>
          </a:ln>
          <a:effectLst/>
        </p:spPr>
        <p:style>
          <a:lnRef idx="2">
            <a:schemeClr val="accent1"/>
          </a:lnRef>
          <a:fillRef idx="0">
            <a:schemeClr val="accent1"/>
          </a:fillRef>
          <a:effectRef idx="0">
            <a:schemeClr val="accent1"/>
          </a:effectRef>
          <a:fontRef idx="minor">
            <a:schemeClr val="tx1"/>
          </a:fontRef>
        </p:style>
      </p:cxnSp>
      <p:cxnSp>
        <p:nvCxnSpPr>
          <p:cNvPr id="526" name="Connector 525"/>
          <p:cNvCxnSpPr/>
          <p:nvPr/>
        </p:nvCxnSpPr>
        <p:spPr>
          <a:xfrm flipV="1">
            <a:off x="8604504" y="3081528"/>
            <a:ext cx="0" cy="804672"/>
          </a:xfrm>
          <a:prstGeom prst="line">
            <a:avLst/>
          </a:prstGeom>
          <a:ln w="15240">
            <a:solidFill>
              <a:srgbClr val="A6C9B8"/>
            </a:solidFill>
            <a:prstDash val="dash"/>
          </a:ln>
          <a:effectLst/>
        </p:spPr>
        <p:style>
          <a:lnRef idx="2">
            <a:schemeClr val="accent1"/>
          </a:lnRef>
          <a:fillRef idx="0">
            <a:schemeClr val="accent1"/>
          </a:fillRef>
          <a:effectRef idx="0">
            <a:schemeClr val="accent1"/>
          </a:effectRef>
          <a:fontRef idx="minor">
            <a:schemeClr val="tx1"/>
          </a:fontRef>
        </p:style>
      </p:cxnSp>
      <p:sp>
        <p:nvSpPr>
          <p:cNvPr id="527" name="TextBox 526"/>
          <p:cNvSpPr txBox="1"/>
          <p:nvPr/>
        </p:nvSpPr>
        <p:spPr>
          <a:xfrm>
            <a:off x="6144768" y="5687568"/>
            <a:ext cx="5349240" cy="384048"/>
          </a:xfrm>
          <a:prstGeom prst="rect">
            <a:avLst/>
          </a:prstGeom>
          <a:noFill/>
        </p:spPr>
        <p:txBody>
          <a:bodyPr wrap="square" lIns="0" rIns="0" tIns="0" bIns="0" anchor="t">
            <a:noAutofit/>
          </a:bodyPr>
          <a:lstStyle/>
          <a:p>
            <a:pPr algn="l">
              <a:lnSpc>
                <a:spcPct val="108000"/>
              </a:lnSpc>
              <a:spcBef>
                <a:spcPts val="0"/>
              </a:spcBef>
              <a:spcAft>
                <a:spcPts val="0"/>
              </a:spcAft>
            </a:pPr>
            <a:r>
              <a:rPr sz="1700" b="0">
                <a:solidFill>
                  <a:srgbClr val="AFB9B2"/>
                </a:solidFill>
                <a:latin typeface="IBM Plex Sans"/>
              </a:rPr>
              <a:t>Persistent evidence + bounded compute</a:t>
            </a:r>
          </a:p>
        </p:txBody>
      </p:sp>
      <p:sp>
        <p:nvSpPr>
          <p:cNvPr id="528" name="TextBox 527"/>
          <p:cNvSpPr txBox="1"/>
          <p:nvPr/>
        </p:nvSpPr>
        <p:spPr>
          <a:xfrm>
            <a:off x="576072" y="1170432"/>
            <a:ext cx="5321808" cy="2258568"/>
          </a:xfrm>
          <a:prstGeom prst="rect">
            <a:avLst/>
          </a:prstGeom>
          <a:noFill/>
        </p:spPr>
        <p:txBody>
          <a:bodyPr wrap="square" lIns="0" rIns="0" tIns="0" bIns="0" anchor="t">
            <a:noAutofit/>
          </a:bodyPr>
          <a:lstStyle/>
          <a:p>
            <a:pPr algn="l">
              <a:lnSpc>
                <a:spcPct val="108000"/>
              </a:lnSpc>
              <a:spcBef>
                <a:spcPts val="0"/>
              </a:spcBef>
              <a:spcAft>
                <a:spcPts val="0"/>
              </a:spcAft>
            </a:pPr>
            <a:r>
              <a:rPr sz="4000" b="1">
                <a:solidFill>
                  <a:srgbClr val="F1EFE7"/>
                </a:solidFill>
                <a:latin typeface="IBM Plex Sans"/>
              </a:rPr>
              <a:t>Autonomous research</a:t>
            </a:r>
          </a:p>
          <a:p>
            <a:pPr algn="l">
              <a:lnSpc>
                <a:spcPct val="108000"/>
              </a:lnSpc>
              <a:spcBef>
                <a:spcPts val="0"/>
              </a:spcBef>
              <a:spcAft>
                <a:spcPts val="0"/>
              </a:spcAft>
            </a:pPr>
            <a:r>
              <a:rPr sz="4000" b="1">
                <a:solidFill>
                  <a:srgbClr val="F1EFE7"/>
                </a:solidFill>
                <a:latin typeface="IBM Plex Sans"/>
              </a:rPr>
              <a:t>for biological</a:t>
            </a:r>
          </a:p>
          <a:p>
            <a:pPr algn="l">
              <a:lnSpc>
                <a:spcPct val="108000"/>
              </a:lnSpc>
              <a:spcBef>
                <a:spcPts val="0"/>
              </a:spcBef>
              <a:spcAft>
                <a:spcPts val="0"/>
              </a:spcAft>
            </a:pPr>
            <a:r>
              <a:rPr sz="4000" b="1">
                <a:solidFill>
                  <a:srgbClr val="F1EFE7"/>
                </a:solidFill>
                <a:latin typeface="IBM Plex Sans"/>
              </a:rPr>
              <a:t>foresight</a:t>
            </a:r>
          </a:p>
        </p:txBody>
      </p:sp>
      <p:sp>
        <p:nvSpPr>
          <p:cNvPr id="529" name="TextBox 528"/>
          <p:cNvSpPr txBox="1"/>
          <p:nvPr/>
        </p:nvSpPr>
        <p:spPr>
          <a:xfrm>
            <a:off x="612648" y="3675887"/>
            <a:ext cx="5294376" cy="969264"/>
          </a:xfrm>
          <a:prstGeom prst="rect">
            <a:avLst/>
          </a:prstGeom>
          <a:noFill/>
        </p:spPr>
        <p:txBody>
          <a:bodyPr wrap="square" lIns="0" rIns="0" tIns="0" bIns="0" anchor="t">
            <a:noAutofit/>
          </a:bodyPr>
          <a:lstStyle/>
          <a:p>
            <a:pPr algn="l">
              <a:lnSpc>
                <a:spcPct val="108000"/>
              </a:lnSpc>
              <a:spcBef>
                <a:spcPts val="0"/>
              </a:spcBef>
              <a:spcAft>
                <a:spcPts val="0"/>
              </a:spcAft>
            </a:pPr>
            <a:r>
              <a:rPr sz="2300" b="0">
                <a:solidFill>
                  <a:srgbClr val="A6C9B8"/>
                </a:solidFill>
                <a:latin typeface="IBM Plex Sans"/>
              </a:rPr>
              <a:t>Biological breakthroughs can create</a:t>
            </a:r>
          </a:p>
          <a:p>
            <a:pPr algn="l">
              <a:lnSpc>
                <a:spcPct val="108000"/>
              </a:lnSpc>
              <a:spcBef>
                <a:spcPts val="0"/>
              </a:spcBef>
              <a:spcAft>
                <a:spcPts val="0"/>
              </a:spcAft>
            </a:pPr>
            <a:r>
              <a:rPr sz="2300" b="0">
                <a:solidFill>
                  <a:srgbClr val="A6C9B8"/>
                </a:solidFill>
                <a:latin typeface="IBM Plex Sans"/>
              </a:rPr>
              <a:t>unilateral power before defenses adapt.</a:t>
            </a:r>
          </a:p>
        </p:txBody>
      </p:sp>
      <p:sp>
        <p:nvSpPr>
          <p:cNvPr id="530" name="TextBox 529"/>
          <p:cNvSpPr txBox="1"/>
          <p:nvPr/>
        </p:nvSpPr>
        <p:spPr>
          <a:xfrm>
            <a:off x="621792" y="5056632"/>
            <a:ext cx="5065776" cy="896112"/>
          </a:xfrm>
          <a:prstGeom prst="rect">
            <a:avLst/>
          </a:prstGeom>
          <a:noFill/>
        </p:spPr>
        <p:txBody>
          <a:bodyPr wrap="square" lIns="0" rIns="0" tIns="0" bIns="0" anchor="t">
            <a:noAutofit/>
          </a:bodyPr>
          <a:lstStyle/>
          <a:p>
            <a:pPr algn="l">
              <a:lnSpc>
                <a:spcPct val="108000"/>
              </a:lnSpc>
              <a:spcBef>
                <a:spcPts val="0"/>
              </a:spcBef>
              <a:spcAft>
                <a:spcPts val="0"/>
              </a:spcAft>
            </a:pPr>
            <a:r>
              <a:rPr sz="2200" b="0">
                <a:solidFill>
                  <a:srgbClr val="AFB9B2"/>
                </a:solidFill>
                <a:latin typeface="IBM Plex Sans"/>
              </a:rPr>
              <a:t>We connect the literature to executable</a:t>
            </a:r>
          </a:p>
          <a:p>
            <a:pPr algn="l">
              <a:lnSpc>
                <a:spcPct val="108000"/>
              </a:lnSpc>
              <a:spcBef>
                <a:spcPts val="0"/>
              </a:spcBef>
              <a:spcAft>
                <a:spcPts val="0"/>
              </a:spcAft>
            </a:pPr>
            <a:r>
              <a:rPr sz="2200" b="0">
                <a:solidFill>
                  <a:srgbClr val="AFB9B2"/>
                </a:solidFill>
                <a:latin typeface="IBM Plex Sans"/>
              </a:rPr>
              <a:t>experiments and inspectable evidence.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7201F"/>
        </a:solidFill>
        <a:effectLst/>
      </p:bgPr>
    </p:bg>
    <p:spTree>
      <p:nvGrpSpPr>
        <p:cNvPr id="1" name=""/>
        <p:cNvGrpSpPr/>
        <p:nvPr/>
      </p:nvGrpSpPr>
      <p:grpSpPr/>
      <p:sp>
        <p:nvSpPr>
          <p:cNvPr id="2" name="TextBox 1"/>
          <p:cNvSpPr txBox="1"/>
          <p:nvPr/>
        </p:nvSpPr>
        <p:spPr>
          <a:xfrm>
            <a:off x="502920" y="246888"/>
            <a:ext cx="2377440" cy="219456"/>
          </a:xfrm>
          <a:prstGeom prst="rect">
            <a:avLst/>
          </a:prstGeom>
          <a:noFill/>
        </p:spPr>
        <p:txBody>
          <a:bodyPr wrap="square" lIns="0" rIns="0" tIns="0" bIns="0" anchor="t">
            <a:noAutofit/>
          </a:bodyPr>
          <a:lstStyle/>
          <a:p>
            <a:pPr algn="l">
              <a:lnSpc>
                <a:spcPct val="108000"/>
              </a:lnSpc>
              <a:spcBef>
                <a:spcPts val="0"/>
              </a:spcBef>
              <a:spcAft>
                <a:spcPts val="0"/>
              </a:spcAft>
            </a:pPr>
            <a:r>
              <a:rPr sz="1100" b="1">
                <a:solidFill>
                  <a:srgbClr val="F1EFE7"/>
                </a:solidFill>
                <a:latin typeface="IBM Plex Mono"/>
              </a:rPr>
              <a:t>DN / RESEARCH</a:t>
            </a:r>
          </a:p>
        </p:txBody>
      </p:sp>
      <p:sp>
        <p:nvSpPr>
          <p:cNvPr id="3" name="TextBox 2"/>
          <p:cNvSpPr txBox="1"/>
          <p:nvPr/>
        </p:nvSpPr>
        <p:spPr>
          <a:xfrm>
            <a:off x="4572000" y="256032"/>
            <a:ext cx="7095744" cy="201168"/>
          </a:xfrm>
          <a:prstGeom prst="rect">
            <a:avLst/>
          </a:prstGeom>
          <a:noFill/>
        </p:spPr>
        <p:txBody>
          <a:bodyPr wrap="square" lIns="0" rIns="0" tIns="0" bIns="0" anchor="t">
            <a:noAutofit/>
          </a:bodyPr>
          <a:lstStyle/>
          <a:p>
            <a:pPr algn="r">
              <a:lnSpc>
                <a:spcPct val="108000"/>
              </a:lnSpc>
              <a:spcBef>
                <a:spcPts val="0"/>
              </a:spcBef>
              <a:spcAft>
                <a:spcPts val="0"/>
              </a:spcAft>
            </a:pPr>
            <a:r>
              <a:rPr sz="1000" b="0">
                <a:solidFill>
                  <a:srgbClr val="AFB9B2"/>
                </a:solidFill>
                <a:latin typeface="IBM Plex Mono"/>
              </a:rPr>
              <a:t>EXPERIMENTAL FRAMING / WHY ANTICIPATORY RESEARCH</a:t>
            </a:r>
          </a:p>
        </p:txBody>
      </p:sp>
      <p:cxnSp>
        <p:nvCxnSpPr>
          <p:cNvPr id="4" name="Connector 3"/>
          <p:cNvCxnSpPr/>
          <p:nvPr/>
        </p:nvCxnSpPr>
        <p:spPr>
          <a:xfrm>
            <a:off x="502920" y="658368"/>
            <a:ext cx="11183112" cy="0"/>
          </a:xfrm>
          <a:prstGeom prst="line">
            <a:avLst/>
          </a:prstGeom>
          <a:ln w="8890">
            <a:solidFill>
              <a:srgbClr val="3A4944"/>
            </a:solidFill>
          </a:ln>
          <a:effectLst/>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02920" y="6437376"/>
            <a:ext cx="11183112" cy="0"/>
          </a:xfrm>
          <a:prstGeom prst="line">
            <a:avLst/>
          </a:prstGeom>
          <a:ln w="8890">
            <a:solidFill>
              <a:srgbClr val="3A4944"/>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02920" y="6547104"/>
            <a:ext cx="7315200" cy="173736"/>
          </a:xfrm>
          <a:prstGeom prst="rect">
            <a:avLst/>
          </a:prstGeom>
          <a:noFill/>
        </p:spPr>
        <p:txBody>
          <a:bodyPr wrap="square" lIns="0" rIns="0" tIns="0" bIns="0" anchor="t">
            <a:noAutofit/>
          </a:bodyPr>
          <a:lstStyle/>
          <a:p>
            <a:pPr algn="l">
              <a:lnSpc>
                <a:spcPct val="108000"/>
              </a:lnSpc>
              <a:spcBef>
                <a:spcPts val="0"/>
              </a:spcBef>
              <a:spcAft>
                <a:spcPts val="0"/>
              </a:spcAft>
            </a:pPr>
            <a:r>
              <a:rPr sz="800" b="0">
                <a:solidFill>
                  <a:srgbClr val="AFB9B2"/>
                </a:solidFill>
                <a:latin typeface="IBM Plex Mono"/>
              </a:rPr>
              <a:t>DNHACKS 2026  /  WORKING PRESENTATION</a:t>
            </a:r>
          </a:p>
        </p:txBody>
      </p:sp>
      <p:sp>
        <p:nvSpPr>
          <p:cNvPr id="7" name="TextBox 6"/>
          <p:cNvSpPr txBox="1"/>
          <p:nvPr/>
        </p:nvSpPr>
        <p:spPr>
          <a:xfrm>
            <a:off x="11100816" y="6501384"/>
            <a:ext cx="585216" cy="265176"/>
          </a:xfrm>
          <a:prstGeom prst="rect">
            <a:avLst/>
          </a:prstGeom>
          <a:noFill/>
        </p:spPr>
        <p:txBody>
          <a:bodyPr wrap="square" lIns="0" rIns="0" tIns="0" bIns="0" anchor="t">
            <a:noAutofit/>
          </a:bodyPr>
          <a:lstStyle/>
          <a:p>
            <a:pPr algn="r">
              <a:lnSpc>
                <a:spcPct val="108000"/>
              </a:lnSpc>
              <a:spcBef>
                <a:spcPts val="0"/>
              </a:spcBef>
              <a:spcAft>
                <a:spcPts val="0"/>
              </a:spcAft>
            </a:pPr>
            <a:r>
              <a:rPr sz="1200" b="0">
                <a:solidFill>
                  <a:srgbClr val="F1EFE7"/>
                </a:solidFill>
                <a:latin typeface="IBM Plex Mono"/>
              </a:rPr>
              <a:t>02</a:t>
            </a:r>
          </a:p>
        </p:txBody>
      </p:sp>
      <p:sp>
        <p:nvSpPr>
          <p:cNvPr id="8" name="TextBox 7"/>
          <p:cNvSpPr txBox="1"/>
          <p:nvPr/>
        </p:nvSpPr>
        <p:spPr>
          <a:xfrm>
            <a:off x="566928" y="932688"/>
            <a:ext cx="11064240" cy="914400"/>
          </a:xfrm>
          <a:prstGeom prst="rect">
            <a:avLst/>
          </a:prstGeom>
          <a:noFill/>
        </p:spPr>
        <p:txBody>
          <a:bodyPr wrap="square" lIns="0" rIns="0" tIns="0" bIns="0" anchor="t">
            <a:noAutofit/>
          </a:bodyPr>
          <a:lstStyle/>
          <a:p>
            <a:pPr algn="l">
              <a:lnSpc>
                <a:spcPct val="108000"/>
              </a:lnSpc>
              <a:spcBef>
                <a:spcPts val="0"/>
              </a:spcBef>
              <a:spcAft>
                <a:spcPts val="0"/>
              </a:spcAft>
            </a:pPr>
            <a:r>
              <a:rPr sz="3200" b="1">
                <a:solidFill>
                  <a:srgbClr val="F1EFE7"/>
                </a:solidFill>
                <a:latin typeface="IBM Plex Sans"/>
              </a:rPr>
              <a:t>AI is accelerating biology. Defense needs a head start.</a:t>
            </a:r>
          </a:p>
        </p:txBody>
      </p:sp>
      <p:cxnSp>
        <p:nvCxnSpPr>
          <p:cNvPr id="9" name="Connector 8"/>
          <p:cNvCxnSpPr/>
          <p:nvPr/>
        </p:nvCxnSpPr>
        <p:spPr>
          <a:xfrm>
            <a:off x="621792" y="2029968"/>
            <a:ext cx="5129784" cy="0"/>
          </a:xfrm>
          <a:prstGeom prst="line">
            <a:avLst/>
          </a:prstGeom>
          <a:ln w="12700">
            <a:solidFill>
              <a:srgbClr val="3A4944"/>
            </a:solidFill>
          </a:ln>
          <a:effectLst/>
        </p:spPr>
        <p:style>
          <a:lnRef idx="2">
            <a:schemeClr val="accent1"/>
          </a:lnRef>
          <a:fillRef idx="0">
            <a:schemeClr val="accent1"/>
          </a:fillRef>
          <a:effectRef idx="0">
            <a:schemeClr val="accent1"/>
          </a:effectRef>
          <a:fontRef idx="minor">
            <a:schemeClr val="tx1"/>
          </a:fontRef>
        </p:style>
      </p:cxnSp>
      <p:sp>
        <p:nvSpPr>
          <p:cNvPr id="10" name="TextBox 9"/>
          <p:cNvSpPr txBox="1"/>
          <p:nvPr/>
        </p:nvSpPr>
        <p:spPr>
          <a:xfrm>
            <a:off x="621792" y="2212848"/>
            <a:ext cx="5084064" cy="274320"/>
          </a:xfrm>
          <a:prstGeom prst="rect">
            <a:avLst/>
          </a:prstGeom>
          <a:noFill/>
        </p:spPr>
        <p:txBody>
          <a:bodyPr wrap="square" lIns="0" rIns="0" tIns="0" bIns="0" anchor="t">
            <a:noAutofit/>
          </a:bodyPr>
          <a:lstStyle/>
          <a:p>
            <a:pPr algn="l">
              <a:lnSpc>
                <a:spcPct val="108000"/>
              </a:lnSpc>
              <a:spcBef>
                <a:spcPts val="0"/>
              </a:spcBef>
              <a:spcAft>
                <a:spcPts val="0"/>
              </a:spcAft>
            </a:pPr>
            <a:r>
              <a:rPr sz="1100" b="1">
                <a:solidFill>
                  <a:srgbClr val="A6C9B8"/>
                </a:solidFill>
                <a:latin typeface="IBM Plex Mono"/>
              </a:rPr>
              <a:t>CAPABILITY</a:t>
            </a:r>
          </a:p>
        </p:txBody>
      </p:sp>
      <p:sp>
        <p:nvSpPr>
          <p:cNvPr id="11" name="TextBox 10"/>
          <p:cNvSpPr txBox="1"/>
          <p:nvPr/>
        </p:nvSpPr>
        <p:spPr>
          <a:xfrm>
            <a:off x="621792" y="2724912"/>
            <a:ext cx="5093208" cy="758952"/>
          </a:xfrm>
          <a:prstGeom prst="rect">
            <a:avLst/>
          </a:prstGeom>
          <a:noFill/>
        </p:spPr>
        <p:txBody>
          <a:bodyPr wrap="square" lIns="0" rIns="0" tIns="0" bIns="0" anchor="t">
            <a:noAutofit/>
          </a:bodyPr>
          <a:lstStyle/>
          <a:p>
            <a:pPr algn="l">
              <a:lnSpc>
                <a:spcPct val="108000"/>
              </a:lnSpc>
              <a:spcBef>
                <a:spcPts val="0"/>
              </a:spcBef>
              <a:spcAft>
                <a:spcPts val="0"/>
              </a:spcAft>
            </a:pPr>
            <a:r>
              <a:rPr sz="4500" b="1">
                <a:solidFill>
                  <a:srgbClr val="F1EFE7"/>
                </a:solidFill>
                <a:latin typeface="IBM Plex Sans"/>
              </a:rPr>
              <a:t>Up to 60%</a:t>
            </a:r>
          </a:p>
        </p:txBody>
      </p:sp>
      <p:sp>
        <p:nvSpPr>
          <p:cNvPr id="12" name="TextBox 11"/>
          <p:cNvSpPr txBox="1"/>
          <p:nvPr/>
        </p:nvSpPr>
        <p:spPr>
          <a:xfrm>
            <a:off x="621792" y="3657600"/>
            <a:ext cx="5093208" cy="822960"/>
          </a:xfrm>
          <a:prstGeom prst="rect">
            <a:avLst/>
          </a:prstGeom>
          <a:noFill/>
        </p:spPr>
        <p:txBody>
          <a:bodyPr wrap="square" lIns="0" rIns="0" tIns="0" bIns="0" anchor="t">
            <a:noAutofit/>
          </a:bodyPr>
          <a:lstStyle/>
          <a:p>
            <a:pPr algn="l">
              <a:lnSpc>
                <a:spcPct val="108000"/>
              </a:lnSpc>
              <a:spcBef>
                <a:spcPts val="0"/>
              </a:spcBef>
              <a:spcAft>
                <a:spcPts val="0"/>
              </a:spcAft>
            </a:pPr>
            <a:r>
              <a:rPr sz="2300" b="0">
                <a:solidFill>
                  <a:srgbClr val="A6C9B8"/>
                </a:solidFill>
                <a:latin typeface="IBM Plex Sans"/>
              </a:rPr>
              <a:t>above PhD baselines on selected</a:t>
            </a:r>
          </a:p>
          <a:p>
            <a:pPr algn="l">
              <a:lnSpc>
                <a:spcPct val="108000"/>
              </a:lnSpc>
              <a:spcBef>
                <a:spcPts val="0"/>
              </a:spcBef>
              <a:spcAft>
                <a:spcPts val="0"/>
              </a:spcAft>
            </a:pPr>
            <a:r>
              <a:rPr sz="2300" b="0">
                <a:solidFill>
                  <a:srgbClr val="A6C9B8"/>
                </a:solidFill>
                <a:latin typeface="IBM Plex Sans"/>
              </a:rPr>
              <a:t>biology / chemistry questions</a:t>
            </a:r>
          </a:p>
        </p:txBody>
      </p:sp>
      <p:sp>
        <p:nvSpPr>
          <p:cNvPr id="13" name="TextBox 12"/>
          <p:cNvSpPr txBox="1"/>
          <p:nvPr/>
        </p:nvSpPr>
        <p:spPr>
          <a:xfrm>
            <a:off x="621792" y="4608576"/>
            <a:ext cx="5093208" cy="347472"/>
          </a:xfrm>
          <a:prstGeom prst="rect">
            <a:avLst/>
          </a:prstGeom>
          <a:noFill/>
        </p:spPr>
        <p:txBody>
          <a:bodyPr wrap="square" lIns="0" rIns="0" tIns="0" bIns="0" anchor="t">
            <a:noAutofit/>
          </a:bodyPr>
          <a:lstStyle/>
          <a:p>
            <a:pPr algn="l">
              <a:lnSpc>
                <a:spcPct val="108000"/>
              </a:lnSpc>
              <a:spcBef>
                <a:spcPts val="0"/>
              </a:spcBef>
              <a:spcAft>
                <a:spcPts val="0"/>
              </a:spcAft>
            </a:pPr>
            <a:r>
              <a:rPr sz="1100" b="0">
                <a:solidFill>
                  <a:srgbClr val="AFB9B2"/>
                </a:solidFill>
                <a:latin typeface="IBM Plex Sans"/>
              </a:rPr>
              <a:t>AISI · open-ended QA benchmarks</a:t>
            </a:r>
          </a:p>
        </p:txBody>
      </p:sp>
      <p:cxnSp>
        <p:nvCxnSpPr>
          <p:cNvPr id="14" name="Connector 13"/>
          <p:cNvCxnSpPr/>
          <p:nvPr/>
        </p:nvCxnSpPr>
        <p:spPr>
          <a:xfrm>
            <a:off x="6382512" y="2029968"/>
            <a:ext cx="5129784" cy="0"/>
          </a:xfrm>
          <a:prstGeom prst="line">
            <a:avLst/>
          </a:prstGeom>
          <a:ln w="12700">
            <a:solidFill>
              <a:srgbClr val="3A4944"/>
            </a:solidFill>
          </a:ln>
          <a:effectLst/>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6382512" y="2212848"/>
            <a:ext cx="5084064" cy="274320"/>
          </a:xfrm>
          <a:prstGeom prst="rect">
            <a:avLst/>
          </a:prstGeom>
          <a:noFill/>
        </p:spPr>
        <p:txBody>
          <a:bodyPr wrap="square" lIns="0" rIns="0" tIns="0" bIns="0" anchor="t">
            <a:noAutofit/>
          </a:bodyPr>
          <a:lstStyle/>
          <a:p>
            <a:pPr algn="l">
              <a:lnSpc>
                <a:spcPct val="108000"/>
              </a:lnSpc>
              <a:spcBef>
                <a:spcPts val="0"/>
              </a:spcBef>
              <a:spcAft>
                <a:spcPts val="0"/>
              </a:spcAft>
            </a:pPr>
            <a:r>
              <a:rPr sz="1100" b="1">
                <a:solidFill>
                  <a:srgbClr val="A6C9B8"/>
                </a:solidFill>
                <a:latin typeface="IBM Plex Mono"/>
              </a:rPr>
              <a:t>SAFEGUARDS</a:t>
            </a:r>
          </a:p>
        </p:txBody>
      </p:sp>
      <p:sp>
        <p:nvSpPr>
          <p:cNvPr id="16" name="TextBox 15"/>
          <p:cNvSpPr txBox="1"/>
          <p:nvPr/>
        </p:nvSpPr>
        <p:spPr>
          <a:xfrm>
            <a:off x="6382512" y="2724912"/>
            <a:ext cx="5093208" cy="758952"/>
          </a:xfrm>
          <a:prstGeom prst="rect">
            <a:avLst/>
          </a:prstGeom>
          <a:noFill/>
        </p:spPr>
        <p:txBody>
          <a:bodyPr wrap="square" lIns="0" rIns="0" tIns="0" bIns="0" anchor="t">
            <a:noAutofit/>
          </a:bodyPr>
          <a:lstStyle/>
          <a:p>
            <a:pPr algn="l">
              <a:lnSpc>
                <a:spcPct val="108000"/>
              </a:lnSpc>
              <a:spcBef>
                <a:spcPts val="0"/>
              </a:spcBef>
              <a:spcAft>
                <a:spcPts val="0"/>
              </a:spcAft>
            </a:pPr>
            <a:r>
              <a:rPr sz="4500" b="1">
                <a:solidFill>
                  <a:srgbClr val="F1EFE7"/>
                </a:solidFill>
                <a:latin typeface="IBM Plex Sans"/>
              </a:rPr>
              <a:t>198,000</a:t>
            </a:r>
          </a:p>
        </p:txBody>
      </p:sp>
      <p:sp>
        <p:nvSpPr>
          <p:cNvPr id="17" name="TextBox 16"/>
          <p:cNvSpPr txBox="1"/>
          <p:nvPr/>
        </p:nvSpPr>
        <p:spPr>
          <a:xfrm>
            <a:off x="6382512" y="3657600"/>
            <a:ext cx="5093208" cy="822960"/>
          </a:xfrm>
          <a:prstGeom prst="rect">
            <a:avLst/>
          </a:prstGeom>
          <a:noFill/>
        </p:spPr>
        <p:txBody>
          <a:bodyPr wrap="square" lIns="0" rIns="0" tIns="0" bIns="0" anchor="t">
            <a:noAutofit/>
          </a:bodyPr>
          <a:lstStyle/>
          <a:p>
            <a:pPr algn="l">
              <a:lnSpc>
                <a:spcPct val="108000"/>
              </a:lnSpc>
              <a:spcBef>
                <a:spcPts val="0"/>
              </a:spcBef>
              <a:spcAft>
                <a:spcPts val="0"/>
              </a:spcAft>
            </a:pPr>
            <a:r>
              <a:rPr sz="2300" b="0">
                <a:solidFill>
                  <a:srgbClr val="A6C9B8"/>
                </a:solidFill>
                <a:latin typeface="IBM Plex Sans"/>
              </a:rPr>
              <a:t>adversarial attempts still exposed</a:t>
            </a:r>
          </a:p>
          <a:p>
            <a:pPr algn="l">
              <a:lnSpc>
                <a:spcPct val="108000"/>
              </a:lnSpc>
              <a:spcBef>
                <a:spcPts val="0"/>
              </a:spcBef>
              <a:spcAft>
                <a:spcPts val="0"/>
              </a:spcAft>
            </a:pPr>
            <a:r>
              <a:rPr sz="2300" b="0">
                <a:solidFill>
                  <a:srgbClr val="A6C9B8"/>
                </a:solidFill>
                <a:latin typeface="IBM Plex Sans"/>
              </a:rPr>
              <a:t>one high-risk vulnerability</a:t>
            </a:r>
          </a:p>
        </p:txBody>
      </p:sp>
      <p:sp>
        <p:nvSpPr>
          <p:cNvPr id="18" name="TextBox 17"/>
          <p:cNvSpPr txBox="1"/>
          <p:nvPr/>
        </p:nvSpPr>
        <p:spPr>
          <a:xfrm>
            <a:off x="6382512" y="4608576"/>
            <a:ext cx="5093208" cy="347472"/>
          </a:xfrm>
          <a:prstGeom prst="rect">
            <a:avLst/>
          </a:prstGeom>
          <a:noFill/>
        </p:spPr>
        <p:txBody>
          <a:bodyPr wrap="square" lIns="0" rIns="0" tIns="0" bIns="0" anchor="t">
            <a:noAutofit/>
          </a:bodyPr>
          <a:lstStyle/>
          <a:p>
            <a:pPr algn="l">
              <a:lnSpc>
                <a:spcPct val="108000"/>
              </a:lnSpc>
              <a:spcBef>
                <a:spcPts val="0"/>
              </a:spcBef>
              <a:spcAft>
                <a:spcPts val="0"/>
              </a:spcAft>
            </a:pPr>
            <a:r>
              <a:rPr sz="1100" b="0">
                <a:solidFill>
                  <a:srgbClr val="AFB9B2"/>
                </a:solidFill>
                <a:latin typeface="IBM Plex Sans"/>
              </a:rPr>
              <a:t>Anthropic · Constitutional Classifiers++</a:t>
            </a:r>
          </a:p>
        </p:txBody>
      </p:sp>
      <p:sp>
        <p:nvSpPr>
          <p:cNvPr id="19" name="Rectangle 18"/>
          <p:cNvSpPr/>
          <p:nvPr/>
        </p:nvSpPr>
        <p:spPr>
          <a:xfrm>
            <a:off x="612648" y="5138928"/>
            <a:ext cx="10972800" cy="905256"/>
          </a:xfrm>
          <a:prstGeom prst="rect">
            <a:avLst/>
          </a:prstGeom>
          <a:solidFill>
            <a:srgbClr val="222E2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95528" y="5294376"/>
            <a:ext cx="8549640" cy="594360"/>
          </a:xfrm>
          <a:prstGeom prst="rect">
            <a:avLst/>
          </a:prstGeom>
          <a:noFill/>
        </p:spPr>
        <p:txBody>
          <a:bodyPr wrap="square" lIns="0" rIns="0" tIns="0" bIns="0" anchor="t">
            <a:noAutofit/>
          </a:bodyPr>
          <a:lstStyle/>
          <a:p>
            <a:pPr algn="l">
              <a:lnSpc>
                <a:spcPct val="108000"/>
              </a:lnSpc>
              <a:spcBef>
                <a:spcPts val="0"/>
              </a:spcBef>
              <a:spcAft>
                <a:spcPts val="0"/>
              </a:spcAft>
            </a:pPr>
            <a:r>
              <a:rPr sz="2000" b="0">
                <a:solidFill>
                  <a:srgbClr val="F1EFE7"/>
                </a:solidFill>
                <a:latin typeface="IBM Plex Sans"/>
              </a:rPr>
              <a:t>“The United States tends to play catch-up after critical</a:t>
            </a:r>
          </a:p>
          <a:p>
            <a:pPr algn="l">
              <a:lnSpc>
                <a:spcPct val="108000"/>
              </a:lnSpc>
              <a:spcBef>
                <a:spcPts val="0"/>
              </a:spcBef>
              <a:spcAft>
                <a:spcPts val="0"/>
              </a:spcAft>
            </a:pPr>
            <a:r>
              <a:rPr sz="2000" b="0">
                <a:solidFill>
                  <a:srgbClr val="F1EFE7"/>
                </a:solidFill>
                <a:latin typeface="IBM Plex Sans"/>
              </a:rPr>
              <a:t>technologies have already become mainstream.”</a:t>
            </a:r>
          </a:p>
        </p:txBody>
      </p:sp>
      <p:sp>
        <p:nvSpPr>
          <p:cNvPr id="21" name="TextBox 20"/>
          <p:cNvSpPr txBox="1"/>
          <p:nvPr/>
        </p:nvSpPr>
        <p:spPr>
          <a:xfrm>
            <a:off x="9902952" y="5376672"/>
            <a:ext cx="1417320" cy="512064"/>
          </a:xfrm>
          <a:prstGeom prst="rect">
            <a:avLst/>
          </a:prstGeom>
          <a:noFill/>
        </p:spPr>
        <p:txBody>
          <a:bodyPr wrap="square" lIns="0" rIns="0" tIns="0" bIns="0" anchor="t">
            <a:noAutofit/>
          </a:bodyPr>
          <a:lstStyle/>
          <a:p>
            <a:pPr algn="l">
              <a:lnSpc>
                <a:spcPct val="108000"/>
              </a:lnSpc>
              <a:spcBef>
                <a:spcPts val="0"/>
              </a:spcBef>
              <a:spcAft>
                <a:spcPts val="0"/>
              </a:spcAft>
            </a:pPr>
            <a:r>
              <a:rPr sz="1200" b="1">
                <a:solidFill>
                  <a:srgbClr val="A6C9B8"/>
                </a:solidFill>
                <a:latin typeface="IBM Plex Mono"/>
              </a:rPr>
              <a:t>NSCEB</a:t>
            </a:r>
          </a:p>
          <a:p>
            <a:pPr algn="l">
              <a:lnSpc>
                <a:spcPct val="108000"/>
              </a:lnSpc>
              <a:spcBef>
                <a:spcPts val="0"/>
              </a:spcBef>
              <a:spcAft>
                <a:spcPts val="0"/>
              </a:spcAft>
            </a:pPr>
            <a:r>
              <a:rPr sz="1200" b="1">
                <a:solidFill>
                  <a:srgbClr val="A6C9B8"/>
                </a:solidFill>
                <a:latin typeface="IBM Plex Mono"/>
              </a:rPr>
              <a:t>2025 · §1.3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7201F"/>
        </a:solidFill>
        <a:effectLst/>
      </p:bgPr>
    </p:bg>
    <p:spTree>
      <p:nvGrpSpPr>
        <p:cNvPr id="1" name=""/>
        <p:cNvGrpSpPr/>
        <p:nvPr/>
      </p:nvGrpSpPr>
      <p:grpSpPr/>
      <p:sp>
        <p:nvSpPr>
          <p:cNvPr id="2" name="TextBox 1"/>
          <p:cNvSpPr txBox="1"/>
          <p:nvPr/>
        </p:nvSpPr>
        <p:spPr>
          <a:xfrm>
            <a:off x="502920" y="246888"/>
            <a:ext cx="2377440" cy="219456"/>
          </a:xfrm>
          <a:prstGeom prst="rect">
            <a:avLst/>
          </a:prstGeom>
          <a:noFill/>
        </p:spPr>
        <p:txBody>
          <a:bodyPr wrap="square" lIns="0" rIns="0" tIns="0" bIns="0" anchor="t">
            <a:noAutofit/>
          </a:bodyPr>
          <a:lstStyle/>
          <a:p>
            <a:pPr algn="l">
              <a:lnSpc>
                <a:spcPct val="108000"/>
              </a:lnSpc>
              <a:spcBef>
                <a:spcPts val="0"/>
              </a:spcBef>
              <a:spcAft>
                <a:spcPts val="0"/>
              </a:spcAft>
            </a:pPr>
            <a:r>
              <a:rPr sz="1100" b="1">
                <a:solidFill>
                  <a:srgbClr val="F1EFE7"/>
                </a:solidFill>
                <a:latin typeface="IBM Plex Mono"/>
              </a:rPr>
              <a:t>DN / RESEARCH</a:t>
            </a:r>
          </a:p>
        </p:txBody>
      </p:sp>
      <p:sp>
        <p:nvSpPr>
          <p:cNvPr id="3" name="TextBox 2"/>
          <p:cNvSpPr txBox="1"/>
          <p:nvPr/>
        </p:nvSpPr>
        <p:spPr>
          <a:xfrm>
            <a:off x="4572000" y="256032"/>
            <a:ext cx="7095744" cy="201168"/>
          </a:xfrm>
          <a:prstGeom prst="rect">
            <a:avLst/>
          </a:prstGeom>
          <a:noFill/>
        </p:spPr>
        <p:txBody>
          <a:bodyPr wrap="square" lIns="0" rIns="0" tIns="0" bIns="0" anchor="t">
            <a:noAutofit/>
          </a:bodyPr>
          <a:lstStyle/>
          <a:p>
            <a:pPr algn="r">
              <a:lnSpc>
                <a:spcPct val="108000"/>
              </a:lnSpc>
              <a:spcBef>
                <a:spcPts val="0"/>
              </a:spcBef>
              <a:spcAft>
                <a:spcPts val="0"/>
              </a:spcAft>
            </a:pPr>
            <a:r>
              <a:rPr sz="1000" b="0">
                <a:solidFill>
                  <a:srgbClr val="AFB9B2"/>
                </a:solidFill>
                <a:latin typeface="IBM Plex Mono"/>
              </a:rPr>
              <a:t>SOURCE-GROUNDED RECURSIVE RESEARCH</a:t>
            </a:r>
          </a:p>
        </p:txBody>
      </p:sp>
      <p:cxnSp>
        <p:nvCxnSpPr>
          <p:cNvPr id="4" name="Connector 3"/>
          <p:cNvCxnSpPr/>
          <p:nvPr/>
        </p:nvCxnSpPr>
        <p:spPr>
          <a:xfrm>
            <a:off x="502920" y="658368"/>
            <a:ext cx="11183112" cy="0"/>
          </a:xfrm>
          <a:prstGeom prst="line">
            <a:avLst/>
          </a:prstGeom>
          <a:ln w="8890">
            <a:solidFill>
              <a:srgbClr val="3A4944"/>
            </a:solidFill>
          </a:ln>
          <a:effectLst/>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02920" y="6437376"/>
            <a:ext cx="11183112" cy="0"/>
          </a:xfrm>
          <a:prstGeom prst="line">
            <a:avLst/>
          </a:prstGeom>
          <a:ln w="8890">
            <a:solidFill>
              <a:srgbClr val="3A4944"/>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02920" y="6547104"/>
            <a:ext cx="7315200" cy="173736"/>
          </a:xfrm>
          <a:prstGeom prst="rect">
            <a:avLst/>
          </a:prstGeom>
          <a:noFill/>
        </p:spPr>
        <p:txBody>
          <a:bodyPr wrap="square" lIns="0" rIns="0" tIns="0" bIns="0" anchor="t">
            <a:noAutofit/>
          </a:bodyPr>
          <a:lstStyle/>
          <a:p>
            <a:pPr algn="l">
              <a:lnSpc>
                <a:spcPct val="108000"/>
              </a:lnSpc>
              <a:spcBef>
                <a:spcPts val="0"/>
              </a:spcBef>
              <a:spcAft>
                <a:spcPts val="0"/>
              </a:spcAft>
            </a:pPr>
            <a:r>
              <a:rPr sz="800" b="0">
                <a:solidFill>
                  <a:srgbClr val="AFB9B2"/>
                </a:solidFill>
                <a:latin typeface="IBM Plex Mono"/>
              </a:rPr>
              <a:t>DNHACKS 2026  /  WORKING PRESENTATION</a:t>
            </a:r>
          </a:p>
        </p:txBody>
      </p:sp>
      <p:sp>
        <p:nvSpPr>
          <p:cNvPr id="7" name="TextBox 6"/>
          <p:cNvSpPr txBox="1"/>
          <p:nvPr/>
        </p:nvSpPr>
        <p:spPr>
          <a:xfrm>
            <a:off x="11100816" y="6501384"/>
            <a:ext cx="585216" cy="265176"/>
          </a:xfrm>
          <a:prstGeom prst="rect">
            <a:avLst/>
          </a:prstGeom>
          <a:noFill/>
        </p:spPr>
        <p:txBody>
          <a:bodyPr wrap="square" lIns="0" rIns="0" tIns="0" bIns="0" anchor="t">
            <a:noAutofit/>
          </a:bodyPr>
          <a:lstStyle/>
          <a:p>
            <a:pPr algn="r">
              <a:lnSpc>
                <a:spcPct val="108000"/>
              </a:lnSpc>
              <a:spcBef>
                <a:spcPts val="0"/>
              </a:spcBef>
              <a:spcAft>
                <a:spcPts val="0"/>
              </a:spcAft>
            </a:pPr>
            <a:r>
              <a:rPr sz="1200" b="0">
                <a:solidFill>
                  <a:srgbClr val="F1EFE7"/>
                </a:solidFill>
                <a:latin typeface="IBM Plex Mono"/>
              </a:rPr>
              <a:t>03</a:t>
            </a:r>
          </a:p>
        </p:txBody>
      </p:sp>
      <p:sp>
        <p:nvSpPr>
          <p:cNvPr id="8" name="TextBox 7"/>
          <p:cNvSpPr txBox="1"/>
          <p:nvPr/>
        </p:nvSpPr>
        <p:spPr>
          <a:xfrm>
            <a:off x="566928" y="932688"/>
            <a:ext cx="11064240" cy="914400"/>
          </a:xfrm>
          <a:prstGeom prst="rect">
            <a:avLst/>
          </a:prstGeom>
          <a:noFill/>
        </p:spPr>
        <p:txBody>
          <a:bodyPr wrap="square" lIns="0" rIns="0" tIns="0" bIns="0" anchor="t">
            <a:noAutofit/>
          </a:bodyPr>
          <a:lstStyle/>
          <a:p>
            <a:pPr algn="l">
              <a:lnSpc>
                <a:spcPct val="108000"/>
              </a:lnSpc>
              <a:spcBef>
                <a:spcPts val="0"/>
              </a:spcBef>
              <a:spcAft>
                <a:spcPts val="0"/>
              </a:spcAft>
            </a:pPr>
            <a:r>
              <a:rPr sz="3400" b="1">
                <a:solidFill>
                  <a:srgbClr val="F1EFE7"/>
                </a:solidFill>
                <a:latin typeface="IBM Plex Sans"/>
              </a:rPr>
              <a:t>A claim graph drives a persistent tree of experiments.</a:t>
            </a:r>
          </a:p>
        </p:txBody>
      </p:sp>
      <p:sp>
        <p:nvSpPr>
          <p:cNvPr id="9" name="TextBox 8"/>
          <p:cNvSpPr txBox="1"/>
          <p:nvPr/>
        </p:nvSpPr>
        <p:spPr>
          <a:xfrm>
            <a:off x="603504" y="1993392"/>
            <a:ext cx="3529584" cy="365760"/>
          </a:xfrm>
          <a:prstGeom prst="rect">
            <a:avLst/>
          </a:prstGeom>
          <a:noFill/>
        </p:spPr>
        <p:txBody>
          <a:bodyPr wrap="square" lIns="0" rIns="0" tIns="0" bIns="0" anchor="t">
            <a:noAutofit/>
          </a:bodyPr>
          <a:lstStyle/>
          <a:p>
            <a:pPr algn="l">
              <a:lnSpc>
                <a:spcPct val="108000"/>
              </a:lnSpc>
              <a:spcBef>
                <a:spcPts val="0"/>
              </a:spcBef>
              <a:spcAft>
                <a:spcPts val="0"/>
              </a:spcAft>
            </a:pPr>
            <a:r>
              <a:rPr sz="2100" b="1">
                <a:solidFill>
                  <a:srgbClr val="A6C9B8"/>
                </a:solidFill>
                <a:latin typeface="IBM Plex Sans"/>
              </a:rPr>
              <a:t>Ingest → grounded graph</a:t>
            </a:r>
          </a:p>
        </p:txBody>
      </p:sp>
      <p:sp>
        <p:nvSpPr>
          <p:cNvPr id="10" name="TextBox 9"/>
          <p:cNvSpPr txBox="1"/>
          <p:nvPr/>
        </p:nvSpPr>
        <p:spPr>
          <a:xfrm>
            <a:off x="603504" y="2478024"/>
            <a:ext cx="3557016" cy="475488"/>
          </a:xfrm>
          <a:prstGeom prst="rect">
            <a:avLst/>
          </a:prstGeom>
          <a:noFill/>
        </p:spPr>
        <p:txBody>
          <a:bodyPr wrap="square" lIns="0" rIns="0" tIns="0" bIns="0" anchor="t">
            <a:noAutofit/>
          </a:bodyPr>
          <a:lstStyle/>
          <a:p>
            <a:pPr algn="l">
              <a:lnSpc>
                <a:spcPct val="108000"/>
              </a:lnSpc>
              <a:spcBef>
                <a:spcPts val="0"/>
              </a:spcBef>
              <a:spcAft>
                <a:spcPts val="0"/>
              </a:spcAft>
            </a:pPr>
            <a:r>
              <a:rPr sz="1500" b="0">
                <a:solidFill>
                  <a:srgbClr val="AFB9B2"/>
                </a:solidFill>
                <a:latin typeface="IBM Plex Sans"/>
              </a:rPr>
              <a:t>HGNC / ChEBI / MONDO → canonical IDs</a:t>
            </a:r>
          </a:p>
        </p:txBody>
      </p:sp>
      <p:sp>
        <p:nvSpPr>
          <p:cNvPr id="11" name="TextBox 10"/>
          <p:cNvSpPr txBox="1"/>
          <p:nvPr/>
        </p:nvSpPr>
        <p:spPr>
          <a:xfrm>
            <a:off x="4114800" y="2093976"/>
            <a:ext cx="274320" cy="365760"/>
          </a:xfrm>
          <a:prstGeom prst="rect">
            <a:avLst/>
          </a:prstGeom>
          <a:noFill/>
        </p:spPr>
        <p:txBody>
          <a:bodyPr wrap="square" lIns="0" rIns="0" tIns="0" bIns="0" anchor="t">
            <a:noAutofit/>
          </a:bodyPr>
          <a:lstStyle/>
          <a:p>
            <a:pPr algn="l">
              <a:lnSpc>
                <a:spcPct val="108000"/>
              </a:lnSpc>
              <a:spcBef>
                <a:spcPts val="0"/>
              </a:spcBef>
              <a:spcAft>
                <a:spcPts val="0"/>
              </a:spcAft>
            </a:pPr>
            <a:r>
              <a:rPr sz="2000" b="0">
                <a:solidFill>
                  <a:srgbClr val="A6C9B8"/>
                </a:solidFill>
                <a:latin typeface="IBM Plex Sans"/>
              </a:rPr>
              <a:t>→</a:t>
            </a:r>
          </a:p>
        </p:txBody>
      </p:sp>
      <p:sp>
        <p:nvSpPr>
          <p:cNvPr id="12" name="TextBox 11"/>
          <p:cNvSpPr txBox="1"/>
          <p:nvPr/>
        </p:nvSpPr>
        <p:spPr>
          <a:xfrm>
            <a:off x="4471416" y="1993392"/>
            <a:ext cx="3529584" cy="365760"/>
          </a:xfrm>
          <a:prstGeom prst="rect">
            <a:avLst/>
          </a:prstGeom>
          <a:noFill/>
        </p:spPr>
        <p:txBody>
          <a:bodyPr wrap="square" lIns="0" rIns="0" tIns="0" bIns="0" anchor="t">
            <a:noAutofit/>
          </a:bodyPr>
          <a:lstStyle/>
          <a:p>
            <a:pPr algn="l">
              <a:lnSpc>
                <a:spcPct val="108000"/>
              </a:lnSpc>
              <a:spcBef>
                <a:spcPts val="0"/>
              </a:spcBef>
              <a:spcAft>
                <a:spcPts val="0"/>
              </a:spcAft>
            </a:pPr>
            <a:r>
              <a:rPr sz="2100" b="1">
                <a:solidFill>
                  <a:srgbClr val="A6C9B8"/>
                </a:solidFill>
                <a:latin typeface="IBM Plex Sans"/>
              </a:rPr>
              <a:t>Recursive agent sessions</a:t>
            </a:r>
          </a:p>
        </p:txBody>
      </p:sp>
      <p:sp>
        <p:nvSpPr>
          <p:cNvPr id="13" name="TextBox 12"/>
          <p:cNvSpPr txBox="1"/>
          <p:nvPr/>
        </p:nvSpPr>
        <p:spPr>
          <a:xfrm>
            <a:off x="4471416" y="2478024"/>
            <a:ext cx="3557016" cy="475488"/>
          </a:xfrm>
          <a:prstGeom prst="rect">
            <a:avLst/>
          </a:prstGeom>
          <a:noFill/>
        </p:spPr>
        <p:txBody>
          <a:bodyPr wrap="square" lIns="0" rIns="0" tIns="0" bIns="0" anchor="t">
            <a:noAutofit/>
          </a:bodyPr>
          <a:lstStyle/>
          <a:p>
            <a:pPr algn="l">
              <a:lnSpc>
                <a:spcPct val="108000"/>
              </a:lnSpc>
              <a:spcBef>
                <a:spcPts val="0"/>
              </a:spcBef>
              <a:spcAft>
                <a:spcPts val="0"/>
              </a:spcAft>
            </a:pPr>
            <a:r>
              <a:rPr sz="1500" b="0">
                <a:solidFill>
                  <a:srgbClr val="AFB9B2"/>
                </a:solidFill>
                <a:latin typeface="IBM Plex Sans"/>
              </a:rPr>
              <a:t>One action → execution → observation</a:t>
            </a:r>
          </a:p>
        </p:txBody>
      </p:sp>
      <p:sp>
        <p:nvSpPr>
          <p:cNvPr id="14" name="TextBox 13"/>
          <p:cNvSpPr txBox="1"/>
          <p:nvPr/>
        </p:nvSpPr>
        <p:spPr>
          <a:xfrm>
            <a:off x="7982712" y="2093976"/>
            <a:ext cx="274320" cy="365760"/>
          </a:xfrm>
          <a:prstGeom prst="rect">
            <a:avLst/>
          </a:prstGeom>
          <a:noFill/>
        </p:spPr>
        <p:txBody>
          <a:bodyPr wrap="square" lIns="0" rIns="0" tIns="0" bIns="0" anchor="t">
            <a:noAutofit/>
          </a:bodyPr>
          <a:lstStyle/>
          <a:p>
            <a:pPr algn="l">
              <a:lnSpc>
                <a:spcPct val="108000"/>
              </a:lnSpc>
              <a:spcBef>
                <a:spcPts val="0"/>
              </a:spcBef>
              <a:spcAft>
                <a:spcPts val="0"/>
              </a:spcAft>
            </a:pPr>
            <a:r>
              <a:rPr sz="2000" b="0">
                <a:solidFill>
                  <a:srgbClr val="A6C9B8"/>
                </a:solidFill>
                <a:latin typeface="IBM Plex Sans"/>
              </a:rPr>
              <a:t>→</a:t>
            </a:r>
          </a:p>
        </p:txBody>
      </p:sp>
      <p:sp>
        <p:nvSpPr>
          <p:cNvPr id="15" name="TextBox 14"/>
          <p:cNvSpPr txBox="1"/>
          <p:nvPr/>
        </p:nvSpPr>
        <p:spPr>
          <a:xfrm>
            <a:off x="8339328" y="1993392"/>
            <a:ext cx="3529584" cy="365760"/>
          </a:xfrm>
          <a:prstGeom prst="rect">
            <a:avLst/>
          </a:prstGeom>
          <a:noFill/>
        </p:spPr>
        <p:txBody>
          <a:bodyPr wrap="square" lIns="0" rIns="0" tIns="0" bIns="0" anchor="t">
            <a:noAutofit/>
          </a:bodyPr>
          <a:lstStyle/>
          <a:p>
            <a:pPr algn="l">
              <a:lnSpc>
                <a:spcPct val="108000"/>
              </a:lnSpc>
              <a:spcBef>
                <a:spcPts val="0"/>
              </a:spcBef>
              <a:spcAft>
                <a:spcPts val="0"/>
              </a:spcAft>
            </a:pPr>
            <a:r>
              <a:rPr sz="2100" b="1">
                <a:solidFill>
                  <a:srgbClr val="A6C9B8"/>
                </a:solidFill>
                <a:latin typeface="IBM Plex Sans"/>
              </a:rPr>
              <a:t>Acceptance + review</a:t>
            </a:r>
          </a:p>
        </p:txBody>
      </p:sp>
      <p:sp>
        <p:nvSpPr>
          <p:cNvPr id="16" name="TextBox 15"/>
          <p:cNvSpPr txBox="1"/>
          <p:nvPr/>
        </p:nvSpPr>
        <p:spPr>
          <a:xfrm>
            <a:off x="8339328" y="2478024"/>
            <a:ext cx="3557016" cy="475488"/>
          </a:xfrm>
          <a:prstGeom prst="rect">
            <a:avLst/>
          </a:prstGeom>
          <a:noFill/>
        </p:spPr>
        <p:txBody>
          <a:bodyPr wrap="square" lIns="0" rIns="0" tIns="0" bIns="0" anchor="t">
            <a:noAutofit/>
          </a:bodyPr>
          <a:lstStyle/>
          <a:p>
            <a:pPr algn="l">
              <a:lnSpc>
                <a:spcPct val="108000"/>
              </a:lnSpc>
              <a:spcBef>
                <a:spcPts val="0"/>
              </a:spcBef>
              <a:spcAft>
                <a:spcPts val="0"/>
              </a:spcAft>
            </a:pPr>
            <a:r>
              <a:rPr sz="1500" b="0">
                <a:solidFill>
                  <a:srgbClr val="AFB9B2"/>
                </a:solidFill>
                <a:latin typeface="IBM Plex Sans"/>
              </a:rPr>
              <a:t>Typed checks / artifacts / human decision</a:t>
            </a:r>
          </a:p>
        </p:txBody>
      </p:sp>
      <p:pic>
        <p:nvPicPr>
          <p:cNvPr id="17" name="Picture 16" descr="knowledge.png"/>
          <p:cNvPicPr>
            <a:picLocks noChangeAspect="1"/>
          </p:cNvPicPr>
          <p:nvPr/>
        </p:nvPicPr>
        <p:blipFill>
          <a:blip r:embed="rId2"/>
          <a:stretch>
            <a:fillRect/>
          </a:stretch>
        </p:blipFill>
        <p:spPr>
          <a:xfrm>
            <a:off x="1050645" y="3017520"/>
            <a:ext cx="4418380" cy="2761488"/>
          </a:xfrm>
          <a:prstGeom prst="rect">
            <a:avLst/>
          </a:prstGeom>
        </p:spPr>
      </p:pic>
      <p:pic>
        <p:nvPicPr>
          <p:cNvPr id="18" name="Picture 17" descr="investigation.png"/>
          <p:cNvPicPr>
            <a:picLocks noChangeAspect="1"/>
          </p:cNvPicPr>
          <p:nvPr/>
        </p:nvPicPr>
        <p:blipFill>
          <a:blip r:embed="rId3"/>
          <a:stretch>
            <a:fillRect/>
          </a:stretch>
        </p:blipFill>
        <p:spPr>
          <a:xfrm>
            <a:off x="6719925" y="3017520"/>
            <a:ext cx="4418380" cy="2761488"/>
          </a:xfrm>
          <a:prstGeom prst="rect">
            <a:avLst/>
          </a:prstGeom>
        </p:spPr>
      </p:pic>
      <p:sp>
        <p:nvSpPr>
          <p:cNvPr id="19" name="TextBox 18"/>
          <p:cNvSpPr txBox="1"/>
          <p:nvPr/>
        </p:nvSpPr>
        <p:spPr>
          <a:xfrm>
            <a:off x="612648" y="5806440"/>
            <a:ext cx="5303520" cy="347472"/>
          </a:xfrm>
          <a:prstGeom prst="rect">
            <a:avLst/>
          </a:prstGeom>
          <a:noFill/>
        </p:spPr>
        <p:txBody>
          <a:bodyPr wrap="square" lIns="0" rIns="0" tIns="0" bIns="0" anchor="t">
            <a:noAutofit/>
          </a:bodyPr>
          <a:lstStyle/>
          <a:p>
            <a:pPr algn="l">
              <a:lnSpc>
                <a:spcPct val="108000"/>
              </a:lnSpc>
              <a:spcBef>
                <a:spcPts val="0"/>
              </a:spcBef>
              <a:spcAft>
                <a:spcPts val="0"/>
              </a:spcAft>
            </a:pPr>
            <a:r>
              <a:rPr sz="1100" b="0">
                <a:solidFill>
                  <a:srgbClr val="AFB9B2"/>
                </a:solidFill>
                <a:latin typeface="IBM Plex Sans"/>
              </a:rPr>
              <a:t>Knowledge: canonical identity, context and source inspection</a:t>
            </a:r>
          </a:p>
        </p:txBody>
      </p:sp>
      <p:sp>
        <p:nvSpPr>
          <p:cNvPr id="20" name="TextBox 19"/>
          <p:cNvSpPr txBox="1"/>
          <p:nvPr/>
        </p:nvSpPr>
        <p:spPr>
          <a:xfrm>
            <a:off x="6281928" y="5806440"/>
            <a:ext cx="5303520" cy="347472"/>
          </a:xfrm>
          <a:prstGeom prst="rect">
            <a:avLst/>
          </a:prstGeom>
          <a:noFill/>
        </p:spPr>
        <p:txBody>
          <a:bodyPr wrap="square" lIns="0" rIns="0" tIns="0" bIns="0" anchor="t">
            <a:noAutofit/>
          </a:bodyPr>
          <a:lstStyle/>
          <a:p>
            <a:pPr algn="l">
              <a:lnSpc>
                <a:spcPct val="108000"/>
              </a:lnSpc>
              <a:spcBef>
                <a:spcPts val="0"/>
              </a:spcBef>
              <a:spcAft>
                <a:spcPts val="0"/>
              </a:spcAft>
            </a:pPr>
            <a:r>
              <a:rPr sz="1100" b="0">
                <a:solidFill>
                  <a:srgbClr val="AFB9B2"/>
                </a:solidFill>
                <a:latin typeface="IBM Plex Sans"/>
              </a:rPr>
              <a:t>Investigation: branches, activity and experiment replay</a:t>
            </a:r>
          </a:p>
        </p:txBody>
      </p:sp>
      <p:sp>
        <p:nvSpPr>
          <p:cNvPr id="21" name="TextBox 20"/>
          <p:cNvSpPr txBox="1"/>
          <p:nvPr/>
        </p:nvSpPr>
        <p:spPr>
          <a:xfrm>
            <a:off x="612648" y="6245352"/>
            <a:ext cx="10963656" cy="192024"/>
          </a:xfrm>
          <a:prstGeom prst="rect">
            <a:avLst/>
          </a:prstGeom>
          <a:noFill/>
        </p:spPr>
        <p:txBody>
          <a:bodyPr wrap="square" lIns="0" rIns="0" tIns="0" bIns="0" anchor="t">
            <a:noAutofit/>
          </a:bodyPr>
          <a:lstStyle/>
          <a:p>
            <a:pPr algn="l">
              <a:lnSpc>
                <a:spcPct val="108000"/>
              </a:lnSpc>
              <a:spcBef>
                <a:spcPts val="0"/>
              </a:spcBef>
              <a:spcAft>
                <a:spcPts val="0"/>
              </a:spcAft>
            </a:pPr>
            <a:r>
              <a:rPr sz="1100" b="1">
                <a:solidFill>
                  <a:srgbClr val="A6C9B8"/>
                </a:solidFill>
                <a:latin typeface="IBM Plex Mono"/>
              </a:rPr>
              <a:t>18 actions / checkpoint   ·   2,880 actions / shared tree   ·   atomic grants survive restart</a:t>
            </a:r>
          </a:p>
        </p:txBody>
      </p:sp>
      <p:sp>
        <p:nvSpPr>
          <p:cNvPr id="22" name="Rectangle 21"/>
          <p:cNvSpPr/>
          <p:nvPr/>
        </p:nvSpPr>
        <p:spPr>
          <a:xfrm>
            <a:off x="649224" y="3072384"/>
            <a:ext cx="3026664" cy="283464"/>
          </a:xfrm>
          <a:prstGeom prst="rect">
            <a:avLst/>
          </a:prstGeom>
          <a:solidFill>
            <a:srgbClr val="17201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740664" y="3119932"/>
            <a:ext cx="2862072" cy="192024"/>
          </a:xfrm>
          <a:prstGeom prst="rect">
            <a:avLst/>
          </a:prstGeom>
          <a:noFill/>
        </p:spPr>
        <p:txBody>
          <a:bodyPr wrap="square" lIns="0" rIns="0" tIns="0" bIns="0" anchor="t">
            <a:noAutofit/>
          </a:bodyPr>
          <a:lstStyle/>
          <a:p>
            <a:pPr algn="l">
              <a:lnSpc>
                <a:spcPct val="108000"/>
              </a:lnSpc>
              <a:spcBef>
                <a:spcPts val="0"/>
              </a:spcBef>
              <a:spcAft>
                <a:spcPts val="0"/>
              </a:spcAft>
            </a:pPr>
            <a:r>
              <a:rPr sz="940" b="1">
                <a:solidFill>
                  <a:srgbClr val="DEB577"/>
                </a:solidFill>
                <a:latin typeface="IBM Plex Mono"/>
              </a:rPr>
              <a:t>WORKING WEBSITE · SAMPLE DATA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1F"/>
        </a:solidFill>
        <a:effectLst/>
      </p:bgPr>
    </p:bg>
    <p:spTree>
      <p:nvGrpSpPr>
        <p:cNvPr id="1" name=""/>
        <p:cNvGrpSpPr/>
        <p:nvPr/>
      </p:nvGrpSpPr>
      <p:grpSpPr/>
      <p:sp>
        <p:nvSpPr>
          <p:cNvPr id="2" name="TextBox 1"/>
          <p:cNvSpPr txBox="1"/>
          <p:nvPr/>
        </p:nvSpPr>
        <p:spPr>
          <a:xfrm>
            <a:off x="502920" y="246888"/>
            <a:ext cx="2377440" cy="219456"/>
          </a:xfrm>
          <a:prstGeom prst="rect">
            <a:avLst/>
          </a:prstGeom>
          <a:noFill/>
        </p:spPr>
        <p:txBody>
          <a:bodyPr wrap="square" lIns="0" rIns="0" tIns="0" bIns="0" anchor="t">
            <a:noAutofit/>
          </a:bodyPr>
          <a:lstStyle/>
          <a:p>
            <a:pPr algn="l">
              <a:lnSpc>
                <a:spcPct val="108000"/>
              </a:lnSpc>
              <a:spcBef>
                <a:spcPts val="0"/>
              </a:spcBef>
              <a:spcAft>
                <a:spcPts val="0"/>
              </a:spcAft>
            </a:pPr>
            <a:r>
              <a:rPr sz="1100" b="1">
                <a:solidFill>
                  <a:srgbClr val="F1EFE7"/>
                </a:solidFill>
                <a:latin typeface="IBM Plex Mono"/>
              </a:rPr>
              <a:t>DN / RESEARCH</a:t>
            </a:r>
          </a:p>
        </p:txBody>
      </p:sp>
      <p:sp>
        <p:nvSpPr>
          <p:cNvPr id="3" name="TextBox 2"/>
          <p:cNvSpPr txBox="1"/>
          <p:nvPr/>
        </p:nvSpPr>
        <p:spPr>
          <a:xfrm>
            <a:off x="4572000" y="256032"/>
            <a:ext cx="7095744" cy="201168"/>
          </a:xfrm>
          <a:prstGeom prst="rect">
            <a:avLst/>
          </a:prstGeom>
          <a:noFill/>
        </p:spPr>
        <p:txBody>
          <a:bodyPr wrap="square" lIns="0" rIns="0" tIns="0" bIns="0" anchor="t">
            <a:noAutofit/>
          </a:bodyPr>
          <a:lstStyle/>
          <a:p>
            <a:pPr algn="r">
              <a:lnSpc>
                <a:spcPct val="108000"/>
              </a:lnSpc>
              <a:spcBef>
                <a:spcPts val="0"/>
              </a:spcBef>
              <a:spcAft>
                <a:spcPts val="0"/>
              </a:spcAft>
            </a:pPr>
            <a:r>
              <a:rPr sz="1000" b="0">
                <a:solidFill>
                  <a:srgbClr val="AFB9B2"/>
                </a:solidFill>
                <a:latin typeface="IBM Plex Mono"/>
              </a:rPr>
              <a:t>EXECUTABLE SCIENTIFIC INSTRUMENTS / GROUNDING</a:t>
            </a:r>
          </a:p>
        </p:txBody>
      </p:sp>
      <p:cxnSp>
        <p:nvCxnSpPr>
          <p:cNvPr id="4" name="Connector 3"/>
          <p:cNvCxnSpPr/>
          <p:nvPr/>
        </p:nvCxnSpPr>
        <p:spPr>
          <a:xfrm>
            <a:off x="502920" y="658368"/>
            <a:ext cx="11183112" cy="0"/>
          </a:xfrm>
          <a:prstGeom prst="line">
            <a:avLst/>
          </a:prstGeom>
          <a:ln w="8890">
            <a:solidFill>
              <a:srgbClr val="3A4944"/>
            </a:solidFill>
          </a:ln>
          <a:effectLst/>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02920" y="6437376"/>
            <a:ext cx="11183112" cy="0"/>
          </a:xfrm>
          <a:prstGeom prst="line">
            <a:avLst/>
          </a:prstGeom>
          <a:ln w="8890">
            <a:solidFill>
              <a:srgbClr val="3A4944"/>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02920" y="6547104"/>
            <a:ext cx="7315200" cy="173736"/>
          </a:xfrm>
          <a:prstGeom prst="rect">
            <a:avLst/>
          </a:prstGeom>
          <a:noFill/>
        </p:spPr>
        <p:txBody>
          <a:bodyPr wrap="square" lIns="0" rIns="0" tIns="0" bIns="0" anchor="t">
            <a:noAutofit/>
          </a:bodyPr>
          <a:lstStyle/>
          <a:p>
            <a:pPr algn="l">
              <a:lnSpc>
                <a:spcPct val="108000"/>
              </a:lnSpc>
              <a:spcBef>
                <a:spcPts val="0"/>
              </a:spcBef>
              <a:spcAft>
                <a:spcPts val="0"/>
              </a:spcAft>
            </a:pPr>
            <a:r>
              <a:rPr sz="800" b="0">
                <a:solidFill>
                  <a:srgbClr val="AFB9B2"/>
                </a:solidFill>
                <a:latin typeface="IBM Plex Mono"/>
              </a:rPr>
              <a:t>DNHACKS 2026  /  WORKING PRESENTATION</a:t>
            </a:r>
          </a:p>
        </p:txBody>
      </p:sp>
      <p:sp>
        <p:nvSpPr>
          <p:cNvPr id="7" name="TextBox 6"/>
          <p:cNvSpPr txBox="1"/>
          <p:nvPr/>
        </p:nvSpPr>
        <p:spPr>
          <a:xfrm>
            <a:off x="11100816" y="6501384"/>
            <a:ext cx="585216" cy="265176"/>
          </a:xfrm>
          <a:prstGeom prst="rect">
            <a:avLst/>
          </a:prstGeom>
          <a:noFill/>
        </p:spPr>
        <p:txBody>
          <a:bodyPr wrap="square" lIns="0" rIns="0" tIns="0" bIns="0" anchor="t">
            <a:noAutofit/>
          </a:bodyPr>
          <a:lstStyle/>
          <a:p>
            <a:pPr algn="r">
              <a:lnSpc>
                <a:spcPct val="108000"/>
              </a:lnSpc>
              <a:spcBef>
                <a:spcPts val="0"/>
              </a:spcBef>
              <a:spcAft>
                <a:spcPts val="0"/>
              </a:spcAft>
            </a:pPr>
            <a:r>
              <a:rPr sz="1200" b="0">
                <a:solidFill>
                  <a:srgbClr val="F1EFE7"/>
                </a:solidFill>
                <a:latin typeface="IBM Plex Mono"/>
              </a:rPr>
              <a:t>04</a:t>
            </a:r>
          </a:p>
        </p:txBody>
      </p:sp>
      <p:sp>
        <p:nvSpPr>
          <p:cNvPr id="8" name="TextBox 7"/>
          <p:cNvSpPr txBox="1"/>
          <p:nvPr/>
        </p:nvSpPr>
        <p:spPr>
          <a:xfrm>
            <a:off x="566928" y="932688"/>
            <a:ext cx="11064240" cy="914400"/>
          </a:xfrm>
          <a:prstGeom prst="rect">
            <a:avLst/>
          </a:prstGeom>
          <a:noFill/>
        </p:spPr>
        <p:txBody>
          <a:bodyPr wrap="square" lIns="0" rIns="0" tIns="0" bIns="0" anchor="t">
            <a:noAutofit/>
          </a:bodyPr>
          <a:lstStyle/>
          <a:p>
            <a:pPr algn="l">
              <a:lnSpc>
                <a:spcPct val="108000"/>
              </a:lnSpc>
              <a:spcBef>
                <a:spcPts val="0"/>
              </a:spcBef>
              <a:spcAft>
                <a:spcPts val="0"/>
              </a:spcAft>
            </a:pPr>
            <a:r>
              <a:rPr sz="3100" b="1">
                <a:solidFill>
                  <a:srgbClr val="F1EFE7"/>
                </a:solidFill>
                <a:latin typeface="IBM Plex Sans"/>
              </a:rPr>
              <a:t>Images become evidence when checked against coordinates.</a:t>
            </a:r>
          </a:p>
        </p:txBody>
      </p:sp>
      <p:pic>
        <p:nvPicPr>
          <p:cNvPr id="9" name="Picture 8" descr="agent-comparison.png"/>
          <p:cNvPicPr>
            <a:picLocks noChangeAspect="1"/>
          </p:cNvPicPr>
          <p:nvPr/>
        </p:nvPicPr>
        <p:blipFill>
          <a:blip r:embed="rId2"/>
          <a:stretch>
            <a:fillRect/>
          </a:stretch>
        </p:blipFill>
        <p:spPr>
          <a:xfrm>
            <a:off x="758037" y="1965960"/>
            <a:ext cx="6393484" cy="3995928"/>
          </a:xfrm>
          <a:prstGeom prst="rect">
            <a:avLst/>
          </a:prstGeom>
        </p:spPr>
      </p:pic>
      <p:sp>
        <p:nvSpPr>
          <p:cNvPr id="10" name="Rectangle 9"/>
          <p:cNvSpPr/>
          <p:nvPr/>
        </p:nvSpPr>
        <p:spPr>
          <a:xfrm>
            <a:off x="630936" y="1993392"/>
            <a:ext cx="2057400" cy="283464"/>
          </a:xfrm>
          <a:prstGeom prst="rect">
            <a:avLst/>
          </a:prstGeom>
          <a:solidFill>
            <a:srgbClr val="17201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722375" y="2040940"/>
            <a:ext cx="1892807" cy="192024"/>
          </a:xfrm>
          <a:prstGeom prst="rect">
            <a:avLst/>
          </a:prstGeom>
          <a:noFill/>
        </p:spPr>
        <p:txBody>
          <a:bodyPr wrap="square" lIns="0" rIns="0" tIns="0" bIns="0" anchor="t">
            <a:noAutofit/>
          </a:bodyPr>
          <a:lstStyle/>
          <a:p>
            <a:pPr algn="l">
              <a:lnSpc>
                <a:spcPct val="108000"/>
              </a:lnSpc>
              <a:spcBef>
                <a:spcPts val="0"/>
              </a:spcBef>
              <a:spcAft>
                <a:spcPts val="0"/>
              </a:spcAft>
            </a:pPr>
            <a:r>
              <a:rPr sz="940" b="1">
                <a:solidFill>
                  <a:srgbClr val="A6C9B8"/>
                </a:solidFill>
                <a:latin typeface="IBM Plex Mono"/>
              </a:rPr>
              <a:t>RECORDED TOOL RUN</a:t>
            </a:r>
          </a:p>
        </p:txBody>
      </p:sp>
      <p:sp>
        <p:nvSpPr>
          <p:cNvPr id="12" name="TextBox 11"/>
          <p:cNvSpPr txBox="1"/>
          <p:nvPr/>
        </p:nvSpPr>
        <p:spPr>
          <a:xfrm>
            <a:off x="640080" y="5925312"/>
            <a:ext cx="6638544" cy="384048"/>
          </a:xfrm>
          <a:prstGeom prst="rect">
            <a:avLst/>
          </a:prstGeom>
          <a:noFill/>
        </p:spPr>
        <p:txBody>
          <a:bodyPr wrap="square" lIns="0" rIns="0" tIns="0" bIns="0" anchor="t">
            <a:noAutofit/>
          </a:bodyPr>
          <a:lstStyle/>
          <a:p>
            <a:pPr algn="l">
              <a:lnSpc>
                <a:spcPct val="108000"/>
              </a:lnSpc>
              <a:spcBef>
                <a:spcPts val="0"/>
              </a:spcBef>
              <a:spcAft>
                <a:spcPts val="0"/>
              </a:spcAft>
            </a:pPr>
            <a:r>
              <a:rPr sz="1700" b="1">
                <a:solidFill>
                  <a:srgbClr val="F1EFE7"/>
                </a:solidFill>
                <a:latin typeface="IBM Plex Sans"/>
              </a:rPr>
              <a:t>Docking → image review → coordinate countercheck</a:t>
            </a:r>
          </a:p>
        </p:txBody>
      </p:sp>
      <p:pic>
        <p:nvPicPr>
          <p:cNvPr id="13" name="binder-reveal.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7644383" y="1965960"/>
            <a:ext cx="3931920" cy="2212848"/>
          </a:xfrm>
          <a:prstGeom prst="rect">
            <a:avLst/>
          </a:prstGeom>
        </p:spPr>
      </p:pic>
      <p:sp>
        <p:nvSpPr>
          <p:cNvPr id="14" name="Rectangle 13">
            <a:hlinkClick r:id="rId6"/>
          </p:cNvPr>
          <p:cNvSpPr/>
          <p:nvPr/>
        </p:nvSpPr>
        <p:spPr>
          <a:xfrm>
            <a:off x="7653527" y="4288536"/>
            <a:ext cx="2478024" cy="457200"/>
          </a:xfrm>
          <a:prstGeom prst="rect">
            <a:avLst/>
          </a:prstGeom>
          <a:solidFill>
            <a:srgbClr val="A6C9B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a:hlinkClick r:id="rId6"/>
          </p:cNvPr>
          <p:cNvSpPr txBox="1"/>
          <p:nvPr/>
        </p:nvSpPr>
        <p:spPr>
          <a:xfrm>
            <a:off x="7827264" y="4370832"/>
            <a:ext cx="2112264" cy="274320"/>
          </a:xfrm>
          <a:prstGeom prst="rect">
            <a:avLst/>
          </a:prstGeom>
          <a:noFill/>
        </p:spPr>
        <p:txBody>
          <a:bodyPr wrap="square" lIns="0" rIns="0" tIns="0" bIns="0" anchor="t">
            <a:noAutofit/>
          </a:bodyPr>
          <a:lstStyle/>
          <a:p>
            <a:pPr algn="l">
              <a:lnSpc>
                <a:spcPct val="108000"/>
              </a:lnSpc>
              <a:spcBef>
                <a:spcPts val="0"/>
              </a:spcBef>
              <a:spcAft>
                <a:spcPts val="0"/>
              </a:spcAft>
            </a:pPr>
            <a:r>
              <a:rPr sz="1500" b="1">
                <a:solidFill>
                  <a:srgbClr val="17201F"/>
                </a:solidFill>
                <a:latin typeface="IBM Plex Sans"/>
              </a:rPr>
              <a:t>▶ OPEN VIDEO</a:t>
            </a:r>
          </a:p>
        </p:txBody>
      </p:sp>
      <p:sp>
        <p:nvSpPr>
          <p:cNvPr id="16" name="TextBox 15"/>
          <p:cNvSpPr txBox="1"/>
          <p:nvPr/>
        </p:nvSpPr>
        <p:spPr>
          <a:xfrm>
            <a:off x="10277856" y="4425696"/>
            <a:ext cx="1234440" cy="219456"/>
          </a:xfrm>
          <a:prstGeom prst="rect">
            <a:avLst/>
          </a:prstGeom>
          <a:noFill/>
        </p:spPr>
        <p:txBody>
          <a:bodyPr wrap="square" lIns="0" rIns="0" tIns="0" bIns="0" anchor="t">
            <a:noAutofit/>
          </a:bodyPr>
          <a:lstStyle/>
          <a:p>
            <a:pPr algn="l">
              <a:lnSpc>
                <a:spcPct val="108000"/>
              </a:lnSpc>
              <a:spcBef>
                <a:spcPts val="0"/>
              </a:spcBef>
              <a:spcAft>
                <a:spcPts val="0"/>
              </a:spcAft>
            </a:pPr>
            <a:r>
              <a:rPr sz="1100" b="0">
                <a:solidFill>
                  <a:srgbClr val="AFB9B2"/>
                </a:solidFill>
                <a:latin typeface="IBM Plex Sans"/>
              </a:rPr>
              <a:t>23 seconds</a:t>
            </a:r>
          </a:p>
        </p:txBody>
      </p:sp>
      <p:sp>
        <p:nvSpPr>
          <p:cNvPr id="17" name="TextBox 16"/>
          <p:cNvSpPr txBox="1"/>
          <p:nvPr/>
        </p:nvSpPr>
        <p:spPr>
          <a:xfrm>
            <a:off x="7671816" y="4864608"/>
            <a:ext cx="3858768" cy="347472"/>
          </a:xfrm>
          <a:prstGeom prst="rect">
            <a:avLst/>
          </a:prstGeom>
          <a:noFill/>
        </p:spPr>
        <p:txBody>
          <a:bodyPr wrap="square" lIns="0" rIns="0" tIns="0" bIns="0" anchor="t">
            <a:noAutofit/>
          </a:bodyPr>
          <a:lstStyle/>
          <a:p>
            <a:pPr algn="l">
              <a:lnSpc>
                <a:spcPct val="108000"/>
              </a:lnSpc>
              <a:spcBef>
                <a:spcPts val="0"/>
              </a:spcBef>
              <a:spcAft>
                <a:spcPts val="0"/>
              </a:spcAft>
            </a:pPr>
            <a:r>
              <a:rPr sz="1100" b="0">
                <a:solidFill>
                  <a:srgbClr val="AFB9B2"/>
                </a:solidFill>
                <a:latin typeface="IBM Plex Sans"/>
              </a:rPr>
              <a:t>Auto-plays in Slide Show · MP4 in delivery folder</a:t>
            </a:r>
          </a:p>
        </p:txBody>
      </p:sp>
      <p:sp>
        <p:nvSpPr>
          <p:cNvPr id="18" name="TextBox 17"/>
          <p:cNvSpPr txBox="1"/>
          <p:nvPr/>
        </p:nvSpPr>
        <p:spPr>
          <a:xfrm>
            <a:off x="7671816" y="5212080"/>
            <a:ext cx="3858768" cy="347472"/>
          </a:xfrm>
          <a:prstGeom prst="rect">
            <a:avLst/>
          </a:prstGeom>
          <a:noFill/>
        </p:spPr>
        <p:txBody>
          <a:bodyPr wrap="square" lIns="0" rIns="0" tIns="0" bIns="0" anchor="t">
            <a:noAutofit/>
          </a:bodyPr>
          <a:lstStyle/>
          <a:p>
            <a:pPr algn="l">
              <a:lnSpc>
                <a:spcPct val="108000"/>
              </a:lnSpc>
              <a:spcBef>
                <a:spcPts val="0"/>
              </a:spcBef>
              <a:spcAft>
                <a:spcPts val="0"/>
              </a:spcAft>
            </a:pPr>
            <a:r>
              <a:rPr sz="1100" b="0">
                <a:solidFill>
                  <a:srgbClr val="AFB9B2"/>
                </a:solidFill>
                <a:latin typeface="IBM Plex Sans"/>
              </a:rPr>
              <a:t>Binder cinematic: illustrative geometry</a:t>
            </a:r>
          </a:p>
        </p:txBody>
      </p:sp>
      <p:sp>
        <p:nvSpPr>
          <p:cNvPr id="19" name="TextBox 18"/>
          <p:cNvSpPr txBox="1"/>
          <p:nvPr/>
        </p:nvSpPr>
        <p:spPr>
          <a:xfrm>
            <a:off x="7671816" y="5650992"/>
            <a:ext cx="3813048" cy="237744"/>
          </a:xfrm>
          <a:prstGeom prst="rect">
            <a:avLst/>
          </a:prstGeom>
          <a:noFill/>
        </p:spPr>
        <p:txBody>
          <a:bodyPr wrap="square" lIns="0" rIns="0" tIns="0" bIns="0" anchor="t">
            <a:noAutofit/>
          </a:bodyPr>
          <a:lstStyle/>
          <a:p>
            <a:pPr algn="l">
              <a:lnSpc>
                <a:spcPct val="108000"/>
              </a:lnSpc>
              <a:spcBef>
                <a:spcPts val="0"/>
              </a:spcBef>
              <a:spcAft>
                <a:spcPts val="0"/>
              </a:spcAft>
            </a:pPr>
            <a:r>
              <a:rPr sz="1100" b="1">
                <a:solidFill>
                  <a:srgbClr val="DEB577"/>
                </a:solidFill>
                <a:latin typeface="IBM Plex Mono"/>
              </a:rPr>
              <a:t>MEASURED CONTROL</a:t>
            </a:r>
          </a:p>
        </p:txBody>
      </p:sp>
      <p:sp>
        <p:nvSpPr>
          <p:cNvPr id="20" name="TextBox 19"/>
          <p:cNvSpPr txBox="1"/>
          <p:nvPr/>
        </p:nvSpPr>
        <p:spPr>
          <a:xfrm>
            <a:off x="7671816" y="5989320"/>
            <a:ext cx="3886200" cy="320040"/>
          </a:xfrm>
          <a:prstGeom prst="rect">
            <a:avLst/>
          </a:prstGeom>
          <a:noFill/>
        </p:spPr>
        <p:txBody>
          <a:bodyPr wrap="square" lIns="0" rIns="0" tIns="0" bIns="0" anchor="t">
            <a:noAutofit/>
          </a:bodyPr>
          <a:lstStyle/>
          <a:p>
            <a:pPr algn="l">
              <a:lnSpc>
                <a:spcPct val="108000"/>
              </a:lnSpc>
              <a:spcBef>
                <a:spcPts val="0"/>
              </a:spcBef>
              <a:spcAft>
                <a:spcPts val="0"/>
              </a:spcAft>
            </a:pPr>
            <a:r>
              <a:rPr sz="1700" b="1">
                <a:solidFill>
                  <a:srgbClr val="F1EFE7"/>
                </a:solidFill>
                <a:latin typeface="IBM Plex Sans"/>
              </a:rPr>
              <a:t>2.675 Å RMSD  /  required ≤2 Å</a:t>
            </a:r>
          </a:p>
        </p:txBody>
      </p:sp>
    </p:spTree>
  </p:cSld>
  <p:clrMapOvr>
    <a:masterClrMapping/>
  </p:clrMapOvr>
  <p:timing>
    <p:tnLst>
      <p:par>
        <p:cTn id="1" dur="indefinite" restart="never" nodeType="tmRoot">
          <p:childTnLst>
            <p:video>
              <p:cMediaNode vol="80000">
                <p:cTn id="2" fill="hold" display="0">
                  <p:stCondLst>
                    <p:cond delay="0"/>
                  </p:stCondLst>
                </p:cTn>
                <p:tgtEl>
                  <p:spTgt spid="13"/>
                </p:tgtEl>
              </p:cMediaNode>
            </p:video>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7201F"/>
        </a:solidFill>
        <a:effectLst/>
      </p:bgPr>
    </p:bg>
    <p:spTree>
      <p:nvGrpSpPr>
        <p:cNvPr id="1" name=""/>
        <p:cNvGrpSpPr/>
        <p:nvPr/>
      </p:nvGrpSpPr>
      <p:grpSpPr/>
      <p:sp>
        <p:nvSpPr>
          <p:cNvPr id="2" name="TextBox 1"/>
          <p:cNvSpPr txBox="1"/>
          <p:nvPr/>
        </p:nvSpPr>
        <p:spPr>
          <a:xfrm>
            <a:off x="502920" y="246888"/>
            <a:ext cx="2377440" cy="219456"/>
          </a:xfrm>
          <a:prstGeom prst="rect">
            <a:avLst/>
          </a:prstGeom>
          <a:noFill/>
        </p:spPr>
        <p:txBody>
          <a:bodyPr wrap="square" lIns="0" rIns="0" tIns="0" bIns="0" anchor="t">
            <a:noAutofit/>
          </a:bodyPr>
          <a:lstStyle/>
          <a:p>
            <a:pPr algn="l">
              <a:lnSpc>
                <a:spcPct val="108000"/>
              </a:lnSpc>
              <a:spcBef>
                <a:spcPts val="0"/>
              </a:spcBef>
              <a:spcAft>
                <a:spcPts val="0"/>
              </a:spcAft>
            </a:pPr>
            <a:r>
              <a:rPr sz="1100" b="1">
                <a:solidFill>
                  <a:srgbClr val="F1EFE7"/>
                </a:solidFill>
                <a:latin typeface="IBM Plex Mono"/>
              </a:rPr>
              <a:t>DN / RESEARCH</a:t>
            </a:r>
          </a:p>
        </p:txBody>
      </p:sp>
      <p:sp>
        <p:nvSpPr>
          <p:cNvPr id="3" name="TextBox 2"/>
          <p:cNvSpPr txBox="1"/>
          <p:nvPr/>
        </p:nvSpPr>
        <p:spPr>
          <a:xfrm>
            <a:off x="4572000" y="256032"/>
            <a:ext cx="7095744" cy="201168"/>
          </a:xfrm>
          <a:prstGeom prst="rect">
            <a:avLst/>
          </a:prstGeom>
          <a:noFill/>
        </p:spPr>
        <p:txBody>
          <a:bodyPr wrap="square" lIns="0" rIns="0" tIns="0" bIns="0" anchor="t">
            <a:noAutofit/>
          </a:bodyPr>
          <a:lstStyle/>
          <a:p>
            <a:pPr algn="r">
              <a:lnSpc>
                <a:spcPct val="108000"/>
              </a:lnSpc>
              <a:spcBef>
                <a:spcPts val="0"/>
              </a:spcBef>
              <a:spcAft>
                <a:spcPts val="0"/>
              </a:spcAft>
            </a:pPr>
            <a:r>
              <a:rPr sz="1000" b="0">
                <a:solidFill>
                  <a:srgbClr val="AFB9B2"/>
                </a:solidFill>
                <a:latin typeface="IBM Plex Mono"/>
              </a:rPr>
              <a:t>TRAINING OBJECTIVE / MEASURED GPU WORK</a:t>
            </a:r>
          </a:p>
        </p:txBody>
      </p:sp>
      <p:cxnSp>
        <p:nvCxnSpPr>
          <p:cNvPr id="4" name="Connector 3"/>
          <p:cNvCxnSpPr/>
          <p:nvPr/>
        </p:nvCxnSpPr>
        <p:spPr>
          <a:xfrm>
            <a:off x="502920" y="658368"/>
            <a:ext cx="11183112" cy="0"/>
          </a:xfrm>
          <a:prstGeom prst="line">
            <a:avLst/>
          </a:prstGeom>
          <a:ln w="8890">
            <a:solidFill>
              <a:srgbClr val="3A4944"/>
            </a:solidFill>
          </a:ln>
          <a:effectLst/>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02920" y="6437376"/>
            <a:ext cx="11183112" cy="0"/>
          </a:xfrm>
          <a:prstGeom prst="line">
            <a:avLst/>
          </a:prstGeom>
          <a:ln w="8890">
            <a:solidFill>
              <a:srgbClr val="3A4944"/>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02920" y="6547104"/>
            <a:ext cx="7315200" cy="173736"/>
          </a:xfrm>
          <a:prstGeom prst="rect">
            <a:avLst/>
          </a:prstGeom>
          <a:noFill/>
        </p:spPr>
        <p:txBody>
          <a:bodyPr wrap="square" lIns="0" rIns="0" tIns="0" bIns="0" anchor="t">
            <a:noAutofit/>
          </a:bodyPr>
          <a:lstStyle/>
          <a:p>
            <a:pPr algn="l">
              <a:lnSpc>
                <a:spcPct val="108000"/>
              </a:lnSpc>
              <a:spcBef>
                <a:spcPts val="0"/>
              </a:spcBef>
              <a:spcAft>
                <a:spcPts val="0"/>
              </a:spcAft>
            </a:pPr>
            <a:r>
              <a:rPr sz="800" b="0">
                <a:solidFill>
                  <a:srgbClr val="AFB9B2"/>
                </a:solidFill>
                <a:latin typeface="IBM Plex Mono"/>
              </a:rPr>
              <a:t>DNHACKS 2026  /  WORKING PRESENTATION</a:t>
            </a:r>
          </a:p>
        </p:txBody>
      </p:sp>
      <p:sp>
        <p:nvSpPr>
          <p:cNvPr id="7" name="TextBox 6"/>
          <p:cNvSpPr txBox="1"/>
          <p:nvPr/>
        </p:nvSpPr>
        <p:spPr>
          <a:xfrm>
            <a:off x="11100816" y="6501384"/>
            <a:ext cx="585216" cy="265176"/>
          </a:xfrm>
          <a:prstGeom prst="rect">
            <a:avLst/>
          </a:prstGeom>
          <a:noFill/>
        </p:spPr>
        <p:txBody>
          <a:bodyPr wrap="square" lIns="0" rIns="0" tIns="0" bIns="0" anchor="t">
            <a:noAutofit/>
          </a:bodyPr>
          <a:lstStyle/>
          <a:p>
            <a:pPr algn="r">
              <a:lnSpc>
                <a:spcPct val="108000"/>
              </a:lnSpc>
              <a:spcBef>
                <a:spcPts val="0"/>
              </a:spcBef>
              <a:spcAft>
                <a:spcPts val="0"/>
              </a:spcAft>
            </a:pPr>
            <a:r>
              <a:rPr sz="1200" b="0">
                <a:solidFill>
                  <a:srgbClr val="F1EFE7"/>
                </a:solidFill>
                <a:latin typeface="IBM Plex Mono"/>
              </a:rPr>
              <a:t>05</a:t>
            </a:r>
          </a:p>
        </p:txBody>
      </p:sp>
      <p:sp>
        <p:nvSpPr>
          <p:cNvPr id="8" name="TextBox 7"/>
          <p:cNvSpPr txBox="1"/>
          <p:nvPr/>
        </p:nvSpPr>
        <p:spPr>
          <a:xfrm>
            <a:off x="566928" y="932688"/>
            <a:ext cx="11018520" cy="841248"/>
          </a:xfrm>
          <a:prstGeom prst="rect">
            <a:avLst/>
          </a:prstGeom>
          <a:noFill/>
        </p:spPr>
        <p:txBody>
          <a:bodyPr wrap="square" lIns="0" rIns="0" tIns="0" bIns="0" anchor="t">
            <a:noAutofit/>
          </a:bodyPr>
          <a:lstStyle/>
          <a:p>
            <a:pPr algn="l">
              <a:lnSpc>
                <a:spcPct val="108000"/>
              </a:lnSpc>
              <a:spcBef>
                <a:spcPts val="0"/>
              </a:spcBef>
              <a:spcAft>
                <a:spcPts val="0"/>
              </a:spcAft>
            </a:pPr>
            <a:r>
              <a:rPr sz="3200" b="1">
                <a:solidFill>
                  <a:srgbClr val="F1EFE7"/>
                </a:solidFill>
                <a:latin typeface="IBM Plex Sans"/>
              </a:rPr>
              <a:t>Learn structure by reconstructing genes we deliberately hide.</a:t>
            </a:r>
          </a:p>
        </p:txBody>
      </p:sp>
      <p:sp>
        <p:nvSpPr>
          <p:cNvPr id="9" name="TextBox 8"/>
          <p:cNvSpPr txBox="1"/>
          <p:nvPr/>
        </p:nvSpPr>
        <p:spPr>
          <a:xfrm>
            <a:off x="612648" y="1920240"/>
            <a:ext cx="10963656" cy="429768"/>
          </a:xfrm>
          <a:prstGeom prst="rect">
            <a:avLst/>
          </a:prstGeom>
          <a:noFill/>
        </p:spPr>
        <p:txBody>
          <a:bodyPr wrap="square" lIns="0" rIns="0" tIns="0" bIns="0" anchor="t">
            <a:noAutofit/>
          </a:bodyPr>
          <a:lstStyle/>
          <a:p>
            <a:pPr algn="l">
              <a:lnSpc>
                <a:spcPct val="108000"/>
              </a:lnSpc>
              <a:spcBef>
                <a:spcPts val="0"/>
              </a:spcBef>
              <a:spcAft>
                <a:spcPts val="0"/>
              </a:spcAft>
            </a:pPr>
            <a:r>
              <a:rPr sz="2400" b="1">
                <a:solidFill>
                  <a:srgbClr val="A6C9B8"/>
                </a:solidFill>
                <a:latin typeface="IBM Plex Sans"/>
              </a:rPr>
              <a:t>19,000 genes → 512 hidden → 128 latent features</a:t>
            </a:r>
          </a:p>
        </p:txBody>
      </p:sp>
      <p:sp>
        <p:nvSpPr>
          <p:cNvPr id="10" name="TextBox 9"/>
          <p:cNvSpPr txBox="1"/>
          <p:nvPr/>
        </p:nvSpPr>
        <p:spPr>
          <a:xfrm>
            <a:off x="630936" y="2423160"/>
            <a:ext cx="10945368" cy="173736"/>
          </a:xfrm>
          <a:prstGeom prst="rect">
            <a:avLst/>
          </a:prstGeom>
          <a:noFill/>
        </p:spPr>
        <p:txBody>
          <a:bodyPr wrap="square" lIns="0" rIns="0" tIns="0" bIns="0" anchor="t">
            <a:noAutofit/>
          </a:bodyPr>
          <a:lstStyle/>
          <a:p>
            <a:pPr algn="l">
              <a:lnSpc>
                <a:spcPct val="108000"/>
              </a:lnSpc>
              <a:spcBef>
                <a:spcPts val="0"/>
              </a:spcBef>
              <a:spcAft>
                <a:spcPts val="0"/>
              </a:spcAft>
            </a:pPr>
            <a:r>
              <a:rPr sz="1000" b="0">
                <a:solidFill>
                  <a:srgbClr val="AFB9B2"/>
                </a:solidFill>
                <a:latin typeface="IBM Plex Sans"/>
              </a:rPr>
              <a:t>Denoising objective: Vincent et al. · JMLR 2010  /  GSE212041 cohort</a:t>
            </a:r>
          </a:p>
        </p:txBody>
      </p:sp>
      <p:pic>
        <p:nvPicPr>
          <p:cNvPr id="11" name="Picture 10" descr="training-baseline.png"/>
          <p:cNvPicPr>
            <a:picLocks noChangeAspect="1"/>
          </p:cNvPicPr>
          <p:nvPr/>
        </p:nvPicPr>
        <p:blipFill>
          <a:blip r:embed="rId2"/>
          <a:stretch>
            <a:fillRect/>
          </a:stretch>
        </p:blipFill>
        <p:spPr>
          <a:xfrm>
            <a:off x="539496" y="2596896"/>
            <a:ext cx="5779008" cy="3182112"/>
          </a:xfrm>
          <a:prstGeom prst="rect">
            <a:avLst/>
          </a:prstGeom>
        </p:spPr>
      </p:pic>
      <p:sp>
        <p:nvSpPr>
          <p:cNvPr id="12" name="TextBox 11"/>
          <p:cNvSpPr txBox="1"/>
          <p:nvPr/>
        </p:nvSpPr>
        <p:spPr>
          <a:xfrm>
            <a:off x="6565392" y="2624328"/>
            <a:ext cx="4599432" cy="274320"/>
          </a:xfrm>
          <a:prstGeom prst="rect">
            <a:avLst/>
          </a:prstGeom>
          <a:noFill/>
        </p:spPr>
        <p:txBody>
          <a:bodyPr wrap="square" lIns="0" rIns="0" tIns="0" bIns="0" anchor="t">
            <a:noAutofit/>
          </a:bodyPr>
          <a:lstStyle/>
          <a:p>
            <a:pPr algn="l">
              <a:lnSpc>
                <a:spcPct val="108000"/>
              </a:lnSpc>
              <a:spcBef>
                <a:spcPts val="0"/>
              </a:spcBef>
              <a:spcAft>
                <a:spcPts val="0"/>
              </a:spcAft>
            </a:pPr>
            <a:r>
              <a:rPr sz="1100" b="1">
                <a:solidFill>
                  <a:srgbClr val="A6C9B8"/>
                </a:solidFill>
                <a:latin typeface="IBM Plex Mono"/>
              </a:rPr>
              <a:t>THE OBJECTIVE</a:t>
            </a:r>
          </a:p>
        </p:txBody>
      </p:sp>
      <p:sp>
        <p:nvSpPr>
          <p:cNvPr id="13" name="TextBox 12"/>
          <p:cNvSpPr txBox="1"/>
          <p:nvPr/>
        </p:nvSpPr>
        <p:spPr>
          <a:xfrm>
            <a:off x="6565392" y="3072384"/>
            <a:ext cx="4736592" cy="630936"/>
          </a:xfrm>
          <a:prstGeom prst="rect">
            <a:avLst/>
          </a:prstGeom>
          <a:noFill/>
        </p:spPr>
        <p:txBody>
          <a:bodyPr wrap="square" lIns="0" rIns="0" tIns="0" bIns="0" anchor="t">
            <a:noAutofit/>
          </a:bodyPr>
          <a:lstStyle/>
          <a:p>
            <a:pPr algn="l">
              <a:lnSpc>
                <a:spcPct val="108000"/>
              </a:lnSpc>
              <a:spcBef>
                <a:spcPts val="0"/>
              </a:spcBef>
              <a:spcAft>
                <a:spcPts val="0"/>
              </a:spcAft>
            </a:pPr>
            <a:r>
              <a:rPr sz="2300" b="1">
                <a:solidFill>
                  <a:srgbClr val="F1EFE7"/>
                </a:solidFill>
                <a:latin typeface="IBM Plex Sans"/>
              </a:rPr>
              <a:t>L = mean (x̂ᵢ − xᵢ)²,  i ∈ masked genes</a:t>
            </a:r>
          </a:p>
        </p:txBody>
      </p:sp>
      <p:sp>
        <p:nvSpPr>
          <p:cNvPr id="14" name="TextBox 13"/>
          <p:cNvSpPr txBox="1"/>
          <p:nvPr/>
        </p:nvSpPr>
        <p:spPr>
          <a:xfrm>
            <a:off x="6574536" y="3867912"/>
            <a:ext cx="4590288" cy="1161288"/>
          </a:xfrm>
          <a:prstGeom prst="rect">
            <a:avLst/>
          </a:prstGeom>
          <a:noFill/>
        </p:spPr>
        <p:txBody>
          <a:bodyPr wrap="square" lIns="0" rIns="0" tIns="0" bIns="0" anchor="t">
            <a:noAutofit/>
          </a:bodyPr>
          <a:lstStyle/>
          <a:p>
            <a:pPr algn="l">
              <a:lnSpc>
                <a:spcPct val="108000"/>
              </a:lnSpc>
              <a:spcBef>
                <a:spcPts val="0"/>
              </a:spcBef>
              <a:spcAft>
                <a:spcPts val="0"/>
              </a:spcAft>
            </a:pPr>
            <a:r>
              <a:rPr sz="1900" b="0">
                <a:solidFill>
                  <a:srgbClr val="AFB9B2"/>
                </a:solidFill>
                <a:latin typeface="IBM Plex Sans"/>
              </a:rPr>
              <a:t>Hide 15% of inputs; score only their reconstruction.</a:t>
            </a:r>
          </a:p>
          <a:p>
            <a:pPr algn="l">
              <a:lnSpc>
                <a:spcPct val="108000"/>
              </a:lnSpc>
              <a:spcBef>
                <a:spcPts val="0"/>
              </a:spcBef>
              <a:spcAft>
                <a:spcPts val="0"/>
              </a:spcAft>
            </a:pPr>
            <a:r>
              <a:rPr sz="1900" b="0">
                <a:solidFill>
                  <a:srgbClr val="AFB9B2"/>
                </a:solidFill>
                <a:latin typeface="IBM Plex Sans"/>
              </a:rPr>
              <a:t>The encoder must use relationships among genes.</a:t>
            </a:r>
          </a:p>
        </p:txBody>
      </p:sp>
      <p:sp>
        <p:nvSpPr>
          <p:cNvPr id="15" name="TextBox 14"/>
          <p:cNvSpPr txBox="1"/>
          <p:nvPr/>
        </p:nvSpPr>
        <p:spPr>
          <a:xfrm>
            <a:off x="6583680" y="5175504"/>
            <a:ext cx="4581144" cy="630936"/>
          </a:xfrm>
          <a:prstGeom prst="rect">
            <a:avLst/>
          </a:prstGeom>
          <a:noFill/>
        </p:spPr>
        <p:txBody>
          <a:bodyPr wrap="square" lIns="0" rIns="0" tIns="0" bIns="0" anchor="t">
            <a:noAutofit/>
          </a:bodyPr>
          <a:lstStyle/>
          <a:p>
            <a:pPr algn="l">
              <a:lnSpc>
                <a:spcPct val="108000"/>
              </a:lnSpc>
              <a:spcBef>
                <a:spcPts val="0"/>
              </a:spcBef>
              <a:spcAft>
                <a:spcPts val="0"/>
              </a:spcAft>
            </a:pPr>
            <a:r>
              <a:rPr sz="1400" b="1">
                <a:solidFill>
                  <a:srgbClr val="A6C9B8"/>
                </a:solidFill>
                <a:latin typeface="IBM Plex Mono"/>
              </a:rPr>
              <a:t>149 TRAIN / 74 DEV / 151 EVAL</a:t>
            </a:r>
          </a:p>
          <a:p>
            <a:pPr algn="l">
              <a:lnSpc>
                <a:spcPct val="108000"/>
              </a:lnSpc>
              <a:spcBef>
                <a:spcPts val="0"/>
              </a:spcBef>
              <a:spcAft>
                <a:spcPts val="0"/>
              </a:spcAft>
            </a:pPr>
            <a:r>
              <a:rPr sz="1400" b="1">
                <a:solidFill>
                  <a:srgbClr val="A6C9B8"/>
                </a:solidFill>
                <a:latin typeface="IBM Plex Mono"/>
              </a:rPr>
              <a:t>L40S · 100 epochs · 3.41s fit</a:t>
            </a:r>
          </a:p>
        </p:txBody>
      </p:sp>
      <p:sp>
        <p:nvSpPr>
          <p:cNvPr id="16" name="TextBox 15"/>
          <p:cNvSpPr txBox="1"/>
          <p:nvPr/>
        </p:nvSpPr>
        <p:spPr>
          <a:xfrm>
            <a:off x="630936" y="5961888"/>
            <a:ext cx="10954512" cy="365760"/>
          </a:xfrm>
          <a:prstGeom prst="rect">
            <a:avLst/>
          </a:prstGeom>
          <a:noFill/>
        </p:spPr>
        <p:txBody>
          <a:bodyPr wrap="square" lIns="0" rIns="0" tIns="0" bIns="0" anchor="t">
            <a:noAutofit/>
          </a:bodyPr>
          <a:lstStyle/>
          <a:p>
            <a:pPr algn="l">
              <a:lnSpc>
                <a:spcPct val="108000"/>
              </a:lnSpc>
              <a:spcBef>
                <a:spcPts val="0"/>
              </a:spcBef>
              <a:spcAft>
                <a:spcPts val="0"/>
              </a:spcAft>
            </a:pPr>
            <a:r>
              <a:rPr sz="1600" b="0">
                <a:solidFill>
                  <a:srgbClr val="F1EFE7"/>
                </a:solidFill>
                <a:latin typeface="IBM Plex Sans"/>
              </a:rPr>
              <a:t>TRAIN loss 0.116 vs ≈1 for the mean predictor. Generalization is tested on the next slide.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7201F"/>
        </a:solidFill>
        <a:effectLst/>
      </p:bgPr>
    </p:bg>
    <p:spTree>
      <p:nvGrpSpPr>
        <p:cNvPr id="1" name=""/>
        <p:cNvGrpSpPr/>
        <p:nvPr/>
      </p:nvGrpSpPr>
      <p:grpSpPr/>
      <p:sp>
        <p:nvSpPr>
          <p:cNvPr id="2" name="TextBox 1"/>
          <p:cNvSpPr txBox="1"/>
          <p:nvPr/>
        </p:nvSpPr>
        <p:spPr>
          <a:xfrm>
            <a:off x="502920" y="246888"/>
            <a:ext cx="2377440" cy="219456"/>
          </a:xfrm>
          <a:prstGeom prst="rect">
            <a:avLst/>
          </a:prstGeom>
          <a:noFill/>
        </p:spPr>
        <p:txBody>
          <a:bodyPr wrap="square" lIns="0" rIns="0" tIns="0" bIns="0" anchor="t">
            <a:noAutofit/>
          </a:bodyPr>
          <a:lstStyle/>
          <a:p>
            <a:pPr algn="l">
              <a:lnSpc>
                <a:spcPct val="108000"/>
              </a:lnSpc>
              <a:spcBef>
                <a:spcPts val="0"/>
              </a:spcBef>
              <a:spcAft>
                <a:spcPts val="0"/>
              </a:spcAft>
            </a:pPr>
            <a:r>
              <a:rPr sz="1100" b="1">
                <a:solidFill>
                  <a:srgbClr val="F1EFE7"/>
                </a:solidFill>
                <a:latin typeface="IBM Plex Mono"/>
              </a:rPr>
              <a:t>DN / RESEARCH</a:t>
            </a:r>
          </a:p>
        </p:txBody>
      </p:sp>
      <p:sp>
        <p:nvSpPr>
          <p:cNvPr id="3" name="TextBox 2"/>
          <p:cNvSpPr txBox="1"/>
          <p:nvPr/>
        </p:nvSpPr>
        <p:spPr>
          <a:xfrm>
            <a:off x="4572000" y="256032"/>
            <a:ext cx="7095744" cy="201168"/>
          </a:xfrm>
          <a:prstGeom prst="rect">
            <a:avLst/>
          </a:prstGeom>
          <a:noFill/>
        </p:spPr>
        <p:txBody>
          <a:bodyPr wrap="square" lIns="0" rIns="0" tIns="0" bIns="0" anchor="t">
            <a:noAutofit/>
          </a:bodyPr>
          <a:lstStyle/>
          <a:p>
            <a:pPr algn="r">
              <a:lnSpc>
                <a:spcPct val="108000"/>
              </a:lnSpc>
              <a:spcBef>
                <a:spcPts val="0"/>
              </a:spcBef>
              <a:spcAft>
                <a:spcPts val="0"/>
              </a:spcAft>
            </a:pPr>
            <a:r>
              <a:rPr sz="1000" b="0">
                <a:solidFill>
                  <a:srgbClr val="AFB9B2"/>
                </a:solidFill>
                <a:latin typeface="IBM Plex Mono"/>
              </a:rPr>
              <a:t>TECHNICAL PROOF / LEARNED BIOLOGICAL EVIDENCE</a:t>
            </a:r>
          </a:p>
        </p:txBody>
      </p:sp>
      <p:cxnSp>
        <p:nvCxnSpPr>
          <p:cNvPr id="4" name="Connector 3"/>
          <p:cNvCxnSpPr/>
          <p:nvPr/>
        </p:nvCxnSpPr>
        <p:spPr>
          <a:xfrm>
            <a:off x="502920" y="658368"/>
            <a:ext cx="11183112" cy="0"/>
          </a:xfrm>
          <a:prstGeom prst="line">
            <a:avLst/>
          </a:prstGeom>
          <a:ln w="8890">
            <a:solidFill>
              <a:srgbClr val="3A4944"/>
            </a:solidFill>
          </a:ln>
          <a:effectLst/>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02920" y="6437376"/>
            <a:ext cx="11183112" cy="0"/>
          </a:xfrm>
          <a:prstGeom prst="line">
            <a:avLst/>
          </a:prstGeom>
          <a:ln w="8890">
            <a:solidFill>
              <a:srgbClr val="3A4944"/>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02920" y="6547104"/>
            <a:ext cx="7315200" cy="173736"/>
          </a:xfrm>
          <a:prstGeom prst="rect">
            <a:avLst/>
          </a:prstGeom>
          <a:noFill/>
        </p:spPr>
        <p:txBody>
          <a:bodyPr wrap="square" lIns="0" rIns="0" tIns="0" bIns="0" anchor="t">
            <a:noAutofit/>
          </a:bodyPr>
          <a:lstStyle/>
          <a:p>
            <a:pPr algn="l">
              <a:lnSpc>
                <a:spcPct val="108000"/>
              </a:lnSpc>
              <a:spcBef>
                <a:spcPts val="0"/>
              </a:spcBef>
              <a:spcAft>
                <a:spcPts val="0"/>
              </a:spcAft>
            </a:pPr>
            <a:r>
              <a:rPr sz="800" b="0">
                <a:solidFill>
                  <a:srgbClr val="AFB9B2"/>
                </a:solidFill>
                <a:latin typeface="IBM Plex Mono"/>
              </a:rPr>
              <a:t>DNHACKS 2026  /  WORKING PRESENTATION</a:t>
            </a:r>
          </a:p>
        </p:txBody>
      </p:sp>
      <p:sp>
        <p:nvSpPr>
          <p:cNvPr id="7" name="TextBox 6"/>
          <p:cNvSpPr txBox="1"/>
          <p:nvPr/>
        </p:nvSpPr>
        <p:spPr>
          <a:xfrm>
            <a:off x="11100816" y="6501384"/>
            <a:ext cx="585216" cy="265176"/>
          </a:xfrm>
          <a:prstGeom prst="rect">
            <a:avLst/>
          </a:prstGeom>
          <a:noFill/>
        </p:spPr>
        <p:txBody>
          <a:bodyPr wrap="square" lIns="0" rIns="0" tIns="0" bIns="0" anchor="t">
            <a:noAutofit/>
          </a:bodyPr>
          <a:lstStyle/>
          <a:p>
            <a:pPr algn="r">
              <a:lnSpc>
                <a:spcPct val="108000"/>
              </a:lnSpc>
              <a:spcBef>
                <a:spcPts val="0"/>
              </a:spcBef>
              <a:spcAft>
                <a:spcPts val="0"/>
              </a:spcAft>
            </a:pPr>
            <a:r>
              <a:rPr sz="1200" b="0">
                <a:solidFill>
                  <a:srgbClr val="F1EFE7"/>
                </a:solidFill>
                <a:latin typeface="IBM Plex Mono"/>
              </a:rPr>
              <a:t>06</a:t>
            </a:r>
          </a:p>
        </p:txBody>
      </p:sp>
      <p:sp>
        <p:nvSpPr>
          <p:cNvPr id="8" name="TextBox 7"/>
          <p:cNvSpPr txBox="1"/>
          <p:nvPr/>
        </p:nvSpPr>
        <p:spPr>
          <a:xfrm>
            <a:off x="566928" y="932688"/>
            <a:ext cx="11018520" cy="841248"/>
          </a:xfrm>
          <a:prstGeom prst="rect">
            <a:avLst/>
          </a:prstGeom>
          <a:noFill/>
        </p:spPr>
        <p:txBody>
          <a:bodyPr wrap="square" lIns="0" rIns="0" tIns="0" bIns="0" anchor="t">
            <a:noAutofit/>
          </a:bodyPr>
          <a:lstStyle/>
          <a:p>
            <a:pPr algn="l">
              <a:lnSpc>
                <a:spcPct val="108000"/>
              </a:lnSpc>
              <a:spcBef>
                <a:spcPts val="0"/>
              </a:spcBef>
              <a:spcAft>
                <a:spcPts val="0"/>
              </a:spcAft>
            </a:pPr>
            <a:r>
              <a:rPr sz="3200" b="1">
                <a:solidFill>
                  <a:srgbClr val="F1EFE7"/>
                </a:solidFill>
                <a:latin typeface="IBM Plex Sans"/>
              </a:rPr>
              <a:t>Evidence must grow on data the model has never seen.</a:t>
            </a:r>
          </a:p>
        </p:txBody>
      </p:sp>
      <p:sp>
        <p:nvSpPr>
          <p:cNvPr id="9" name="TextBox 8"/>
          <p:cNvSpPr txBox="1"/>
          <p:nvPr/>
        </p:nvSpPr>
        <p:spPr>
          <a:xfrm>
            <a:off x="612648" y="1883664"/>
            <a:ext cx="10972800" cy="457200"/>
          </a:xfrm>
          <a:prstGeom prst="rect">
            <a:avLst/>
          </a:prstGeom>
          <a:noFill/>
        </p:spPr>
        <p:txBody>
          <a:bodyPr wrap="square" lIns="0" rIns="0" tIns="0" bIns="0" anchor="t">
            <a:noAutofit/>
          </a:bodyPr>
          <a:lstStyle/>
          <a:p>
            <a:pPr algn="l">
              <a:lnSpc>
                <a:spcPct val="108000"/>
              </a:lnSpc>
              <a:spcBef>
                <a:spcPts val="0"/>
              </a:spcBef>
              <a:spcAft>
                <a:spcPts val="0"/>
              </a:spcAft>
            </a:pPr>
            <a:r>
              <a:rPr sz="2200" b="0">
                <a:solidFill>
                  <a:srgbClr val="A6C9B8"/>
                </a:solidFill>
                <a:latin typeface="IBM Plex Sans"/>
              </a:rPr>
              <a:t>Train on the past → bet on a fresh pair → accumulate evidence</a:t>
            </a:r>
          </a:p>
        </p:txBody>
      </p:sp>
      <p:sp>
        <p:nvSpPr>
          <p:cNvPr id="10" name="TextBox 9"/>
          <p:cNvSpPr txBox="1"/>
          <p:nvPr/>
        </p:nvSpPr>
        <p:spPr>
          <a:xfrm>
            <a:off x="630936" y="2414016"/>
            <a:ext cx="5367528" cy="182880"/>
          </a:xfrm>
          <a:prstGeom prst="rect">
            <a:avLst/>
          </a:prstGeom>
          <a:noFill/>
        </p:spPr>
        <p:txBody>
          <a:bodyPr wrap="square" lIns="0" rIns="0" tIns="0" bIns="0" anchor="t">
            <a:noAutofit/>
          </a:bodyPr>
          <a:lstStyle/>
          <a:p>
            <a:pPr algn="l">
              <a:lnSpc>
                <a:spcPct val="108000"/>
              </a:lnSpc>
              <a:spcBef>
                <a:spcPts val="0"/>
              </a:spcBef>
              <a:spcAft>
                <a:spcPts val="0"/>
              </a:spcAft>
            </a:pPr>
            <a:r>
              <a:rPr sz="1000" b="0">
                <a:solidFill>
                  <a:srgbClr val="AFB9B2"/>
                </a:solidFill>
                <a:latin typeface="IBM Plex Sans"/>
              </a:rPr>
              <a:t>Pandeva et al. · AISTATS 2024  /  DAVT adaptation</a:t>
            </a:r>
          </a:p>
        </p:txBody>
      </p:sp>
      <p:sp>
        <p:nvSpPr>
          <p:cNvPr id="11" name="TextBox 10"/>
          <p:cNvSpPr txBox="1"/>
          <p:nvPr/>
        </p:nvSpPr>
        <p:spPr>
          <a:xfrm>
            <a:off x="621792" y="2724912"/>
            <a:ext cx="5321808" cy="640080"/>
          </a:xfrm>
          <a:prstGeom prst="rect">
            <a:avLst/>
          </a:prstGeom>
          <a:noFill/>
        </p:spPr>
        <p:txBody>
          <a:bodyPr wrap="square" lIns="0" rIns="0" tIns="0" bIns="0" anchor="t">
            <a:noAutofit/>
          </a:bodyPr>
          <a:lstStyle/>
          <a:p>
            <a:pPr algn="l">
              <a:lnSpc>
                <a:spcPct val="108000"/>
              </a:lnSpc>
              <a:spcBef>
                <a:spcPts val="0"/>
              </a:spcBef>
              <a:spcAft>
                <a:spcPts val="0"/>
              </a:spcAft>
            </a:pPr>
            <a:r>
              <a:rPr sz="2300" b="1">
                <a:solidFill>
                  <a:srgbClr val="F1EFE7"/>
                </a:solidFill>
                <a:latin typeface="IBM Plex Sans"/>
              </a:rPr>
              <a:t>Lbet = −mean log q     q = 1 + tanh(d)</a:t>
            </a:r>
          </a:p>
        </p:txBody>
      </p:sp>
      <p:sp>
        <p:nvSpPr>
          <p:cNvPr id="12" name="TextBox 11"/>
          <p:cNvSpPr txBox="1"/>
          <p:nvPr/>
        </p:nvSpPr>
        <p:spPr>
          <a:xfrm>
            <a:off x="640080" y="3575304"/>
            <a:ext cx="5074920" cy="813816"/>
          </a:xfrm>
          <a:prstGeom prst="rect">
            <a:avLst/>
          </a:prstGeom>
          <a:noFill/>
        </p:spPr>
        <p:txBody>
          <a:bodyPr wrap="square" lIns="0" rIns="0" tIns="0" bIns="0" anchor="t">
            <a:noAutofit/>
          </a:bodyPr>
          <a:lstStyle/>
          <a:p>
            <a:pPr algn="l">
              <a:lnSpc>
                <a:spcPct val="108000"/>
              </a:lnSpc>
              <a:spcBef>
                <a:spcPts val="0"/>
              </a:spcBef>
              <a:spcAft>
                <a:spcPts val="0"/>
              </a:spcAft>
            </a:pPr>
            <a:r>
              <a:rPr sz="2300" b="1">
                <a:solidFill>
                  <a:srgbClr val="A6C9B8"/>
                </a:solidFill>
                <a:latin typeface="IBM Plex Sans"/>
              </a:rPr>
              <a:t>d = clip(g(x) − g(y), −4, 4)</a:t>
            </a:r>
          </a:p>
          <a:p>
            <a:pPr algn="l">
              <a:lnSpc>
                <a:spcPct val="108000"/>
              </a:lnSpc>
              <a:spcBef>
                <a:spcPts val="0"/>
              </a:spcBef>
              <a:spcAft>
                <a:spcPts val="0"/>
              </a:spcAft>
            </a:pPr>
            <a:r>
              <a:rPr sz="2300" b="1">
                <a:solidFill>
                  <a:srgbClr val="A6C9B8"/>
                </a:solidFill>
                <a:latin typeface="IBM Plex Sans"/>
              </a:rPr>
              <a:t>Eₜ = Eₜ₋₁ × qₜ</a:t>
            </a:r>
          </a:p>
        </p:txBody>
      </p:sp>
      <p:sp>
        <p:nvSpPr>
          <p:cNvPr id="13" name="TextBox 12"/>
          <p:cNvSpPr txBox="1"/>
          <p:nvPr/>
        </p:nvSpPr>
        <p:spPr>
          <a:xfrm>
            <a:off x="640080" y="4626864"/>
            <a:ext cx="5166360" cy="1069848"/>
          </a:xfrm>
          <a:prstGeom prst="rect">
            <a:avLst/>
          </a:prstGeom>
          <a:noFill/>
        </p:spPr>
        <p:txBody>
          <a:bodyPr wrap="square" lIns="0" rIns="0" tIns="0" bIns="0" anchor="t">
            <a:noAutofit/>
          </a:bodyPr>
          <a:lstStyle/>
          <a:p>
            <a:pPr algn="l">
              <a:lnSpc>
                <a:spcPct val="108000"/>
              </a:lnSpc>
              <a:spcBef>
                <a:spcPts val="0"/>
              </a:spcBef>
              <a:spcAft>
                <a:spcPts val="0"/>
              </a:spcAft>
            </a:pPr>
            <a:r>
              <a:rPr sz="2100" b="0">
                <a:solidFill>
                  <a:srgbClr val="AFB9B2"/>
                </a:solidFill>
                <a:latin typeface="IBM Plex Sans"/>
              </a:rPr>
              <a:t>Under the registered null, swapping x and y</a:t>
            </a:r>
          </a:p>
          <a:p>
            <a:pPr algn="l">
              <a:lnSpc>
                <a:spcPct val="108000"/>
              </a:lnSpc>
              <a:spcBef>
                <a:spcPts val="0"/>
              </a:spcBef>
              <a:spcAft>
                <a:spcPts val="0"/>
              </a:spcAft>
            </a:pPr>
            <a:r>
              <a:rPr sz="2100" b="0">
                <a:solidFill>
                  <a:srgbClr val="AFB9B2"/>
                </a:solidFill>
                <a:latin typeface="IBM Plex Sans"/>
              </a:rPr>
              <a:t>makes the bet fair. Arbitrary scores cannot</a:t>
            </a:r>
          </a:p>
          <a:p>
            <a:pPr algn="l">
              <a:lnSpc>
                <a:spcPct val="108000"/>
              </a:lnSpc>
              <a:spcBef>
                <a:spcPts val="0"/>
              </a:spcBef>
              <a:spcAft>
                <a:spcPts val="0"/>
              </a:spcAft>
            </a:pPr>
            <a:r>
              <a:rPr sz="2100" b="0">
                <a:solidFill>
                  <a:srgbClr val="AFB9B2"/>
                </a:solidFill>
                <a:latin typeface="IBM Plex Sans"/>
              </a:rPr>
              <a:t>claim that guarantee.</a:t>
            </a:r>
          </a:p>
        </p:txBody>
      </p:sp>
      <p:sp>
        <p:nvSpPr>
          <p:cNvPr id="14" name="TextBox 13"/>
          <p:cNvSpPr txBox="1"/>
          <p:nvPr/>
        </p:nvSpPr>
        <p:spPr>
          <a:xfrm>
            <a:off x="6300216" y="2660904"/>
            <a:ext cx="5266944" cy="365760"/>
          </a:xfrm>
          <a:prstGeom prst="rect">
            <a:avLst/>
          </a:prstGeom>
          <a:noFill/>
        </p:spPr>
        <p:txBody>
          <a:bodyPr wrap="square" lIns="0" rIns="0" tIns="0" bIns="0" anchor="t">
            <a:noAutofit/>
          </a:bodyPr>
          <a:lstStyle/>
          <a:p>
            <a:pPr algn="l">
              <a:lnSpc>
                <a:spcPct val="108000"/>
              </a:lnSpc>
              <a:spcBef>
                <a:spcPts val="0"/>
              </a:spcBef>
              <a:spcAft>
                <a:spcPts val="0"/>
              </a:spcAft>
            </a:pPr>
            <a:r>
              <a:rPr sz="1300" b="1">
                <a:solidFill>
                  <a:srgbClr val="A6C9B8"/>
                </a:solidFill>
                <a:latin typeface="IBM Plex Mono"/>
              </a:rPr>
              <a:t>FINAL E: LEARNED 3,653 / PCA 86 / IFIT3 5,964</a:t>
            </a:r>
          </a:p>
        </p:txBody>
      </p:sp>
      <p:pic>
        <p:nvPicPr>
          <p:cNvPr id="15" name="Picture 14" descr="evidence-baselines.png"/>
          <p:cNvPicPr>
            <a:picLocks noChangeAspect="1"/>
          </p:cNvPicPr>
          <p:nvPr/>
        </p:nvPicPr>
        <p:blipFill>
          <a:blip r:embed="rId2"/>
          <a:stretch>
            <a:fillRect/>
          </a:stretch>
        </p:blipFill>
        <p:spPr>
          <a:xfrm>
            <a:off x="6163056" y="3026664"/>
            <a:ext cx="5486400" cy="3017520"/>
          </a:xfrm>
          <a:prstGeom prst="rect">
            <a:avLst/>
          </a:prstGeom>
        </p:spPr>
      </p:pic>
      <p:sp>
        <p:nvSpPr>
          <p:cNvPr id="16" name="TextBox 15"/>
          <p:cNvSpPr txBox="1"/>
          <p:nvPr/>
        </p:nvSpPr>
        <p:spPr>
          <a:xfrm>
            <a:off x="630936" y="6035040"/>
            <a:ext cx="10954512" cy="265176"/>
          </a:xfrm>
          <a:prstGeom prst="rect">
            <a:avLst/>
          </a:prstGeom>
          <a:noFill/>
        </p:spPr>
        <p:txBody>
          <a:bodyPr wrap="square" lIns="0" rIns="0" tIns="0" bIns="0" anchor="t">
            <a:noAutofit/>
          </a:bodyPr>
          <a:lstStyle/>
          <a:p>
            <a:pPr algn="l">
              <a:lnSpc>
                <a:spcPct val="108000"/>
              </a:lnSpc>
              <a:spcBef>
                <a:spcPts val="0"/>
              </a:spcBef>
              <a:spcAft>
                <a:spcPts val="0"/>
              </a:spcAft>
            </a:pPr>
            <a:r>
              <a:rPr sz="1400" b="1">
                <a:solidFill>
                  <a:srgbClr val="DEB577"/>
                </a:solidFill>
                <a:latin typeface="IBM Plex Sans"/>
              </a:rPr>
              <a:t>112 / 10,000 null runs ever crossed E ≥ 20  ·  5% anytime error budget under stated assumptions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7201F"/>
        </a:solidFill>
        <a:effectLst/>
      </p:bgPr>
    </p:bg>
    <p:spTree>
      <p:nvGrpSpPr>
        <p:cNvPr id="1" name=""/>
        <p:cNvGrpSpPr/>
        <p:nvPr/>
      </p:nvGrpSpPr>
      <p:grpSpPr/>
      <p:sp>
        <p:nvSpPr>
          <p:cNvPr id="2" name="TextBox 1"/>
          <p:cNvSpPr txBox="1"/>
          <p:nvPr/>
        </p:nvSpPr>
        <p:spPr>
          <a:xfrm>
            <a:off x="502920" y="246888"/>
            <a:ext cx="2377440" cy="219456"/>
          </a:xfrm>
          <a:prstGeom prst="rect">
            <a:avLst/>
          </a:prstGeom>
          <a:noFill/>
        </p:spPr>
        <p:txBody>
          <a:bodyPr wrap="square" lIns="0" rIns="0" tIns="0" bIns="0" anchor="t">
            <a:noAutofit/>
          </a:bodyPr>
          <a:lstStyle/>
          <a:p>
            <a:pPr algn="l">
              <a:lnSpc>
                <a:spcPct val="108000"/>
              </a:lnSpc>
              <a:spcBef>
                <a:spcPts val="0"/>
              </a:spcBef>
              <a:spcAft>
                <a:spcPts val="0"/>
              </a:spcAft>
            </a:pPr>
            <a:r>
              <a:rPr sz="1100" b="1">
                <a:solidFill>
                  <a:srgbClr val="F1EFE7"/>
                </a:solidFill>
                <a:latin typeface="IBM Plex Mono"/>
              </a:rPr>
              <a:t>DN / RESEARCH</a:t>
            </a:r>
          </a:p>
        </p:txBody>
      </p:sp>
      <p:sp>
        <p:nvSpPr>
          <p:cNvPr id="3" name="TextBox 2"/>
          <p:cNvSpPr txBox="1"/>
          <p:nvPr/>
        </p:nvSpPr>
        <p:spPr>
          <a:xfrm>
            <a:off x="4572000" y="256032"/>
            <a:ext cx="7095744" cy="201168"/>
          </a:xfrm>
          <a:prstGeom prst="rect">
            <a:avLst/>
          </a:prstGeom>
          <a:noFill/>
        </p:spPr>
        <p:txBody>
          <a:bodyPr wrap="square" lIns="0" rIns="0" tIns="0" bIns="0" anchor="t">
            <a:noAutofit/>
          </a:bodyPr>
          <a:lstStyle/>
          <a:p>
            <a:pPr algn="r">
              <a:lnSpc>
                <a:spcPct val="108000"/>
              </a:lnSpc>
              <a:spcBef>
                <a:spcPts val="0"/>
              </a:spcBef>
              <a:spcAft>
                <a:spcPts val="0"/>
              </a:spcAft>
            </a:pPr>
            <a:r>
              <a:rPr sz="1000" b="0">
                <a:solidFill>
                  <a:srgbClr val="AFB9B2"/>
                </a:solidFill>
                <a:latin typeface="IBM Plex Mono"/>
              </a:rPr>
              <a:t>DISCOVERY DEMONSTRATION / EDITABLE SEQUENCE</a:t>
            </a:r>
          </a:p>
        </p:txBody>
      </p:sp>
      <p:cxnSp>
        <p:nvCxnSpPr>
          <p:cNvPr id="4" name="Connector 3"/>
          <p:cNvCxnSpPr/>
          <p:nvPr/>
        </p:nvCxnSpPr>
        <p:spPr>
          <a:xfrm>
            <a:off x="502920" y="658368"/>
            <a:ext cx="11183112" cy="0"/>
          </a:xfrm>
          <a:prstGeom prst="line">
            <a:avLst/>
          </a:prstGeom>
          <a:ln w="8890">
            <a:solidFill>
              <a:srgbClr val="3A4944"/>
            </a:solidFill>
          </a:ln>
          <a:effectLst/>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02920" y="6437376"/>
            <a:ext cx="11183112" cy="0"/>
          </a:xfrm>
          <a:prstGeom prst="line">
            <a:avLst/>
          </a:prstGeom>
          <a:ln w="8890">
            <a:solidFill>
              <a:srgbClr val="3A4944"/>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02920" y="6547104"/>
            <a:ext cx="7315200" cy="173736"/>
          </a:xfrm>
          <a:prstGeom prst="rect">
            <a:avLst/>
          </a:prstGeom>
          <a:noFill/>
        </p:spPr>
        <p:txBody>
          <a:bodyPr wrap="square" lIns="0" rIns="0" tIns="0" bIns="0" anchor="t">
            <a:noAutofit/>
          </a:bodyPr>
          <a:lstStyle/>
          <a:p>
            <a:pPr algn="l">
              <a:lnSpc>
                <a:spcPct val="108000"/>
              </a:lnSpc>
              <a:spcBef>
                <a:spcPts val="0"/>
              </a:spcBef>
              <a:spcAft>
                <a:spcPts val="0"/>
              </a:spcAft>
            </a:pPr>
            <a:r>
              <a:rPr sz="800" b="0">
                <a:solidFill>
                  <a:srgbClr val="AFB9B2"/>
                </a:solidFill>
                <a:latin typeface="IBM Plex Mono"/>
              </a:rPr>
              <a:t>DNHACKS 2026  /  WORKING PRESENTATION</a:t>
            </a:r>
          </a:p>
        </p:txBody>
      </p:sp>
      <p:sp>
        <p:nvSpPr>
          <p:cNvPr id="7" name="TextBox 6"/>
          <p:cNvSpPr txBox="1"/>
          <p:nvPr/>
        </p:nvSpPr>
        <p:spPr>
          <a:xfrm>
            <a:off x="11100816" y="6501384"/>
            <a:ext cx="585216" cy="265176"/>
          </a:xfrm>
          <a:prstGeom prst="rect">
            <a:avLst/>
          </a:prstGeom>
          <a:noFill/>
        </p:spPr>
        <p:txBody>
          <a:bodyPr wrap="square" lIns="0" rIns="0" tIns="0" bIns="0" anchor="t">
            <a:noAutofit/>
          </a:bodyPr>
          <a:lstStyle/>
          <a:p>
            <a:pPr algn="r">
              <a:lnSpc>
                <a:spcPct val="108000"/>
              </a:lnSpc>
              <a:spcBef>
                <a:spcPts val="0"/>
              </a:spcBef>
              <a:spcAft>
                <a:spcPts val="0"/>
              </a:spcAft>
            </a:pPr>
            <a:r>
              <a:rPr sz="1200" b="0">
                <a:solidFill>
                  <a:srgbClr val="F1EFE7"/>
                </a:solidFill>
                <a:latin typeface="IBM Plex Mono"/>
              </a:rPr>
              <a:t>07</a:t>
            </a:r>
          </a:p>
        </p:txBody>
      </p:sp>
      <p:sp>
        <p:nvSpPr>
          <p:cNvPr id="8" name="TextBox 7"/>
          <p:cNvSpPr txBox="1"/>
          <p:nvPr/>
        </p:nvSpPr>
        <p:spPr>
          <a:xfrm>
            <a:off x="566928" y="932688"/>
            <a:ext cx="11064240" cy="914400"/>
          </a:xfrm>
          <a:prstGeom prst="rect">
            <a:avLst/>
          </a:prstGeom>
          <a:noFill/>
        </p:spPr>
        <p:txBody>
          <a:bodyPr wrap="square" lIns="0" rIns="0" tIns="0" bIns="0" anchor="t">
            <a:noAutofit/>
          </a:bodyPr>
          <a:lstStyle/>
          <a:p>
            <a:pPr algn="l">
              <a:lnSpc>
                <a:spcPct val="108000"/>
              </a:lnSpc>
              <a:spcBef>
                <a:spcPts val="0"/>
              </a:spcBef>
              <a:spcAft>
                <a:spcPts val="0"/>
              </a:spcAft>
            </a:pPr>
            <a:r>
              <a:rPr sz="3400" b="1">
                <a:solidFill>
                  <a:srgbClr val="F1EFE7"/>
                </a:solidFill>
                <a:latin typeface="IBM Plex Sans"/>
              </a:rPr>
              <a:t>Trace an investigation, then reveal the later discovery.</a:t>
            </a:r>
          </a:p>
        </p:txBody>
      </p:sp>
      <p:sp>
        <p:nvSpPr>
          <p:cNvPr id="9" name="TextBox 8"/>
          <p:cNvSpPr txBox="1"/>
          <p:nvPr/>
        </p:nvSpPr>
        <p:spPr>
          <a:xfrm>
            <a:off x="621792" y="1920240"/>
            <a:ext cx="10954512" cy="612648"/>
          </a:xfrm>
          <a:prstGeom prst="rect">
            <a:avLst/>
          </a:prstGeom>
          <a:noFill/>
        </p:spPr>
        <p:txBody>
          <a:bodyPr wrap="square" lIns="0" rIns="0" tIns="0" bIns="0" anchor="t">
            <a:noAutofit/>
          </a:bodyPr>
          <a:lstStyle/>
          <a:p>
            <a:pPr algn="l">
              <a:lnSpc>
                <a:spcPct val="108000"/>
              </a:lnSpc>
              <a:spcBef>
                <a:spcPts val="0"/>
              </a:spcBef>
              <a:spcAft>
                <a:spcPts val="0"/>
              </a:spcAft>
            </a:pPr>
            <a:r>
              <a:rPr sz="2300" b="1">
                <a:solidFill>
                  <a:srgbClr val="A6C9B8"/>
                </a:solidFill>
                <a:latin typeface="IBM Plex Sans"/>
              </a:rPr>
              <a:t>Source claim → untested bridge → executable analysis → result → checks → human review</a:t>
            </a:r>
          </a:p>
        </p:txBody>
      </p:sp>
      <p:pic>
        <p:nvPicPr>
          <p:cNvPr id="10" name="Picture 9" descr="investigation-detail.png"/>
          <p:cNvPicPr>
            <a:picLocks noChangeAspect="1"/>
          </p:cNvPicPr>
          <p:nvPr/>
        </p:nvPicPr>
        <p:blipFill>
          <a:blip r:embed="rId2"/>
          <a:stretch>
            <a:fillRect/>
          </a:stretch>
        </p:blipFill>
        <p:spPr>
          <a:xfrm>
            <a:off x="895197" y="2734056"/>
            <a:ext cx="5003596" cy="3127248"/>
          </a:xfrm>
          <a:prstGeom prst="rect">
            <a:avLst/>
          </a:prstGeom>
        </p:spPr>
      </p:pic>
      <p:sp>
        <p:nvSpPr>
          <p:cNvPr id="11" name="Rectangle 10"/>
          <p:cNvSpPr/>
          <p:nvPr/>
        </p:nvSpPr>
        <p:spPr>
          <a:xfrm>
            <a:off x="658368" y="2761488"/>
            <a:ext cx="3493008" cy="283464"/>
          </a:xfrm>
          <a:prstGeom prst="rect">
            <a:avLst/>
          </a:prstGeom>
          <a:solidFill>
            <a:srgbClr val="17201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49808" y="2809036"/>
            <a:ext cx="3328415" cy="192024"/>
          </a:xfrm>
          <a:prstGeom prst="rect">
            <a:avLst/>
          </a:prstGeom>
          <a:noFill/>
        </p:spPr>
        <p:txBody>
          <a:bodyPr wrap="square" lIns="0" rIns="0" tIns="0" bIns="0" anchor="t">
            <a:noAutofit/>
          </a:bodyPr>
          <a:lstStyle/>
          <a:p>
            <a:pPr algn="l">
              <a:lnSpc>
                <a:spcPct val="108000"/>
              </a:lnSpc>
              <a:spcBef>
                <a:spcPts val="0"/>
              </a:spcBef>
              <a:spcAft>
                <a:spcPts val="0"/>
              </a:spcAft>
            </a:pPr>
            <a:r>
              <a:rPr sz="940" b="1">
                <a:solidFill>
                  <a:srgbClr val="DEB577"/>
                </a:solidFill>
                <a:latin typeface="IBM Plex Mono"/>
              </a:rPr>
              <a:t>WEBSITE PLACEHOLDER · SAMPLE RUN</a:t>
            </a:r>
          </a:p>
        </p:txBody>
      </p:sp>
      <p:sp>
        <p:nvSpPr>
          <p:cNvPr id="13" name="TextBox 12"/>
          <p:cNvSpPr txBox="1"/>
          <p:nvPr/>
        </p:nvSpPr>
        <p:spPr>
          <a:xfrm>
            <a:off x="649224" y="5934456"/>
            <a:ext cx="5641848" cy="374904"/>
          </a:xfrm>
          <a:prstGeom prst="rect">
            <a:avLst/>
          </a:prstGeom>
          <a:noFill/>
        </p:spPr>
        <p:txBody>
          <a:bodyPr wrap="square" lIns="0" rIns="0" tIns="0" bIns="0" anchor="t">
            <a:noAutofit/>
          </a:bodyPr>
          <a:lstStyle/>
          <a:p>
            <a:pPr algn="l">
              <a:lnSpc>
                <a:spcPct val="108000"/>
              </a:lnSpc>
              <a:spcBef>
                <a:spcPts val="0"/>
              </a:spcBef>
              <a:spcAft>
                <a:spcPts val="0"/>
              </a:spcAft>
            </a:pPr>
            <a:r>
              <a:rPr sz="1600" b="1">
                <a:solidFill>
                  <a:srgbClr val="A6C9B8"/>
                </a:solidFill>
                <a:latin typeface="IBM Plex Sans"/>
              </a:rPr>
              <a:t>[Proposed → passed → reviewed]  ·  [candidate + result]</a:t>
            </a:r>
          </a:p>
        </p:txBody>
      </p:sp>
      <p:grpSp>
        <p:nvGrpSpPr>
          <p:cNvPr id="14" name="Group 13"/>
          <p:cNvGrpSpPr/>
          <p:nvPr/>
        </p:nvGrpSpPr>
        <p:grpSpPr>
          <a:xfrm>
            <a:off x="6547104" y="2788920"/>
            <a:ext cx="4992624" cy="3465576"/>
            <a:chOff x="6547104" y="2788920"/>
            <a:chExt cx="4992624" cy="3465576"/>
          </a:xfrm>
        </p:grpSpPr>
        <p:sp>
          <p:nvSpPr>
            <p:cNvPr id="15" name="Rectangle 14"/>
            <p:cNvSpPr/>
            <p:nvPr/>
          </p:nvSpPr>
          <p:spPr>
            <a:xfrm>
              <a:off x="6547104" y="2788920"/>
              <a:ext cx="4992624" cy="3465576"/>
            </a:xfrm>
            <a:prstGeom prst="rect">
              <a:avLst/>
            </a:prstGeom>
            <a:solidFill>
              <a:srgbClr val="F1EFE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775704" y="2990088"/>
              <a:ext cx="4526280" cy="256032"/>
            </a:xfrm>
            <a:prstGeom prst="rect">
              <a:avLst/>
            </a:prstGeom>
            <a:noFill/>
          </p:spPr>
          <p:txBody>
            <a:bodyPr wrap="square" lIns="0" rIns="0" tIns="0" bIns="0" anchor="t">
              <a:noAutofit/>
            </a:bodyPr>
            <a:lstStyle/>
            <a:p>
              <a:pPr algn="l">
                <a:lnSpc>
                  <a:spcPct val="108000"/>
                </a:lnSpc>
                <a:spcBef>
                  <a:spcPts val="0"/>
                </a:spcBef>
                <a:spcAft>
                  <a:spcPts val="0"/>
                </a:spcAft>
              </a:pPr>
              <a:r>
                <a:rPr sz="1000" b="1">
                  <a:solidFill>
                    <a:srgbClr val="365E4D"/>
                  </a:solidFill>
                  <a:latin typeface="IBM Plex Mono"/>
                </a:rPr>
                <a:t>RESEARCH ARTICLE  /  LATER PUBLICATION</a:t>
              </a:r>
            </a:p>
          </p:txBody>
        </p:sp>
        <p:cxnSp>
          <p:nvCxnSpPr>
            <p:cNvPr id="17" name="Connector 16"/>
            <p:cNvCxnSpPr/>
            <p:nvPr/>
          </p:nvCxnSpPr>
          <p:spPr>
            <a:xfrm>
              <a:off x="6775704" y="3410712"/>
              <a:ext cx="4535424" cy="0"/>
            </a:xfrm>
            <a:prstGeom prst="line">
              <a:avLst/>
            </a:prstGeom>
            <a:ln w="12700">
              <a:solidFill>
                <a:srgbClr val="B8C6B9"/>
              </a:solidFill>
            </a:ln>
            <a:effectLst/>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6784848" y="3685032"/>
              <a:ext cx="4434840" cy="950976"/>
            </a:xfrm>
            <a:prstGeom prst="rect">
              <a:avLst/>
            </a:prstGeom>
            <a:noFill/>
          </p:spPr>
          <p:txBody>
            <a:bodyPr wrap="square" lIns="0" rIns="0" tIns="0" bIns="0" anchor="t">
              <a:noAutofit/>
            </a:bodyPr>
            <a:lstStyle/>
            <a:p>
              <a:pPr algn="l">
                <a:lnSpc>
                  <a:spcPct val="108000"/>
                </a:lnSpc>
                <a:spcBef>
                  <a:spcPts val="0"/>
                </a:spcBef>
                <a:spcAft>
                  <a:spcPts val="0"/>
                </a:spcAft>
              </a:pPr>
              <a:r>
                <a:rPr sz="2700" b="1">
                  <a:solidFill>
                    <a:srgbClr val="17201F"/>
                  </a:solidFill>
                  <a:latin typeface="IBM Plex Sans"/>
                </a:rPr>
                <a:t>[Paper title matching</a:t>
              </a:r>
            </a:p>
            <a:p>
              <a:pPr algn="l">
                <a:lnSpc>
                  <a:spcPct val="108000"/>
                </a:lnSpc>
                <a:spcBef>
                  <a:spcPts val="0"/>
                </a:spcBef>
                <a:spcAft>
                  <a:spcPts val="0"/>
                </a:spcAft>
              </a:pPr>
              <a:r>
                <a:rPr sz="2700" b="1">
                  <a:solidFill>
                    <a:srgbClr val="17201F"/>
                  </a:solidFill>
                  <a:latin typeface="IBM Plex Sans"/>
                </a:rPr>
                <a:t>this recovered finding]</a:t>
              </a:r>
            </a:p>
          </p:txBody>
        </p:sp>
        <p:sp>
          <p:nvSpPr>
            <p:cNvPr id="19" name="TextBox 18"/>
            <p:cNvSpPr txBox="1"/>
            <p:nvPr/>
          </p:nvSpPr>
          <p:spPr>
            <a:xfrm>
              <a:off x="6803136" y="4855464"/>
              <a:ext cx="4352544" cy="292608"/>
            </a:xfrm>
            <a:prstGeom prst="rect">
              <a:avLst/>
            </a:prstGeom>
            <a:noFill/>
          </p:spPr>
          <p:txBody>
            <a:bodyPr wrap="square" lIns="0" rIns="0" tIns="0" bIns="0" anchor="t">
              <a:noAutofit/>
            </a:bodyPr>
            <a:lstStyle/>
            <a:p>
              <a:pPr algn="l">
                <a:lnSpc>
                  <a:spcPct val="108000"/>
                </a:lnSpc>
                <a:spcBef>
                  <a:spcPts val="0"/>
                </a:spcBef>
                <a:spcAft>
                  <a:spcPts val="0"/>
                </a:spcAft>
              </a:pPr>
              <a:r>
                <a:rPr sz="1400" b="0">
                  <a:solidFill>
                    <a:srgbClr val="365E4D"/>
                  </a:solidFill>
                  <a:latin typeface="IBM Plex Sans"/>
                </a:rPr>
                <a:t>[Publication date · DOI]</a:t>
              </a:r>
            </a:p>
          </p:txBody>
        </p:sp>
        <p:sp>
          <p:nvSpPr>
            <p:cNvPr id="20" name="TextBox 19"/>
            <p:cNvSpPr txBox="1"/>
            <p:nvPr/>
          </p:nvSpPr>
          <p:spPr>
            <a:xfrm>
              <a:off x="6803136" y="5477256"/>
              <a:ext cx="4334256" cy="219456"/>
            </a:xfrm>
            <a:prstGeom prst="rect">
              <a:avLst/>
            </a:prstGeom>
            <a:noFill/>
          </p:spPr>
          <p:txBody>
            <a:bodyPr wrap="square" lIns="0" rIns="0" tIns="0" bIns="0" anchor="t">
              <a:noAutofit/>
            </a:bodyPr>
            <a:lstStyle/>
            <a:p>
              <a:pPr algn="l">
                <a:lnSpc>
                  <a:spcPct val="108000"/>
                </a:lnSpc>
                <a:spcBef>
                  <a:spcPts val="0"/>
                </a:spcBef>
                <a:spcAft>
                  <a:spcPts val="0"/>
                </a:spcAft>
              </a:pPr>
              <a:r>
                <a:rPr sz="1000" b="1">
                  <a:solidFill>
                    <a:srgbClr val="365E4D"/>
                  </a:solidFill>
                  <a:latin typeface="IBM Plex Mono"/>
                </a:rPr>
                <a:t>MATCHED FINDING</a:t>
              </a:r>
            </a:p>
          </p:txBody>
        </p:sp>
        <p:sp>
          <p:nvSpPr>
            <p:cNvPr id="21" name="TextBox 20"/>
            <p:cNvSpPr txBox="1"/>
            <p:nvPr/>
          </p:nvSpPr>
          <p:spPr>
            <a:xfrm>
              <a:off x="6803136" y="5769864"/>
              <a:ext cx="4361688" cy="356616"/>
            </a:xfrm>
            <a:prstGeom prst="rect">
              <a:avLst/>
            </a:prstGeom>
            <a:noFill/>
          </p:spPr>
          <p:txBody>
            <a:bodyPr wrap="square" lIns="0" rIns="0" tIns="0" bIns="0" anchor="t">
              <a:noAutofit/>
            </a:bodyPr>
            <a:lstStyle/>
            <a:p>
              <a:pPr algn="l">
                <a:lnSpc>
                  <a:spcPct val="108000"/>
                </a:lnSpc>
                <a:spcBef>
                  <a:spcPts val="0"/>
                </a:spcBef>
                <a:spcAft>
                  <a:spcPts val="0"/>
                </a:spcAft>
              </a:pPr>
              <a:r>
                <a:rPr sz="1600" b="0">
                  <a:solidFill>
                    <a:srgbClr val="17201F"/>
                  </a:solidFill>
                  <a:latin typeface="IBM Plex Sans"/>
                </a:rPr>
                <a:t>[The specific result shared with the candidate]</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nodeType="clickEffect">
                            <p:stCondLst>
                              <p:cond delay="0"/>
                            </p:stCondLst>
                            <p:childTnLst>
                              <p:animEffect transition="in" filter="fade">
                                <p:cBhvr>
                                  <p:cTn id="5" dur="800"/>
                                  <p:tgtEl>
                                    <p:spTgt spid="14"/>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1EFE7"/>
        </a:solidFill>
        <a:effectLst/>
      </p:bgPr>
    </p:bg>
    <p:spTree>
      <p:nvGrpSpPr>
        <p:cNvPr id="1" name=""/>
        <p:cNvGrpSpPr/>
        <p:nvPr/>
      </p:nvGrpSpPr>
      <p:grpSpPr/>
      <p:sp>
        <p:nvSpPr>
          <p:cNvPr id="2" name="TextBox 1"/>
          <p:cNvSpPr txBox="1"/>
          <p:nvPr/>
        </p:nvSpPr>
        <p:spPr>
          <a:xfrm>
            <a:off x="502920" y="246888"/>
            <a:ext cx="2377440" cy="219456"/>
          </a:xfrm>
          <a:prstGeom prst="rect">
            <a:avLst/>
          </a:prstGeom>
          <a:noFill/>
        </p:spPr>
        <p:txBody>
          <a:bodyPr wrap="square" lIns="0" rIns="0" tIns="0" bIns="0" anchor="t">
            <a:noAutofit/>
          </a:bodyPr>
          <a:lstStyle/>
          <a:p>
            <a:pPr algn="l">
              <a:lnSpc>
                <a:spcPct val="108000"/>
              </a:lnSpc>
              <a:spcBef>
                <a:spcPts val="0"/>
              </a:spcBef>
              <a:spcAft>
                <a:spcPts val="0"/>
              </a:spcAft>
            </a:pPr>
            <a:r>
              <a:rPr sz="1100" b="1">
                <a:solidFill>
                  <a:srgbClr val="17201F"/>
                </a:solidFill>
                <a:latin typeface="IBM Plex Mono"/>
              </a:rPr>
              <a:t>DN / RESEARCH</a:t>
            </a:r>
          </a:p>
        </p:txBody>
      </p:sp>
      <p:sp>
        <p:nvSpPr>
          <p:cNvPr id="3" name="TextBox 2"/>
          <p:cNvSpPr txBox="1"/>
          <p:nvPr/>
        </p:nvSpPr>
        <p:spPr>
          <a:xfrm>
            <a:off x="4572000" y="256032"/>
            <a:ext cx="7095744" cy="201168"/>
          </a:xfrm>
          <a:prstGeom prst="rect">
            <a:avLst/>
          </a:prstGeom>
          <a:noFill/>
        </p:spPr>
        <p:txBody>
          <a:bodyPr wrap="square" lIns="0" rIns="0" tIns="0" bIns="0" anchor="t">
            <a:noAutofit/>
          </a:bodyPr>
          <a:lstStyle/>
          <a:p>
            <a:pPr algn="r">
              <a:lnSpc>
                <a:spcPct val="108000"/>
              </a:lnSpc>
              <a:spcBef>
                <a:spcPts val="0"/>
              </a:spcBef>
              <a:spcAft>
                <a:spcPts val="0"/>
              </a:spcAft>
            </a:pPr>
            <a:r>
              <a:rPr sz="1000" b="0">
                <a:solidFill>
                  <a:srgbClr val="365E4D"/>
                </a:solidFill>
                <a:latin typeface="IBM Plex Mono"/>
              </a:rPr>
              <a:t>FROZEN EVIDENCE / IMMEDIATELY AFTER REVEAL</a:t>
            </a:r>
          </a:p>
        </p:txBody>
      </p:sp>
      <p:cxnSp>
        <p:nvCxnSpPr>
          <p:cNvPr id="4" name="Connector 3"/>
          <p:cNvCxnSpPr/>
          <p:nvPr/>
        </p:nvCxnSpPr>
        <p:spPr>
          <a:xfrm>
            <a:off x="502920" y="658368"/>
            <a:ext cx="11183112" cy="0"/>
          </a:xfrm>
          <a:prstGeom prst="line">
            <a:avLst/>
          </a:prstGeom>
          <a:ln w="8890">
            <a:solidFill>
              <a:srgbClr val="CDCFC4"/>
            </a:solidFill>
          </a:ln>
          <a:effectLst/>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02920" y="6437376"/>
            <a:ext cx="11183112" cy="0"/>
          </a:xfrm>
          <a:prstGeom prst="line">
            <a:avLst/>
          </a:prstGeom>
          <a:ln w="8890">
            <a:solidFill>
              <a:srgbClr val="CDCFC4"/>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02920" y="6547104"/>
            <a:ext cx="7315200" cy="173736"/>
          </a:xfrm>
          <a:prstGeom prst="rect">
            <a:avLst/>
          </a:prstGeom>
          <a:noFill/>
        </p:spPr>
        <p:txBody>
          <a:bodyPr wrap="square" lIns="0" rIns="0" tIns="0" bIns="0" anchor="t">
            <a:noAutofit/>
          </a:bodyPr>
          <a:lstStyle/>
          <a:p>
            <a:pPr algn="l">
              <a:lnSpc>
                <a:spcPct val="108000"/>
              </a:lnSpc>
              <a:spcBef>
                <a:spcPts val="0"/>
              </a:spcBef>
              <a:spcAft>
                <a:spcPts val="0"/>
              </a:spcAft>
            </a:pPr>
            <a:r>
              <a:rPr sz="800" b="0">
                <a:solidFill>
                  <a:srgbClr val="365E4D"/>
                </a:solidFill>
                <a:latin typeface="IBM Plex Mono"/>
              </a:rPr>
              <a:t>DNHACKS 2026  /  WORKING PRESENTATION</a:t>
            </a:r>
          </a:p>
        </p:txBody>
      </p:sp>
      <p:sp>
        <p:nvSpPr>
          <p:cNvPr id="7" name="TextBox 6"/>
          <p:cNvSpPr txBox="1"/>
          <p:nvPr/>
        </p:nvSpPr>
        <p:spPr>
          <a:xfrm>
            <a:off x="11100816" y="6501384"/>
            <a:ext cx="585216" cy="265176"/>
          </a:xfrm>
          <a:prstGeom prst="rect">
            <a:avLst/>
          </a:prstGeom>
          <a:noFill/>
        </p:spPr>
        <p:txBody>
          <a:bodyPr wrap="square" lIns="0" rIns="0" tIns="0" bIns="0" anchor="t">
            <a:noAutofit/>
          </a:bodyPr>
          <a:lstStyle/>
          <a:p>
            <a:pPr algn="r">
              <a:lnSpc>
                <a:spcPct val="108000"/>
              </a:lnSpc>
              <a:spcBef>
                <a:spcPts val="0"/>
              </a:spcBef>
              <a:spcAft>
                <a:spcPts val="0"/>
              </a:spcAft>
            </a:pPr>
            <a:r>
              <a:rPr sz="1200" b="0">
                <a:solidFill>
                  <a:srgbClr val="17201F"/>
                </a:solidFill>
                <a:latin typeface="IBM Plex Mono"/>
              </a:rPr>
              <a:t>08</a:t>
            </a:r>
          </a:p>
        </p:txBody>
      </p:sp>
      <p:sp>
        <p:nvSpPr>
          <p:cNvPr id="8" name="TextBox 7"/>
          <p:cNvSpPr txBox="1"/>
          <p:nvPr/>
        </p:nvSpPr>
        <p:spPr>
          <a:xfrm>
            <a:off x="566928" y="932688"/>
            <a:ext cx="11064240" cy="914400"/>
          </a:xfrm>
          <a:prstGeom prst="rect">
            <a:avLst/>
          </a:prstGeom>
          <a:noFill/>
        </p:spPr>
        <p:txBody>
          <a:bodyPr wrap="square" lIns="0" rIns="0" tIns="0" bIns="0" anchor="t">
            <a:noAutofit/>
          </a:bodyPr>
          <a:lstStyle/>
          <a:p>
            <a:pPr algn="l">
              <a:lnSpc>
                <a:spcPct val="108000"/>
              </a:lnSpc>
              <a:spcBef>
                <a:spcPts val="0"/>
              </a:spcBef>
              <a:spcAft>
                <a:spcPts val="0"/>
              </a:spcAft>
            </a:pPr>
            <a:r>
              <a:rPr sz="3200" b="1">
                <a:solidFill>
                  <a:srgbClr val="17201F"/>
                </a:solidFill>
                <a:latin typeface="IBM Plex Sans"/>
              </a:rPr>
              <a:t>Backtest discovery against a recorded evidence cutoff.</a:t>
            </a:r>
          </a:p>
        </p:txBody>
      </p:sp>
      <p:sp>
        <p:nvSpPr>
          <p:cNvPr id="9" name="Rectangle 8"/>
          <p:cNvSpPr/>
          <p:nvPr/>
        </p:nvSpPr>
        <p:spPr>
          <a:xfrm>
            <a:off x="621792" y="2212848"/>
            <a:ext cx="5065776" cy="3474720"/>
          </a:xfrm>
          <a:prstGeom prst="rect">
            <a:avLst/>
          </a:prstGeom>
          <a:solidFill>
            <a:srgbClr val="E4E7DD"/>
          </a:solidFill>
          <a:ln w="8890">
            <a:solidFill>
              <a:srgbClr val="AABAA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786384" y="2359152"/>
            <a:ext cx="4736592" cy="228600"/>
          </a:xfrm>
          <a:prstGeom prst="rect">
            <a:avLst/>
          </a:prstGeom>
          <a:noFill/>
        </p:spPr>
        <p:txBody>
          <a:bodyPr wrap="square" lIns="0" rIns="0" tIns="0" bIns="0" anchor="t">
            <a:noAutofit/>
          </a:bodyPr>
          <a:lstStyle/>
          <a:p>
            <a:pPr algn="l">
              <a:lnSpc>
                <a:spcPct val="108000"/>
              </a:lnSpc>
              <a:spcBef>
                <a:spcPts val="0"/>
              </a:spcBef>
              <a:spcAft>
                <a:spcPts val="0"/>
              </a:spcAft>
            </a:pPr>
            <a:r>
              <a:rPr sz="1000" b="1">
                <a:solidFill>
                  <a:srgbClr val="365E4D"/>
                </a:solidFill>
                <a:latin typeface="IBM Plex Mono"/>
              </a:rPr>
              <a:t>CAPTURE PLACEHOLDER</a:t>
            </a:r>
          </a:p>
        </p:txBody>
      </p:sp>
      <p:cxnSp>
        <p:nvCxnSpPr>
          <p:cNvPr id="11" name="Connector 10"/>
          <p:cNvCxnSpPr/>
          <p:nvPr/>
        </p:nvCxnSpPr>
        <p:spPr>
          <a:xfrm>
            <a:off x="777240" y="2715768"/>
            <a:ext cx="4754880" cy="0"/>
          </a:xfrm>
          <a:prstGeom prst="line">
            <a:avLst/>
          </a:prstGeom>
          <a:ln w="12700">
            <a:solidFill>
              <a:srgbClr val="AABAAE"/>
            </a:solidFill>
          </a:ln>
          <a:effectLst/>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804672" y="2935224"/>
            <a:ext cx="4700016" cy="713232"/>
          </a:xfrm>
          <a:prstGeom prst="rect">
            <a:avLst/>
          </a:prstGeom>
          <a:noFill/>
        </p:spPr>
        <p:txBody>
          <a:bodyPr wrap="square" lIns="0" rIns="0" tIns="0" bIns="0" anchor="t">
            <a:noAutofit/>
          </a:bodyPr>
          <a:lstStyle/>
          <a:p>
            <a:pPr algn="l">
              <a:lnSpc>
                <a:spcPct val="108000"/>
              </a:lnSpc>
              <a:spcBef>
                <a:spcPts val="0"/>
              </a:spcBef>
              <a:spcAft>
                <a:spcPts val="0"/>
              </a:spcAft>
            </a:pPr>
            <a:r>
              <a:rPr sz="2300" b="1">
                <a:solidFill>
                  <a:srgbClr val="17201F"/>
                </a:solidFill>
                <a:latin typeface="IBM Plex Sans"/>
              </a:rPr>
              <a:t>Library + source reader</a:t>
            </a:r>
          </a:p>
        </p:txBody>
      </p:sp>
      <p:sp>
        <p:nvSpPr>
          <p:cNvPr id="13" name="TextBox 12"/>
          <p:cNvSpPr txBox="1"/>
          <p:nvPr/>
        </p:nvSpPr>
        <p:spPr>
          <a:xfrm>
            <a:off x="804672" y="3739896"/>
            <a:ext cx="4700016" cy="1810511"/>
          </a:xfrm>
          <a:prstGeom prst="rect">
            <a:avLst/>
          </a:prstGeom>
          <a:noFill/>
        </p:spPr>
        <p:txBody>
          <a:bodyPr wrap="square" lIns="0" rIns="0" tIns="0" bIns="0" anchor="t">
            <a:noAutofit/>
          </a:bodyPr>
          <a:lstStyle/>
          <a:p>
            <a:pPr algn="l">
              <a:lnSpc>
                <a:spcPct val="108000"/>
              </a:lnSpc>
              <a:spcBef>
                <a:spcPts val="0"/>
              </a:spcBef>
              <a:spcAft>
                <a:spcPts val="0"/>
              </a:spcAft>
            </a:pPr>
            <a:r>
              <a:rPr sz="1500" b="0">
                <a:solidFill>
                  <a:srgbClr val="365E4D"/>
                </a:solidFill>
                <a:latin typeface="IBM Plex Sans"/>
              </a:rPr>
              <a:t>[Capture the actual accessible corpus]</a:t>
            </a:r>
          </a:p>
          <a:p>
            <a:pPr algn="l">
              <a:lnSpc>
                <a:spcPct val="108000"/>
              </a:lnSpc>
              <a:spcBef>
                <a:spcPts val="0"/>
              </a:spcBef>
              <a:spcAft>
                <a:spcPts val="0"/>
              </a:spcAft>
            </a:pPr>
            <a:r>
              <a:rPr sz="1500" b="0">
                <a:solidFill>
                  <a:srgbClr val="365E4D"/>
                </a:solidFill>
                <a:latin typeface="IBM Plex Sans"/>
              </a:rPr>
              <a:t>[Open the source claim and quotation]</a:t>
            </a:r>
          </a:p>
          <a:p>
            <a:pPr algn="l">
              <a:lnSpc>
                <a:spcPct val="108000"/>
              </a:lnSpc>
              <a:spcBef>
                <a:spcPts val="0"/>
              </a:spcBef>
              <a:spcAft>
                <a:spcPts val="0"/>
              </a:spcAft>
            </a:pPr>
            <a:r>
              <a:rPr sz="1500" b="0">
                <a:solidFill>
                  <a:srgbClr val="365E4D"/>
                </a:solidFill>
                <a:latin typeface="IBM Plex Sans"/>
              </a:rPr>
              <a:t>[Keep the excluded paper outside this view]</a:t>
            </a:r>
          </a:p>
        </p:txBody>
      </p:sp>
      <p:cxnSp>
        <p:nvCxnSpPr>
          <p:cNvPr id="14" name="Connector 13"/>
          <p:cNvCxnSpPr/>
          <p:nvPr/>
        </p:nvCxnSpPr>
        <p:spPr>
          <a:xfrm>
            <a:off x="6126480" y="2313432"/>
            <a:ext cx="5376672" cy="0"/>
          </a:xfrm>
          <a:prstGeom prst="line">
            <a:avLst/>
          </a:prstGeom>
          <a:ln w="12700">
            <a:solidFill>
              <a:srgbClr val="ABBCAF"/>
            </a:solidFill>
          </a:ln>
          <a:effectLst/>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6153912" y="2487168"/>
            <a:ext cx="5312664" cy="237744"/>
          </a:xfrm>
          <a:prstGeom prst="rect">
            <a:avLst/>
          </a:prstGeom>
          <a:noFill/>
        </p:spPr>
        <p:txBody>
          <a:bodyPr wrap="square" lIns="0" rIns="0" tIns="0" bIns="0" anchor="t">
            <a:noAutofit/>
          </a:bodyPr>
          <a:lstStyle/>
          <a:p>
            <a:pPr algn="l">
              <a:lnSpc>
                <a:spcPct val="108000"/>
              </a:lnSpc>
              <a:spcBef>
                <a:spcPts val="0"/>
              </a:spcBef>
              <a:spcAft>
                <a:spcPts val="0"/>
              </a:spcAft>
            </a:pPr>
            <a:r>
              <a:rPr sz="1100" b="1">
                <a:solidFill>
                  <a:srgbClr val="365E4D"/>
                </a:solidFill>
                <a:latin typeface="IBM Plex Mono"/>
              </a:rPr>
              <a:t>FREEZE BEFORE EXECUTION</a:t>
            </a:r>
          </a:p>
        </p:txBody>
      </p:sp>
      <p:sp>
        <p:nvSpPr>
          <p:cNvPr id="16" name="TextBox 15"/>
          <p:cNvSpPr txBox="1"/>
          <p:nvPr/>
        </p:nvSpPr>
        <p:spPr>
          <a:xfrm>
            <a:off x="6153912" y="2871215"/>
            <a:ext cx="5303520" cy="493776"/>
          </a:xfrm>
          <a:prstGeom prst="rect">
            <a:avLst/>
          </a:prstGeom>
          <a:noFill/>
        </p:spPr>
        <p:txBody>
          <a:bodyPr wrap="square" lIns="0" rIns="0" tIns="0" bIns="0" anchor="t">
            <a:noAutofit/>
          </a:bodyPr>
          <a:lstStyle/>
          <a:p>
            <a:pPr algn="l">
              <a:lnSpc>
                <a:spcPct val="108000"/>
              </a:lnSpc>
              <a:spcBef>
                <a:spcPts val="0"/>
              </a:spcBef>
              <a:spcAft>
                <a:spcPts val="0"/>
              </a:spcAft>
            </a:pPr>
            <a:r>
              <a:rPr sz="1900" b="0">
                <a:solidFill>
                  <a:srgbClr val="17201F"/>
                </a:solidFill>
                <a:latin typeface="IBM Plex Sans"/>
              </a:rPr>
              <a:t>[Run ID · cutoff · corpus / data hashes]</a:t>
            </a:r>
          </a:p>
        </p:txBody>
      </p:sp>
      <p:cxnSp>
        <p:nvCxnSpPr>
          <p:cNvPr id="17" name="Connector 16"/>
          <p:cNvCxnSpPr/>
          <p:nvPr/>
        </p:nvCxnSpPr>
        <p:spPr>
          <a:xfrm>
            <a:off x="6126480" y="3502152"/>
            <a:ext cx="5376672" cy="0"/>
          </a:xfrm>
          <a:prstGeom prst="line">
            <a:avLst/>
          </a:prstGeom>
          <a:ln w="12700">
            <a:solidFill>
              <a:srgbClr val="ABBCAF"/>
            </a:solidFill>
          </a:ln>
          <a:effectLst/>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6153912" y="3675888"/>
            <a:ext cx="5312664" cy="237744"/>
          </a:xfrm>
          <a:prstGeom prst="rect">
            <a:avLst/>
          </a:prstGeom>
          <a:noFill/>
        </p:spPr>
        <p:txBody>
          <a:bodyPr wrap="square" lIns="0" rIns="0" tIns="0" bIns="0" anchor="t">
            <a:noAutofit/>
          </a:bodyPr>
          <a:lstStyle/>
          <a:p>
            <a:pPr algn="l">
              <a:lnSpc>
                <a:spcPct val="108000"/>
              </a:lnSpc>
              <a:spcBef>
                <a:spcPts val="0"/>
              </a:spcBef>
              <a:spcAft>
                <a:spcPts val="0"/>
              </a:spcAft>
            </a:pPr>
            <a:r>
              <a:rPr sz="1100" b="1">
                <a:solidFill>
                  <a:srgbClr val="365E4D"/>
                </a:solidFill>
                <a:latin typeface="IBM Plex Mono"/>
              </a:rPr>
              <a:t>EXCLUDE AND AUDIT</a:t>
            </a:r>
          </a:p>
        </p:txBody>
      </p:sp>
      <p:sp>
        <p:nvSpPr>
          <p:cNvPr id="19" name="TextBox 18"/>
          <p:cNvSpPr txBox="1"/>
          <p:nvPr/>
        </p:nvSpPr>
        <p:spPr>
          <a:xfrm>
            <a:off x="6153912" y="4059936"/>
            <a:ext cx="5303520" cy="493776"/>
          </a:xfrm>
          <a:prstGeom prst="rect">
            <a:avLst/>
          </a:prstGeom>
          <a:noFill/>
        </p:spPr>
        <p:txBody>
          <a:bodyPr wrap="square" lIns="0" rIns="0" tIns="0" bIns="0" anchor="t">
            <a:noAutofit/>
          </a:bodyPr>
          <a:lstStyle/>
          <a:p>
            <a:pPr algn="l">
              <a:lnSpc>
                <a:spcPct val="108000"/>
              </a:lnSpc>
              <a:spcBef>
                <a:spcPts val="0"/>
              </a:spcBef>
              <a:spcAft>
                <a:spcPts val="0"/>
              </a:spcAft>
            </a:pPr>
            <a:r>
              <a:rPr sz="1900" b="0">
                <a:solidFill>
                  <a:srgbClr val="17201F"/>
                </a:solidFill>
                <a:latin typeface="IBM Plex Sans"/>
              </a:rPr>
              <a:t>Target paper withheld; retain retrieval and tool logs</a:t>
            </a:r>
          </a:p>
        </p:txBody>
      </p:sp>
      <p:cxnSp>
        <p:nvCxnSpPr>
          <p:cNvPr id="20" name="Connector 19"/>
          <p:cNvCxnSpPr/>
          <p:nvPr/>
        </p:nvCxnSpPr>
        <p:spPr>
          <a:xfrm>
            <a:off x="6126480" y="4690872"/>
            <a:ext cx="5376672" cy="0"/>
          </a:xfrm>
          <a:prstGeom prst="line">
            <a:avLst/>
          </a:prstGeom>
          <a:ln w="12700">
            <a:solidFill>
              <a:srgbClr val="ABBCAF"/>
            </a:solidFill>
          </a:ln>
          <a:effectLst/>
        </p:spPr>
        <p:style>
          <a:lnRef idx="2">
            <a:schemeClr val="accent1"/>
          </a:lnRef>
          <a:fillRef idx="0">
            <a:schemeClr val="accent1"/>
          </a:fillRef>
          <a:effectRef idx="0">
            <a:schemeClr val="accent1"/>
          </a:effectRef>
          <a:fontRef idx="minor">
            <a:schemeClr val="tx1"/>
          </a:fontRef>
        </p:style>
      </p:cxnSp>
      <p:sp>
        <p:nvSpPr>
          <p:cNvPr id="21" name="TextBox 20"/>
          <p:cNvSpPr txBox="1"/>
          <p:nvPr/>
        </p:nvSpPr>
        <p:spPr>
          <a:xfrm>
            <a:off x="6153912" y="4864608"/>
            <a:ext cx="5312664" cy="237744"/>
          </a:xfrm>
          <a:prstGeom prst="rect">
            <a:avLst/>
          </a:prstGeom>
          <a:noFill/>
        </p:spPr>
        <p:txBody>
          <a:bodyPr wrap="square" lIns="0" rIns="0" tIns="0" bIns="0" anchor="t">
            <a:noAutofit/>
          </a:bodyPr>
          <a:lstStyle/>
          <a:p>
            <a:pPr algn="l">
              <a:lnSpc>
                <a:spcPct val="108000"/>
              </a:lnSpc>
              <a:spcBef>
                <a:spcPts val="0"/>
              </a:spcBef>
              <a:spcAft>
                <a:spcPts val="0"/>
              </a:spcAft>
            </a:pPr>
            <a:r>
              <a:rPr sz="1100" b="1">
                <a:solidFill>
                  <a:srgbClr val="365E4D"/>
                </a:solidFill>
                <a:latin typeface="IBM Plex Mono"/>
              </a:rPr>
              <a:t>RECORD COMPUTATION</a:t>
            </a:r>
          </a:p>
        </p:txBody>
      </p:sp>
      <p:sp>
        <p:nvSpPr>
          <p:cNvPr id="22" name="TextBox 21"/>
          <p:cNvSpPr txBox="1"/>
          <p:nvPr/>
        </p:nvSpPr>
        <p:spPr>
          <a:xfrm>
            <a:off x="6153912" y="5248656"/>
            <a:ext cx="5303520" cy="493776"/>
          </a:xfrm>
          <a:prstGeom prst="rect">
            <a:avLst/>
          </a:prstGeom>
          <a:noFill/>
        </p:spPr>
        <p:txBody>
          <a:bodyPr wrap="square" lIns="0" rIns="0" tIns="0" bIns="0" anchor="t">
            <a:noAutofit/>
          </a:bodyPr>
          <a:lstStyle/>
          <a:p>
            <a:pPr algn="l">
              <a:lnSpc>
                <a:spcPct val="108000"/>
              </a:lnSpc>
              <a:spcBef>
                <a:spcPts val="0"/>
              </a:spcBef>
              <a:spcAft>
                <a:spcPts val="0"/>
              </a:spcAft>
            </a:pPr>
            <a:r>
              <a:rPr sz="1900" b="0">
                <a:solidFill>
                  <a:srgbClr val="17201F"/>
                </a:solidFill>
                <a:latin typeface="IBM Plex Sans"/>
              </a:rPr>
              <a:t>[GPU task · device · time] + saved code / outputs</a:t>
            </a:r>
          </a:p>
        </p:txBody>
      </p:sp>
      <p:sp>
        <p:nvSpPr>
          <p:cNvPr id="23" name="TextBox 22"/>
          <p:cNvSpPr txBox="1"/>
          <p:nvPr/>
        </p:nvSpPr>
        <p:spPr>
          <a:xfrm>
            <a:off x="640080" y="5998464"/>
            <a:ext cx="10881360" cy="384048"/>
          </a:xfrm>
          <a:prstGeom prst="rect">
            <a:avLst/>
          </a:prstGeom>
          <a:noFill/>
        </p:spPr>
        <p:txBody>
          <a:bodyPr wrap="square" lIns="0" rIns="0" tIns="0" bIns="0" anchor="t">
            <a:noAutofit/>
          </a:bodyPr>
          <a:lstStyle/>
          <a:p>
            <a:pPr algn="l">
              <a:lnSpc>
                <a:spcPct val="108000"/>
              </a:lnSpc>
              <a:spcBef>
                <a:spcPts val="0"/>
              </a:spcBef>
              <a:spcAft>
                <a:spcPts val="0"/>
              </a:spcAft>
            </a:pPr>
            <a:r>
              <a:rPr sz="1600" b="0">
                <a:solidFill>
                  <a:srgbClr val="365E4D"/>
                </a:solidFill>
                <a:latin typeface="IBM Plex Sans"/>
              </a:rPr>
              <a:t>Next proof: sealed post-cutoff data and equal-budget comparisons against retrieval-only and unguided agents.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7201F"/>
        </a:solidFill>
        <a:effectLst/>
      </p:bgPr>
    </p:bg>
    <p:spTree>
      <p:nvGrpSpPr>
        <p:cNvPr id="1" name=""/>
        <p:cNvGrpSpPr/>
        <p:nvPr/>
      </p:nvGrpSpPr>
      <p:grpSpPr/>
      <p:sp>
        <p:nvSpPr>
          <p:cNvPr id="2" name="TextBox 1"/>
          <p:cNvSpPr txBox="1"/>
          <p:nvPr/>
        </p:nvSpPr>
        <p:spPr>
          <a:xfrm>
            <a:off x="502920" y="246888"/>
            <a:ext cx="2377440" cy="219456"/>
          </a:xfrm>
          <a:prstGeom prst="rect">
            <a:avLst/>
          </a:prstGeom>
          <a:noFill/>
        </p:spPr>
        <p:txBody>
          <a:bodyPr wrap="square" lIns="0" rIns="0" tIns="0" bIns="0" anchor="t">
            <a:noAutofit/>
          </a:bodyPr>
          <a:lstStyle/>
          <a:p>
            <a:pPr algn="l">
              <a:lnSpc>
                <a:spcPct val="108000"/>
              </a:lnSpc>
              <a:spcBef>
                <a:spcPts val="0"/>
              </a:spcBef>
              <a:spcAft>
                <a:spcPts val="0"/>
              </a:spcAft>
            </a:pPr>
            <a:r>
              <a:rPr sz="1100" b="1">
                <a:solidFill>
                  <a:srgbClr val="F1EFE7"/>
                </a:solidFill>
                <a:latin typeface="IBM Plex Mono"/>
              </a:rPr>
              <a:t>DN / RESEARCH</a:t>
            </a:r>
          </a:p>
        </p:txBody>
      </p:sp>
      <p:sp>
        <p:nvSpPr>
          <p:cNvPr id="3" name="TextBox 2"/>
          <p:cNvSpPr txBox="1"/>
          <p:nvPr/>
        </p:nvSpPr>
        <p:spPr>
          <a:xfrm>
            <a:off x="4572000" y="256032"/>
            <a:ext cx="7095744" cy="201168"/>
          </a:xfrm>
          <a:prstGeom prst="rect">
            <a:avLst/>
          </a:prstGeom>
          <a:noFill/>
        </p:spPr>
        <p:txBody>
          <a:bodyPr wrap="square" lIns="0" rIns="0" tIns="0" bIns="0" anchor="t">
            <a:noAutofit/>
          </a:bodyPr>
          <a:lstStyle/>
          <a:p>
            <a:pPr algn="r">
              <a:lnSpc>
                <a:spcPct val="108000"/>
              </a:lnSpc>
              <a:spcBef>
                <a:spcPts val="0"/>
              </a:spcBef>
              <a:spcAft>
                <a:spcPts val="0"/>
              </a:spcAft>
            </a:pPr>
            <a:r>
              <a:rPr sz="1000" b="0">
                <a:solidFill>
                  <a:srgbClr val="AFB9B2"/>
                </a:solidFill>
                <a:latin typeface="IBM Plex Mono"/>
              </a:rPr>
              <a:t>DEPLOYMENT / COMMERCIAL PROOF</a:t>
            </a:r>
          </a:p>
        </p:txBody>
      </p:sp>
      <p:cxnSp>
        <p:nvCxnSpPr>
          <p:cNvPr id="4" name="Connector 3"/>
          <p:cNvCxnSpPr/>
          <p:nvPr/>
        </p:nvCxnSpPr>
        <p:spPr>
          <a:xfrm>
            <a:off x="502920" y="658368"/>
            <a:ext cx="11183112" cy="0"/>
          </a:xfrm>
          <a:prstGeom prst="line">
            <a:avLst/>
          </a:prstGeom>
          <a:ln w="8890">
            <a:solidFill>
              <a:srgbClr val="3A4944"/>
            </a:solidFill>
          </a:ln>
          <a:effectLst/>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02920" y="6437376"/>
            <a:ext cx="11183112" cy="0"/>
          </a:xfrm>
          <a:prstGeom prst="line">
            <a:avLst/>
          </a:prstGeom>
          <a:ln w="8890">
            <a:solidFill>
              <a:srgbClr val="3A4944"/>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02920" y="6547104"/>
            <a:ext cx="7315200" cy="173736"/>
          </a:xfrm>
          <a:prstGeom prst="rect">
            <a:avLst/>
          </a:prstGeom>
          <a:noFill/>
        </p:spPr>
        <p:txBody>
          <a:bodyPr wrap="square" lIns="0" rIns="0" tIns="0" bIns="0" anchor="t">
            <a:noAutofit/>
          </a:bodyPr>
          <a:lstStyle/>
          <a:p>
            <a:pPr algn="l">
              <a:lnSpc>
                <a:spcPct val="108000"/>
              </a:lnSpc>
              <a:spcBef>
                <a:spcPts val="0"/>
              </a:spcBef>
              <a:spcAft>
                <a:spcPts val="0"/>
              </a:spcAft>
            </a:pPr>
            <a:r>
              <a:rPr sz="800" b="0">
                <a:solidFill>
                  <a:srgbClr val="AFB9B2"/>
                </a:solidFill>
                <a:latin typeface="IBM Plex Mono"/>
              </a:rPr>
              <a:t>DNHACKS 2026  /  WORKING PRESENTATION</a:t>
            </a:r>
          </a:p>
        </p:txBody>
      </p:sp>
      <p:sp>
        <p:nvSpPr>
          <p:cNvPr id="7" name="TextBox 6"/>
          <p:cNvSpPr txBox="1"/>
          <p:nvPr/>
        </p:nvSpPr>
        <p:spPr>
          <a:xfrm>
            <a:off x="11100816" y="6501384"/>
            <a:ext cx="585216" cy="265176"/>
          </a:xfrm>
          <a:prstGeom prst="rect">
            <a:avLst/>
          </a:prstGeom>
          <a:noFill/>
        </p:spPr>
        <p:txBody>
          <a:bodyPr wrap="square" lIns="0" rIns="0" tIns="0" bIns="0" anchor="t">
            <a:noAutofit/>
          </a:bodyPr>
          <a:lstStyle/>
          <a:p>
            <a:pPr algn="r">
              <a:lnSpc>
                <a:spcPct val="108000"/>
              </a:lnSpc>
              <a:spcBef>
                <a:spcPts val="0"/>
              </a:spcBef>
              <a:spcAft>
                <a:spcPts val="0"/>
              </a:spcAft>
            </a:pPr>
            <a:r>
              <a:rPr sz="1200" b="0">
                <a:solidFill>
                  <a:srgbClr val="F1EFE7"/>
                </a:solidFill>
                <a:latin typeface="IBM Plex Mono"/>
              </a:rPr>
              <a:t>09</a:t>
            </a:r>
          </a:p>
        </p:txBody>
      </p:sp>
      <p:sp>
        <p:nvSpPr>
          <p:cNvPr id="8" name="TextBox 7"/>
          <p:cNvSpPr txBox="1"/>
          <p:nvPr/>
        </p:nvSpPr>
        <p:spPr>
          <a:xfrm>
            <a:off x="566928" y="932688"/>
            <a:ext cx="11064240" cy="914400"/>
          </a:xfrm>
          <a:prstGeom prst="rect">
            <a:avLst/>
          </a:prstGeom>
          <a:noFill/>
        </p:spPr>
        <p:txBody>
          <a:bodyPr wrap="square" lIns="0" rIns="0" tIns="0" bIns="0" anchor="t">
            <a:noAutofit/>
          </a:bodyPr>
          <a:lstStyle/>
          <a:p>
            <a:pPr algn="l">
              <a:lnSpc>
                <a:spcPct val="108000"/>
              </a:lnSpc>
              <a:spcBef>
                <a:spcPts val="0"/>
              </a:spcBef>
              <a:spcAft>
                <a:spcPts val="0"/>
              </a:spcAft>
            </a:pPr>
            <a:r>
              <a:rPr sz="3400" b="1">
                <a:solidFill>
                  <a:srgbClr val="F1EFE7"/>
                </a:solidFill>
                <a:latin typeface="IBM Plex Sans"/>
              </a:rPr>
              <a:t>Deploy first inside a computational research team.</a:t>
            </a:r>
          </a:p>
        </p:txBody>
      </p:sp>
      <p:sp>
        <p:nvSpPr>
          <p:cNvPr id="9" name="TextBox 8"/>
          <p:cNvSpPr txBox="1"/>
          <p:nvPr/>
        </p:nvSpPr>
        <p:spPr>
          <a:xfrm>
            <a:off x="621792" y="1956816"/>
            <a:ext cx="5248656" cy="246888"/>
          </a:xfrm>
          <a:prstGeom prst="rect">
            <a:avLst/>
          </a:prstGeom>
          <a:noFill/>
        </p:spPr>
        <p:txBody>
          <a:bodyPr wrap="square" lIns="0" rIns="0" tIns="0" bIns="0" anchor="t">
            <a:noAutofit/>
          </a:bodyPr>
          <a:lstStyle/>
          <a:p>
            <a:pPr algn="l">
              <a:lnSpc>
                <a:spcPct val="108000"/>
              </a:lnSpc>
              <a:spcBef>
                <a:spcPts val="0"/>
              </a:spcBef>
              <a:spcAft>
                <a:spcPts val="0"/>
              </a:spcAft>
            </a:pPr>
            <a:r>
              <a:rPr sz="1100" b="1">
                <a:solidFill>
                  <a:srgbClr val="A6C9B8"/>
                </a:solidFill>
                <a:latin typeface="IBM Plex Mono"/>
              </a:rPr>
              <a:t>USER</a:t>
            </a:r>
          </a:p>
        </p:txBody>
      </p:sp>
      <p:sp>
        <p:nvSpPr>
          <p:cNvPr id="10" name="TextBox 9"/>
          <p:cNvSpPr txBox="1"/>
          <p:nvPr/>
        </p:nvSpPr>
        <p:spPr>
          <a:xfrm>
            <a:off x="621792" y="2386584"/>
            <a:ext cx="6775704" cy="1024128"/>
          </a:xfrm>
          <a:prstGeom prst="rect">
            <a:avLst/>
          </a:prstGeom>
          <a:noFill/>
        </p:spPr>
        <p:txBody>
          <a:bodyPr wrap="square" lIns="0" rIns="0" tIns="0" bIns="0" anchor="t">
            <a:noAutofit/>
          </a:bodyPr>
          <a:lstStyle/>
          <a:p>
            <a:pPr algn="l">
              <a:lnSpc>
                <a:spcPct val="108000"/>
              </a:lnSpc>
              <a:spcBef>
                <a:spcPts val="0"/>
              </a:spcBef>
              <a:spcAft>
                <a:spcPts val="0"/>
              </a:spcAft>
            </a:pPr>
            <a:r>
              <a:rPr sz="2600" b="1">
                <a:solidFill>
                  <a:srgbClr val="F1EFE7"/>
                </a:solidFill>
                <a:latin typeface="IBM Plex Sans"/>
              </a:rPr>
              <a:t>A research lead deciding what to test</a:t>
            </a:r>
          </a:p>
          <a:p>
            <a:pPr algn="l">
              <a:lnSpc>
                <a:spcPct val="108000"/>
              </a:lnSpc>
              <a:spcBef>
                <a:spcPts val="0"/>
              </a:spcBef>
              <a:spcAft>
                <a:spcPts val="0"/>
              </a:spcAft>
            </a:pPr>
            <a:r>
              <a:rPr sz="2600" b="1">
                <a:solidFill>
                  <a:srgbClr val="F1EFE7"/>
                </a:solidFill>
                <a:latin typeface="IBM Plex Sans"/>
              </a:rPr>
              <a:t>with limited compute and reviewer time.</a:t>
            </a:r>
          </a:p>
        </p:txBody>
      </p:sp>
      <p:sp>
        <p:nvSpPr>
          <p:cNvPr id="11" name="TextBox 10"/>
          <p:cNvSpPr txBox="1"/>
          <p:nvPr/>
        </p:nvSpPr>
        <p:spPr>
          <a:xfrm>
            <a:off x="640080" y="3749039"/>
            <a:ext cx="2779776" cy="393192"/>
          </a:xfrm>
          <a:prstGeom prst="rect">
            <a:avLst/>
          </a:prstGeom>
          <a:noFill/>
        </p:spPr>
        <p:txBody>
          <a:bodyPr wrap="square" lIns="0" rIns="0" tIns="0" bIns="0" anchor="t">
            <a:noAutofit/>
          </a:bodyPr>
          <a:lstStyle/>
          <a:p>
            <a:pPr algn="l">
              <a:lnSpc>
                <a:spcPct val="108000"/>
              </a:lnSpc>
              <a:spcBef>
                <a:spcPts val="0"/>
              </a:spcBef>
              <a:spcAft>
                <a:spcPts val="0"/>
              </a:spcAft>
            </a:pPr>
            <a:r>
              <a:rPr sz="1900" b="1">
                <a:solidFill>
                  <a:srgbClr val="A6C9B8"/>
                </a:solidFill>
                <a:latin typeface="IBM Plex Sans"/>
              </a:rPr>
              <a:t>First integration</a:t>
            </a:r>
          </a:p>
        </p:txBody>
      </p:sp>
      <p:sp>
        <p:nvSpPr>
          <p:cNvPr id="12" name="TextBox 11"/>
          <p:cNvSpPr txBox="1"/>
          <p:nvPr/>
        </p:nvSpPr>
        <p:spPr>
          <a:xfrm>
            <a:off x="3429000" y="3758183"/>
            <a:ext cx="4059936" cy="512064"/>
          </a:xfrm>
          <a:prstGeom prst="rect">
            <a:avLst/>
          </a:prstGeom>
          <a:noFill/>
        </p:spPr>
        <p:txBody>
          <a:bodyPr wrap="square" lIns="0" rIns="0" tIns="0" bIns="0" anchor="t">
            <a:noAutofit/>
          </a:bodyPr>
          <a:lstStyle/>
          <a:p>
            <a:pPr algn="l">
              <a:lnSpc>
                <a:spcPct val="108000"/>
              </a:lnSpc>
              <a:spcBef>
                <a:spcPts val="0"/>
              </a:spcBef>
              <a:spcAft>
                <a:spcPts val="0"/>
              </a:spcAft>
            </a:pPr>
            <a:r>
              <a:rPr sz="1700" b="0">
                <a:solidFill>
                  <a:srgbClr val="AFB9B2"/>
                </a:solidFill>
                <a:latin typeface="IBM Plex Sans"/>
              </a:rPr>
              <a:t>Approved corpus, data permissions, owned tool execution</a:t>
            </a:r>
          </a:p>
        </p:txBody>
      </p:sp>
      <p:sp>
        <p:nvSpPr>
          <p:cNvPr id="13" name="TextBox 12"/>
          <p:cNvSpPr txBox="1"/>
          <p:nvPr/>
        </p:nvSpPr>
        <p:spPr>
          <a:xfrm>
            <a:off x="640080" y="4453127"/>
            <a:ext cx="2779776" cy="393192"/>
          </a:xfrm>
          <a:prstGeom prst="rect">
            <a:avLst/>
          </a:prstGeom>
          <a:noFill/>
        </p:spPr>
        <p:txBody>
          <a:bodyPr wrap="square" lIns="0" rIns="0" tIns="0" bIns="0" anchor="t">
            <a:noAutofit/>
          </a:bodyPr>
          <a:lstStyle/>
          <a:p>
            <a:pPr algn="l">
              <a:lnSpc>
                <a:spcPct val="108000"/>
              </a:lnSpc>
              <a:spcBef>
                <a:spcPts val="0"/>
              </a:spcBef>
              <a:spcAft>
                <a:spcPts val="0"/>
              </a:spcAft>
            </a:pPr>
            <a:r>
              <a:rPr sz="1900" b="1">
                <a:solidFill>
                  <a:srgbClr val="A6C9B8"/>
                </a:solidFill>
                <a:latin typeface="IBM Plex Sans"/>
              </a:rPr>
              <a:t>Unit economics</a:t>
            </a:r>
          </a:p>
        </p:txBody>
      </p:sp>
      <p:sp>
        <p:nvSpPr>
          <p:cNvPr id="14" name="TextBox 13"/>
          <p:cNvSpPr txBox="1"/>
          <p:nvPr/>
        </p:nvSpPr>
        <p:spPr>
          <a:xfrm>
            <a:off x="3429000" y="4462271"/>
            <a:ext cx="4059936" cy="512064"/>
          </a:xfrm>
          <a:prstGeom prst="rect">
            <a:avLst/>
          </a:prstGeom>
          <a:noFill/>
        </p:spPr>
        <p:txBody>
          <a:bodyPr wrap="square" lIns="0" rIns="0" tIns="0" bIns="0" anchor="t">
            <a:noAutofit/>
          </a:bodyPr>
          <a:lstStyle/>
          <a:p>
            <a:pPr algn="l">
              <a:lnSpc>
                <a:spcPct val="108000"/>
              </a:lnSpc>
              <a:spcBef>
                <a:spcPts val="0"/>
              </a:spcBef>
              <a:spcAft>
                <a:spcPts val="0"/>
              </a:spcAft>
            </a:pPr>
            <a:r>
              <a:rPr sz="1700" b="0">
                <a:solidFill>
                  <a:srgbClr val="AFB9B2"/>
                </a:solidFill>
                <a:latin typeface="IBM Plex Sans"/>
              </a:rPr>
              <a:t>All model + tool + review cost per rerunnable useful result</a:t>
            </a:r>
          </a:p>
        </p:txBody>
      </p:sp>
      <p:sp>
        <p:nvSpPr>
          <p:cNvPr id="15" name="TextBox 14"/>
          <p:cNvSpPr txBox="1"/>
          <p:nvPr/>
        </p:nvSpPr>
        <p:spPr>
          <a:xfrm>
            <a:off x="640080" y="5157216"/>
            <a:ext cx="2779776" cy="393192"/>
          </a:xfrm>
          <a:prstGeom prst="rect">
            <a:avLst/>
          </a:prstGeom>
          <a:noFill/>
        </p:spPr>
        <p:txBody>
          <a:bodyPr wrap="square" lIns="0" rIns="0" tIns="0" bIns="0" anchor="t">
            <a:noAutofit/>
          </a:bodyPr>
          <a:lstStyle/>
          <a:p>
            <a:pPr algn="l">
              <a:lnSpc>
                <a:spcPct val="108000"/>
              </a:lnSpc>
              <a:spcBef>
                <a:spcPts val="0"/>
              </a:spcBef>
              <a:spcAft>
                <a:spcPts val="0"/>
              </a:spcAft>
            </a:pPr>
            <a:r>
              <a:rPr sz="1900" b="1">
                <a:solidFill>
                  <a:srgbClr val="A6C9B8"/>
                </a:solidFill>
                <a:latin typeface="IBM Plex Sans"/>
              </a:rPr>
              <a:t>Adoption test</a:t>
            </a:r>
          </a:p>
        </p:txBody>
      </p:sp>
      <p:sp>
        <p:nvSpPr>
          <p:cNvPr id="16" name="TextBox 15"/>
          <p:cNvSpPr txBox="1"/>
          <p:nvPr/>
        </p:nvSpPr>
        <p:spPr>
          <a:xfrm>
            <a:off x="3429000" y="5166359"/>
            <a:ext cx="4059936" cy="512064"/>
          </a:xfrm>
          <a:prstGeom prst="rect">
            <a:avLst/>
          </a:prstGeom>
          <a:noFill/>
        </p:spPr>
        <p:txBody>
          <a:bodyPr wrap="square" lIns="0" rIns="0" tIns="0" bIns="0" anchor="t">
            <a:noAutofit/>
          </a:bodyPr>
          <a:lstStyle/>
          <a:p>
            <a:pPr algn="l">
              <a:lnSpc>
                <a:spcPct val="108000"/>
              </a:lnSpc>
              <a:spcBef>
                <a:spcPts val="0"/>
              </a:spcBef>
              <a:spcAft>
                <a:spcPts val="0"/>
              </a:spcAft>
            </a:pPr>
            <a:r>
              <a:rPr sz="1700" b="0">
                <a:solidFill>
                  <a:srgbClr val="AFB9B2"/>
                </a:solidFill>
                <a:latin typeface="IBM Plex Sans"/>
              </a:rPr>
              <a:t>Review time, repeat use and paid expansion within the team</a:t>
            </a:r>
          </a:p>
        </p:txBody>
      </p:sp>
      <p:pic>
        <p:nvPicPr>
          <p:cNvPr id="17" name="Picture 16" descr="native-final-Presentation-Comparison.png"/>
          <p:cNvPicPr>
            <a:picLocks noChangeAspect="1"/>
          </p:cNvPicPr>
          <p:nvPr/>
        </p:nvPicPr>
        <p:blipFill>
          <a:blip r:embed="rId2"/>
          <a:stretch>
            <a:fillRect/>
          </a:stretch>
        </p:blipFill>
        <p:spPr>
          <a:xfrm>
            <a:off x="7872983" y="1975104"/>
            <a:ext cx="3657600" cy="2057400"/>
          </a:xfrm>
          <a:prstGeom prst="rect">
            <a:avLst/>
          </a:prstGeom>
        </p:spPr>
      </p:pic>
      <p:pic>
        <p:nvPicPr>
          <p:cNvPr id="18" name="Picture 17" descr="motors.png"/>
          <p:cNvPicPr>
            <a:picLocks noChangeAspect="1"/>
          </p:cNvPicPr>
          <p:nvPr/>
        </p:nvPicPr>
        <p:blipFill>
          <a:blip r:embed="rId3"/>
          <a:stretch>
            <a:fillRect/>
          </a:stretch>
        </p:blipFill>
        <p:spPr>
          <a:xfrm>
            <a:off x="7872983" y="4372181"/>
            <a:ext cx="3657600" cy="1551780"/>
          </a:xfrm>
          <a:prstGeom prst="rect">
            <a:avLst/>
          </a:prstGeom>
        </p:spPr>
      </p:pic>
      <p:sp>
        <p:nvSpPr>
          <p:cNvPr id="19" name="TextBox 18"/>
          <p:cNvSpPr txBox="1"/>
          <p:nvPr/>
        </p:nvSpPr>
        <p:spPr>
          <a:xfrm>
            <a:off x="7900416" y="4096512"/>
            <a:ext cx="3648456" cy="347472"/>
          </a:xfrm>
          <a:prstGeom prst="rect">
            <a:avLst/>
          </a:prstGeom>
          <a:noFill/>
        </p:spPr>
        <p:txBody>
          <a:bodyPr wrap="square" lIns="0" rIns="0" tIns="0" bIns="0" anchor="t">
            <a:noAutofit/>
          </a:bodyPr>
          <a:lstStyle/>
          <a:p>
            <a:pPr algn="l">
              <a:lnSpc>
                <a:spcPct val="108000"/>
              </a:lnSpc>
              <a:spcBef>
                <a:spcPts val="0"/>
              </a:spcBef>
              <a:spcAft>
                <a:spcPts val="0"/>
              </a:spcAft>
            </a:pPr>
            <a:r>
              <a:rPr sz="1100" b="0">
                <a:solidFill>
                  <a:srgbClr val="AFB9B2"/>
                </a:solidFill>
                <a:latin typeface="IBM Plex Sans"/>
              </a:rPr>
              <a:t>Tissue: PhysiCell / BioFVM conditional simulation</a:t>
            </a:r>
          </a:p>
        </p:txBody>
      </p:sp>
      <p:sp>
        <p:nvSpPr>
          <p:cNvPr id="20" name="TextBox 19"/>
          <p:cNvSpPr txBox="1"/>
          <p:nvPr/>
        </p:nvSpPr>
        <p:spPr>
          <a:xfrm>
            <a:off x="7900416" y="6016752"/>
            <a:ext cx="3648456" cy="347472"/>
          </a:xfrm>
          <a:prstGeom prst="rect">
            <a:avLst/>
          </a:prstGeom>
          <a:noFill/>
        </p:spPr>
        <p:txBody>
          <a:bodyPr wrap="square" lIns="0" rIns="0" tIns="0" bIns="0" anchor="t">
            <a:noAutofit/>
          </a:bodyPr>
          <a:lstStyle/>
          <a:p>
            <a:pPr algn="l">
              <a:lnSpc>
                <a:spcPct val="108000"/>
              </a:lnSpc>
              <a:spcBef>
                <a:spcPts val="0"/>
              </a:spcBef>
              <a:spcAft>
                <a:spcPts val="0"/>
              </a:spcAft>
            </a:pPr>
            <a:r>
              <a:rPr sz="1100" b="0">
                <a:solidFill>
                  <a:srgbClr val="AFB9B2"/>
                </a:solidFill>
                <a:latin typeface="IBM Plex Sans"/>
              </a:rPr>
              <a:t>Spindle: Cytosim mechanics / corrected motor export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1EFE7"/>
        </a:solidFill>
        <a:effectLst/>
      </p:bgPr>
    </p:bg>
    <p:spTree>
      <p:nvGrpSpPr>
        <p:cNvPr id="1" name=""/>
        <p:cNvGrpSpPr/>
        <p:nvPr/>
      </p:nvGrpSpPr>
      <p:grpSpPr/>
      <p:sp>
        <p:nvSpPr>
          <p:cNvPr id="2" name="TextBox 1"/>
          <p:cNvSpPr txBox="1"/>
          <p:nvPr/>
        </p:nvSpPr>
        <p:spPr>
          <a:xfrm>
            <a:off x="502920" y="246888"/>
            <a:ext cx="2377440" cy="219456"/>
          </a:xfrm>
          <a:prstGeom prst="rect">
            <a:avLst/>
          </a:prstGeom>
          <a:noFill/>
        </p:spPr>
        <p:txBody>
          <a:bodyPr wrap="square" lIns="0" rIns="0" tIns="0" bIns="0" anchor="t">
            <a:noAutofit/>
          </a:bodyPr>
          <a:lstStyle/>
          <a:p>
            <a:pPr algn="l">
              <a:lnSpc>
                <a:spcPct val="108000"/>
              </a:lnSpc>
              <a:spcBef>
                <a:spcPts val="0"/>
              </a:spcBef>
              <a:spcAft>
                <a:spcPts val="0"/>
              </a:spcAft>
            </a:pPr>
            <a:r>
              <a:rPr sz="1100" b="1">
                <a:solidFill>
                  <a:srgbClr val="17201F"/>
                </a:solidFill>
                <a:latin typeface="IBM Plex Mono"/>
              </a:rPr>
              <a:t>DN / RESEARCH</a:t>
            </a:r>
          </a:p>
        </p:txBody>
      </p:sp>
      <p:sp>
        <p:nvSpPr>
          <p:cNvPr id="3" name="TextBox 2"/>
          <p:cNvSpPr txBox="1"/>
          <p:nvPr/>
        </p:nvSpPr>
        <p:spPr>
          <a:xfrm>
            <a:off x="4572000" y="256032"/>
            <a:ext cx="7095744" cy="201168"/>
          </a:xfrm>
          <a:prstGeom prst="rect">
            <a:avLst/>
          </a:prstGeom>
          <a:noFill/>
        </p:spPr>
        <p:txBody>
          <a:bodyPr wrap="square" lIns="0" rIns="0" tIns="0" bIns="0" anchor="t">
            <a:noAutofit/>
          </a:bodyPr>
          <a:lstStyle/>
          <a:p>
            <a:pPr algn="r">
              <a:lnSpc>
                <a:spcPct val="108000"/>
              </a:lnSpc>
              <a:spcBef>
                <a:spcPts val="0"/>
              </a:spcBef>
              <a:spcAft>
                <a:spcPts val="0"/>
              </a:spcAft>
            </a:pPr>
            <a:r>
              <a:rPr sz="1000" b="0">
                <a:solidFill>
                  <a:srgbClr val="365E4D"/>
                </a:solidFill>
                <a:latin typeface="IBM Plex Mono"/>
              </a:rPr>
              <a:t>THREE-YEAR DIRECTION / INVESTMENT THESIS</a:t>
            </a:r>
          </a:p>
        </p:txBody>
      </p:sp>
      <p:cxnSp>
        <p:nvCxnSpPr>
          <p:cNvPr id="4" name="Connector 3"/>
          <p:cNvCxnSpPr/>
          <p:nvPr/>
        </p:nvCxnSpPr>
        <p:spPr>
          <a:xfrm>
            <a:off x="502920" y="658368"/>
            <a:ext cx="11183112" cy="0"/>
          </a:xfrm>
          <a:prstGeom prst="line">
            <a:avLst/>
          </a:prstGeom>
          <a:ln w="8890">
            <a:solidFill>
              <a:srgbClr val="CDCFC4"/>
            </a:solidFill>
          </a:ln>
          <a:effectLst/>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02920" y="6437376"/>
            <a:ext cx="11183112" cy="0"/>
          </a:xfrm>
          <a:prstGeom prst="line">
            <a:avLst/>
          </a:prstGeom>
          <a:ln w="8890">
            <a:solidFill>
              <a:srgbClr val="CDCFC4"/>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02920" y="6547104"/>
            <a:ext cx="7315200" cy="173736"/>
          </a:xfrm>
          <a:prstGeom prst="rect">
            <a:avLst/>
          </a:prstGeom>
          <a:noFill/>
        </p:spPr>
        <p:txBody>
          <a:bodyPr wrap="square" lIns="0" rIns="0" tIns="0" bIns="0" anchor="t">
            <a:noAutofit/>
          </a:bodyPr>
          <a:lstStyle/>
          <a:p>
            <a:pPr algn="l">
              <a:lnSpc>
                <a:spcPct val="108000"/>
              </a:lnSpc>
              <a:spcBef>
                <a:spcPts val="0"/>
              </a:spcBef>
              <a:spcAft>
                <a:spcPts val="0"/>
              </a:spcAft>
            </a:pPr>
            <a:r>
              <a:rPr sz="800" b="0">
                <a:solidFill>
                  <a:srgbClr val="365E4D"/>
                </a:solidFill>
                <a:latin typeface="IBM Plex Mono"/>
              </a:rPr>
              <a:t>DNHACKS 2026  /  WORKING PRESENTATION</a:t>
            </a:r>
          </a:p>
        </p:txBody>
      </p:sp>
      <p:sp>
        <p:nvSpPr>
          <p:cNvPr id="7" name="TextBox 6"/>
          <p:cNvSpPr txBox="1"/>
          <p:nvPr/>
        </p:nvSpPr>
        <p:spPr>
          <a:xfrm>
            <a:off x="11100816" y="6501384"/>
            <a:ext cx="585216" cy="265176"/>
          </a:xfrm>
          <a:prstGeom prst="rect">
            <a:avLst/>
          </a:prstGeom>
          <a:noFill/>
        </p:spPr>
        <p:txBody>
          <a:bodyPr wrap="square" lIns="0" rIns="0" tIns="0" bIns="0" anchor="t">
            <a:noAutofit/>
          </a:bodyPr>
          <a:lstStyle/>
          <a:p>
            <a:pPr algn="r">
              <a:lnSpc>
                <a:spcPct val="108000"/>
              </a:lnSpc>
              <a:spcBef>
                <a:spcPts val="0"/>
              </a:spcBef>
              <a:spcAft>
                <a:spcPts val="0"/>
              </a:spcAft>
            </a:pPr>
            <a:r>
              <a:rPr sz="1200" b="0">
                <a:solidFill>
                  <a:srgbClr val="17201F"/>
                </a:solidFill>
                <a:latin typeface="IBM Plex Mono"/>
              </a:rPr>
              <a:t>10</a:t>
            </a:r>
          </a:p>
        </p:txBody>
      </p:sp>
      <p:sp>
        <p:nvSpPr>
          <p:cNvPr id="8" name="TextBox 7"/>
          <p:cNvSpPr txBox="1"/>
          <p:nvPr/>
        </p:nvSpPr>
        <p:spPr>
          <a:xfrm>
            <a:off x="566928" y="932688"/>
            <a:ext cx="11064240" cy="914400"/>
          </a:xfrm>
          <a:prstGeom prst="rect">
            <a:avLst/>
          </a:prstGeom>
          <a:noFill/>
        </p:spPr>
        <p:txBody>
          <a:bodyPr wrap="square" lIns="0" rIns="0" tIns="0" bIns="0" anchor="t">
            <a:noAutofit/>
          </a:bodyPr>
          <a:lstStyle/>
          <a:p>
            <a:pPr algn="l">
              <a:lnSpc>
                <a:spcPct val="108000"/>
              </a:lnSpc>
              <a:spcBef>
                <a:spcPts val="0"/>
              </a:spcBef>
              <a:spcAft>
                <a:spcPts val="0"/>
              </a:spcAft>
            </a:pPr>
            <a:r>
              <a:rPr sz="3000" b="1">
                <a:solidFill>
                  <a:srgbClr val="17201F"/>
                </a:solidFill>
                <a:latin typeface="IBM Plex Sans"/>
              </a:rPr>
              <a:t>Stronger models should produce more science per research budget.</a:t>
            </a:r>
          </a:p>
        </p:txBody>
      </p:sp>
      <p:sp>
        <p:nvSpPr>
          <p:cNvPr id="9" name="TextBox 8"/>
          <p:cNvSpPr txBox="1"/>
          <p:nvPr/>
        </p:nvSpPr>
        <p:spPr>
          <a:xfrm>
            <a:off x="630936" y="2267712"/>
            <a:ext cx="3557016" cy="256032"/>
          </a:xfrm>
          <a:prstGeom prst="rect">
            <a:avLst/>
          </a:prstGeom>
          <a:noFill/>
        </p:spPr>
        <p:txBody>
          <a:bodyPr wrap="square" lIns="0" rIns="0" tIns="0" bIns="0" anchor="t">
            <a:noAutofit/>
          </a:bodyPr>
          <a:lstStyle/>
          <a:p>
            <a:pPr algn="l">
              <a:lnSpc>
                <a:spcPct val="108000"/>
              </a:lnSpc>
              <a:spcBef>
                <a:spcPts val="0"/>
              </a:spcBef>
              <a:spcAft>
                <a:spcPts val="0"/>
              </a:spcAft>
            </a:pPr>
            <a:r>
              <a:rPr sz="1100" b="1">
                <a:solidFill>
                  <a:srgbClr val="365E4D"/>
                </a:solidFill>
                <a:latin typeface="IBM Plex Mono"/>
              </a:rPr>
              <a:t>YEAR 1 / 2027</a:t>
            </a:r>
          </a:p>
        </p:txBody>
      </p:sp>
      <p:cxnSp>
        <p:nvCxnSpPr>
          <p:cNvPr id="10" name="Connector 9"/>
          <p:cNvCxnSpPr/>
          <p:nvPr/>
        </p:nvCxnSpPr>
        <p:spPr>
          <a:xfrm>
            <a:off x="630936" y="2743200"/>
            <a:ext cx="3483864" cy="0"/>
          </a:xfrm>
          <a:prstGeom prst="line">
            <a:avLst/>
          </a:prstGeom>
          <a:ln w="12700">
            <a:solidFill>
              <a:srgbClr val="ACBCAE"/>
            </a:solidFill>
          </a:ln>
          <a:effectLst/>
        </p:spPr>
        <p:style>
          <a:lnRef idx="2">
            <a:schemeClr val="accent1"/>
          </a:lnRef>
          <a:fillRef idx="0">
            <a:schemeClr val="accent1"/>
          </a:fillRef>
          <a:effectRef idx="0">
            <a:schemeClr val="accent1"/>
          </a:effectRef>
          <a:fontRef idx="minor">
            <a:schemeClr val="tx1"/>
          </a:fontRef>
        </p:style>
      </p:cxnSp>
      <p:sp>
        <p:nvSpPr>
          <p:cNvPr id="11" name="TextBox 10"/>
          <p:cNvSpPr txBox="1"/>
          <p:nvPr/>
        </p:nvSpPr>
        <p:spPr>
          <a:xfrm>
            <a:off x="630936" y="2971800"/>
            <a:ext cx="3483864" cy="731520"/>
          </a:xfrm>
          <a:prstGeom prst="rect">
            <a:avLst/>
          </a:prstGeom>
          <a:noFill/>
        </p:spPr>
        <p:txBody>
          <a:bodyPr wrap="square" lIns="0" rIns="0" tIns="0" bIns="0" anchor="t">
            <a:noAutofit/>
          </a:bodyPr>
          <a:lstStyle/>
          <a:p>
            <a:pPr algn="l">
              <a:lnSpc>
                <a:spcPct val="108000"/>
              </a:lnSpc>
              <a:spcBef>
                <a:spcPts val="0"/>
              </a:spcBef>
              <a:spcAft>
                <a:spcPts val="0"/>
              </a:spcAft>
            </a:pPr>
            <a:r>
              <a:rPr sz="2700" b="1">
                <a:solidFill>
                  <a:srgbClr val="17201F"/>
                </a:solidFill>
                <a:latin typeface="IBM Plex Sans"/>
              </a:rPr>
              <a:t>A repeatable workflow</a:t>
            </a:r>
          </a:p>
        </p:txBody>
      </p:sp>
      <p:sp>
        <p:nvSpPr>
          <p:cNvPr id="12" name="TextBox 11"/>
          <p:cNvSpPr txBox="1"/>
          <p:nvPr/>
        </p:nvSpPr>
        <p:spPr>
          <a:xfrm>
            <a:off x="630936" y="4041648"/>
            <a:ext cx="3474720" cy="932688"/>
          </a:xfrm>
          <a:prstGeom prst="rect">
            <a:avLst/>
          </a:prstGeom>
          <a:noFill/>
        </p:spPr>
        <p:txBody>
          <a:bodyPr wrap="square" lIns="0" rIns="0" tIns="0" bIns="0" anchor="t">
            <a:noAutofit/>
          </a:bodyPr>
          <a:lstStyle/>
          <a:p>
            <a:pPr algn="l">
              <a:lnSpc>
                <a:spcPct val="108000"/>
              </a:lnSpc>
              <a:spcBef>
                <a:spcPts val="0"/>
              </a:spcBef>
              <a:spcAft>
                <a:spcPts val="0"/>
              </a:spcAft>
            </a:pPr>
            <a:r>
              <a:rPr sz="1800" b="0">
                <a:solidFill>
                  <a:srgbClr val="365E4D"/>
                </a:solidFill>
                <a:latin typeface="IBM Plex Sans"/>
              </a:rPr>
              <a:t>Connect one team’s sources and tools.</a:t>
            </a:r>
          </a:p>
          <a:p>
            <a:pPr algn="l">
              <a:lnSpc>
                <a:spcPct val="108000"/>
              </a:lnSpc>
              <a:spcBef>
                <a:spcPts val="0"/>
              </a:spcBef>
              <a:spcAft>
                <a:spcPts val="0"/>
              </a:spcAft>
            </a:pPr>
            <a:r>
              <a:rPr sz="1800" b="0">
                <a:solidFill>
                  <a:srgbClr val="365E4D"/>
                </a:solidFill>
                <a:latin typeface="IBM Plex Sans"/>
              </a:rPr>
              <a:t>Establish equal-budget baselines.</a:t>
            </a:r>
          </a:p>
        </p:txBody>
      </p:sp>
      <p:sp>
        <p:nvSpPr>
          <p:cNvPr id="13" name="TextBox 12"/>
          <p:cNvSpPr txBox="1"/>
          <p:nvPr/>
        </p:nvSpPr>
        <p:spPr>
          <a:xfrm>
            <a:off x="630936" y="5239512"/>
            <a:ext cx="3474720" cy="777240"/>
          </a:xfrm>
          <a:prstGeom prst="rect">
            <a:avLst/>
          </a:prstGeom>
          <a:noFill/>
        </p:spPr>
        <p:txBody>
          <a:bodyPr wrap="square" lIns="0" rIns="0" tIns="0" bIns="0" anchor="t">
            <a:noAutofit/>
          </a:bodyPr>
          <a:lstStyle/>
          <a:p>
            <a:pPr algn="l">
              <a:lnSpc>
                <a:spcPct val="108000"/>
              </a:lnSpc>
              <a:spcBef>
                <a:spcPts val="0"/>
              </a:spcBef>
              <a:spcAft>
                <a:spcPts val="0"/>
              </a:spcAft>
            </a:pPr>
            <a:r>
              <a:rPr sz="1800" b="1">
                <a:solidFill>
                  <a:srgbClr val="17201F"/>
                </a:solidFill>
                <a:latin typeface="IBM Plex Sans"/>
              </a:rPr>
              <a:t>Prove: rerunnable findings,</a:t>
            </a:r>
          </a:p>
          <a:p>
            <a:pPr algn="l">
              <a:lnSpc>
                <a:spcPct val="108000"/>
              </a:lnSpc>
              <a:spcBef>
                <a:spcPts val="0"/>
              </a:spcBef>
              <a:spcAft>
                <a:spcPts val="0"/>
              </a:spcAft>
            </a:pPr>
            <a:r>
              <a:rPr sz="1800" b="1">
                <a:solidFill>
                  <a:srgbClr val="17201F"/>
                </a:solidFill>
                <a:latin typeface="IBM Plex Sans"/>
              </a:rPr>
              <a:t>review time, cost and repeat use.</a:t>
            </a:r>
          </a:p>
        </p:txBody>
      </p:sp>
      <p:sp>
        <p:nvSpPr>
          <p:cNvPr id="14" name="TextBox 13"/>
          <p:cNvSpPr txBox="1"/>
          <p:nvPr/>
        </p:nvSpPr>
        <p:spPr>
          <a:xfrm>
            <a:off x="4489704" y="2267712"/>
            <a:ext cx="3557016" cy="256032"/>
          </a:xfrm>
          <a:prstGeom prst="rect">
            <a:avLst/>
          </a:prstGeom>
          <a:noFill/>
        </p:spPr>
        <p:txBody>
          <a:bodyPr wrap="square" lIns="0" rIns="0" tIns="0" bIns="0" anchor="t">
            <a:noAutofit/>
          </a:bodyPr>
          <a:lstStyle/>
          <a:p>
            <a:pPr algn="l">
              <a:lnSpc>
                <a:spcPct val="108000"/>
              </a:lnSpc>
              <a:spcBef>
                <a:spcPts val="0"/>
              </a:spcBef>
              <a:spcAft>
                <a:spcPts val="0"/>
              </a:spcAft>
            </a:pPr>
            <a:r>
              <a:rPr sz="1100" b="1">
                <a:solidFill>
                  <a:srgbClr val="365E4D"/>
                </a:solidFill>
                <a:latin typeface="IBM Plex Mono"/>
              </a:rPr>
              <a:t>YEAR 2 / 2028</a:t>
            </a:r>
          </a:p>
        </p:txBody>
      </p:sp>
      <p:cxnSp>
        <p:nvCxnSpPr>
          <p:cNvPr id="15" name="Connector 14"/>
          <p:cNvCxnSpPr/>
          <p:nvPr/>
        </p:nvCxnSpPr>
        <p:spPr>
          <a:xfrm>
            <a:off x="4489704" y="2743200"/>
            <a:ext cx="3483864" cy="0"/>
          </a:xfrm>
          <a:prstGeom prst="line">
            <a:avLst/>
          </a:prstGeom>
          <a:ln w="12700">
            <a:solidFill>
              <a:srgbClr val="ACBCAE"/>
            </a:solidFill>
          </a:ln>
          <a:effectLst/>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4489704" y="2971800"/>
            <a:ext cx="3483864" cy="731520"/>
          </a:xfrm>
          <a:prstGeom prst="rect">
            <a:avLst/>
          </a:prstGeom>
          <a:noFill/>
        </p:spPr>
        <p:txBody>
          <a:bodyPr wrap="square" lIns="0" rIns="0" tIns="0" bIns="0" anchor="t">
            <a:noAutofit/>
          </a:bodyPr>
          <a:lstStyle/>
          <a:p>
            <a:pPr algn="l">
              <a:lnSpc>
                <a:spcPct val="108000"/>
              </a:lnSpc>
              <a:spcBef>
                <a:spcPts val="0"/>
              </a:spcBef>
              <a:spcAft>
                <a:spcPts val="0"/>
              </a:spcAft>
            </a:pPr>
            <a:r>
              <a:rPr sz="2700" b="1">
                <a:solidFill>
                  <a:srgbClr val="17201F"/>
                </a:solidFill>
                <a:latin typeface="IBM Plex Sans"/>
              </a:rPr>
              <a:t>Allocation that learns</a:t>
            </a:r>
          </a:p>
        </p:txBody>
      </p:sp>
      <p:sp>
        <p:nvSpPr>
          <p:cNvPr id="17" name="TextBox 16"/>
          <p:cNvSpPr txBox="1"/>
          <p:nvPr/>
        </p:nvSpPr>
        <p:spPr>
          <a:xfrm>
            <a:off x="4489704" y="4041648"/>
            <a:ext cx="3474720" cy="932688"/>
          </a:xfrm>
          <a:prstGeom prst="rect">
            <a:avLst/>
          </a:prstGeom>
          <a:noFill/>
        </p:spPr>
        <p:txBody>
          <a:bodyPr wrap="square" lIns="0" rIns="0" tIns="0" bIns="0" anchor="t">
            <a:noAutofit/>
          </a:bodyPr>
          <a:lstStyle/>
          <a:p>
            <a:pPr algn="l">
              <a:lnSpc>
                <a:spcPct val="108000"/>
              </a:lnSpc>
              <a:spcBef>
                <a:spcPts val="0"/>
              </a:spcBef>
              <a:spcAft>
                <a:spcPts val="0"/>
              </a:spcAft>
            </a:pPr>
            <a:r>
              <a:rPr sz="1800" b="0">
                <a:solidFill>
                  <a:srgbClr val="365E4D"/>
                </a:solidFill>
                <a:latin typeface="IBM Plex Sans"/>
              </a:rPr>
              <a:t>Train on completed trajectories.</a:t>
            </a:r>
          </a:p>
          <a:p>
            <a:pPr algn="l">
              <a:lnSpc>
                <a:spcPct val="108000"/>
              </a:lnSpc>
              <a:spcBef>
                <a:spcPts val="0"/>
              </a:spcBef>
              <a:spcAft>
                <a:spcPts val="0"/>
              </a:spcAft>
            </a:pPr>
            <a:r>
              <a:rPr sz="1800" b="0">
                <a:solidFill>
                  <a:srgbClr val="365E4D"/>
                </a:solidFill>
                <a:latin typeface="IBM Plex Sans"/>
              </a:rPr>
              <a:t>Calibrate on independent episodes.</a:t>
            </a:r>
          </a:p>
        </p:txBody>
      </p:sp>
      <p:sp>
        <p:nvSpPr>
          <p:cNvPr id="18" name="TextBox 17"/>
          <p:cNvSpPr txBox="1"/>
          <p:nvPr/>
        </p:nvSpPr>
        <p:spPr>
          <a:xfrm>
            <a:off x="4489704" y="5239512"/>
            <a:ext cx="3474720" cy="777240"/>
          </a:xfrm>
          <a:prstGeom prst="rect">
            <a:avLst/>
          </a:prstGeom>
          <a:noFill/>
        </p:spPr>
        <p:txBody>
          <a:bodyPr wrap="square" lIns="0" rIns="0" tIns="0" bIns="0" anchor="t">
            <a:noAutofit/>
          </a:bodyPr>
          <a:lstStyle/>
          <a:p>
            <a:pPr algn="l">
              <a:lnSpc>
                <a:spcPct val="108000"/>
              </a:lnSpc>
              <a:spcBef>
                <a:spcPts val="0"/>
              </a:spcBef>
              <a:spcAft>
                <a:spcPts val="0"/>
              </a:spcAft>
            </a:pPr>
            <a:r>
              <a:rPr sz="1800" b="1">
                <a:solidFill>
                  <a:srgbClr val="17201F"/>
                </a:solidFill>
                <a:latin typeface="IBM Plex Sans"/>
              </a:rPr>
              <a:t>Prove: discovery yield under</a:t>
            </a:r>
          </a:p>
          <a:p>
            <a:pPr algn="l">
              <a:lnSpc>
                <a:spcPct val="108000"/>
              </a:lnSpc>
              <a:spcBef>
                <a:spcPts val="0"/>
              </a:spcBef>
              <a:spcAft>
                <a:spcPts val="0"/>
              </a:spcAft>
            </a:pPr>
            <a:r>
              <a:rPr sz="1800" b="1">
                <a:solidFill>
                  <a:srgbClr val="17201F"/>
                </a:solidFill>
                <a:latin typeface="IBM Plex Sans"/>
              </a:rPr>
              <a:t>a fixed budget; paid expansion.</a:t>
            </a:r>
          </a:p>
        </p:txBody>
      </p:sp>
      <p:sp>
        <p:nvSpPr>
          <p:cNvPr id="19" name="TextBox 18"/>
          <p:cNvSpPr txBox="1"/>
          <p:nvPr/>
        </p:nvSpPr>
        <p:spPr>
          <a:xfrm>
            <a:off x="8348471" y="2267712"/>
            <a:ext cx="3557016" cy="256032"/>
          </a:xfrm>
          <a:prstGeom prst="rect">
            <a:avLst/>
          </a:prstGeom>
          <a:noFill/>
        </p:spPr>
        <p:txBody>
          <a:bodyPr wrap="square" lIns="0" rIns="0" tIns="0" bIns="0" anchor="t">
            <a:noAutofit/>
          </a:bodyPr>
          <a:lstStyle/>
          <a:p>
            <a:pPr algn="l">
              <a:lnSpc>
                <a:spcPct val="108000"/>
              </a:lnSpc>
              <a:spcBef>
                <a:spcPts val="0"/>
              </a:spcBef>
              <a:spcAft>
                <a:spcPts val="0"/>
              </a:spcAft>
            </a:pPr>
            <a:r>
              <a:rPr sz="1100" b="1">
                <a:solidFill>
                  <a:srgbClr val="365E4D"/>
                </a:solidFill>
                <a:latin typeface="IBM Plex Mono"/>
              </a:rPr>
              <a:t>YEAR 3 / 2029</a:t>
            </a:r>
          </a:p>
        </p:txBody>
      </p:sp>
      <p:cxnSp>
        <p:nvCxnSpPr>
          <p:cNvPr id="20" name="Connector 19"/>
          <p:cNvCxnSpPr/>
          <p:nvPr/>
        </p:nvCxnSpPr>
        <p:spPr>
          <a:xfrm>
            <a:off x="8348471" y="2743200"/>
            <a:ext cx="3483865" cy="0"/>
          </a:xfrm>
          <a:prstGeom prst="line">
            <a:avLst/>
          </a:prstGeom>
          <a:ln w="12700">
            <a:solidFill>
              <a:srgbClr val="ACBCAE"/>
            </a:solidFill>
          </a:ln>
          <a:effectLst/>
        </p:spPr>
        <p:style>
          <a:lnRef idx="2">
            <a:schemeClr val="accent1"/>
          </a:lnRef>
          <a:fillRef idx="0">
            <a:schemeClr val="accent1"/>
          </a:fillRef>
          <a:effectRef idx="0">
            <a:schemeClr val="accent1"/>
          </a:effectRef>
          <a:fontRef idx="minor">
            <a:schemeClr val="tx1"/>
          </a:fontRef>
        </p:style>
      </p:cxnSp>
      <p:sp>
        <p:nvSpPr>
          <p:cNvPr id="21" name="TextBox 20"/>
          <p:cNvSpPr txBox="1"/>
          <p:nvPr/>
        </p:nvSpPr>
        <p:spPr>
          <a:xfrm>
            <a:off x="8348471" y="2971800"/>
            <a:ext cx="3483864" cy="731520"/>
          </a:xfrm>
          <a:prstGeom prst="rect">
            <a:avLst/>
          </a:prstGeom>
          <a:noFill/>
        </p:spPr>
        <p:txBody>
          <a:bodyPr wrap="square" lIns="0" rIns="0" tIns="0" bIns="0" anchor="t">
            <a:noAutofit/>
          </a:bodyPr>
          <a:lstStyle/>
          <a:p>
            <a:pPr algn="l">
              <a:lnSpc>
                <a:spcPct val="108000"/>
              </a:lnSpc>
              <a:spcBef>
                <a:spcPts val="0"/>
              </a:spcBef>
              <a:spcAft>
                <a:spcPts val="0"/>
              </a:spcAft>
            </a:pPr>
            <a:r>
              <a:rPr sz="2700" b="1">
                <a:solidFill>
                  <a:srgbClr val="17201F"/>
                </a:solidFill>
                <a:latin typeface="IBM Plex Sans"/>
              </a:rPr>
              <a:t>Continuous programs</a:t>
            </a:r>
          </a:p>
        </p:txBody>
      </p:sp>
      <p:sp>
        <p:nvSpPr>
          <p:cNvPr id="22" name="TextBox 21"/>
          <p:cNvSpPr txBox="1"/>
          <p:nvPr/>
        </p:nvSpPr>
        <p:spPr>
          <a:xfrm>
            <a:off x="8348471" y="4041648"/>
            <a:ext cx="3474720" cy="932688"/>
          </a:xfrm>
          <a:prstGeom prst="rect">
            <a:avLst/>
          </a:prstGeom>
          <a:noFill/>
        </p:spPr>
        <p:txBody>
          <a:bodyPr wrap="square" lIns="0" rIns="0" tIns="0" bIns="0" anchor="t">
            <a:noAutofit/>
          </a:bodyPr>
          <a:lstStyle/>
          <a:p>
            <a:pPr algn="l">
              <a:lnSpc>
                <a:spcPct val="108000"/>
              </a:lnSpc>
              <a:spcBef>
                <a:spcPts val="0"/>
              </a:spcBef>
              <a:spcAft>
                <a:spcPts val="0"/>
              </a:spcAft>
            </a:pPr>
            <a:r>
              <a:rPr sz="1800" b="0">
                <a:solidFill>
                  <a:srgbClr val="365E4D"/>
                </a:solidFill>
                <a:latin typeface="IBM Plex Sans"/>
              </a:rPr>
              <a:t>Coordinate supervised portfolios</a:t>
            </a:r>
          </a:p>
          <a:p>
            <a:pPr algn="l">
              <a:lnSpc>
                <a:spcPct val="108000"/>
              </a:lnSpc>
              <a:spcBef>
                <a:spcPts val="0"/>
              </a:spcBef>
              <a:spcAft>
                <a:spcPts val="0"/>
              </a:spcAft>
            </a:pPr>
            <a:r>
              <a:rPr sz="1800" b="0">
                <a:solidFill>
                  <a:srgbClr val="365E4D"/>
                </a:solidFill>
                <a:latin typeface="IBM Plex Sans"/>
              </a:rPr>
              <a:t>as models and instruments improve.</a:t>
            </a:r>
          </a:p>
        </p:txBody>
      </p:sp>
      <p:sp>
        <p:nvSpPr>
          <p:cNvPr id="23" name="TextBox 22"/>
          <p:cNvSpPr txBox="1"/>
          <p:nvPr/>
        </p:nvSpPr>
        <p:spPr>
          <a:xfrm>
            <a:off x="8348471" y="5239512"/>
            <a:ext cx="3474720" cy="777240"/>
          </a:xfrm>
          <a:prstGeom prst="rect">
            <a:avLst/>
          </a:prstGeom>
          <a:noFill/>
        </p:spPr>
        <p:txBody>
          <a:bodyPr wrap="square" lIns="0" rIns="0" tIns="0" bIns="0" anchor="t">
            <a:noAutofit/>
          </a:bodyPr>
          <a:lstStyle/>
          <a:p>
            <a:pPr algn="l">
              <a:lnSpc>
                <a:spcPct val="108000"/>
              </a:lnSpc>
              <a:spcBef>
                <a:spcPts val="0"/>
              </a:spcBef>
              <a:spcAft>
                <a:spcPts val="0"/>
              </a:spcAft>
            </a:pPr>
            <a:r>
              <a:rPr sz="1800" b="1">
                <a:solidFill>
                  <a:srgbClr val="17201F"/>
                </a:solidFill>
                <a:latin typeface="IBM Plex Sans"/>
              </a:rPr>
              <a:t>Prove: retained customers,</a:t>
            </a:r>
          </a:p>
          <a:p>
            <a:pPr algn="l">
              <a:lnSpc>
                <a:spcPct val="108000"/>
              </a:lnSpc>
              <a:spcBef>
                <a:spcPts val="0"/>
              </a:spcBef>
              <a:spcAft>
                <a:spcPts val="0"/>
              </a:spcAft>
            </a:pPr>
            <a:r>
              <a:rPr sz="1800" b="1">
                <a:solidFill>
                  <a:srgbClr val="17201F"/>
                </a:solidFill>
                <a:latin typeface="IBM Plex Sans"/>
              </a:rPr>
              <a:t>useful output and scalable margins.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IBM Plex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BM Plex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DN Research — DNHacks 2026</dc:title>
  <dc:subject>Editable working pitch: scientific discovery, AI engineering and trustworthy evidence</dc:subject>
  <dc:creator>DNHacks team</dc:creator>
  <cp:keywords>DNHacks, DN Research, working draft, scientific discovery</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